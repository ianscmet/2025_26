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5" r:id="rId1"/>
  </p:sldMasterIdLst>
  <p:notesMasterIdLst>
    <p:notesMasterId r:id="rId20"/>
  </p:notesMasterIdLst>
  <p:sldIdLst>
    <p:sldId id="256" r:id="rId2"/>
    <p:sldId id="257" r:id="rId3"/>
    <p:sldId id="259" r:id="rId4"/>
    <p:sldId id="260" r:id="rId5"/>
    <p:sldId id="261" r:id="rId6"/>
    <p:sldId id="287" r:id="rId7"/>
    <p:sldId id="262" r:id="rId8"/>
    <p:sldId id="263" r:id="rId9"/>
    <p:sldId id="264" r:id="rId10"/>
    <p:sldId id="265" r:id="rId11"/>
    <p:sldId id="266" r:id="rId12"/>
    <p:sldId id="267" r:id="rId13"/>
    <p:sldId id="281" r:id="rId14"/>
    <p:sldId id="283" r:id="rId15"/>
    <p:sldId id="284" r:id="rId16"/>
    <p:sldId id="285" r:id="rId17"/>
    <p:sldId id="286" r:id="rId18"/>
    <p:sldId id="258"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006" autoAdjust="0"/>
    <p:restoredTop sz="94660"/>
  </p:normalViewPr>
  <p:slideViewPr>
    <p:cSldViewPr snapToGrid="0">
      <p:cViewPr varScale="1">
        <p:scale>
          <a:sx n="188" d="100"/>
          <a:sy n="188" d="100"/>
        </p:scale>
        <p:origin x="389" y="139"/>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8EBF65B-AC3B-4D24-9D8A-864FC905B3F6}" type="datetimeFigureOut">
              <a:rPr lang="en-GB" smtClean="0"/>
              <a:t>19/01/2026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C9DF857-2274-4067-8311-7D6F2057C114}" type="slidenum">
              <a:rPr lang="en-GB" smtClean="0"/>
              <a:t>‹#›</a:t>
            </a:fld>
            <a:endParaRPr lang="en-GB"/>
          </a:p>
        </p:txBody>
      </p:sp>
    </p:spTree>
    <p:extLst>
      <p:ext uri="{BB962C8B-B14F-4D97-AF65-F5344CB8AC3E}">
        <p14:creationId xmlns:p14="http://schemas.microsoft.com/office/powerpoint/2010/main" val="13244979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CC9DF857-2274-4067-8311-7D6F2057C114}" type="slidenum">
              <a:rPr lang="en-GB" smtClean="0"/>
              <a:t>6</a:t>
            </a:fld>
            <a:endParaRPr lang="en-GB"/>
          </a:p>
        </p:txBody>
      </p:sp>
    </p:spTree>
    <p:extLst>
      <p:ext uri="{BB962C8B-B14F-4D97-AF65-F5344CB8AC3E}">
        <p14:creationId xmlns:p14="http://schemas.microsoft.com/office/powerpoint/2010/main" val="220790831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2301923" y="1122363"/>
            <a:ext cx="7588155" cy="2621154"/>
          </a:xfrm>
        </p:spPr>
        <p:txBody>
          <a:bodyPr anchor="b">
            <a:normAutofit/>
          </a:bodyPr>
          <a:lstStyle>
            <a:lvl1pPr algn="ctr">
              <a:defRPr sz="40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2301923" y="3843708"/>
            <a:ext cx="7588155" cy="1414091"/>
          </a:xfrm>
        </p:spPr>
        <p:txBody>
          <a:bodyPr>
            <a:normAutofit/>
          </a:bodyPr>
          <a:lstStyle>
            <a:lvl1pPr marL="0" indent="0" algn="ctr">
              <a:buNone/>
              <a:defRPr sz="18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p>
            <a:fld id="{C128FA71-3A18-48C0-980F-4B68F7F63042}" type="datetime1">
              <a:rPr lang="en-US" smtClean="0"/>
              <a:t>1/19/2026</a:t>
            </a:fld>
            <a:endParaRPr lang="en-US"/>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168850256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51C1210E-201E-4473-82AC-2466F5386C38}" type="datetime1">
              <a:rPr lang="en-US" smtClean="0"/>
              <a:t>1/19/2026</a:t>
            </a:fld>
            <a:endParaRPr lang="en-US"/>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271017710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1D06AF-EF87-8489-2C82-DEB90B7EFE0C}"/>
              </a:ext>
            </a:extLst>
          </p:cNvPr>
          <p:cNvSpPr>
            <a:spLocks noGrp="1"/>
          </p:cNvSpPr>
          <p:nvPr>
            <p:ph type="title"/>
          </p:nvPr>
        </p:nvSpPr>
        <p:spPr>
          <a:xfrm>
            <a:off x="603381" y="553616"/>
            <a:ext cx="8273140" cy="4008859"/>
          </a:xfrm>
        </p:spPr>
        <p:txBody>
          <a:bodyPr anchor="t">
            <a:normAutofit/>
          </a:bodyPr>
          <a:lstStyle>
            <a:lvl1pPr>
              <a:defRPr sz="5400" cap="all" baseline="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308E5678-CA38-1318-9EA2-5E0A4F9A59BA}"/>
              </a:ext>
            </a:extLst>
          </p:cNvPr>
          <p:cNvSpPr>
            <a:spLocks noGrp="1"/>
          </p:cNvSpPr>
          <p:nvPr>
            <p:ph type="body" idx="1"/>
          </p:nvPr>
        </p:nvSpPr>
        <p:spPr>
          <a:xfrm>
            <a:off x="603380" y="4589463"/>
            <a:ext cx="8273140" cy="1384617"/>
          </a:xfrm>
        </p:spPr>
        <p:txBody>
          <a:bodyPr anchor="b">
            <a:normAutofit/>
          </a:bodyPr>
          <a:lstStyle>
            <a:lvl1pPr marL="0" indent="0">
              <a:buNone/>
              <a:defRPr sz="20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4E99186-7E5A-60AF-DE69-5C7DA71611AB}"/>
              </a:ext>
            </a:extLst>
          </p:cNvPr>
          <p:cNvSpPr>
            <a:spLocks noGrp="1"/>
          </p:cNvSpPr>
          <p:nvPr>
            <p:ph type="dt" sz="half" idx="10"/>
          </p:nvPr>
        </p:nvSpPr>
        <p:spPr/>
        <p:txBody>
          <a:bodyPr/>
          <a:lstStyle/>
          <a:p>
            <a:fld id="{B01EA198-6CAB-4B8F-B93F-1F9C8C4B6CE7}" type="datetime1">
              <a:rPr lang="en-US" smtClean="0"/>
              <a:t>1/19/2026</a:t>
            </a:fld>
            <a:endParaRPr lang="en-US"/>
          </a:p>
        </p:txBody>
      </p:sp>
      <p:sp>
        <p:nvSpPr>
          <p:cNvPr id="5" name="Footer Placeholder 4">
            <a:extLst>
              <a:ext uri="{FF2B5EF4-FFF2-40B4-BE49-F238E27FC236}">
                <a16:creationId xmlns:a16="http://schemas.microsoft.com/office/drawing/2014/main" id="{82FA13D1-1FBA-E820-323B-77B41F1A665D}"/>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B39BE85-85F6-4636-C651-D87CC969A49E}"/>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18693541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48640"/>
            <a:ext cx="10741152" cy="1132258"/>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572E861E-DFBA-B4AA-9356-CDE3D3F57C04}"/>
              </a:ext>
            </a:extLst>
          </p:cNvPr>
          <p:cNvSpPr>
            <a:spLocks noGrp="1"/>
          </p:cNvSpPr>
          <p:nvPr>
            <p:ph sz="half" idx="1"/>
          </p:nvPr>
        </p:nvSpPr>
        <p:spPr>
          <a:xfrm>
            <a:off x="612648"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451D7538-EC5A-3EE7-176F-A58920C5079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CA06041F-4525-44D5-AA4F-332294BF1F56}" type="datetime1">
              <a:rPr lang="en-US" smtClean="0"/>
              <a:t>1/19/2026</a:t>
            </a:fld>
            <a:endParaRPr lang="en-US"/>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270735171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FEE969-634D-6E32-D227-18E9282C6F9E}"/>
              </a:ext>
            </a:extLst>
          </p:cNvPr>
          <p:cNvSpPr>
            <a:spLocks noGrp="1"/>
          </p:cNvSpPr>
          <p:nvPr>
            <p:ph type="title"/>
          </p:nvPr>
        </p:nvSpPr>
        <p:spPr>
          <a:xfrm>
            <a:off x="609600" y="547396"/>
            <a:ext cx="10745788" cy="1143292"/>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609600" y="1685735"/>
            <a:ext cx="5157787" cy="559834"/>
          </a:xfrm>
        </p:spPr>
        <p:txBody>
          <a:bodyPr anchor="b">
            <a:normAutofit/>
          </a:bodyPr>
          <a:lstStyle>
            <a:lvl1pPr marL="0" indent="0">
              <a:lnSpc>
                <a:spcPct val="90000"/>
              </a:lnSpc>
              <a:buNone/>
              <a:defRPr sz="20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4DA52B0-7419-A946-4523-6D34BCAD26D1}"/>
              </a:ext>
            </a:extLst>
          </p:cNvPr>
          <p:cNvSpPr>
            <a:spLocks noGrp="1"/>
          </p:cNvSpPr>
          <p:nvPr>
            <p:ph sz="half" idx="2"/>
          </p:nvPr>
        </p:nvSpPr>
        <p:spPr>
          <a:xfrm>
            <a:off x="609600" y="2386894"/>
            <a:ext cx="5157787" cy="376508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172200" y="1685735"/>
            <a:ext cx="5183188" cy="559834"/>
          </a:xfrm>
        </p:spPr>
        <p:txBody>
          <a:bodyPr anchor="b">
            <a:normAutofit/>
          </a:bodyPr>
          <a:lstStyle>
            <a:lvl1pPr marL="0" indent="0">
              <a:lnSpc>
                <a:spcPct val="90000"/>
              </a:lnSpc>
              <a:buNone/>
              <a:defRPr sz="20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3BAE980-E611-98B5-04E9-DE4584B0E33F}"/>
              </a:ext>
            </a:extLst>
          </p:cNvPr>
          <p:cNvSpPr>
            <a:spLocks noGrp="1"/>
          </p:cNvSpPr>
          <p:nvPr>
            <p:ph sz="quarter" idx="4"/>
          </p:nvPr>
        </p:nvSpPr>
        <p:spPr>
          <a:xfrm>
            <a:off x="6172199" y="2386894"/>
            <a:ext cx="5183189" cy="376508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E3B3581-658A-8487-F9CB-E79F2BFF27E4}"/>
              </a:ext>
            </a:extLst>
          </p:cNvPr>
          <p:cNvSpPr>
            <a:spLocks noGrp="1"/>
          </p:cNvSpPr>
          <p:nvPr>
            <p:ph type="dt" sz="half" idx="10"/>
          </p:nvPr>
        </p:nvSpPr>
        <p:spPr/>
        <p:txBody>
          <a:bodyPr/>
          <a:lstStyle/>
          <a:p>
            <a:fld id="{F9557091-BBDF-4EB9-BA6B-2BB67AC4FC0F}" type="datetime1">
              <a:rPr lang="en-US" smtClean="0"/>
              <a:t>1/19/2026</a:t>
            </a:fld>
            <a:endParaRPr lang="en-US"/>
          </a:p>
        </p:txBody>
      </p:sp>
      <p:sp>
        <p:nvSpPr>
          <p:cNvPr id="8" name="Footer Placeholder 7">
            <a:extLst>
              <a:ext uri="{FF2B5EF4-FFF2-40B4-BE49-F238E27FC236}">
                <a16:creationId xmlns:a16="http://schemas.microsoft.com/office/drawing/2014/main" id="{949D76D8-9033-26CF-BF4C-AECCC685C177}"/>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E02A06B8-CC1D-542F-D8EB-7625046B91D2}"/>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16389774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A9F42-7FF7-F803-C075-BC4968D35E3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lstStyle/>
          <a:p>
            <a:fld id="{2D6B226B-77A6-410C-9796-083F278E0125}" type="datetime1">
              <a:rPr lang="en-US" smtClean="0"/>
              <a:t>1/19/2026</a:t>
            </a:fld>
            <a:endParaRPr lang="en-US"/>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73862459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p:txBody>
          <a:bodyPr/>
          <a:lstStyle/>
          <a:p>
            <a:fld id="{A23A578B-D289-4C40-8593-3D356C49DA58}" type="datetime1">
              <a:rPr lang="en-US" smtClean="0"/>
              <a:t>1/19/2026</a:t>
            </a:fld>
            <a:endParaRPr lang="en-US"/>
          </a:p>
        </p:txBody>
      </p:sp>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138245685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50C37F-77BE-E128-4248-D001C39E79C6}"/>
              </a:ext>
            </a:extLst>
          </p:cNvPr>
          <p:cNvSpPr>
            <a:spLocks noGrp="1"/>
          </p:cNvSpPr>
          <p:nvPr>
            <p:ph type="title"/>
          </p:nvPr>
        </p:nvSpPr>
        <p:spPr>
          <a:xfrm>
            <a:off x="597160" y="553616"/>
            <a:ext cx="3595634" cy="1757505"/>
          </a:xfrm>
        </p:spPr>
        <p:txBody>
          <a:bodyPr anchor="t">
            <a:normAutofit/>
          </a:bodyPr>
          <a:lstStyle>
            <a:lvl1pPr>
              <a:defRPr sz="28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F3B20A8-A604-C977-02C0-083BA8663484}"/>
              </a:ext>
            </a:extLst>
          </p:cNvPr>
          <p:cNvSpPr>
            <a:spLocks noGrp="1"/>
          </p:cNvSpPr>
          <p:nvPr>
            <p:ph idx="1"/>
          </p:nvPr>
        </p:nvSpPr>
        <p:spPr>
          <a:xfrm>
            <a:off x="5134708" y="553616"/>
            <a:ext cx="6279741" cy="5486400"/>
          </a:xfrm>
        </p:spPr>
        <p:txBody>
          <a:bodyPr>
            <a:normAutofit/>
          </a:bodyPr>
          <a:lstStyle>
            <a:lvl1pPr>
              <a:defRPr sz="2800"/>
            </a:lvl1pPr>
            <a:lvl2pPr>
              <a:defRPr sz="2400"/>
            </a:lvl2pPr>
            <a:lvl3pPr>
              <a:defRPr sz="2000"/>
            </a:lvl3pPr>
            <a:lvl4pPr>
              <a:defRPr sz="1800"/>
            </a:lvl4pPr>
            <a:lvl5pPr>
              <a:defRPr sz="18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EC0EEBFB-2026-6A35-33ED-F008376B67A0}"/>
              </a:ext>
            </a:extLst>
          </p:cNvPr>
          <p:cNvSpPr>
            <a:spLocks noGrp="1"/>
          </p:cNvSpPr>
          <p:nvPr>
            <p:ph type="body" sz="half" idx="2"/>
          </p:nvPr>
        </p:nvSpPr>
        <p:spPr>
          <a:xfrm>
            <a:off x="597160" y="2311121"/>
            <a:ext cx="3595634" cy="3728895"/>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3F05638-7A56-469A-825A-1DFA600254C8}"/>
              </a:ext>
            </a:extLst>
          </p:cNvPr>
          <p:cNvSpPr>
            <a:spLocks noGrp="1"/>
          </p:cNvSpPr>
          <p:nvPr>
            <p:ph type="dt" sz="half" idx="10"/>
          </p:nvPr>
        </p:nvSpPr>
        <p:spPr/>
        <p:txBody>
          <a:bodyPr/>
          <a:lstStyle/>
          <a:p>
            <a:fld id="{713DFAE3-14DB-48A7-A80F-80DDB072CE3D}" type="datetime1">
              <a:rPr lang="en-US" smtClean="0"/>
              <a:t>1/19/2026</a:t>
            </a:fld>
            <a:endParaRPr lang="en-US"/>
          </a:p>
        </p:txBody>
      </p:sp>
      <p:sp>
        <p:nvSpPr>
          <p:cNvPr id="6" name="Footer Placeholder 5">
            <a:extLst>
              <a:ext uri="{FF2B5EF4-FFF2-40B4-BE49-F238E27FC236}">
                <a16:creationId xmlns:a16="http://schemas.microsoft.com/office/drawing/2014/main" id="{9C85A215-184B-2105-0279-ED02F6445831}"/>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32C7CA46-892B-253A-3A28-7414E17B837B}"/>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26756789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06A09-98CF-FAC2-3708-AECC4360C651}"/>
              </a:ext>
            </a:extLst>
          </p:cNvPr>
          <p:cNvSpPr>
            <a:spLocks noGrp="1"/>
          </p:cNvSpPr>
          <p:nvPr>
            <p:ph type="title"/>
          </p:nvPr>
        </p:nvSpPr>
        <p:spPr>
          <a:xfrm>
            <a:off x="594360" y="557784"/>
            <a:ext cx="3595634" cy="2212313"/>
          </a:xfrm>
        </p:spPr>
        <p:txBody>
          <a:bodyPr anchor="t">
            <a:normAutofit/>
          </a:bodyPr>
          <a:lstStyle>
            <a:lvl1pPr>
              <a:defRPr sz="28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9571C769-CEC8-962A-01E6-15B0E056791E}"/>
              </a:ext>
            </a:extLst>
          </p:cNvPr>
          <p:cNvSpPr>
            <a:spLocks noGrp="1"/>
          </p:cNvSpPr>
          <p:nvPr>
            <p:ph type="pic" idx="1"/>
          </p:nvPr>
        </p:nvSpPr>
        <p:spPr>
          <a:xfrm>
            <a:off x="5063319" y="657103"/>
            <a:ext cx="6483687" cy="5555904"/>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F32C4A61-EF2A-C5A5-B150-4448600B3937}"/>
              </a:ext>
            </a:extLst>
          </p:cNvPr>
          <p:cNvSpPr>
            <a:spLocks noGrp="1"/>
          </p:cNvSpPr>
          <p:nvPr>
            <p:ph type="body" sz="half" idx="2"/>
          </p:nvPr>
        </p:nvSpPr>
        <p:spPr>
          <a:xfrm>
            <a:off x="609601" y="2826137"/>
            <a:ext cx="3585586" cy="3434638"/>
          </a:xfrm>
        </p:spPr>
        <p:txBody>
          <a:bodyPr anchor="b"/>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20B235E-39C7-4C78-20EF-DB48ECD9CB90}"/>
              </a:ext>
            </a:extLst>
          </p:cNvPr>
          <p:cNvSpPr>
            <a:spLocks noGrp="1"/>
          </p:cNvSpPr>
          <p:nvPr>
            <p:ph type="dt" sz="half" idx="10"/>
          </p:nvPr>
        </p:nvSpPr>
        <p:spPr/>
        <p:txBody>
          <a:bodyPr/>
          <a:lstStyle/>
          <a:p>
            <a:fld id="{92C5EAEF-6478-4102-8F5D-A5FE9FC97ACB}" type="datetime1">
              <a:rPr lang="en-US" smtClean="0"/>
              <a:t>1/19/2026</a:t>
            </a:fld>
            <a:endParaRPr lang="en-US"/>
          </a:p>
        </p:txBody>
      </p:sp>
      <p:sp>
        <p:nvSpPr>
          <p:cNvPr id="6" name="Footer Placeholder 5">
            <a:extLst>
              <a:ext uri="{FF2B5EF4-FFF2-40B4-BE49-F238E27FC236}">
                <a16:creationId xmlns:a16="http://schemas.microsoft.com/office/drawing/2014/main" id="{7FDC75DA-9A78-9AB9-7171-95A08CC51C56}"/>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5EFE1A03-DCCB-53C7-DBFE-2AD55C90591B}"/>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43755204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E956D-CB73-C986-F100-46487310D11E}"/>
              </a:ext>
            </a:extLst>
          </p:cNvPr>
          <p:cNvSpPr>
            <a:spLocks noGrp="1"/>
          </p:cNvSpPr>
          <p:nvPr>
            <p:ph type="title"/>
          </p:nvPr>
        </p:nvSpPr>
        <p:spPr>
          <a:xfrm>
            <a:off x="612648" y="548640"/>
            <a:ext cx="10515600" cy="1132258"/>
          </a:xfrm>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E423E6A-A07C-BF0D-EA30-9A8A854E48F1}"/>
              </a:ext>
            </a:extLst>
          </p:cNvPr>
          <p:cNvSpPr>
            <a:spLocks noGrp="1"/>
          </p:cNvSpPr>
          <p:nvPr>
            <p:ph type="body" orient="vert" idx="1"/>
          </p:nvPr>
        </p:nvSpPr>
        <p:spPr>
          <a:xfrm>
            <a:off x="612648" y="1680898"/>
            <a:ext cx="10515600" cy="449606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EDC9908-8F95-8DFC-72CC-158552B56735}"/>
              </a:ext>
            </a:extLst>
          </p:cNvPr>
          <p:cNvSpPr>
            <a:spLocks noGrp="1"/>
          </p:cNvSpPr>
          <p:nvPr>
            <p:ph type="dt" sz="half" idx="10"/>
          </p:nvPr>
        </p:nvSpPr>
        <p:spPr/>
        <p:txBody>
          <a:bodyPr/>
          <a:lstStyle/>
          <a:p>
            <a:fld id="{7104EDB3-C0E8-45F8-9E1D-1B6C8D1880C0}" type="datetime1">
              <a:rPr lang="en-US" smtClean="0"/>
              <a:t>1/19/2026</a:t>
            </a:fld>
            <a:endParaRPr lang="en-US"/>
          </a:p>
        </p:txBody>
      </p:sp>
      <p:sp>
        <p:nvSpPr>
          <p:cNvPr id="5" name="Footer Placeholder 4">
            <a:extLst>
              <a:ext uri="{FF2B5EF4-FFF2-40B4-BE49-F238E27FC236}">
                <a16:creationId xmlns:a16="http://schemas.microsoft.com/office/drawing/2014/main" id="{2C26C9BE-9060-50CB-2BB7-07307FF89A7A}"/>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A84A835B-97D3-BC22-F0B8-4986D4636271}"/>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1839171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85B0252-346C-F6F4-3642-19F571550D45}"/>
              </a:ext>
            </a:extLst>
          </p:cNvPr>
          <p:cNvSpPr>
            <a:spLocks noGrp="1"/>
          </p:cNvSpPr>
          <p:nvPr>
            <p:ph type="title" orient="vert"/>
          </p:nvPr>
        </p:nvSpPr>
        <p:spPr>
          <a:xfrm>
            <a:off x="9634888" y="578497"/>
            <a:ext cx="2047037" cy="5598466"/>
          </a:xfrm>
        </p:spPr>
        <p:txBody>
          <a:bodyPr vert="eaVert"/>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F798DA36-7351-9D6A-518B-678AB8A507D3}"/>
              </a:ext>
            </a:extLst>
          </p:cNvPr>
          <p:cNvSpPr>
            <a:spLocks noGrp="1"/>
          </p:cNvSpPr>
          <p:nvPr>
            <p:ph type="body" orient="vert" idx="1"/>
          </p:nvPr>
        </p:nvSpPr>
        <p:spPr>
          <a:xfrm>
            <a:off x="838200" y="578497"/>
            <a:ext cx="8796688" cy="559846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8846BDFF-D746-836C-04B8-CA89AD5D1466}"/>
              </a:ext>
            </a:extLst>
          </p:cNvPr>
          <p:cNvSpPr>
            <a:spLocks noGrp="1"/>
          </p:cNvSpPr>
          <p:nvPr>
            <p:ph type="dt" sz="half" idx="10"/>
          </p:nvPr>
        </p:nvSpPr>
        <p:spPr/>
        <p:txBody>
          <a:bodyPr/>
          <a:lstStyle/>
          <a:p>
            <a:fld id="{9CF0EC4B-54ED-4041-B552-9BA760FA3DBA}" type="datetime1">
              <a:rPr lang="en-US" smtClean="0"/>
              <a:t>1/19/2026</a:t>
            </a:fld>
            <a:endParaRPr lang="en-US"/>
          </a:p>
        </p:txBody>
      </p:sp>
      <p:sp>
        <p:nvSpPr>
          <p:cNvPr id="5" name="Footer Placeholder 4">
            <a:extLst>
              <a:ext uri="{FF2B5EF4-FFF2-40B4-BE49-F238E27FC236}">
                <a16:creationId xmlns:a16="http://schemas.microsoft.com/office/drawing/2014/main" id="{919AA929-A9E6-FF9C-0C59-177F892D6A69}"/>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9316D893-7E81-90DC-4139-7687B39C3AC8}"/>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26784826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612648" y="548640"/>
            <a:ext cx="10653578" cy="1132258"/>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612647" y="1715532"/>
            <a:ext cx="10653579" cy="459382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137160" y="6453002"/>
            <a:ext cx="3494314" cy="365125"/>
          </a:xfrm>
          <a:prstGeom prst="rect">
            <a:avLst/>
          </a:prstGeom>
        </p:spPr>
        <p:txBody>
          <a:bodyPr vert="horz" lIns="91440" tIns="45720" rIns="91440" bIns="45720" rtlCol="0" anchor="ctr"/>
          <a:lstStyle>
            <a:lvl1pPr algn="l">
              <a:defRPr sz="900">
                <a:solidFill>
                  <a:schemeClr val="tx1"/>
                </a:solidFill>
              </a:defRPr>
            </a:lvl1pPr>
          </a:lstStyle>
          <a:p>
            <a:fld id="{67F45AC6-C491-4585-A584-9CE2AF7D5500}" type="datetime1">
              <a:rPr lang="en-US" smtClean="0"/>
              <a:t>1/19/2026</a:t>
            </a:fld>
            <a:endParaRPr lang="en-US"/>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8876521" y="6453002"/>
            <a:ext cx="2805405" cy="365125"/>
          </a:xfrm>
          <a:prstGeom prst="rect">
            <a:avLst/>
          </a:prstGeom>
        </p:spPr>
        <p:txBody>
          <a:bodyPr vert="horz" lIns="91440" tIns="45720" rIns="91440" bIns="45720" rtlCol="0" anchor="ctr"/>
          <a:lstStyle>
            <a:lvl1pPr algn="r">
              <a:defRPr sz="900">
                <a:solidFill>
                  <a:schemeClr val="tx1"/>
                </a:solidFill>
              </a:defRPr>
            </a:lvl1pPr>
          </a:lstStyle>
          <a:p>
            <a:endParaRPr lang="en-US" dirty="0"/>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11632162" y="6453002"/>
            <a:ext cx="429207" cy="365125"/>
          </a:xfrm>
          <a:prstGeom prst="rect">
            <a:avLst/>
          </a:prstGeom>
        </p:spPr>
        <p:txBody>
          <a:bodyPr vert="horz" lIns="91440" tIns="45720" rIns="91440" bIns="45720" rtlCol="0" anchor="ctr"/>
          <a:lstStyle>
            <a:lvl1pPr algn="r">
              <a:defRPr sz="900">
                <a:solidFill>
                  <a:schemeClr val="tx1"/>
                </a:solidFill>
              </a:defRPr>
            </a:lvl1pPr>
          </a:lstStyle>
          <a:p>
            <a:fld id="{CC057153-B650-4DEB-B370-79DDCFDCE934}" type="slidenum">
              <a:rPr lang="en-US" smtClean="0"/>
              <a:t>‹#›</a:t>
            </a:fld>
            <a:endParaRPr lang="en-US"/>
          </a:p>
        </p:txBody>
      </p:sp>
    </p:spTree>
    <p:extLst>
      <p:ext uri="{BB962C8B-B14F-4D97-AF65-F5344CB8AC3E}">
        <p14:creationId xmlns:p14="http://schemas.microsoft.com/office/powerpoint/2010/main" val="3627764306"/>
      </p:ext>
    </p:extLst>
  </p:cSld>
  <p:clrMap bg1="lt1" tx1="dk1" bg2="lt2" tx2="dk2" accent1="accent1" accent2="accent2" accent3="accent3" accent4="accent4" accent5="accent5" accent6="accent6" hlink="hlink" folHlink="folHlink"/>
  <p:sldLayoutIdLst>
    <p:sldLayoutId id="2147483720" r:id="rId1"/>
    <p:sldLayoutId id="2147483721" r:id="rId2"/>
    <p:sldLayoutId id="2147483722" r:id="rId3"/>
    <p:sldLayoutId id="2147483723" r:id="rId4"/>
    <p:sldLayoutId id="2147483724" r:id="rId5"/>
    <p:sldLayoutId id="2147483718" r:id="rId6"/>
    <p:sldLayoutId id="2147483714" r:id="rId7"/>
    <p:sldLayoutId id="2147483715" r:id="rId8"/>
    <p:sldLayoutId id="2147483716" r:id="rId9"/>
    <p:sldLayoutId id="2147483717" r:id="rId10"/>
    <p:sldLayoutId id="2147483719" r:id="rId11"/>
  </p:sldLayoutIdLst>
  <p:hf sldNum="0" hdr="0" ftr="0" dt="0"/>
  <p:txStyles>
    <p:titleStyle>
      <a:lvl1pPr algn="l" defTabSz="914400" rtl="0" eaLnBrk="1" latinLnBrk="0" hangingPunct="1">
        <a:lnSpc>
          <a:spcPct val="90000"/>
        </a:lnSpc>
        <a:spcBef>
          <a:spcPct val="0"/>
        </a:spcBef>
        <a:buNone/>
        <a:defRPr sz="3600" b="1"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2000" kern="1200">
          <a:solidFill>
            <a:schemeClr val="tx1"/>
          </a:solidFill>
          <a:latin typeface="+mn-lt"/>
          <a:ea typeface="+mn-ea"/>
          <a:cs typeface="+mn-cs"/>
        </a:defRPr>
      </a:lvl1pPr>
      <a:lvl2pPr marL="457200" indent="-228600" algn="l" defTabSz="914400" rtl="0" eaLnBrk="1" latinLnBrk="0" hangingPunct="1">
        <a:lnSpc>
          <a:spcPct val="120000"/>
        </a:lnSpc>
        <a:spcBef>
          <a:spcPts val="500"/>
        </a:spcBef>
        <a:buFont typeface="Arial" panose="020B0604020202020204" pitchFamily="34" charset="0"/>
        <a:buChar char="•"/>
        <a:defRPr sz="1800" kern="1200">
          <a:solidFill>
            <a:schemeClr val="tx1"/>
          </a:solidFill>
          <a:latin typeface="+mn-lt"/>
          <a:ea typeface="+mn-ea"/>
          <a:cs typeface="+mn-cs"/>
        </a:defRPr>
      </a:lvl2pPr>
      <a:lvl3pPr marL="6858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3pPr>
      <a:lvl4pPr marL="9144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11430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hyperlink" Target="https://learn.microsoft.com/en-us/dotnet/standard/design-guidelines/naming-guidelines" TargetMode="Externa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hyperlink" Target="https://www.pluralsight.com/blog/software-development/everything-you-need-to-know-about-c-"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1A32057F-F015-B1B2-4E3E-2307F8EFC97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4" name="Picture 23">
            <a:extLst>
              <a:ext uri="{FF2B5EF4-FFF2-40B4-BE49-F238E27FC236}">
                <a16:creationId xmlns:a16="http://schemas.microsoft.com/office/drawing/2014/main" id="{57C1B053-F8C5-6DAC-7637-05D40BD01B01}"/>
              </a:ext>
            </a:extLst>
          </p:cNvPr>
          <p:cNvPicPr>
            <a:picLocks noChangeAspect="1"/>
          </p:cNvPicPr>
          <p:nvPr/>
        </p:nvPicPr>
        <p:blipFill>
          <a:blip r:embed="rId2"/>
          <a:srcRect l="23784" r="21324" b="1"/>
          <a:stretch/>
        </p:blipFill>
        <p:spPr>
          <a:xfrm>
            <a:off x="20" y="1"/>
            <a:ext cx="6575591" cy="6858000"/>
          </a:xfrm>
          <a:prstGeom prst="rect">
            <a:avLst/>
          </a:prstGeom>
        </p:spPr>
      </p:pic>
      <p:sp>
        <p:nvSpPr>
          <p:cNvPr id="2" name="Title 1">
            <a:extLst>
              <a:ext uri="{FF2B5EF4-FFF2-40B4-BE49-F238E27FC236}">
                <a16:creationId xmlns:a16="http://schemas.microsoft.com/office/drawing/2014/main" id="{9AC660B8-2604-5FBA-2BA2-F754D12D2030}"/>
              </a:ext>
            </a:extLst>
          </p:cNvPr>
          <p:cNvSpPr>
            <a:spLocks noGrp="1"/>
          </p:cNvSpPr>
          <p:nvPr>
            <p:ph type="ctrTitle"/>
          </p:nvPr>
        </p:nvSpPr>
        <p:spPr>
          <a:xfrm>
            <a:off x="7168896" y="1129554"/>
            <a:ext cx="4361688" cy="3475236"/>
          </a:xfrm>
        </p:spPr>
        <p:txBody>
          <a:bodyPr>
            <a:normAutofit/>
          </a:bodyPr>
          <a:lstStyle/>
          <a:p>
            <a:pPr algn="l"/>
            <a:r>
              <a:rPr lang="en-GB" sz="4600"/>
              <a:t>Introduction to Games Industry Practice</a:t>
            </a:r>
            <a:br>
              <a:rPr lang="en-GB" sz="4600"/>
            </a:br>
            <a:r>
              <a:rPr lang="en-GB" sz="4600"/>
              <a:t>GDV4000</a:t>
            </a:r>
          </a:p>
        </p:txBody>
      </p:sp>
      <p:sp>
        <p:nvSpPr>
          <p:cNvPr id="3" name="Subtitle 2">
            <a:extLst>
              <a:ext uri="{FF2B5EF4-FFF2-40B4-BE49-F238E27FC236}">
                <a16:creationId xmlns:a16="http://schemas.microsoft.com/office/drawing/2014/main" id="{06F1A8A3-93AD-AB42-719A-C3284BBE4B9D}"/>
              </a:ext>
            </a:extLst>
          </p:cNvPr>
          <p:cNvSpPr>
            <a:spLocks noGrp="1"/>
          </p:cNvSpPr>
          <p:nvPr>
            <p:ph type="subTitle" idx="1"/>
          </p:nvPr>
        </p:nvSpPr>
        <p:spPr>
          <a:xfrm>
            <a:off x="7168896" y="4731337"/>
            <a:ext cx="4206240" cy="1184584"/>
          </a:xfrm>
        </p:spPr>
        <p:txBody>
          <a:bodyPr>
            <a:normAutofit/>
          </a:bodyPr>
          <a:lstStyle/>
          <a:p>
            <a:pPr algn="l"/>
            <a:r>
              <a:rPr lang="en-GB"/>
              <a:t>C# - A look at our Endless Runner Script</a:t>
            </a:r>
          </a:p>
        </p:txBody>
      </p:sp>
    </p:spTree>
    <p:extLst>
      <p:ext uri="{BB962C8B-B14F-4D97-AF65-F5344CB8AC3E}">
        <p14:creationId xmlns:p14="http://schemas.microsoft.com/office/powerpoint/2010/main" val="190724305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237955-9DF6-9819-5CB3-4800A7982BDE}"/>
              </a:ext>
            </a:extLst>
          </p:cNvPr>
          <p:cNvSpPr>
            <a:spLocks noGrp="1"/>
          </p:cNvSpPr>
          <p:nvPr>
            <p:ph type="title"/>
          </p:nvPr>
        </p:nvSpPr>
        <p:spPr/>
        <p:txBody>
          <a:bodyPr/>
          <a:lstStyle/>
          <a:p>
            <a:r>
              <a:rPr lang="en-GB" dirty="0"/>
              <a:t>What is C#?</a:t>
            </a:r>
          </a:p>
        </p:txBody>
      </p:sp>
      <p:sp>
        <p:nvSpPr>
          <p:cNvPr id="3" name="Content Placeholder 2">
            <a:extLst>
              <a:ext uri="{FF2B5EF4-FFF2-40B4-BE49-F238E27FC236}">
                <a16:creationId xmlns:a16="http://schemas.microsoft.com/office/drawing/2014/main" id="{DA3E6358-A29F-86D4-452D-309DE7E8EB8F}"/>
              </a:ext>
            </a:extLst>
          </p:cNvPr>
          <p:cNvSpPr>
            <a:spLocks noGrp="1"/>
          </p:cNvSpPr>
          <p:nvPr>
            <p:ph idx="1"/>
          </p:nvPr>
        </p:nvSpPr>
        <p:spPr>
          <a:xfrm>
            <a:off x="612647" y="1715512"/>
            <a:ext cx="10653579" cy="4593848"/>
          </a:xfrm>
        </p:spPr>
        <p:txBody>
          <a:bodyPr>
            <a:normAutofit/>
          </a:bodyPr>
          <a:lstStyle/>
          <a:p>
            <a:r>
              <a:rPr lang="en-GB" dirty="0"/>
              <a:t>C# (C-Sharp) is Microsoft’s Object-Oriented programming language that runs on the .NET Framework. First developed in 2000 by Anders Hejlsberg. Originally it was going to be called ‘COOL’ - C-like Object Oriented Language (</a:t>
            </a:r>
            <a:r>
              <a:rPr lang="en-GB" dirty="0" err="1"/>
              <a:t>PluralSight</a:t>
            </a:r>
            <a:r>
              <a:rPr lang="en-GB" dirty="0"/>
              <a:t>, 2022). It is a part of the C family, along with C++.</a:t>
            </a:r>
          </a:p>
          <a:p>
            <a:r>
              <a:rPr lang="en-GB" dirty="0"/>
              <a:t>It is widely used for:</a:t>
            </a:r>
          </a:p>
          <a:p>
            <a:pPr lvl="1"/>
            <a:r>
              <a:rPr lang="en-GB" dirty="0"/>
              <a:t>Mobile and Desktop Apps (Visual Studio, Paint.NET)</a:t>
            </a:r>
          </a:p>
          <a:p>
            <a:pPr lvl="1"/>
            <a:r>
              <a:rPr lang="en-GB" dirty="0"/>
              <a:t>Web Apps (Stack Overflow)</a:t>
            </a:r>
          </a:p>
          <a:p>
            <a:pPr lvl="1"/>
            <a:r>
              <a:rPr lang="en-GB" dirty="0"/>
              <a:t>Web Services</a:t>
            </a:r>
          </a:p>
          <a:p>
            <a:pPr lvl="1"/>
            <a:r>
              <a:rPr lang="en-GB" dirty="0"/>
              <a:t>Games (</a:t>
            </a:r>
            <a:r>
              <a:rPr lang="en-GB" i="1" dirty="0"/>
              <a:t>Phasmophobia</a:t>
            </a:r>
            <a:r>
              <a:rPr lang="en-GB" dirty="0"/>
              <a:t>, </a:t>
            </a:r>
            <a:r>
              <a:rPr lang="en-GB" i="1" dirty="0"/>
              <a:t>Undisputed</a:t>
            </a:r>
            <a:r>
              <a:rPr lang="en-GB" dirty="0"/>
              <a:t>, </a:t>
            </a:r>
            <a:r>
              <a:rPr lang="en-GB" i="1" dirty="0"/>
              <a:t>Hollow Knight</a:t>
            </a:r>
            <a:r>
              <a:rPr lang="en-GB" dirty="0"/>
              <a:t>, </a:t>
            </a:r>
            <a:r>
              <a:rPr lang="en-GB" i="1" dirty="0"/>
              <a:t>Cuphead</a:t>
            </a:r>
            <a:r>
              <a:rPr lang="en-GB" dirty="0"/>
              <a:t>, </a:t>
            </a:r>
            <a:r>
              <a:rPr lang="en-GB" i="1" dirty="0"/>
              <a:t>7 Days to Die</a:t>
            </a:r>
            <a:r>
              <a:rPr lang="en-GB" dirty="0"/>
              <a:t>)</a:t>
            </a:r>
          </a:p>
          <a:p>
            <a:pPr lvl="1"/>
            <a:r>
              <a:rPr lang="en-GB" dirty="0"/>
              <a:t>VR</a:t>
            </a:r>
          </a:p>
          <a:p>
            <a:pPr lvl="1"/>
            <a:r>
              <a:rPr lang="en-GB" dirty="0"/>
              <a:t>Databases</a:t>
            </a:r>
          </a:p>
        </p:txBody>
      </p:sp>
    </p:spTree>
    <p:extLst>
      <p:ext uri="{BB962C8B-B14F-4D97-AF65-F5344CB8AC3E}">
        <p14:creationId xmlns:p14="http://schemas.microsoft.com/office/powerpoint/2010/main" val="318097539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4EFB62-A8C7-DEA4-00A9-F311C7917C54}"/>
              </a:ext>
            </a:extLst>
          </p:cNvPr>
          <p:cNvSpPr>
            <a:spLocks noGrp="1"/>
          </p:cNvSpPr>
          <p:nvPr>
            <p:ph type="title"/>
          </p:nvPr>
        </p:nvSpPr>
        <p:spPr/>
        <p:txBody>
          <a:bodyPr/>
          <a:lstStyle/>
          <a:p>
            <a:r>
              <a:rPr lang="en-GB" dirty="0"/>
              <a:t>Why learn C#?</a:t>
            </a:r>
          </a:p>
        </p:txBody>
      </p:sp>
      <p:sp>
        <p:nvSpPr>
          <p:cNvPr id="3" name="Content Placeholder 2">
            <a:extLst>
              <a:ext uri="{FF2B5EF4-FFF2-40B4-BE49-F238E27FC236}">
                <a16:creationId xmlns:a16="http://schemas.microsoft.com/office/drawing/2014/main" id="{9AFADC89-ED2F-9A94-F224-D9E0F452799B}"/>
              </a:ext>
            </a:extLst>
          </p:cNvPr>
          <p:cNvSpPr>
            <a:spLocks noGrp="1"/>
          </p:cNvSpPr>
          <p:nvPr>
            <p:ph idx="1"/>
          </p:nvPr>
        </p:nvSpPr>
        <p:spPr/>
        <p:txBody>
          <a:bodyPr/>
          <a:lstStyle/>
          <a:p>
            <a:r>
              <a:rPr lang="en-GB" dirty="0"/>
              <a:t>It has many uses, including being the main language for the Unity Game Engine we will be using.</a:t>
            </a:r>
          </a:p>
          <a:p>
            <a:r>
              <a:rPr lang="en-GB" dirty="0"/>
              <a:t>It also has a very large community supporting it, so a simple Google Search or asking the right question in a forum can often be very helpful.</a:t>
            </a:r>
          </a:p>
          <a:p>
            <a:r>
              <a:rPr lang="en-GB" dirty="0"/>
              <a:t>It is very close to Java, C, and C++.</a:t>
            </a:r>
          </a:p>
          <a:p>
            <a:r>
              <a:rPr lang="en-GB" dirty="0"/>
              <a:t>It is an OOP (Object-Oriented Programming) language. It allows for reuse of code. </a:t>
            </a:r>
          </a:p>
        </p:txBody>
      </p:sp>
    </p:spTree>
    <p:extLst>
      <p:ext uri="{BB962C8B-B14F-4D97-AF65-F5344CB8AC3E}">
        <p14:creationId xmlns:p14="http://schemas.microsoft.com/office/powerpoint/2010/main" val="385630533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60E1E-2C5D-0D77-38ED-0FEDEF0A3718}"/>
              </a:ext>
            </a:extLst>
          </p:cNvPr>
          <p:cNvSpPr>
            <a:spLocks noGrp="1"/>
          </p:cNvSpPr>
          <p:nvPr>
            <p:ph type="title"/>
          </p:nvPr>
        </p:nvSpPr>
        <p:spPr/>
        <p:txBody>
          <a:bodyPr/>
          <a:lstStyle/>
          <a:p>
            <a:r>
              <a:rPr lang="en-GB" dirty="0"/>
              <a:t>C# and Unity</a:t>
            </a:r>
          </a:p>
        </p:txBody>
      </p:sp>
      <p:sp>
        <p:nvSpPr>
          <p:cNvPr id="3" name="Content Placeholder 2">
            <a:extLst>
              <a:ext uri="{FF2B5EF4-FFF2-40B4-BE49-F238E27FC236}">
                <a16:creationId xmlns:a16="http://schemas.microsoft.com/office/drawing/2014/main" id="{81018E5B-8F32-B578-4F42-6BD21D5D61FA}"/>
              </a:ext>
            </a:extLst>
          </p:cNvPr>
          <p:cNvSpPr>
            <a:spLocks noGrp="1"/>
          </p:cNvSpPr>
          <p:nvPr>
            <p:ph idx="1"/>
          </p:nvPr>
        </p:nvSpPr>
        <p:spPr>
          <a:xfrm>
            <a:off x="612647" y="1347324"/>
            <a:ext cx="10653579" cy="4962036"/>
          </a:xfrm>
        </p:spPr>
        <p:txBody>
          <a:bodyPr/>
          <a:lstStyle/>
          <a:p>
            <a:r>
              <a:rPr lang="en-GB" dirty="0"/>
              <a:t>We will be using C# scripting to tell Unity what actions we need to have it perform. Game-play, Rules etc, cannot be created from components alone. We </a:t>
            </a:r>
            <a:r>
              <a:rPr lang="en-GB" b="1" dirty="0"/>
              <a:t>need</a:t>
            </a:r>
            <a:r>
              <a:rPr lang="en-GB" dirty="0"/>
              <a:t> code.</a:t>
            </a:r>
          </a:p>
          <a:p>
            <a:r>
              <a:rPr lang="en-GB" dirty="0"/>
              <a:t>Game Development is a branch of Computer Science. We need to use specific words, phrases and syntax to ensure our instructions are not misunderstood. They need to be exact.</a:t>
            </a:r>
          </a:p>
          <a:p>
            <a:r>
              <a:rPr lang="en-GB" dirty="0"/>
              <a:t>Syntax is the set of rules that you will follow when writing your code.</a:t>
            </a:r>
          </a:p>
          <a:p>
            <a:r>
              <a:rPr lang="en-GB" dirty="0"/>
              <a:t>When coding in C#, we will be using some of the following:</a:t>
            </a:r>
          </a:p>
          <a:p>
            <a:pPr lvl="1"/>
            <a:r>
              <a:rPr lang="en-GB" dirty="0"/>
              <a:t>Classes, Objects, Statements, Comments, Variables, Constants, Operators, Assignments, Methods, Loops, Inheritance, Polymorphism, Interfaces…</a:t>
            </a:r>
          </a:p>
          <a:p>
            <a:r>
              <a:rPr lang="en-GB" dirty="0"/>
              <a:t>Some of these may already be familiar to you from the Principles of Programming module…</a:t>
            </a:r>
          </a:p>
          <a:p>
            <a:pPr marL="0" indent="0">
              <a:buNone/>
            </a:pPr>
            <a:endParaRPr lang="en-GB" dirty="0"/>
          </a:p>
          <a:p>
            <a:pPr lvl="1"/>
            <a:endParaRPr lang="en-GB" dirty="0"/>
          </a:p>
          <a:p>
            <a:endParaRPr lang="en-GB" dirty="0"/>
          </a:p>
        </p:txBody>
      </p:sp>
    </p:spTree>
    <p:extLst>
      <p:ext uri="{BB962C8B-B14F-4D97-AF65-F5344CB8AC3E}">
        <p14:creationId xmlns:p14="http://schemas.microsoft.com/office/powerpoint/2010/main" val="4034307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60E1E-2C5D-0D77-38ED-0FEDEF0A3718}"/>
              </a:ext>
            </a:extLst>
          </p:cNvPr>
          <p:cNvSpPr>
            <a:spLocks noGrp="1"/>
          </p:cNvSpPr>
          <p:nvPr>
            <p:ph type="title"/>
          </p:nvPr>
        </p:nvSpPr>
        <p:spPr/>
        <p:txBody>
          <a:bodyPr/>
          <a:lstStyle/>
          <a:p>
            <a:r>
              <a:rPr lang="en-GB" dirty="0"/>
              <a:t>C# and Unity</a:t>
            </a:r>
          </a:p>
        </p:txBody>
      </p:sp>
      <p:sp>
        <p:nvSpPr>
          <p:cNvPr id="3" name="Content Placeholder 2">
            <a:extLst>
              <a:ext uri="{FF2B5EF4-FFF2-40B4-BE49-F238E27FC236}">
                <a16:creationId xmlns:a16="http://schemas.microsoft.com/office/drawing/2014/main" id="{81018E5B-8F32-B578-4F42-6BD21D5D61FA}"/>
              </a:ext>
            </a:extLst>
          </p:cNvPr>
          <p:cNvSpPr>
            <a:spLocks noGrp="1"/>
          </p:cNvSpPr>
          <p:nvPr>
            <p:ph idx="1"/>
          </p:nvPr>
        </p:nvSpPr>
        <p:spPr>
          <a:xfrm>
            <a:off x="612647" y="1353312"/>
            <a:ext cx="10653579" cy="4956048"/>
          </a:xfrm>
        </p:spPr>
        <p:txBody>
          <a:bodyPr/>
          <a:lstStyle/>
          <a:p>
            <a:r>
              <a:rPr lang="en-GB" dirty="0"/>
              <a:t>When we create a new Script in Unity in the Lab, the engine will open it in Visual Studio. This is set as the go-to external tool for Unity, but it is not the only one available (JetBrains Rider, Sublime, Notepad ++). If you are installing VS on your own machine, be sure to check that you are including the extensions for Unity too.</a:t>
            </a:r>
          </a:p>
          <a:p>
            <a:r>
              <a:rPr lang="en-GB" dirty="0"/>
              <a:t>Both Unreal and Unity rely on an external tool for writing code (unless you are using a visual scripting system such as Blueprints). </a:t>
            </a:r>
          </a:p>
          <a:p>
            <a:r>
              <a:rPr lang="en-GB" dirty="0"/>
              <a:t>It is possible in Unreal to just use the engine if you are not doing any coding in C++, but most AAA games made with the engine will be a combination of the two.</a:t>
            </a:r>
          </a:p>
          <a:p>
            <a:r>
              <a:rPr lang="en-GB" dirty="0"/>
              <a:t>For now, we are dealing with Unity, but you will have the option to look at Unreal next year.</a:t>
            </a:r>
          </a:p>
          <a:p>
            <a:endParaRPr lang="en-GB" dirty="0"/>
          </a:p>
          <a:p>
            <a:pPr marL="0" indent="0">
              <a:buNone/>
            </a:pPr>
            <a:endParaRPr lang="en-GB" dirty="0"/>
          </a:p>
          <a:p>
            <a:pPr lvl="1"/>
            <a:endParaRPr lang="en-GB" dirty="0"/>
          </a:p>
          <a:p>
            <a:endParaRPr lang="en-GB" dirty="0"/>
          </a:p>
        </p:txBody>
      </p:sp>
    </p:spTree>
    <p:extLst>
      <p:ext uri="{BB962C8B-B14F-4D97-AF65-F5344CB8AC3E}">
        <p14:creationId xmlns:p14="http://schemas.microsoft.com/office/powerpoint/2010/main" val="40379253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37B65277-82C6-6D08-6DCA-4A7DCC3B71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E2813BA-69C8-7EDE-6D2E-92C36C631285}"/>
              </a:ext>
            </a:extLst>
          </p:cNvPr>
          <p:cNvSpPr>
            <a:spLocks noGrp="1"/>
          </p:cNvSpPr>
          <p:nvPr>
            <p:ph type="title"/>
          </p:nvPr>
        </p:nvSpPr>
        <p:spPr>
          <a:xfrm>
            <a:off x="612648" y="603504"/>
            <a:ext cx="5862396" cy="1527048"/>
          </a:xfrm>
        </p:spPr>
        <p:txBody>
          <a:bodyPr anchor="b">
            <a:normAutofit/>
          </a:bodyPr>
          <a:lstStyle/>
          <a:p>
            <a:r>
              <a:rPr lang="en-GB" dirty="0"/>
              <a:t>Code Review</a:t>
            </a:r>
          </a:p>
        </p:txBody>
      </p:sp>
      <p:sp>
        <p:nvSpPr>
          <p:cNvPr id="3" name="Content Placeholder 2">
            <a:extLst>
              <a:ext uri="{FF2B5EF4-FFF2-40B4-BE49-F238E27FC236}">
                <a16:creationId xmlns:a16="http://schemas.microsoft.com/office/drawing/2014/main" id="{58A1216F-E65E-0DF3-8023-C0EC6D4B9376}"/>
              </a:ext>
            </a:extLst>
          </p:cNvPr>
          <p:cNvSpPr>
            <a:spLocks noGrp="1"/>
          </p:cNvSpPr>
          <p:nvPr>
            <p:ph idx="1"/>
          </p:nvPr>
        </p:nvSpPr>
        <p:spPr>
          <a:xfrm>
            <a:off x="612648" y="2212848"/>
            <a:ext cx="5862396" cy="4096512"/>
          </a:xfrm>
        </p:spPr>
        <p:txBody>
          <a:bodyPr>
            <a:normAutofit/>
          </a:bodyPr>
          <a:lstStyle/>
          <a:p>
            <a:r>
              <a:rPr lang="en-GB" sz="1800" dirty="0"/>
              <a:t>Breaking down the Endless Runner project Obstacle Code…</a:t>
            </a:r>
          </a:p>
        </p:txBody>
      </p:sp>
      <p:pic>
        <p:nvPicPr>
          <p:cNvPr id="5" name="Picture 4">
            <a:extLst>
              <a:ext uri="{FF2B5EF4-FFF2-40B4-BE49-F238E27FC236}">
                <a16:creationId xmlns:a16="http://schemas.microsoft.com/office/drawing/2014/main" id="{2DE86FB1-3783-238B-C93C-D8F0AEF491E7}"/>
              </a:ext>
            </a:extLst>
          </p:cNvPr>
          <p:cNvPicPr>
            <a:picLocks noChangeAspect="1"/>
          </p:cNvPicPr>
          <p:nvPr/>
        </p:nvPicPr>
        <p:blipFill>
          <a:blip r:embed="rId3"/>
          <a:srcRect t="5377" r="-1" b="-1"/>
          <a:stretch/>
        </p:blipFill>
        <p:spPr>
          <a:xfrm>
            <a:off x="7277129" y="433384"/>
            <a:ext cx="4310037" cy="6019618"/>
          </a:xfrm>
          <a:prstGeom prst="rect">
            <a:avLst/>
          </a:prstGeom>
        </p:spPr>
      </p:pic>
    </p:spTree>
    <p:extLst>
      <p:ext uri="{BB962C8B-B14F-4D97-AF65-F5344CB8AC3E}">
        <p14:creationId xmlns:p14="http://schemas.microsoft.com/office/powerpoint/2010/main" val="282132454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BB24C1-8801-238B-B85C-F6034B647D0E}"/>
              </a:ext>
            </a:extLst>
          </p:cNvPr>
          <p:cNvSpPr>
            <a:spLocks noGrp="1"/>
          </p:cNvSpPr>
          <p:nvPr>
            <p:ph type="title"/>
          </p:nvPr>
        </p:nvSpPr>
        <p:spPr>
          <a:xfrm>
            <a:off x="612649" y="132081"/>
            <a:ext cx="10653578" cy="673145"/>
          </a:xfrm>
        </p:spPr>
        <p:txBody>
          <a:bodyPr>
            <a:normAutofit/>
          </a:bodyPr>
          <a:lstStyle/>
          <a:p>
            <a:r>
              <a:rPr lang="en-GB" dirty="0"/>
              <a:t>Code Example</a:t>
            </a:r>
          </a:p>
        </p:txBody>
      </p:sp>
      <p:sp>
        <p:nvSpPr>
          <p:cNvPr id="3" name="Content Placeholder 2">
            <a:extLst>
              <a:ext uri="{FF2B5EF4-FFF2-40B4-BE49-F238E27FC236}">
                <a16:creationId xmlns:a16="http://schemas.microsoft.com/office/drawing/2014/main" id="{BD8AD466-1A6F-906C-B8CD-C6244B12221F}"/>
              </a:ext>
            </a:extLst>
          </p:cNvPr>
          <p:cNvSpPr>
            <a:spLocks noGrp="1"/>
          </p:cNvSpPr>
          <p:nvPr>
            <p:ph idx="1"/>
          </p:nvPr>
        </p:nvSpPr>
        <p:spPr>
          <a:xfrm>
            <a:off x="615346" y="700979"/>
            <a:ext cx="10653579" cy="554284"/>
          </a:xfrm>
        </p:spPr>
        <p:txBody>
          <a:bodyPr/>
          <a:lstStyle/>
          <a:p>
            <a:r>
              <a:rPr lang="en-GB" dirty="0"/>
              <a:t>Let us look at a script from the Endless Runner game…</a:t>
            </a:r>
          </a:p>
        </p:txBody>
      </p:sp>
      <p:grpSp>
        <p:nvGrpSpPr>
          <p:cNvPr id="11" name="Group 10">
            <a:extLst>
              <a:ext uri="{FF2B5EF4-FFF2-40B4-BE49-F238E27FC236}">
                <a16:creationId xmlns:a16="http://schemas.microsoft.com/office/drawing/2014/main" id="{382DCFF2-9632-8818-8910-C6E125CC09FA}"/>
              </a:ext>
            </a:extLst>
          </p:cNvPr>
          <p:cNvGrpSpPr/>
          <p:nvPr/>
        </p:nvGrpSpPr>
        <p:grpSpPr>
          <a:xfrm>
            <a:off x="654654" y="1270674"/>
            <a:ext cx="10696575" cy="3091158"/>
            <a:chOff x="654654" y="1270674"/>
            <a:chExt cx="10696575" cy="3091158"/>
          </a:xfrm>
        </p:grpSpPr>
        <p:grpSp>
          <p:nvGrpSpPr>
            <p:cNvPr id="4" name="object 3">
              <a:extLst>
                <a:ext uri="{FF2B5EF4-FFF2-40B4-BE49-F238E27FC236}">
                  <a16:creationId xmlns:a16="http://schemas.microsoft.com/office/drawing/2014/main" id="{1120002D-727C-0111-ADED-EAD8EAF05D10}"/>
                </a:ext>
              </a:extLst>
            </p:cNvPr>
            <p:cNvGrpSpPr>
              <a:grpSpLocks/>
            </p:cNvGrpSpPr>
            <p:nvPr/>
          </p:nvGrpSpPr>
          <p:grpSpPr>
            <a:xfrm>
              <a:off x="654654" y="1270674"/>
              <a:ext cx="10696575" cy="3091158"/>
              <a:chOff x="752474" y="914399"/>
              <a:chExt cx="10696575" cy="3524250"/>
            </a:xfrm>
          </p:grpSpPr>
          <p:sp>
            <p:nvSpPr>
              <p:cNvPr id="5" name="object 4">
                <a:extLst>
                  <a:ext uri="{FF2B5EF4-FFF2-40B4-BE49-F238E27FC236}">
                    <a16:creationId xmlns:a16="http://schemas.microsoft.com/office/drawing/2014/main" id="{B40A7335-134A-2BA7-531F-E13F38432C18}"/>
                  </a:ext>
                </a:extLst>
              </p:cNvPr>
              <p:cNvSpPr>
                <a:spLocks/>
              </p:cNvSpPr>
              <p:nvPr/>
            </p:nvSpPr>
            <p:spPr>
              <a:xfrm>
                <a:off x="757237" y="919162"/>
                <a:ext cx="10687050" cy="3514725"/>
              </a:xfrm>
              <a:custGeom>
                <a:avLst/>
                <a:gdLst/>
                <a:ahLst/>
                <a:cxnLst/>
                <a:rect l="l" t="t" r="r" b="b"/>
                <a:pathLst>
                  <a:path w="10687050" h="3514725">
                    <a:moveTo>
                      <a:pt x="10666394" y="3514724"/>
                    </a:moveTo>
                    <a:lnTo>
                      <a:pt x="20654" y="3514724"/>
                    </a:lnTo>
                    <a:lnTo>
                      <a:pt x="17617" y="3514120"/>
                    </a:lnTo>
                    <a:lnTo>
                      <a:pt x="0" y="3494069"/>
                    </a:lnTo>
                    <a:lnTo>
                      <a:pt x="0" y="3490912"/>
                    </a:lnTo>
                    <a:lnTo>
                      <a:pt x="0" y="20654"/>
                    </a:lnTo>
                    <a:lnTo>
                      <a:pt x="20654" y="0"/>
                    </a:lnTo>
                    <a:lnTo>
                      <a:pt x="10666394" y="0"/>
                    </a:lnTo>
                    <a:lnTo>
                      <a:pt x="10687048" y="20654"/>
                    </a:lnTo>
                    <a:lnTo>
                      <a:pt x="10687048" y="3494069"/>
                    </a:lnTo>
                    <a:lnTo>
                      <a:pt x="10669431" y="3514120"/>
                    </a:lnTo>
                    <a:lnTo>
                      <a:pt x="10666394" y="3514724"/>
                    </a:lnTo>
                    <a:close/>
                  </a:path>
                </a:pathLst>
              </a:custGeom>
              <a:solidFill>
                <a:srgbClr val="F5F7FA"/>
              </a:solidFill>
            </p:spPr>
            <p:txBody>
              <a:bodyPr wrap="square" lIns="0" tIns="0" rIns="0" bIns="0" rtlCol="0"/>
              <a:lstStyle/>
              <a:p>
                <a:endParaRPr/>
              </a:p>
            </p:txBody>
          </p:sp>
          <p:sp>
            <p:nvSpPr>
              <p:cNvPr id="6" name="object 5">
                <a:extLst>
                  <a:ext uri="{FF2B5EF4-FFF2-40B4-BE49-F238E27FC236}">
                    <a16:creationId xmlns:a16="http://schemas.microsoft.com/office/drawing/2014/main" id="{C9ED95C3-322B-C876-4FC8-31049C6A4686}"/>
                  </a:ext>
                </a:extLst>
              </p:cNvPr>
              <p:cNvSpPr>
                <a:spLocks/>
              </p:cNvSpPr>
              <p:nvPr/>
            </p:nvSpPr>
            <p:spPr>
              <a:xfrm>
                <a:off x="757237" y="919162"/>
                <a:ext cx="10687050" cy="3514725"/>
              </a:xfrm>
              <a:custGeom>
                <a:avLst/>
                <a:gdLst/>
                <a:ahLst/>
                <a:cxnLst/>
                <a:rect l="l" t="t" r="r" b="b"/>
                <a:pathLst>
                  <a:path w="10687050" h="3514725">
                    <a:moveTo>
                      <a:pt x="0" y="3490912"/>
                    </a:moveTo>
                    <a:lnTo>
                      <a:pt x="0" y="23812"/>
                    </a:lnTo>
                    <a:lnTo>
                      <a:pt x="0" y="20654"/>
                    </a:lnTo>
                    <a:lnTo>
                      <a:pt x="604" y="17617"/>
                    </a:lnTo>
                    <a:lnTo>
                      <a:pt x="1812" y="14699"/>
                    </a:lnTo>
                    <a:lnTo>
                      <a:pt x="3021" y="11782"/>
                    </a:lnTo>
                    <a:lnTo>
                      <a:pt x="4741" y="9207"/>
                    </a:lnTo>
                    <a:lnTo>
                      <a:pt x="6974" y="6974"/>
                    </a:lnTo>
                    <a:lnTo>
                      <a:pt x="9207" y="4741"/>
                    </a:lnTo>
                    <a:lnTo>
                      <a:pt x="11782" y="3020"/>
                    </a:lnTo>
                    <a:lnTo>
                      <a:pt x="14699" y="1812"/>
                    </a:lnTo>
                    <a:lnTo>
                      <a:pt x="17617" y="604"/>
                    </a:lnTo>
                    <a:lnTo>
                      <a:pt x="20654" y="0"/>
                    </a:lnTo>
                    <a:lnTo>
                      <a:pt x="23812" y="0"/>
                    </a:lnTo>
                    <a:lnTo>
                      <a:pt x="10663236" y="0"/>
                    </a:lnTo>
                    <a:lnTo>
                      <a:pt x="10666394" y="0"/>
                    </a:lnTo>
                    <a:lnTo>
                      <a:pt x="10669431" y="604"/>
                    </a:lnTo>
                    <a:lnTo>
                      <a:pt x="10672349" y="1812"/>
                    </a:lnTo>
                    <a:lnTo>
                      <a:pt x="10675266" y="3020"/>
                    </a:lnTo>
                    <a:lnTo>
                      <a:pt x="10685235" y="14699"/>
                    </a:lnTo>
                    <a:lnTo>
                      <a:pt x="10686443" y="17617"/>
                    </a:lnTo>
                    <a:lnTo>
                      <a:pt x="10687048" y="20654"/>
                    </a:lnTo>
                    <a:lnTo>
                      <a:pt x="10687049" y="23812"/>
                    </a:lnTo>
                    <a:lnTo>
                      <a:pt x="10687049" y="3490912"/>
                    </a:lnTo>
                    <a:lnTo>
                      <a:pt x="10687048" y="3494069"/>
                    </a:lnTo>
                    <a:lnTo>
                      <a:pt x="10686443" y="3497106"/>
                    </a:lnTo>
                    <a:lnTo>
                      <a:pt x="10685235" y="3500024"/>
                    </a:lnTo>
                    <a:lnTo>
                      <a:pt x="10684027" y="3502941"/>
                    </a:lnTo>
                    <a:lnTo>
                      <a:pt x="10672349" y="3512911"/>
                    </a:lnTo>
                    <a:lnTo>
                      <a:pt x="10669431" y="3514120"/>
                    </a:lnTo>
                    <a:lnTo>
                      <a:pt x="10666394" y="3514724"/>
                    </a:lnTo>
                    <a:lnTo>
                      <a:pt x="10663236" y="3514724"/>
                    </a:lnTo>
                    <a:lnTo>
                      <a:pt x="23812" y="3514724"/>
                    </a:lnTo>
                    <a:lnTo>
                      <a:pt x="20654" y="3514724"/>
                    </a:lnTo>
                    <a:lnTo>
                      <a:pt x="17617" y="3514120"/>
                    </a:lnTo>
                    <a:lnTo>
                      <a:pt x="14699" y="3512911"/>
                    </a:lnTo>
                    <a:lnTo>
                      <a:pt x="11782" y="3511703"/>
                    </a:lnTo>
                    <a:lnTo>
                      <a:pt x="0" y="3494069"/>
                    </a:lnTo>
                    <a:lnTo>
                      <a:pt x="0" y="3490912"/>
                    </a:lnTo>
                    <a:close/>
                  </a:path>
                </a:pathLst>
              </a:custGeom>
              <a:ln w="9524">
                <a:solidFill>
                  <a:srgbClr val="999999"/>
                </a:solidFill>
              </a:ln>
            </p:spPr>
            <p:txBody>
              <a:bodyPr wrap="square" lIns="0" tIns="0" rIns="0" bIns="0" rtlCol="0"/>
              <a:lstStyle/>
              <a:p>
                <a:endParaRPr/>
              </a:p>
            </p:txBody>
          </p:sp>
        </p:grpSp>
        <p:sp>
          <p:nvSpPr>
            <p:cNvPr id="7" name="object 6">
              <a:extLst>
                <a:ext uri="{FF2B5EF4-FFF2-40B4-BE49-F238E27FC236}">
                  <a16:creationId xmlns:a16="http://schemas.microsoft.com/office/drawing/2014/main" id="{8050BCA9-BA67-8DD9-39AD-ACBC4F84AA22}"/>
                </a:ext>
              </a:extLst>
            </p:cNvPr>
            <p:cNvSpPr txBox="1">
              <a:spLocks/>
            </p:cNvSpPr>
            <p:nvPr/>
          </p:nvSpPr>
          <p:spPr>
            <a:xfrm>
              <a:off x="845533" y="1365439"/>
              <a:ext cx="5832475" cy="1907539"/>
            </a:xfrm>
            <a:prstGeom prst="rect">
              <a:avLst/>
            </a:prstGeom>
          </p:spPr>
          <p:txBody>
            <a:bodyPr vert="horz" wrap="square" lIns="0" tIns="12065" rIns="0" bIns="0" rtlCol="0">
              <a:spAutoFit/>
            </a:bodyPr>
            <a:lstStyle/>
            <a:p>
              <a:pPr marL="12700">
                <a:lnSpc>
                  <a:spcPts val="2160"/>
                </a:lnSpc>
                <a:spcBef>
                  <a:spcPts val="95"/>
                </a:spcBef>
              </a:pPr>
              <a:r>
                <a:rPr sz="1850" dirty="0">
                  <a:solidFill>
                    <a:srgbClr val="D63A49"/>
                  </a:solidFill>
                  <a:latin typeface="Consolas"/>
                  <a:cs typeface="Consolas"/>
                </a:rPr>
                <a:t>using</a:t>
              </a:r>
              <a:r>
                <a:rPr sz="1850" spc="-25" dirty="0">
                  <a:solidFill>
                    <a:srgbClr val="D63A49"/>
                  </a:solidFill>
                  <a:latin typeface="Consolas"/>
                  <a:cs typeface="Consolas"/>
                </a:rPr>
                <a:t> </a:t>
              </a:r>
              <a:r>
                <a:rPr sz="1850" spc="-10" dirty="0">
                  <a:solidFill>
                    <a:srgbClr val="24292E"/>
                  </a:solidFill>
                  <a:latin typeface="Consolas"/>
                  <a:cs typeface="Consolas"/>
                </a:rPr>
                <a:t>System.Collections;</a:t>
              </a:r>
              <a:endParaRPr sz="1850" dirty="0">
                <a:latin typeface="Consolas"/>
                <a:cs typeface="Consolas"/>
              </a:endParaRPr>
            </a:p>
            <a:p>
              <a:pPr marL="12700" marR="1553210">
                <a:lnSpc>
                  <a:spcPts val="2100"/>
                </a:lnSpc>
                <a:spcBef>
                  <a:spcPts val="110"/>
                </a:spcBef>
              </a:pPr>
              <a:r>
                <a:rPr sz="1850" dirty="0">
                  <a:solidFill>
                    <a:srgbClr val="D63A49"/>
                  </a:solidFill>
                  <a:latin typeface="Consolas"/>
                  <a:cs typeface="Consolas"/>
                </a:rPr>
                <a:t>using</a:t>
              </a:r>
              <a:r>
                <a:rPr sz="1850" spc="-25" dirty="0">
                  <a:solidFill>
                    <a:srgbClr val="D63A49"/>
                  </a:solidFill>
                  <a:latin typeface="Consolas"/>
                  <a:cs typeface="Consolas"/>
                </a:rPr>
                <a:t> </a:t>
              </a:r>
              <a:r>
                <a:rPr sz="1850" spc="-10" dirty="0">
                  <a:solidFill>
                    <a:srgbClr val="24292E"/>
                  </a:solidFill>
                  <a:latin typeface="Consolas"/>
                  <a:cs typeface="Consolas"/>
                </a:rPr>
                <a:t>System.Collections.Generic; </a:t>
              </a:r>
              <a:r>
                <a:rPr sz="1850" dirty="0">
                  <a:solidFill>
                    <a:srgbClr val="D63A49"/>
                  </a:solidFill>
                  <a:latin typeface="Consolas"/>
                  <a:cs typeface="Consolas"/>
                </a:rPr>
                <a:t>using</a:t>
              </a:r>
              <a:r>
                <a:rPr sz="1850" spc="-25" dirty="0">
                  <a:solidFill>
                    <a:srgbClr val="D63A49"/>
                  </a:solidFill>
                  <a:latin typeface="Consolas"/>
                  <a:cs typeface="Consolas"/>
                </a:rPr>
                <a:t> </a:t>
              </a:r>
              <a:r>
                <a:rPr sz="1850" spc="-10" dirty="0">
                  <a:solidFill>
                    <a:srgbClr val="24292E"/>
                  </a:solidFill>
                  <a:latin typeface="Consolas"/>
                  <a:cs typeface="Consolas"/>
                </a:rPr>
                <a:t>UnityEngine;</a:t>
              </a:r>
              <a:endParaRPr sz="1850" dirty="0">
                <a:latin typeface="Consolas"/>
                <a:cs typeface="Consolas"/>
              </a:endParaRPr>
            </a:p>
            <a:p>
              <a:pPr marL="12700">
                <a:lnSpc>
                  <a:spcPts val="2160"/>
                </a:lnSpc>
                <a:spcBef>
                  <a:spcPts val="1930"/>
                </a:spcBef>
              </a:pPr>
              <a:r>
                <a:rPr sz="1850" dirty="0">
                  <a:solidFill>
                    <a:srgbClr val="D63A49"/>
                  </a:solidFill>
                  <a:latin typeface="Consolas"/>
                  <a:cs typeface="Consolas"/>
                </a:rPr>
                <a:t>public</a:t>
              </a:r>
              <a:r>
                <a:rPr sz="1850" spc="-35" dirty="0">
                  <a:solidFill>
                    <a:srgbClr val="D63A49"/>
                  </a:solidFill>
                  <a:latin typeface="Consolas"/>
                  <a:cs typeface="Consolas"/>
                </a:rPr>
                <a:t> </a:t>
              </a:r>
              <a:r>
                <a:rPr sz="1850" dirty="0">
                  <a:solidFill>
                    <a:srgbClr val="D63A49"/>
                  </a:solidFill>
                  <a:latin typeface="Consolas"/>
                  <a:cs typeface="Consolas"/>
                </a:rPr>
                <a:t>class</a:t>
              </a:r>
              <a:r>
                <a:rPr sz="1850" spc="-35" dirty="0">
                  <a:solidFill>
                    <a:srgbClr val="D63A49"/>
                  </a:solidFill>
                  <a:latin typeface="Consolas"/>
                  <a:cs typeface="Consolas"/>
                </a:rPr>
                <a:t> </a:t>
              </a:r>
              <a:r>
                <a:rPr sz="1850" dirty="0">
                  <a:solidFill>
                    <a:srgbClr val="6F41C1"/>
                  </a:solidFill>
                  <a:latin typeface="Consolas"/>
                  <a:cs typeface="Consolas"/>
                </a:rPr>
                <a:t>ObstacleMovement</a:t>
              </a:r>
              <a:r>
                <a:rPr sz="1850" spc="-35" dirty="0">
                  <a:solidFill>
                    <a:srgbClr val="6F41C1"/>
                  </a:solidFill>
                  <a:latin typeface="Consolas"/>
                  <a:cs typeface="Consolas"/>
                </a:rPr>
                <a:t> </a:t>
              </a:r>
              <a:r>
                <a:rPr sz="1850" dirty="0">
                  <a:solidFill>
                    <a:srgbClr val="24292E"/>
                  </a:solidFill>
                  <a:latin typeface="Consolas"/>
                  <a:cs typeface="Consolas"/>
                </a:rPr>
                <a:t>:</a:t>
              </a:r>
              <a:r>
                <a:rPr sz="1850" spc="-35" dirty="0">
                  <a:solidFill>
                    <a:srgbClr val="24292E"/>
                  </a:solidFill>
                  <a:latin typeface="Consolas"/>
                  <a:cs typeface="Consolas"/>
                </a:rPr>
                <a:t> </a:t>
              </a:r>
              <a:r>
                <a:rPr sz="1850" spc="-10" dirty="0">
                  <a:solidFill>
                    <a:srgbClr val="6F41C1"/>
                  </a:solidFill>
                  <a:latin typeface="Consolas"/>
                  <a:cs typeface="Consolas"/>
                </a:rPr>
                <a:t>MonoBehaviour</a:t>
              </a:r>
              <a:endParaRPr sz="1850" dirty="0">
                <a:latin typeface="Consolas"/>
                <a:cs typeface="Consolas"/>
              </a:endParaRPr>
            </a:p>
            <a:p>
              <a:pPr marL="12700">
                <a:lnSpc>
                  <a:spcPts val="2100"/>
                </a:lnSpc>
              </a:pPr>
              <a:r>
                <a:rPr sz="1850" spc="-50" dirty="0">
                  <a:solidFill>
                    <a:srgbClr val="24292E"/>
                  </a:solidFill>
                  <a:latin typeface="Consolas"/>
                  <a:cs typeface="Consolas"/>
                </a:rPr>
                <a:t>{</a:t>
              </a:r>
              <a:endParaRPr sz="1850" dirty="0">
                <a:latin typeface="Consolas"/>
                <a:cs typeface="Consolas"/>
              </a:endParaRPr>
            </a:p>
            <a:p>
              <a:pPr marL="528320">
                <a:lnSpc>
                  <a:spcPts val="2160"/>
                </a:lnSpc>
              </a:pPr>
              <a:r>
                <a:rPr sz="1850" dirty="0">
                  <a:solidFill>
                    <a:srgbClr val="D63A49"/>
                  </a:solidFill>
                  <a:latin typeface="Consolas"/>
                  <a:cs typeface="Consolas"/>
                </a:rPr>
                <a:t>private</a:t>
              </a:r>
              <a:r>
                <a:rPr sz="1850" spc="-45" dirty="0">
                  <a:solidFill>
                    <a:srgbClr val="D63A49"/>
                  </a:solidFill>
                  <a:latin typeface="Consolas"/>
                  <a:cs typeface="Consolas"/>
                </a:rPr>
                <a:t> </a:t>
              </a:r>
              <a:r>
                <a:rPr sz="1850" dirty="0">
                  <a:solidFill>
                    <a:srgbClr val="24292E"/>
                  </a:solidFill>
                  <a:latin typeface="Consolas"/>
                  <a:cs typeface="Consolas"/>
                </a:rPr>
                <a:t>Rigidbody2D</a:t>
              </a:r>
              <a:r>
                <a:rPr sz="1850" spc="-45" dirty="0">
                  <a:solidFill>
                    <a:srgbClr val="24292E"/>
                  </a:solidFill>
                  <a:latin typeface="Consolas"/>
                  <a:cs typeface="Consolas"/>
                </a:rPr>
                <a:t> </a:t>
              </a:r>
              <a:r>
                <a:rPr sz="1850" spc="-10" dirty="0">
                  <a:solidFill>
                    <a:srgbClr val="24292E"/>
                  </a:solidFill>
                  <a:latin typeface="Consolas"/>
                  <a:cs typeface="Consolas"/>
                </a:rPr>
                <a:t>obstacle;</a:t>
              </a:r>
              <a:endParaRPr sz="1850" dirty="0">
                <a:latin typeface="Consolas"/>
                <a:cs typeface="Consolas"/>
              </a:endParaRPr>
            </a:p>
          </p:txBody>
        </p:sp>
        <p:graphicFrame>
          <p:nvGraphicFramePr>
            <p:cNvPr id="9" name="object 7">
              <a:extLst>
                <a:ext uri="{FF2B5EF4-FFF2-40B4-BE49-F238E27FC236}">
                  <a16:creationId xmlns:a16="http://schemas.microsoft.com/office/drawing/2014/main" id="{AACE0485-A447-657E-CAE1-7E956CA3E34A}"/>
                </a:ext>
              </a:extLst>
            </p:cNvPr>
            <p:cNvGraphicFramePr>
              <a:graphicFrameLocks/>
            </p:cNvGraphicFramePr>
            <p:nvPr>
              <p:extLst>
                <p:ext uri="{D42A27DB-BD31-4B8C-83A1-F6EECF244321}">
                  <p14:modId xmlns:p14="http://schemas.microsoft.com/office/powerpoint/2010/main" val="3242366528"/>
                </p:ext>
              </p:extLst>
            </p:nvPr>
          </p:nvGraphicFramePr>
          <p:xfrm>
            <a:off x="1342140" y="3429000"/>
            <a:ext cx="4450715" cy="766445"/>
          </p:xfrm>
          <a:graphic>
            <a:graphicData uri="http://schemas.openxmlformats.org/drawingml/2006/table">
              <a:tbl>
                <a:tblPr firstRow="1" bandRow="1">
                  <a:tableStyleId>{2D5ABB26-0587-4C30-8999-92F81FD0307C}</a:tableStyleId>
                </a:tblPr>
                <a:tblGrid>
                  <a:gridCol w="870585">
                    <a:extLst>
                      <a:ext uri="{9D8B030D-6E8A-4147-A177-3AD203B41FA5}">
                        <a16:colId xmlns:a16="http://schemas.microsoft.com/office/drawing/2014/main" val="20000"/>
                      </a:ext>
                    </a:extLst>
                  </a:gridCol>
                  <a:gridCol w="774065">
                    <a:extLst>
                      <a:ext uri="{9D8B030D-6E8A-4147-A177-3AD203B41FA5}">
                        <a16:colId xmlns:a16="http://schemas.microsoft.com/office/drawing/2014/main" val="20001"/>
                      </a:ext>
                    </a:extLst>
                  </a:gridCol>
                  <a:gridCol w="2806065">
                    <a:extLst>
                      <a:ext uri="{9D8B030D-6E8A-4147-A177-3AD203B41FA5}">
                        <a16:colId xmlns:a16="http://schemas.microsoft.com/office/drawing/2014/main" val="20002"/>
                      </a:ext>
                    </a:extLst>
                  </a:gridCol>
                </a:tblGrid>
                <a:tr h="250190">
                  <a:tc>
                    <a:txBody>
                      <a:bodyPr/>
                      <a:lstStyle/>
                      <a:p>
                        <a:pPr marL="31750">
                          <a:lnSpc>
                            <a:spcPts val="1745"/>
                          </a:lnSpc>
                        </a:pPr>
                        <a:r>
                          <a:rPr sz="1850" spc="-10" dirty="0">
                            <a:solidFill>
                              <a:srgbClr val="D63A49"/>
                            </a:solidFill>
                            <a:latin typeface="Consolas"/>
                            <a:cs typeface="Consolas"/>
                          </a:rPr>
                          <a:t>public</a:t>
                        </a:r>
                        <a:endParaRPr sz="1850">
                          <a:latin typeface="Consolas"/>
                          <a:cs typeface="Consolas"/>
                        </a:endParaRPr>
                      </a:p>
                    </a:txBody>
                    <a:tcPr marL="0" marR="0" marT="0" marB="0"/>
                  </a:tc>
                  <a:tc>
                    <a:txBody>
                      <a:bodyPr/>
                      <a:lstStyle/>
                      <a:p>
                        <a:pPr algn="ctr">
                          <a:lnSpc>
                            <a:spcPts val="1745"/>
                          </a:lnSpc>
                        </a:pPr>
                        <a:r>
                          <a:rPr sz="1850" spc="-10" dirty="0">
                            <a:solidFill>
                              <a:srgbClr val="D63A49"/>
                            </a:solidFill>
                            <a:latin typeface="Consolas"/>
                            <a:cs typeface="Consolas"/>
                          </a:rPr>
                          <a:t>float</a:t>
                        </a:r>
                        <a:endParaRPr sz="1850" dirty="0">
                          <a:latin typeface="Consolas"/>
                          <a:cs typeface="Consolas"/>
                        </a:endParaRPr>
                      </a:p>
                    </a:txBody>
                    <a:tcPr marL="0" marR="0" marT="0" marB="0"/>
                  </a:tc>
                  <a:tc>
                    <a:txBody>
                      <a:bodyPr/>
                      <a:lstStyle/>
                      <a:p>
                        <a:pPr marL="64135">
                          <a:lnSpc>
                            <a:spcPts val="1745"/>
                          </a:lnSpc>
                        </a:pPr>
                        <a:r>
                          <a:rPr sz="1850" dirty="0">
                            <a:solidFill>
                              <a:srgbClr val="24292E"/>
                            </a:solidFill>
                            <a:latin typeface="Consolas"/>
                            <a:cs typeface="Consolas"/>
                          </a:rPr>
                          <a:t>speed</a:t>
                        </a:r>
                        <a:r>
                          <a:rPr sz="1850" spc="-15" dirty="0">
                            <a:solidFill>
                              <a:srgbClr val="24292E"/>
                            </a:solidFill>
                            <a:latin typeface="Consolas"/>
                            <a:cs typeface="Consolas"/>
                          </a:rPr>
                          <a:t> </a:t>
                        </a:r>
                        <a:r>
                          <a:rPr sz="1850" dirty="0">
                            <a:solidFill>
                              <a:srgbClr val="24292E"/>
                            </a:solidFill>
                            <a:latin typeface="Consolas"/>
                            <a:cs typeface="Consolas"/>
                          </a:rPr>
                          <a:t>=</a:t>
                        </a:r>
                        <a:r>
                          <a:rPr sz="1850" spc="-10" dirty="0">
                            <a:solidFill>
                              <a:srgbClr val="24292E"/>
                            </a:solidFill>
                            <a:latin typeface="Consolas"/>
                            <a:cs typeface="Consolas"/>
                          </a:rPr>
                          <a:t> </a:t>
                        </a:r>
                        <a:r>
                          <a:rPr sz="1850" spc="-10" dirty="0">
                            <a:solidFill>
                              <a:srgbClr val="005CC4"/>
                            </a:solidFill>
                            <a:latin typeface="Consolas"/>
                            <a:cs typeface="Consolas"/>
                          </a:rPr>
                          <a:t>-</a:t>
                        </a:r>
                        <a:r>
                          <a:rPr sz="1850" spc="-20" dirty="0">
                            <a:solidFill>
                              <a:srgbClr val="005CC4"/>
                            </a:solidFill>
                            <a:latin typeface="Consolas"/>
                            <a:cs typeface="Consolas"/>
                          </a:rPr>
                          <a:t>3.0f</a:t>
                        </a:r>
                        <a:r>
                          <a:rPr sz="1850" spc="-20" dirty="0">
                            <a:solidFill>
                              <a:srgbClr val="24292E"/>
                            </a:solidFill>
                            <a:latin typeface="Consolas"/>
                            <a:cs typeface="Consolas"/>
                          </a:rPr>
                          <a:t>;</a:t>
                        </a:r>
                        <a:endParaRPr sz="1850">
                          <a:latin typeface="Consolas"/>
                          <a:cs typeface="Consolas"/>
                        </a:endParaRPr>
                      </a:p>
                    </a:txBody>
                    <a:tcPr marL="0" marR="0" marT="0" marB="0"/>
                  </a:tc>
                  <a:extLst>
                    <a:ext uri="{0D108BD9-81ED-4DB2-BD59-A6C34878D82A}">
                      <a16:rowId xmlns:a16="http://schemas.microsoft.com/office/drawing/2014/main" val="10000"/>
                    </a:ext>
                  </a:extLst>
                </a:tr>
                <a:tr h="266065">
                  <a:tc>
                    <a:txBody>
                      <a:bodyPr/>
                      <a:lstStyle/>
                      <a:p>
                        <a:pPr marL="31750">
                          <a:lnSpc>
                            <a:spcPts val="1870"/>
                          </a:lnSpc>
                        </a:pPr>
                        <a:r>
                          <a:rPr sz="1850" spc="-10" dirty="0">
                            <a:solidFill>
                              <a:srgbClr val="D63A49"/>
                            </a:solidFill>
                            <a:latin typeface="Consolas"/>
                            <a:cs typeface="Consolas"/>
                          </a:rPr>
                          <a:t>public</a:t>
                        </a:r>
                        <a:endParaRPr sz="1850">
                          <a:latin typeface="Consolas"/>
                          <a:cs typeface="Consolas"/>
                        </a:endParaRPr>
                      </a:p>
                    </a:txBody>
                    <a:tcPr marL="0" marR="0" marT="0" marB="0"/>
                  </a:tc>
                  <a:tc>
                    <a:txBody>
                      <a:bodyPr/>
                      <a:lstStyle/>
                      <a:p>
                        <a:pPr algn="ctr">
                          <a:lnSpc>
                            <a:spcPts val="1870"/>
                          </a:lnSpc>
                        </a:pPr>
                        <a:r>
                          <a:rPr sz="1850" spc="-10" dirty="0">
                            <a:solidFill>
                              <a:srgbClr val="D63A49"/>
                            </a:solidFill>
                            <a:latin typeface="Consolas"/>
                            <a:cs typeface="Consolas"/>
                          </a:rPr>
                          <a:t>float</a:t>
                        </a:r>
                        <a:endParaRPr sz="1850">
                          <a:latin typeface="Consolas"/>
                          <a:cs typeface="Consolas"/>
                        </a:endParaRPr>
                      </a:p>
                    </a:txBody>
                    <a:tcPr marL="0" marR="0" marT="0" marB="0"/>
                  </a:tc>
                  <a:tc>
                    <a:txBody>
                      <a:bodyPr/>
                      <a:lstStyle/>
                      <a:p>
                        <a:pPr marL="64135">
                          <a:lnSpc>
                            <a:spcPts val="1870"/>
                          </a:lnSpc>
                        </a:pPr>
                        <a:r>
                          <a:rPr sz="1850" dirty="0">
                            <a:solidFill>
                              <a:srgbClr val="24292E"/>
                            </a:solidFill>
                            <a:latin typeface="Consolas"/>
                            <a:cs typeface="Consolas"/>
                          </a:rPr>
                          <a:t>rockLowerLimit</a:t>
                        </a:r>
                        <a:r>
                          <a:rPr sz="1850" spc="-45" dirty="0">
                            <a:solidFill>
                              <a:srgbClr val="24292E"/>
                            </a:solidFill>
                            <a:latin typeface="Consolas"/>
                            <a:cs typeface="Consolas"/>
                          </a:rPr>
                          <a:t> </a:t>
                        </a:r>
                        <a:r>
                          <a:rPr sz="1850" dirty="0">
                            <a:solidFill>
                              <a:srgbClr val="24292E"/>
                            </a:solidFill>
                            <a:latin typeface="Consolas"/>
                            <a:cs typeface="Consolas"/>
                          </a:rPr>
                          <a:t>=</a:t>
                        </a:r>
                        <a:r>
                          <a:rPr sz="1850" spc="-35" dirty="0">
                            <a:solidFill>
                              <a:srgbClr val="24292E"/>
                            </a:solidFill>
                            <a:latin typeface="Consolas"/>
                            <a:cs typeface="Consolas"/>
                          </a:rPr>
                          <a:t> </a:t>
                        </a:r>
                        <a:r>
                          <a:rPr sz="1850" spc="-10" dirty="0">
                            <a:solidFill>
                              <a:srgbClr val="005CC4"/>
                            </a:solidFill>
                            <a:latin typeface="Consolas"/>
                            <a:cs typeface="Consolas"/>
                          </a:rPr>
                          <a:t>-</a:t>
                        </a:r>
                        <a:r>
                          <a:rPr sz="1850" spc="-25" dirty="0">
                            <a:solidFill>
                              <a:srgbClr val="005CC4"/>
                            </a:solidFill>
                            <a:latin typeface="Consolas"/>
                            <a:cs typeface="Consolas"/>
                          </a:rPr>
                          <a:t>4</a:t>
                        </a:r>
                        <a:r>
                          <a:rPr sz="1850" spc="-25" dirty="0">
                            <a:solidFill>
                              <a:srgbClr val="24292E"/>
                            </a:solidFill>
                            <a:latin typeface="Consolas"/>
                            <a:cs typeface="Consolas"/>
                          </a:rPr>
                          <a:t>;</a:t>
                        </a:r>
                        <a:endParaRPr sz="1850">
                          <a:latin typeface="Consolas"/>
                          <a:cs typeface="Consolas"/>
                        </a:endParaRPr>
                      </a:p>
                    </a:txBody>
                    <a:tcPr marL="0" marR="0" marT="0" marB="0"/>
                  </a:tc>
                  <a:extLst>
                    <a:ext uri="{0D108BD9-81ED-4DB2-BD59-A6C34878D82A}">
                      <a16:rowId xmlns:a16="http://schemas.microsoft.com/office/drawing/2014/main" val="10001"/>
                    </a:ext>
                  </a:extLst>
                </a:tr>
                <a:tr h="250190">
                  <a:tc>
                    <a:txBody>
                      <a:bodyPr/>
                      <a:lstStyle/>
                      <a:p>
                        <a:pPr marL="31750">
                          <a:lnSpc>
                            <a:spcPts val="1870"/>
                          </a:lnSpc>
                        </a:pPr>
                        <a:r>
                          <a:rPr sz="1850" spc="-10" dirty="0">
                            <a:solidFill>
                              <a:srgbClr val="D63A49"/>
                            </a:solidFill>
                            <a:latin typeface="Consolas"/>
                            <a:cs typeface="Consolas"/>
                          </a:rPr>
                          <a:t>public</a:t>
                        </a:r>
                        <a:endParaRPr sz="1850">
                          <a:latin typeface="Consolas"/>
                          <a:cs typeface="Consolas"/>
                        </a:endParaRPr>
                      </a:p>
                    </a:txBody>
                    <a:tcPr marL="0" marR="0" marT="0" marB="0"/>
                  </a:tc>
                  <a:tc>
                    <a:txBody>
                      <a:bodyPr/>
                      <a:lstStyle/>
                      <a:p>
                        <a:pPr algn="ctr">
                          <a:lnSpc>
                            <a:spcPts val="1870"/>
                          </a:lnSpc>
                        </a:pPr>
                        <a:r>
                          <a:rPr sz="1850" spc="-10" dirty="0">
                            <a:solidFill>
                              <a:srgbClr val="D63A49"/>
                            </a:solidFill>
                            <a:latin typeface="Consolas"/>
                            <a:cs typeface="Consolas"/>
                          </a:rPr>
                          <a:t>float</a:t>
                        </a:r>
                        <a:endParaRPr sz="1850">
                          <a:latin typeface="Consolas"/>
                          <a:cs typeface="Consolas"/>
                        </a:endParaRPr>
                      </a:p>
                    </a:txBody>
                    <a:tcPr marL="0" marR="0" marT="0" marB="0"/>
                  </a:tc>
                  <a:tc>
                    <a:txBody>
                      <a:bodyPr/>
                      <a:lstStyle/>
                      <a:p>
                        <a:pPr marL="64135">
                          <a:lnSpc>
                            <a:spcPts val="1870"/>
                          </a:lnSpc>
                        </a:pPr>
                        <a:r>
                          <a:rPr sz="1850" dirty="0">
                            <a:solidFill>
                              <a:srgbClr val="24292E"/>
                            </a:solidFill>
                            <a:latin typeface="Consolas"/>
                            <a:cs typeface="Consolas"/>
                          </a:rPr>
                          <a:t>rockHigherLimit</a:t>
                        </a:r>
                        <a:r>
                          <a:rPr sz="1850" spc="-50" dirty="0">
                            <a:solidFill>
                              <a:srgbClr val="24292E"/>
                            </a:solidFill>
                            <a:latin typeface="Consolas"/>
                            <a:cs typeface="Consolas"/>
                          </a:rPr>
                          <a:t> </a:t>
                        </a:r>
                        <a:r>
                          <a:rPr sz="1850" dirty="0">
                            <a:solidFill>
                              <a:srgbClr val="24292E"/>
                            </a:solidFill>
                            <a:latin typeface="Consolas"/>
                            <a:cs typeface="Consolas"/>
                          </a:rPr>
                          <a:t>=</a:t>
                        </a:r>
                        <a:r>
                          <a:rPr sz="1850" spc="-35" dirty="0">
                            <a:solidFill>
                              <a:srgbClr val="24292E"/>
                            </a:solidFill>
                            <a:latin typeface="Consolas"/>
                            <a:cs typeface="Consolas"/>
                          </a:rPr>
                          <a:t> </a:t>
                        </a:r>
                        <a:r>
                          <a:rPr sz="1850" spc="-10" dirty="0">
                            <a:solidFill>
                              <a:srgbClr val="005CC4"/>
                            </a:solidFill>
                            <a:latin typeface="Consolas"/>
                            <a:cs typeface="Consolas"/>
                          </a:rPr>
                          <a:t>-</a:t>
                        </a:r>
                        <a:r>
                          <a:rPr sz="1850" spc="-25" dirty="0">
                            <a:solidFill>
                              <a:srgbClr val="005CC4"/>
                            </a:solidFill>
                            <a:latin typeface="Consolas"/>
                            <a:cs typeface="Consolas"/>
                          </a:rPr>
                          <a:t>1</a:t>
                        </a:r>
                        <a:r>
                          <a:rPr sz="1850" spc="-25" dirty="0">
                            <a:solidFill>
                              <a:srgbClr val="24292E"/>
                            </a:solidFill>
                            <a:latin typeface="Consolas"/>
                            <a:cs typeface="Consolas"/>
                          </a:rPr>
                          <a:t>;</a:t>
                        </a:r>
                        <a:endParaRPr sz="1850" dirty="0">
                          <a:latin typeface="Consolas"/>
                          <a:cs typeface="Consolas"/>
                        </a:endParaRPr>
                      </a:p>
                    </a:txBody>
                    <a:tcPr marL="0" marR="0" marT="0" marB="0"/>
                  </a:tc>
                  <a:extLst>
                    <a:ext uri="{0D108BD9-81ED-4DB2-BD59-A6C34878D82A}">
                      <a16:rowId xmlns:a16="http://schemas.microsoft.com/office/drawing/2014/main" val="10002"/>
                    </a:ext>
                  </a:extLst>
                </a:tr>
              </a:tbl>
            </a:graphicData>
          </a:graphic>
        </p:graphicFrame>
      </p:grpSp>
      <p:sp>
        <p:nvSpPr>
          <p:cNvPr id="12" name="Content Placeholder 2">
            <a:extLst>
              <a:ext uri="{FF2B5EF4-FFF2-40B4-BE49-F238E27FC236}">
                <a16:creationId xmlns:a16="http://schemas.microsoft.com/office/drawing/2014/main" id="{7997D500-B82C-20A0-05CF-F7D89EF3D51B}"/>
              </a:ext>
            </a:extLst>
          </p:cNvPr>
          <p:cNvSpPr txBox="1">
            <a:spLocks/>
          </p:cNvSpPr>
          <p:nvPr/>
        </p:nvSpPr>
        <p:spPr>
          <a:xfrm>
            <a:off x="612649" y="4460154"/>
            <a:ext cx="10926593" cy="2329063"/>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Font typeface="Arial" panose="020B0604020202020204" pitchFamily="34" charset="0"/>
              <a:buChar char="•"/>
              <a:defRPr sz="2000" kern="1200">
                <a:solidFill>
                  <a:schemeClr val="tx1"/>
                </a:solidFill>
                <a:latin typeface="+mn-lt"/>
                <a:ea typeface="+mn-ea"/>
                <a:cs typeface="+mn-cs"/>
              </a:defRPr>
            </a:lvl1pPr>
            <a:lvl2pPr marL="457200" indent="-228600" algn="l" defTabSz="914400" rtl="0" eaLnBrk="1" latinLnBrk="0" hangingPunct="1">
              <a:lnSpc>
                <a:spcPct val="120000"/>
              </a:lnSpc>
              <a:spcBef>
                <a:spcPts val="500"/>
              </a:spcBef>
              <a:buFont typeface="Arial" panose="020B0604020202020204" pitchFamily="34" charset="0"/>
              <a:buChar char="•"/>
              <a:defRPr sz="1800" kern="1200">
                <a:solidFill>
                  <a:schemeClr val="tx1"/>
                </a:solidFill>
                <a:latin typeface="+mn-lt"/>
                <a:ea typeface="+mn-ea"/>
                <a:cs typeface="+mn-cs"/>
              </a:defRPr>
            </a:lvl2pPr>
            <a:lvl3pPr marL="6858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3pPr>
            <a:lvl4pPr marL="9144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11430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sz="1600" dirty="0"/>
              <a:t>At the top of the script, we have three statements starting with </a:t>
            </a:r>
            <a:r>
              <a:rPr lang="en-GB" sz="1600" dirty="0">
                <a:solidFill>
                  <a:srgbClr val="C00000"/>
                </a:solidFill>
              </a:rPr>
              <a:t>using</a:t>
            </a:r>
            <a:r>
              <a:rPr lang="en-GB" sz="1600" dirty="0"/>
              <a:t>…</a:t>
            </a:r>
          </a:p>
          <a:p>
            <a:pPr lvl="1"/>
            <a:r>
              <a:rPr lang="en-GB" sz="1400" dirty="0"/>
              <a:t>These are effectively unlocking functionality that we will need to access in order to print to the Command Console, and to communicate with Unity. Along with the next line, this is auto-generated when creating a C# Script in Unity. This is what is referred to as ‘Boilerplate’ code - You don’t need to know how it works, but it needs to be there!</a:t>
            </a:r>
          </a:p>
          <a:p>
            <a:pPr lvl="1"/>
            <a:r>
              <a:rPr lang="en-GB" sz="1400" dirty="0"/>
              <a:t>Every Script is a Class - </a:t>
            </a:r>
            <a:r>
              <a:rPr lang="en-GB" sz="1400" dirty="0">
                <a:solidFill>
                  <a:srgbClr val="C00000"/>
                </a:solidFill>
              </a:rPr>
              <a:t>public class </a:t>
            </a:r>
            <a:r>
              <a:rPr lang="en-GB" sz="1400" dirty="0" err="1">
                <a:solidFill>
                  <a:schemeClr val="accent3">
                    <a:lumMod val="75000"/>
                  </a:schemeClr>
                </a:solidFill>
              </a:rPr>
              <a:t>ObstacleMovement</a:t>
            </a:r>
            <a:r>
              <a:rPr lang="en-GB" sz="1400" dirty="0"/>
              <a:t> : </a:t>
            </a:r>
            <a:r>
              <a:rPr lang="en-GB" sz="1400" dirty="0" err="1">
                <a:solidFill>
                  <a:schemeClr val="accent3">
                    <a:lumMod val="75000"/>
                  </a:schemeClr>
                </a:solidFill>
              </a:rPr>
              <a:t>Monobehaviour</a:t>
            </a:r>
            <a:r>
              <a:rPr lang="en-GB" sz="1400" dirty="0"/>
              <a:t> is telling Unity that the Script is visible, it is called </a:t>
            </a:r>
            <a:r>
              <a:rPr lang="en-GB" sz="1400" dirty="0" err="1"/>
              <a:t>ObstacleMovement</a:t>
            </a:r>
            <a:r>
              <a:rPr lang="en-GB" sz="1400" dirty="0"/>
              <a:t> (this must be the same as the name of your Script), and it is inheriting from </a:t>
            </a:r>
            <a:r>
              <a:rPr lang="en-GB" sz="1400" dirty="0" err="1"/>
              <a:t>Monobehaviour</a:t>
            </a:r>
            <a:r>
              <a:rPr lang="en-GB" sz="1400" dirty="0"/>
              <a:t>.</a:t>
            </a:r>
          </a:p>
          <a:p>
            <a:pPr lvl="1"/>
            <a:r>
              <a:rPr lang="en-GB" sz="1400" dirty="0" err="1"/>
              <a:t>Monobehaviour</a:t>
            </a:r>
            <a:r>
              <a:rPr lang="en-GB" sz="1400" dirty="0"/>
              <a:t> is part of Unity and allows Scripts to be attached to GameObjects. It also allows for communication to parts of the Editor, such as the </a:t>
            </a:r>
            <a:r>
              <a:rPr lang="en-GB" sz="1400" dirty="0" err="1"/>
              <a:t>Transform.Rotation</a:t>
            </a:r>
            <a:r>
              <a:rPr lang="en-GB" sz="1400" dirty="0"/>
              <a:t>. Inheritance saves us a lot of work!</a:t>
            </a:r>
          </a:p>
          <a:p>
            <a:pPr lvl="1"/>
            <a:endParaRPr lang="en-GB" sz="1400" dirty="0"/>
          </a:p>
        </p:txBody>
      </p:sp>
    </p:spTree>
    <p:extLst>
      <p:ext uri="{BB962C8B-B14F-4D97-AF65-F5344CB8AC3E}">
        <p14:creationId xmlns:p14="http://schemas.microsoft.com/office/powerpoint/2010/main" val="64963404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E24A20C-CD8A-5101-DAA6-D02A38E2F555}"/>
              </a:ext>
            </a:extLst>
          </p:cNvPr>
          <p:cNvSpPr>
            <a:spLocks noGrp="1"/>
          </p:cNvSpPr>
          <p:nvPr>
            <p:ph idx="1"/>
          </p:nvPr>
        </p:nvSpPr>
        <p:spPr>
          <a:xfrm>
            <a:off x="612647" y="3006191"/>
            <a:ext cx="10653579" cy="3851809"/>
          </a:xfrm>
        </p:spPr>
        <p:txBody>
          <a:bodyPr>
            <a:normAutofit/>
          </a:bodyPr>
          <a:lstStyle/>
          <a:p>
            <a:r>
              <a:rPr lang="en-GB" sz="1400" dirty="0"/>
              <a:t>It’s important to be aware of how our syntax works – It needs to be exact, including capitalisation.</a:t>
            </a:r>
          </a:p>
          <a:p>
            <a:pPr lvl="1"/>
            <a:r>
              <a:rPr lang="en-GB" sz="1200" dirty="0" err="1"/>
              <a:t>ObstacleMovement</a:t>
            </a:r>
            <a:r>
              <a:rPr lang="en-GB" sz="1200" dirty="0"/>
              <a:t> is in Pascal casing (all words are capitalised)</a:t>
            </a:r>
          </a:p>
          <a:p>
            <a:pPr lvl="1"/>
            <a:r>
              <a:rPr lang="en-GB" sz="1200" dirty="0"/>
              <a:t>Our variable </a:t>
            </a:r>
            <a:r>
              <a:rPr lang="en-GB" sz="1200" dirty="0" err="1"/>
              <a:t>rockLowerLimit</a:t>
            </a:r>
            <a:r>
              <a:rPr lang="en-GB" sz="1200" dirty="0"/>
              <a:t> is in camel casing (first word is lowercase and the rest are uppercase. If it is just one word, then lowercase).</a:t>
            </a:r>
          </a:p>
          <a:p>
            <a:pPr lvl="1"/>
            <a:r>
              <a:rPr lang="en-GB" sz="1200" dirty="0"/>
              <a:t>Consistency with naming conventions is very important, especially as your project grows in scale. To start with, use Pascal case for Classes, and camel case for Variables and Methods.</a:t>
            </a:r>
          </a:p>
          <a:p>
            <a:pPr lvl="1"/>
            <a:r>
              <a:rPr lang="en-GB" sz="1200" dirty="0"/>
              <a:t>There is a full breakdown here - </a:t>
            </a:r>
            <a:r>
              <a:rPr lang="en-GB" sz="1200" dirty="0">
                <a:hlinkClick r:id="rId2"/>
              </a:rPr>
              <a:t>https://learn.microsoft.com/en-us/dotnet/standard/design-guidelines/naming-guidelines</a:t>
            </a:r>
            <a:endParaRPr lang="en-GB" sz="1200" dirty="0"/>
          </a:p>
          <a:p>
            <a:r>
              <a:rPr lang="en-GB" sz="1400" dirty="0"/>
              <a:t>The open curly bracket indicates that we are starting our code – Anything between curly brackets will be run.</a:t>
            </a:r>
          </a:p>
          <a:p>
            <a:pPr lvl="1"/>
            <a:r>
              <a:rPr lang="en-GB" sz="1200" dirty="0"/>
              <a:t>The first line is calling the Unity Rigidbody2D Class, which enables physics on our object. We are referring to this as “obstacle” in our code.</a:t>
            </a:r>
          </a:p>
          <a:p>
            <a:pPr lvl="1"/>
            <a:r>
              <a:rPr lang="en-GB" sz="1200" dirty="0"/>
              <a:t>Then we declare three </a:t>
            </a:r>
            <a:r>
              <a:rPr lang="en-GB" sz="1200" dirty="0">
                <a:solidFill>
                  <a:srgbClr val="C00000"/>
                </a:solidFill>
              </a:rPr>
              <a:t>public floats</a:t>
            </a:r>
            <a:r>
              <a:rPr lang="en-GB" sz="1200" dirty="0"/>
              <a:t>… speed, </a:t>
            </a:r>
            <a:r>
              <a:rPr lang="en-GB" sz="1200" dirty="0" err="1"/>
              <a:t>rockLowerLimit</a:t>
            </a:r>
            <a:r>
              <a:rPr lang="en-GB" sz="1200" dirty="0"/>
              <a:t>, and </a:t>
            </a:r>
            <a:r>
              <a:rPr lang="en-GB" sz="1200" dirty="0" err="1"/>
              <a:t>rockHigherLimit</a:t>
            </a:r>
            <a:r>
              <a:rPr lang="en-GB" sz="1200" dirty="0"/>
              <a:t>. They are all set with values in code, but because we have made them public floats, we have exposed those values in the Editor. – Why is this helpful?</a:t>
            </a:r>
          </a:p>
          <a:p>
            <a:pPr marL="228600" lvl="1" indent="0">
              <a:buNone/>
            </a:pPr>
            <a:r>
              <a:rPr lang="en-GB" sz="1200" dirty="0"/>
              <a:t>  </a:t>
            </a:r>
          </a:p>
          <a:p>
            <a:endParaRPr lang="en-GB" sz="1400" dirty="0"/>
          </a:p>
        </p:txBody>
      </p:sp>
      <p:sp>
        <p:nvSpPr>
          <p:cNvPr id="4" name="Title 1">
            <a:extLst>
              <a:ext uri="{FF2B5EF4-FFF2-40B4-BE49-F238E27FC236}">
                <a16:creationId xmlns:a16="http://schemas.microsoft.com/office/drawing/2014/main" id="{E002F7F8-267F-D4C8-CA31-E35BAD39F809}"/>
              </a:ext>
            </a:extLst>
          </p:cNvPr>
          <p:cNvSpPr>
            <a:spLocks noGrp="1"/>
          </p:cNvSpPr>
          <p:nvPr>
            <p:ph type="title"/>
          </p:nvPr>
        </p:nvSpPr>
        <p:spPr>
          <a:xfrm>
            <a:off x="612649" y="132081"/>
            <a:ext cx="10653578" cy="673145"/>
          </a:xfrm>
        </p:spPr>
        <p:txBody>
          <a:bodyPr>
            <a:normAutofit/>
          </a:bodyPr>
          <a:lstStyle/>
          <a:p>
            <a:r>
              <a:rPr lang="en-GB" dirty="0"/>
              <a:t>Code Example</a:t>
            </a:r>
          </a:p>
        </p:txBody>
      </p:sp>
      <p:grpSp>
        <p:nvGrpSpPr>
          <p:cNvPr id="5" name="Group 4">
            <a:extLst>
              <a:ext uri="{FF2B5EF4-FFF2-40B4-BE49-F238E27FC236}">
                <a16:creationId xmlns:a16="http://schemas.microsoft.com/office/drawing/2014/main" id="{EA3893D1-922B-0811-7285-CD8407E9BFEA}"/>
              </a:ext>
            </a:extLst>
          </p:cNvPr>
          <p:cNvGrpSpPr/>
          <p:nvPr/>
        </p:nvGrpSpPr>
        <p:grpSpPr>
          <a:xfrm>
            <a:off x="612647" y="805226"/>
            <a:ext cx="10687050" cy="1946298"/>
            <a:chOff x="659417" y="1274852"/>
            <a:chExt cx="10687050" cy="3082804"/>
          </a:xfrm>
        </p:grpSpPr>
        <p:grpSp>
          <p:nvGrpSpPr>
            <p:cNvPr id="6" name="object 3">
              <a:extLst>
                <a:ext uri="{FF2B5EF4-FFF2-40B4-BE49-F238E27FC236}">
                  <a16:creationId xmlns:a16="http://schemas.microsoft.com/office/drawing/2014/main" id="{5025ACDB-A904-55A1-5698-4FB4CAD613D4}"/>
                </a:ext>
              </a:extLst>
            </p:cNvPr>
            <p:cNvGrpSpPr>
              <a:grpSpLocks/>
            </p:cNvGrpSpPr>
            <p:nvPr/>
          </p:nvGrpSpPr>
          <p:grpSpPr>
            <a:xfrm>
              <a:off x="659417" y="1274852"/>
              <a:ext cx="10687050" cy="3082804"/>
              <a:chOff x="757237" y="919162"/>
              <a:chExt cx="10687050" cy="3514725"/>
            </a:xfrm>
          </p:grpSpPr>
          <p:sp>
            <p:nvSpPr>
              <p:cNvPr id="9" name="object 4">
                <a:extLst>
                  <a:ext uri="{FF2B5EF4-FFF2-40B4-BE49-F238E27FC236}">
                    <a16:creationId xmlns:a16="http://schemas.microsoft.com/office/drawing/2014/main" id="{99A85E41-D470-5F0E-84CC-A00E3F28CF57}"/>
                  </a:ext>
                </a:extLst>
              </p:cNvPr>
              <p:cNvSpPr>
                <a:spLocks/>
              </p:cNvSpPr>
              <p:nvPr/>
            </p:nvSpPr>
            <p:spPr>
              <a:xfrm>
                <a:off x="757237" y="919162"/>
                <a:ext cx="10687050" cy="3514725"/>
              </a:xfrm>
              <a:custGeom>
                <a:avLst/>
                <a:gdLst/>
                <a:ahLst/>
                <a:cxnLst/>
                <a:rect l="l" t="t" r="r" b="b"/>
                <a:pathLst>
                  <a:path w="10687050" h="3514725">
                    <a:moveTo>
                      <a:pt x="10666394" y="3514724"/>
                    </a:moveTo>
                    <a:lnTo>
                      <a:pt x="20654" y="3514724"/>
                    </a:lnTo>
                    <a:lnTo>
                      <a:pt x="17617" y="3514120"/>
                    </a:lnTo>
                    <a:lnTo>
                      <a:pt x="0" y="3494069"/>
                    </a:lnTo>
                    <a:lnTo>
                      <a:pt x="0" y="3490912"/>
                    </a:lnTo>
                    <a:lnTo>
                      <a:pt x="0" y="20654"/>
                    </a:lnTo>
                    <a:lnTo>
                      <a:pt x="20654" y="0"/>
                    </a:lnTo>
                    <a:lnTo>
                      <a:pt x="10666394" y="0"/>
                    </a:lnTo>
                    <a:lnTo>
                      <a:pt x="10687048" y="20654"/>
                    </a:lnTo>
                    <a:lnTo>
                      <a:pt x="10687048" y="3494069"/>
                    </a:lnTo>
                    <a:lnTo>
                      <a:pt x="10669431" y="3514120"/>
                    </a:lnTo>
                    <a:lnTo>
                      <a:pt x="10666394" y="3514724"/>
                    </a:lnTo>
                    <a:close/>
                  </a:path>
                </a:pathLst>
              </a:custGeom>
              <a:solidFill>
                <a:srgbClr val="F5F7FA"/>
              </a:solidFill>
            </p:spPr>
            <p:txBody>
              <a:bodyPr wrap="square" lIns="0" tIns="0" rIns="0" bIns="0" rtlCol="0"/>
              <a:lstStyle/>
              <a:p>
                <a:endParaRPr/>
              </a:p>
            </p:txBody>
          </p:sp>
          <p:sp>
            <p:nvSpPr>
              <p:cNvPr id="10" name="object 5">
                <a:extLst>
                  <a:ext uri="{FF2B5EF4-FFF2-40B4-BE49-F238E27FC236}">
                    <a16:creationId xmlns:a16="http://schemas.microsoft.com/office/drawing/2014/main" id="{1166003E-F33B-4465-024E-2559CE3CDEF1}"/>
                  </a:ext>
                </a:extLst>
              </p:cNvPr>
              <p:cNvSpPr>
                <a:spLocks/>
              </p:cNvSpPr>
              <p:nvPr/>
            </p:nvSpPr>
            <p:spPr>
              <a:xfrm>
                <a:off x="757237" y="919162"/>
                <a:ext cx="10687050" cy="3514725"/>
              </a:xfrm>
              <a:custGeom>
                <a:avLst/>
                <a:gdLst/>
                <a:ahLst/>
                <a:cxnLst/>
                <a:rect l="l" t="t" r="r" b="b"/>
                <a:pathLst>
                  <a:path w="10687050" h="3514725">
                    <a:moveTo>
                      <a:pt x="0" y="3490912"/>
                    </a:moveTo>
                    <a:lnTo>
                      <a:pt x="0" y="23812"/>
                    </a:lnTo>
                    <a:lnTo>
                      <a:pt x="0" y="20654"/>
                    </a:lnTo>
                    <a:lnTo>
                      <a:pt x="604" y="17617"/>
                    </a:lnTo>
                    <a:lnTo>
                      <a:pt x="1812" y="14699"/>
                    </a:lnTo>
                    <a:lnTo>
                      <a:pt x="3021" y="11782"/>
                    </a:lnTo>
                    <a:lnTo>
                      <a:pt x="4741" y="9207"/>
                    </a:lnTo>
                    <a:lnTo>
                      <a:pt x="6974" y="6974"/>
                    </a:lnTo>
                    <a:lnTo>
                      <a:pt x="9207" y="4741"/>
                    </a:lnTo>
                    <a:lnTo>
                      <a:pt x="11782" y="3020"/>
                    </a:lnTo>
                    <a:lnTo>
                      <a:pt x="14699" y="1812"/>
                    </a:lnTo>
                    <a:lnTo>
                      <a:pt x="17617" y="604"/>
                    </a:lnTo>
                    <a:lnTo>
                      <a:pt x="20654" y="0"/>
                    </a:lnTo>
                    <a:lnTo>
                      <a:pt x="23812" y="0"/>
                    </a:lnTo>
                    <a:lnTo>
                      <a:pt x="10663236" y="0"/>
                    </a:lnTo>
                    <a:lnTo>
                      <a:pt x="10666394" y="0"/>
                    </a:lnTo>
                    <a:lnTo>
                      <a:pt x="10669431" y="604"/>
                    </a:lnTo>
                    <a:lnTo>
                      <a:pt x="10672349" y="1812"/>
                    </a:lnTo>
                    <a:lnTo>
                      <a:pt x="10675266" y="3020"/>
                    </a:lnTo>
                    <a:lnTo>
                      <a:pt x="10685235" y="14699"/>
                    </a:lnTo>
                    <a:lnTo>
                      <a:pt x="10686443" y="17617"/>
                    </a:lnTo>
                    <a:lnTo>
                      <a:pt x="10687048" y="20654"/>
                    </a:lnTo>
                    <a:lnTo>
                      <a:pt x="10687049" y="23812"/>
                    </a:lnTo>
                    <a:lnTo>
                      <a:pt x="10687049" y="3490912"/>
                    </a:lnTo>
                    <a:lnTo>
                      <a:pt x="10687048" y="3494069"/>
                    </a:lnTo>
                    <a:lnTo>
                      <a:pt x="10686443" y="3497106"/>
                    </a:lnTo>
                    <a:lnTo>
                      <a:pt x="10685235" y="3500024"/>
                    </a:lnTo>
                    <a:lnTo>
                      <a:pt x="10684027" y="3502941"/>
                    </a:lnTo>
                    <a:lnTo>
                      <a:pt x="10672349" y="3512911"/>
                    </a:lnTo>
                    <a:lnTo>
                      <a:pt x="10669431" y="3514120"/>
                    </a:lnTo>
                    <a:lnTo>
                      <a:pt x="10666394" y="3514724"/>
                    </a:lnTo>
                    <a:lnTo>
                      <a:pt x="10663236" y="3514724"/>
                    </a:lnTo>
                    <a:lnTo>
                      <a:pt x="23812" y="3514724"/>
                    </a:lnTo>
                    <a:lnTo>
                      <a:pt x="20654" y="3514724"/>
                    </a:lnTo>
                    <a:lnTo>
                      <a:pt x="17617" y="3514120"/>
                    </a:lnTo>
                    <a:lnTo>
                      <a:pt x="14699" y="3512911"/>
                    </a:lnTo>
                    <a:lnTo>
                      <a:pt x="11782" y="3511703"/>
                    </a:lnTo>
                    <a:lnTo>
                      <a:pt x="0" y="3494069"/>
                    </a:lnTo>
                    <a:lnTo>
                      <a:pt x="0" y="3490912"/>
                    </a:lnTo>
                    <a:close/>
                  </a:path>
                </a:pathLst>
              </a:custGeom>
              <a:ln w="9524">
                <a:solidFill>
                  <a:srgbClr val="999999"/>
                </a:solidFill>
              </a:ln>
            </p:spPr>
            <p:txBody>
              <a:bodyPr wrap="square" lIns="0" tIns="0" rIns="0" bIns="0" rtlCol="0"/>
              <a:lstStyle/>
              <a:p>
                <a:endParaRPr/>
              </a:p>
            </p:txBody>
          </p:sp>
        </p:grpSp>
        <p:sp>
          <p:nvSpPr>
            <p:cNvPr id="7" name="object 6">
              <a:extLst>
                <a:ext uri="{FF2B5EF4-FFF2-40B4-BE49-F238E27FC236}">
                  <a16:creationId xmlns:a16="http://schemas.microsoft.com/office/drawing/2014/main" id="{E7F4866E-A06C-5889-0087-7A0966B885D2}"/>
                </a:ext>
              </a:extLst>
            </p:cNvPr>
            <p:cNvSpPr txBox="1">
              <a:spLocks/>
            </p:cNvSpPr>
            <p:nvPr/>
          </p:nvSpPr>
          <p:spPr>
            <a:xfrm>
              <a:off x="845533" y="1365439"/>
              <a:ext cx="5832475" cy="845744"/>
            </a:xfrm>
            <a:prstGeom prst="rect">
              <a:avLst/>
            </a:prstGeom>
          </p:spPr>
          <p:txBody>
            <a:bodyPr vert="horz" wrap="square" lIns="0" tIns="12065" rIns="0" bIns="0" rtlCol="0">
              <a:spAutoFit/>
            </a:bodyPr>
            <a:lstStyle/>
            <a:p>
              <a:pPr marL="12700">
                <a:lnSpc>
                  <a:spcPts val="2160"/>
                </a:lnSpc>
                <a:spcBef>
                  <a:spcPts val="1930"/>
                </a:spcBef>
              </a:pPr>
              <a:r>
                <a:rPr sz="1850" dirty="0">
                  <a:solidFill>
                    <a:srgbClr val="D63A49"/>
                  </a:solidFill>
                  <a:latin typeface="Consolas"/>
                  <a:cs typeface="Consolas"/>
                </a:rPr>
                <a:t>public</a:t>
              </a:r>
              <a:r>
                <a:rPr sz="1850" spc="-35" dirty="0">
                  <a:solidFill>
                    <a:srgbClr val="D63A49"/>
                  </a:solidFill>
                  <a:latin typeface="Consolas"/>
                  <a:cs typeface="Consolas"/>
                </a:rPr>
                <a:t> </a:t>
              </a:r>
              <a:r>
                <a:rPr sz="1850" dirty="0">
                  <a:solidFill>
                    <a:srgbClr val="D63A49"/>
                  </a:solidFill>
                  <a:latin typeface="Consolas"/>
                  <a:cs typeface="Consolas"/>
                </a:rPr>
                <a:t>class</a:t>
              </a:r>
              <a:r>
                <a:rPr sz="1850" spc="-35" dirty="0">
                  <a:solidFill>
                    <a:srgbClr val="D63A49"/>
                  </a:solidFill>
                  <a:latin typeface="Consolas"/>
                  <a:cs typeface="Consolas"/>
                </a:rPr>
                <a:t> </a:t>
              </a:r>
              <a:r>
                <a:rPr sz="1850" dirty="0">
                  <a:solidFill>
                    <a:srgbClr val="6F41C1"/>
                  </a:solidFill>
                  <a:latin typeface="Consolas"/>
                  <a:cs typeface="Consolas"/>
                </a:rPr>
                <a:t>ObstacleMovement</a:t>
              </a:r>
              <a:r>
                <a:rPr sz="1850" spc="-35" dirty="0">
                  <a:solidFill>
                    <a:srgbClr val="6F41C1"/>
                  </a:solidFill>
                  <a:latin typeface="Consolas"/>
                  <a:cs typeface="Consolas"/>
                </a:rPr>
                <a:t> </a:t>
              </a:r>
              <a:r>
                <a:rPr sz="1850" dirty="0">
                  <a:solidFill>
                    <a:srgbClr val="24292E"/>
                  </a:solidFill>
                  <a:latin typeface="Consolas"/>
                  <a:cs typeface="Consolas"/>
                </a:rPr>
                <a:t>:</a:t>
              </a:r>
              <a:r>
                <a:rPr sz="1850" spc="-35" dirty="0">
                  <a:solidFill>
                    <a:srgbClr val="24292E"/>
                  </a:solidFill>
                  <a:latin typeface="Consolas"/>
                  <a:cs typeface="Consolas"/>
                </a:rPr>
                <a:t> </a:t>
              </a:r>
              <a:r>
                <a:rPr sz="1850" spc="-10" dirty="0">
                  <a:solidFill>
                    <a:srgbClr val="6F41C1"/>
                  </a:solidFill>
                  <a:latin typeface="Consolas"/>
                  <a:cs typeface="Consolas"/>
                </a:rPr>
                <a:t>MonoBehaviour</a:t>
              </a:r>
              <a:endParaRPr sz="1850" dirty="0">
                <a:latin typeface="Consolas"/>
                <a:cs typeface="Consolas"/>
              </a:endParaRPr>
            </a:p>
            <a:p>
              <a:pPr marL="12700">
                <a:lnSpc>
                  <a:spcPts val="2100"/>
                </a:lnSpc>
              </a:pPr>
              <a:r>
                <a:rPr sz="1850" spc="-50" dirty="0">
                  <a:solidFill>
                    <a:srgbClr val="24292E"/>
                  </a:solidFill>
                  <a:latin typeface="Consolas"/>
                  <a:cs typeface="Consolas"/>
                </a:rPr>
                <a:t>{</a:t>
              </a:r>
              <a:endParaRPr sz="1850" dirty="0">
                <a:latin typeface="Consolas"/>
                <a:cs typeface="Consolas"/>
              </a:endParaRPr>
            </a:p>
            <a:p>
              <a:pPr marL="528320">
                <a:lnSpc>
                  <a:spcPts val="2160"/>
                </a:lnSpc>
              </a:pPr>
              <a:r>
                <a:rPr sz="1850" dirty="0">
                  <a:solidFill>
                    <a:srgbClr val="D63A49"/>
                  </a:solidFill>
                  <a:latin typeface="Consolas"/>
                  <a:cs typeface="Consolas"/>
                </a:rPr>
                <a:t>private</a:t>
              </a:r>
              <a:r>
                <a:rPr sz="1850" spc="-45" dirty="0">
                  <a:solidFill>
                    <a:srgbClr val="D63A49"/>
                  </a:solidFill>
                  <a:latin typeface="Consolas"/>
                  <a:cs typeface="Consolas"/>
                </a:rPr>
                <a:t> </a:t>
              </a:r>
              <a:r>
                <a:rPr sz="1850" dirty="0">
                  <a:solidFill>
                    <a:srgbClr val="24292E"/>
                  </a:solidFill>
                  <a:latin typeface="Consolas"/>
                  <a:cs typeface="Consolas"/>
                </a:rPr>
                <a:t>Rigidbody2D</a:t>
              </a:r>
              <a:r>
                <a:rPr sz="1850" spc="-45" dirty="0">
                  <a:solidFill>
                    <a:srgbClr val="24292E"/>
                  </a:solidFill>
                  <a:latin typeface="Consolas"/>
                  <a:cs typeface="Consolas"/>
                </a:rPr>
                <a:t> </a:t>
              </a:r>
              <a:r>
                <a:rPr sz="1850" spc="-10" dirty="0">
                  <a:solidFill>
                    <a:srgbClr val="24292E"/>
                  </a:solidFill>
                  <a:latin typeface="Consolas"/>
                  <a:cs typeface="Consolas"/>
                </a:rPr>
                <a:t>obstacle;</a:t>
              </a:r>
              <a:endParaRPr sz="1850" dirty="0">
                <a:latin typeface="Consolas"/>
                <a:cs typeface="Consolas"/>
              </a:endParaRPr>
            </a:p>
          </p:txBody>
        </p:sp>
        <p:graphicFrame>
          <p:nvGraphicFramePr>
            <p:cNvPr id="8" name="object 7">
              <a:extLst>
                <a:ext uri="{FF2B5EF4-FFF2-40B4-BE49-F238E27FC236}">
                  <a16:creationId xmlns:a16="http://schemas.microsoft.com/office/drawing/2014/main" id="{CF33DCD7-18C2-3206-659C-B0AEB11B82A8}"/>
                </a:ext>
              </a:extLst>
            </p:cNvPr>
            <p:cNvGraphicFramePr>
              <a:graphicFrameLocks/>
            </p:cNvGraphicFramePr>
            <p:nvPr>
              <p:extLst>
                <p:ext uri="{D42A27DB-BD31-4B8C-83A1-F6EECF244321}">
                  <p14:modId xmlns:p14="http://schemas.microsoft.com/office/powerpoint/2010/main" val="747357478"/>
                </p:ext>
              </p:extLst>
            </p:nvPr>
          </p:nvGraphicFramePr>
          <p:xfrm>
            <a:off x="1342141" y="2980473"/>
            <a:ext cx="4450715" cy="1213997"/>
          </p:xfrm>
          <a:graphic>
            <a:graphicData uri="http://schemas.openxmlformats.org/drawingml/2006/table">
              <a:tbl>
                <a:tblPr firstRow="1" bandRow="1">
                  <a:tableStyleId>{2D5ABB26-0587-4C30-8999-92F81FD0307C}</a:tableStyleId>
                </a:tblPr>
                <a:tblGrid>
                  <a:gridCol w="870585">
                    <a:extLst>
                      <a:ext uri="{9D8B030D-6E8A-4147-A177-3AD203B41FA5}">
                        <a16:colId xmlns:a16="http://schemas.microsoft.com/office/drawing/2014/main" val="20000"/>
                      </a:ext>
                    </a:extLst>
                  </a:gridCol>
                  <a:gridCol w="774065">
                    <a:extLst>
                      <a:ext uri="{9D8B030D-6E8A-4147-A177-3AD203B41FA5}">
                        <a16:colId xmlns:a16="http://schemas.microsoft.com/office/drawing/2014/main" val="20001"/>
                      </a:ext>
                    </a:extLst>
                  </a:gridCol>
                  <a:gridCol w="2806065">
                    <a:extLst>
                      <a:ext uri="{9D8B030D-6E8A-4147-A177-3AD203B41FA5}">
                        <a16:colId xmlns:a16="http://schemas.microsoft.com/office/drawing/2014/main" val="20002"/>
                      </a:ext>
                    </a:extLst>
                  </a:gridCol>
                </a:tblGrid>
                <a:tr h="250190">
                  <a:tc>
                    <a:txBody>
                      <a:bodyPr/>
                      <a:lstStyle/>
                      <a:p>
                        <a:pPr marL="31750">
                          <a:lnSpc>
                            <a:spcPts val="1745"/>
                          </a:lnSpc>
                        </a:pPr>
                        <a:r>
                          <a:rPr sz="1850" spc="-10" dirty="0">
                            <a:solidFill>
                              <a:srgbClr val="D63A49"/>
                            </a:solidFill>
                            <a:latin typeface="Consolas"/>
                            <a:cs typeface="Consolas"/>
                          </a:rPr>
                          <a:t>public</a:t>
                        </a:r>
                        <a:endParaRPr sz="1850">
                          <a:latin typeface="Consolas"/>
                          <a:cs typeface="Consolas"/>
                        </a:endParaRPr>
                      </a:p>
                    </a:txBody>
                    <a:tcPr marL="0" marR="0" marT="0" marB="0"/>
                  </a:tc>
                  <a:tc>
                    <a:txBody>
                      <a:bodyPr/>
                      <a:lstStyle/>
                      <a:p>
                        <a:pPr algn="ctr">
                          <a:lnSpc>
                            <a:spcPts val="1745"/>
                          </a:lnSpc>
                        </a:pPr>
                        <a:r>
                          <a:rPr sz="1850" spc="-10" dirty="0">
                            <a:solidFill>
                              <a:srgbClr val="D63A49"/>
                            </a:solidFill>
                            <a:latin typeface="Consolas"/>
                            <a:cs typeface="Consolas"/>
                          </a:rPr>
                          <a:t>float</a:t>
                        </a:r>
                        <a:endParaRPr sz="1850" dirty="0">
                          <a:latin typeface="Consolas"/>
                          <a:cs typeface="Consolas"/>
                        </a:endParaRPr>
                      </a:p>
                    </a:txBody>
                    <a:tcPr marL="0" marR="0" marT="0" marB="0"/>
                  </a:tc>
                  <a:tc>
                    <a:txBody>
                      <a:bodyPr/>
                      <a:lstStyle/>
                      <a:p>
                        <a:pPr marL="64135">
                          <a:lnSpc>
                            <a:spcPts val="1745"/>
                          </a:lnSpc>
                        </a:pPr>
                        <a:r>
                          <a:rPr sz="1850" dirty="0">
                            <a:solidFill>
                              <a:srgbClr val="24292E"/>
                            </a:solidFill>
                            <a:latin typeface="Consolas"/>
                            <a:cs typeface="Consolas"/>
                          </a:rPr>
                          <a:t>speed</a:t>
                        </a:r>
                        <a:r>
                          <a:rPr sz="1850" spc="-15" dirty="0">
                            <a:solidFill>
                              <a:srgbClr val="24292E"/>
                            </a:solidFill>
                            <a:latin typeface="Consolas"/>
                            <a:cs typeface="Consolas"/>
                          </a:rPr>
                          <a:t> </a:t>
                        </a:r>
                        <a:r>
                          <a:rPr sz="1850" dirty="0">
                            <a:solidFill>
                              <a:srgbClr val="24292E"/>
                            </a:solidFill>
                            <a:latin typeface="Consolas"/>
                            <a:cs typeface="Consolas"/>
                          </a:rPr>
                          <a:t>=</a:t>
                        </a:r>
                        <a:r>
                          <a:rPr sz="1850" spc="-10" dirty="0">
                            <a:solidFill>
                              <a:srgbClr val="24292E"/>
                            </a:solidFill>
                            <a:latin typeface="Consolas"/>
                            <a:cs typeface="Consolas"/>
                          </a:rPr>
                          <a:t> </a:t>
                        </a:r>
                        <a:r>
                          <a:rPr sz="1850" spc="-10" dirty="0">
                            <a:solidFill>
                              <a:srgbClr val="005CC4"/>
                            </a:solidFill>
                            <a:latin typeface="Consolas"/>
                            <a:cs typeface="Consolas"/>
                          </a:rPr>
                          <a:t>-</a:t>
                        </a:r>
                        <a:r>
                          <a:rPr sz="1850" spc="-20" dirty="0">
                            <a:solidFill>
                              <a:srgbClr val="005CC4"/>
                            </a:solidFill>
                            <a:latin typeface="Consolas"/>
                            <a:cs typeface="Consolas"/>
                          </a:rPr>
                          <a:t>3.0f</a:t>
                        </a:r>
                        <a:r>
                          <a:rPr sz="1850" spc="-20" dirty="0">
                            <a:solidFill>
                              <a:srgbClr val="24292E"/>
                            </a:solidFill>
                            <a:latin typeface="Consolas"/>
                            <a:cs typeface="Consolas"/>
                          </a:rPr>
                          <a:t>;</a:t>
                        </a:r>
                        <a:endParaRPr sz="1850" dirty="0">
                          <a:latin typeface="Consolas"/>
                          <a:cs typeface="Consolas"/>
                        </a:endParaRPr>
                      </a:p>
                    </a:txBody>
                    <a:tcPr marL="0" marR="0" marT="0" marB="0"/>
                  </a:tc>
                  <a:extLst>
                    <a:ext uri="{0D108BD9-81ED-4DB2-BD59-A6C34878D82A}">
                      <a16:rowId xmlns:a16="http://schemas.microsoft.com/office/drawing/2014/main" val="10000"/>
                    </a:ext>
                  </a:extLst>
                </a:tr>
                <a:tr h="266065">
                  <a:tc>
                    <a:txBody>
                      <a:bodyPr/>
                      <a:lstStyle/>
                      <a:p>
                        <a:pPr marL="31750">
                          <a:lnSpc>
                            <a:spcPts val="1870"/>
                          </a:lnSpc>
                        </a:pPr>
                        <a:r>
                          <a:rPr sz="1850" spc="-10" dirty="0">
                            <a:solidFill>
                              <a:srgbClr val="D63A49"/>
                            </a:solidFill>
                            <a:latin typeface="Consolas"/>
                            <a:cs typeface="Consolas"/>
                          </a:rPr>
                          <a:t>public</a:t>
                        </a:r>
                        <a:endParaRPr sz="1850">
                          <a:latin typeface="Consolas"/>
                          <a:cs typeface="Consolas"/>
                        </a:endParaRPr>
                      </a:p>
                    </a:txBody>
                    <a:tcPr marL="0" marR="0" marT="0" marB="0"/>
                  </a:tc>
                  <a:tc>
                    <a:txBody>
                      <a:bodyPr/>
                      <a:lstStyle/>
                      <a:p>
                        <a:pPr algn="ctr">
                          <a:lnSpc>
                            <a:spcPts val="1870"/>
                          </a:lnSpc>
                        </a:pPr>
                        <a:r>
                          <a:rPr sz="1850" spc="-10" dirty="0">
                            <a:solidFill>
                              <a:srgbClr val="D63A49"/>
                            </a:solidFill>
                            <a:latin typeface="Consolas"/>
                            <a:cs typeface="Consolas"/>
                          </a:rPr>
                          <a:t>float</a:t>
                        </a:r>
                        <a:endParaRPr sz="1850">
                          <a:latin typeface="Consolas"/>
                          <a:cs typeface="Consolas"/>
                        </a:endParaRPr>
                      </a:p>
                    </a:txBody>
                    <a:tcPr marL="0" marR="0" marT="0" marB="0"/>
                  </a:tc>
                  <a:tc>
                    <a:txBody>
                      <a:bodyPr/>
                      <a:lstStyle/>
                      <a:p>
                        <a:pPr marL="64135">
                          <a:lnSpc>
                            <a:spcPts val="1870"/>
                          </a:lnSpc>
                        </a:pPr>
                        <a:r>
                          <a:rPr sz="1850" dirty="0">
                            <a:solidFill>
                              <a:srgbClr val="24292E"/>
                            </a:solidFill>
                            <a:latin typeface="Consolas"/>
                            <a:cs typeface="Consolas"/>
                          </a:rPr>
                          <a:t>rockLowerLimit</a:t>
                        </a:r>
                        <a:r>
                          <a:rPr sz="1850" spc="-45" dirty="0">
                            <a:solidFill>
                              <a:srgbClr val="24292E"/>
                            </a:solidFill>
                            <a:latin typeface="Consolas"/>
                            <a:cs typeface="Consolas"/>
                          </a:rPr>
                          <a:t> </a:t>
                        </a:r>
                        <a:r>
                          <a:rPr sz="1850" dirty="0">
                            <a:solidFill>
                              <a:srgbClr val="24292E"/>
                            </a:solidFill>
                            <a:latin typeface="Consolas"/>
                            <a:cs typeface="Consolas"/>
                          </a:rPr>
                          <a:t>=</a:t>
                        </a:r>
                        <a:r>
                          <a:rPr sz="1850" spc="-35" dirty="0">
                            <a:solidFill>
                              <a:srgbClr val="24292E"/>
                            </a:solidFill>
                            <a:latin typeface="Consolas"/>
                            <a:cs typeface="Consolas"/>
                          </a:rPr>
                          <a:t> </a:t>
                        </a:r>
                        <a:r>
                          <a:rPr sz="1850" spc="-10" dirty="0">
                            <a:solidFill>
                              <a:srgbClr val="005CC4"/>
                            </a:solidFill>
                            <a:latin typeface="Consolas"/>
                            <a:cs typeface="Consolas"/>
                          </a:rPr>
                          <a:t>-</a:t>
                        </a:r>
                        <a:r>
                          <a:rPr sz="1850" spc="-25" dirty="0">
                            <a:solidFill>
                              <a:srgbClr val="005CC4"/>
                            </a:solidFill>
                            <a:latin typeface="Consolas"/>
                            <a:cs typeface="Consolas"/>
                          </a:rPr>
                          <a:t>4</a:t>
                        </a:r>
                        <a:r>
                          <a:rPr sz="1850" spc="-25" dirty="0">
                            <a:solidFill>
                              <a:srgbClr val="24292E"/>
                            </a:solidFill>
                            <a:latin typeface="Consolas"/>
                            <a:cs typeface="Consolas"/>
                          </a:rPr>
                          <a:t>;</a:t>
                        </a:r>
                        <a:endParaRPr sz="1850" dirty="0">
                          <a:latin typeface="Consolas"/>
                          <a:cs typeface="Consolas"/>
                        </a:endParaRPr>
                      </a:p>
                    </a:txBody>
                    <a:tcPr marL="0" marR="0" marT="0" marB="0"/>
                  </a:tc>
                  <a:extLst>
                    <a:ext uri="{0D108BD9-81ED-4DB2-BD59-A6C34878D82A}">
                      <a16:rowId xmlns:a16="http://schemas.microsoft.com/office/drawing/2014/main" val="10001"/>
                    </a:ext>
                  </a:extLst>
                </a:tr>
                <a:tr h="250190">
                  <a:tc>
                    <a:txBody>
                      <a:bodyPr/>
                      <a:lstStyle/>
                      <a:p>
                        <a:pPr marL="31750">
                          <a:lnSpc>
                            <a:spcPts val="1870"/>
                          </a:lnSpc>
                        </a:pPr>
                        <a:r>
                          <a:rPr sz="1850" spc="-10" dirty="0">
                            <a:solidFill>
                              <a:srgbClr val="D63A49"/>
                            </a:solidFill>
                            <a:latin typeface="Consolas"/>
                            <a:cs typeface="Consolas"/>
                          </a:rPr>
                          <a:t>public</a:t>
                        </a:r>
                        <a:endParaRPr sz="1850">
                          <a:latin typeface="Consolas"/>
                          <a:cs typeface="Consolas"/>
                        </a:endParaRPr>
                      </a:p>
                    </a:txBody>
                    <a:tcPr marL="0" marR="0" marT="0" marB="0"/>
                  </a:tc>
                  <a:tc>
                    <a:txBody>
                      <a:bodyPr/>
                      <a:lstStyle/>
                      <a:p>
                        <a:pPr algn="ctr">
                          <a:lnSpc>
                            <a:spcPts val="1870"/>
                          </a:lnSpc>
                        </a:pPr>
                        <a:r>
                          <a:rPr sz="1850" spc="-10" dirty="0">
                            <a:solidFill>
                              <a:srgbClr val="D63A49"/>
                            </a:solidFill>
                            <a:latin typeface="Consolas"/>
                            <a:cs typeface="Consolas"/>
                          </a:rPr>
                          <a:t>float</a:t>
                        </a:r>
                        <a:endParaRPr sz="1850">
                          <a:latin typeface="Consolas"/>
                          <a:cs typeface="Consolas"/>
                        </a:endParaRPr>
                      </a:p>
                    </a:txBody>
                    <a:tcPr marL="0" marR="0" marT="0" marB="0"/>
                  </a:tc>
                  <a:tc>
                    <a:txBody>
                      <a:bodyPr/>
                      <a:lstStyle/>
                      <a:p>
                        <a:pPr marL="64135">
                          <a:lnSpc>
                            <a:spcPts val="1870"/>
                          </a:lnSpc>
                        </a:pPr>
                        <a:r>
                          <a:rPr sz="1850" dirty="0">
                            <a:solidFill>
                              <a:srgbClr val="24292E"/>
                            </a:solidFill>
                            <a:latin typeface="Consolas"/>
                            <a:cs typeface="Consolas"/>
                          </a:rPr>
                          <a:t>rockHigherLimit</a:t>
                        </a:r>
                        <a:r>
                          <a:rPr sz="1850" spc="-50" dirty="0">
                            <a:solidFill>
                              <a:srgbClr val="24292E"/>
                            </a:solidFill>
                            <a:latin typeface="Consolas"/>
                            <a:cs typeface="Consolas"/>
                          </a:rPr>
                          <a:t> </a:t>
                        </a:r>
                        <a:r>
                          <a:rPr sz="1850" dirty="0">
                            <a:solidFill>
                              <a:srgbClr val="24292E"/>
                            </a:solidFill>
                            <a:latin typeface="Consolas"/>
                            <a:cs typeface="Consolas"/>
                          </a:rPr>
                          <a:t>=</a:t>
                        </a:r>
                        <a:r>
                          <a:rPr sz="1850" spc="-35" dirty="0">
                            <a:solidFill>
                              <a:srgbClr val="24292E"/>
                            </a:solidFill>
                            <a:latin typeface="Consolas"/>
                            <a:cs typeface="Consolas"/>
                          </a:rPr>
                          <a:t> </a:t>
                        </a:r>
                        <a:r>
                          <a:rPr sz="1850" spc="-10" dirty="0">
                            <a:solidFill>
                              <a:srgbClr val="005CC4"/>
                            </a:solidFill>
                            <a:latin typeface="Consolas"/>
                            <a:cs typeface="Consolas"/>
                          </a:rPr>
                          <a:t>-</a:t>
                        </a:r>
                        <a:r>
                          <a:rPr sz="1850" spc="-25" dirty="0">
                            <a:solidFill>
                              <a:srgbClr val="005CC4"/>
                            </a:solidFill>
                            <a:latin typeface="Consolas"/>
                            <a:cs typeface="Consolas"/>
                          </a:rPr>
                          <a:t>1</a:t>
                        </a:r>
                        <a:r>
                          <a:rPr sz="1850" spc="-25" dirty="0">
                            <a:solidFill>
                              <a:srgbClr val="24292E"/>
                            </a:solidFill>
                            <a:latin typeface="Consolas"/>
                            <a:cs typeface="Consolas"/>
                          </a:rPr>
                          <a:t>;</a:t>
                        </a:r>
                        <a:endParaRPr sz="1850" dirty="0">
                          <a:latin typeface="Consolas"/>
                          <a:cs typeface="Consolas"/>
                        </a:endParaRPr>
                      </a:p>
                    </a:txBody>
                    <a:tcPr marL="0" marR="0" marT="0" marB="0"/>
                  </a:tc>
                  <a:extLst>
                    <a:ext uri="{0D108BD9-81ED-4DB2-BD59-A6C34878D82A}">
                      <a16:rowId xmlns:a16="http://schemas.microsoft.com/office/drawing/2014/main" val="10002"/>
                    </a:ext>
                  </a:extLst>
                </a:tr>
              </a:tbl>
            </a:graphicData>
          </a:graphic>
        </p:graphicFrame>
      </p:grpSp>
    </p:spTree>
    <p:extLst>
      <p:ext uri="{BB962C8B-B14F-4D97-AF65-F5344CB8AC3E}">
        <p14:creationId xmlns:p14="http://schemas.microsoft.com/office/powerpoint/2010/main" val="11419444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1312D75-925A-26B6-1A59-51268C134D67}"/>
              </a:ext>
            </a:extLst>
          </p:cNvPr>
          <p:cNvSpPr>
            <a:spLocks noGrp="1"/>
          </p:cNvSpPr>
          <p:nvPr>
            <p:ph idx="1"/>
          </p:nvPr>
        </p:nvSpPr>
        <p:spPr>
          <a:xfrm>
            <a:off x="612647" y="3665526"/>
            <a:ext cx="10653579" cy="2643834"/>
          </a:xfrm>
        </p:spPr>
        <p:txBody>
          <a:bodyPr>
            <a:normAutofit/>
          </a:bodyPr>
          <a:lstStyle/>
          <a:p>
            <a:r>
              <a:rPr lang="en-GB" sz="1400" dirty="0"/>
              <a:t>When we start the game, our </a:t>
            </a:r>
            <a:r>
              <a:rPr lang="en-GB" sz="1400" dirty="0">
                <a:solidFill>
                  <a:srgbClr val="C00000"/>
                </a:solidFill>
              </a:rPr>
              <a:t>void</a:t>
            </a:r>
            <a:r>
              <a:rPr lang="en-GB" sz="1400" dirty="0"/>
              <a:t> </a:t>
            </a:r>
            <a:r>
              <a:rPr lang="en-GB" sz="1400" dirty="0">
                <a:solidFill>
                  <a:schemeClr val="accent3">
                    <a:lumMod val="75000"/>
                  </a:schemeClr>
                </a:solidFill>
              </a:rPr>
              <a:t>Start</a:t>
            </a:r>
            <a:r>
              <a:rPr lang="en-GB" sz="1400" dirty="0"/>
              <a:t> () is called by the engine, and the code between the curly brackets here will be run. This is happening inside of our Class, and this is the first </a:t>
            </a:r>
            <a:r>
              <a:rPr lang="en-GB" sz="1400" b="1" dirty="0"/>
              <a:t>Method</a:t>
            </a:r>
            <a:r>
              <a:rPr lang="en-GB" sz="1400" dirty="0"/>
              <a:t> (also known as a </a:t>
            </a:r>
            <a:r>
              <a:rPr lang="en-GB" sz="1400" b="1" dirty="0"/>
              <a:t>Function</a:t>
            </a:r>
            <a:r>
              <a:rPr lang="en-GB" sz="1400" dirty="0"/>
              <a:t> in other programming languages) that we have been introduced to.</a:t>
            </a:r>
          </a:p>
          <a:p>
            <a:pPr lvl="1"/>
            <a:r>
              <a:rPr lang="en-GB" sz="1200" dirty="0"/>
              <a:t>A Method in Unity is useful for when we want something to handle an Event, and then perhaps do something based on that Event having occurred. We can utilise conditional instructions (Statements) to tell Unity what we want to happen next. </a:t>
            </a:r>
          </a:p>
          <a:p>
            <a:r>
              <a:rPr lang="en-GB" sz="1400" dirty="0" err="1"/>
              <a:t>GetComponent</a:t>
            </a:r>
            <a:r>
              <a:rPr lang="en-GB" sz="1400" dirty="0"/>
              <a:t>&lt;Type&gt;() looks for components attached to this object of a given Type.</a:t>
            </a:r>
          </a:p>
          <a:p>
            <a:r>
              <a:rPr lang="en-GB" sz="1400" dirty="0"/>
              <a:t>Invoke(…) calls a Method at regular intervals.</a:t>
            </a:r>
          </a:p>
        </p:txBody>
      </p:sp>
      <p:sp>
        <p:nvSpPr>
          <p:cNvPr id="4" name="Title 1">
            <a:extLst>
              <a:ext uri="{FF2B5EF4-FFF2-40B4-BE49-F238E27FC236}">
                <a16:creationId xmlns:a16="http://schemas.microsoft.com/office/drawing/2014/main" id="{C1FA7F15-A9D5-E413-708E-1BA27E8108C8}"/>
              </a:ext>
            </a:extLst>
          </p:cNvPr>
          <p:cNvSpPr>
            <a:spLocks noGrp="1"/>
          </p:cNvSpPr>
          <p:nvPr>
            <p:ph type="title"/>
          </p:nvPr>
        </p:nvSpPr>
        <p:spPr>
          <a:xfrm>
            <a:off x="612647" y="124444"/>
            <a:ext cx="10653713" cy="620024"/>
          </a:xfrm>
        </p:spPr>
        <p:txBody>
          <a:bodyPr>
            <a:normAutofit/>
          </a:bodyPr>
          <a:lstStyle/>
          <a:p>
            <a:r>
              <a:rPr lang="en-GB" dirty="0"/>
              <a:t>Code Example</a:t>
            </a:r>
          </a:p>
        </p:txBody>
      </p:sp>
      <p:grpSp>
        <p:nvGrpSpPr>
          <p:cNvPr id="5" name="object 2">
            <a:extLst>
              <a:ext uri="{FF2B5EF4-FFF2-40B4-BE49-F238E27FC236}">
                <a16:creationId xmlns:a16="http://schemas.microsoft.com/office/drawing/2014/main" id="{C356375B-A0DA-1A43-AAD6-F487D6AD4CBB}"/>
              </a:ext>
            </a:extLst>
          </p:cNvPr>
          <p:cNvGrpSpPr/>
          <p:nvPr/>
        </p:nvGrpSpPr>
        <p:grpSpPr>
          <a:xfrm>
            <a:off x="747712" y="845966"/>
            <a:ext cx="10696575" cy="2724150"/>
            <a:chOff x="752474" y="1104911"/>
            <a:chExt cx="10696575" cy="2724150"/>
          </a:xfrm>
        </p:grpSpPr>
        <p:sp>
          <p:nvSpPr>
            <p:cNvPr id="6" name="object 3">
              <a:extLst>
                <a:ext uri="{FF2B5EF4-FFF2-40B4-BE49-F238E27FC236}">
                  <a16:creationId xmlns:a16="http://schemas.microsoft.com/office/drawing/2014/main" id="{19771294-04CF-D1BC-1212-F63015A710C7}"/>
                </a:ext>
              </a:extLst>
            </p:cNvPr>
            <p:cNvSpPr/>
            <p:nvPr/>
          </p:nvSpPr>
          <p:spPr>
            <a:xfrm>
              <a:off x="757237" y="1109674"/>
              <a:ext cx="10687050" cy="2714625"/>
            </a:xfrm>
            <a:custGeom>
              <a:avLst/>
              <a:gdLst/>
              <a:ahLst/>
              <a:cxnLst/>
              <a:rect l="l" t="t" r="r" b="b"/>
              <a:pathLst>
                <a:path w="10687050" h="2714625">
                  <a:moveTo>
                    <a:pt x="10666394" y="2714624"/>
                  </a:moveTo>
                  <a:lnTo>
                    <a:pt x="20654" y="2714624"/>
                  </a:lnTo>
                  <a:lnTo>
                    <a:pt x="17617" y="2714020"/>
                  </a:lnTo>
                  <a:lnTo>
                    <a:pt x="0" y="2693969"/>
                  </a:lnTo>
                  <a:lnTo>
                    <a:pt x="0" y="2690812"/>
                  </a:lnTo>
                  <a:lnTo>
                    <a:pt x="0" y="20654"/>
                  </a:lnTo>
                  <a:lnTo>
                    <a:pt x="20654" y="0"/>
                  </a:lnTo>
                  <a:lnTo>
                    <a:pt x="10666394" y="0"/>
                  </a:lnTo>
                  <a:lnTo>
                    <a:pt x="10687048" y="20654"/>
                  </a:lnTo>
                  <a:lnTo>
                    <a:pt x="10687048" y="2693969"/>
                  </a:lnTo>
                  <a:lnTo>
                    <a:pt x="10669431" y="2714020"/>
                  </a:lnTo>
                  <a:lnTo>
                    <a:pt x="10666394" y="2714624"/>
                  </a:lnTo>
                  <a:close/>
                </a:path>
              </a:pathLst>
            </a:custGeom>
            <a:solidFill>
              <a:srgbClr val="F5F7FA"/>
            </a:solidFill>
          </p:spPr>
          <p:txBody>
            <a:bodyPr wrap="square" lIns="0" tIns="0" rIns="0" bIns="0" rtlCol="0"/>
            <a:lstStyle/>
            <a:p>
              <a:endParaRPr/>
            </a:p>
          </p:txBody>
        </p:sp>
        <p:sp>
          <p:nvSpPr>
            <p:cNvPr id="7" name="object 4">
              <a:extLst>
                <a:ext uri="{FF2B5EF4-FFF2-40B4-BE49-F238E27FC236}">
                  <a16:creationId xmlns:a16="http://schemas.microsoft.com/office/drawing/2014/main" id="{88CAC234-F3E7-C33E-4ED0-EF0445BBC7E9}"/>
                </a:ext>
              </a:extLst>
            </p:cNvPr>
            <p:cNvSpPr/>
            <p:nvPr/>
          </p:nvSpPr>
          <p:spPr>
            <a:xfrm>
              <a:off x="757237" y="1109674"/>
              <a:ext cx="10687050" cy="2714625"/>
            </a:xfrm>
            <a:custGeom>
              <a:avLst/>
              <a:gdLst/>
              <a:ahLst/>
              <a:cxnLst/>
              <a:rect l="l" t="t" r="r" b="b"/>
              <a:pathLst>
                <a:path w="10687050" h="2714625">
                  <a:moveTo>
                    <a:pt x="0" y="2690812"/>
                  </a:moveTo>
                  <a:lnTo>
                    <a:pt x="0" y="23812"/>
                  </a:lnTo>
                  <a:lnTo>
                    <a:pt x="0" y="20654"/>
                  </a:lnTo>
                  <a:lnTo>
                    <a:pt x="604" y="17617"/>
                  </a:lnTo>
                  <a:lnTo>
                    <a:pt x="1812" y="14699"/>
                  </a:lnTo>
                  <a:lnTo>
                    <a:pt x="3021" y="11782"/>
                  </a:lnTo>
                  <a:lnTo>
                    <a:pt x="4741" y="9207"/>
                  </a:lnTo>
                  <a:lnTo>
                    <a:pt x="6974" y="6974"/>
                  </a:lnTo>
                  <a:lnTo>
                    <a:pt x="9207" y="4741"/>
                  </a:lnTo>
                  <a:lnTo>
                    <a:pt x="11782" y="3020"/>
                  </a:lnTo>
                  <a:lnTo>
                    <a:pt x="14699" y="1812"/>
                  </a:lnTo>
                  <a:lnTo>
                    <a:pt x="17617" y="604"/>
                  </a:lnTo>
                  <a:lnTo>
                    <a:pt x="20654" y="0"/>
                  </a:lnTo>
                  <a:lnTo>
                    <a:pt x="23812" y="0"/>
                  </a:lnTo>
                  <a:lnTo>
                    <a:pt x="10663236" y="0"/>
                  </a:lnTo>
                  <a:lnTo>
                    <a:pt x="10666394" y="0"/>
                  </a:lnTo>
                  <a:lnTo>
                    <a:pt x="10669431" y="604"/>
                  </a:lnTo>
                  <a:lnTo>
                    <a:pt x="10685235" y="14699"/>
                  </a:lnTo>
                  <a:lnTo>
                    <a:pt x="10686443" y="17617"/>
                  </a:lnTo>
                  <a:lnTo>
                    <a:pt x="10687048" y="20654"/>
                  </a:lnTo>
                  <a:lnTo>
                    <a:pt x="10687049" y="23812"/>
                  </a:lnTo>
                  <a:lnTo>
                    <a:pt x="10687049" y="2690812"/>
                  </a:lnTo>
                  <a:lnTo>
                    <a:pt x="10687048" y="2693969"/>
                  </a:lnTo>
                  <a:lnTo>
                    <a:pt x="10686443" y="2697007"/>
                  </a:lnTo>
                  <a:lnTo>
                    <a:pt x="10685235" y="2699924"/>
                  </a:lnTo>
                  <a:lnTo>
                    <a:pt x="10684027" y="2702842"/>
                  </a:lnTo>
                  <a:lnTo>
                    <a:pt x="10663236" y="2714624"/>
                  </a:lnTo>
                  <a:lnTo>
                    <a:pt x="23812" y="2714624"/>
                  </a:lnTo>
                  <a:lnTo>
                    <a:pt x="1812" y="2699924"/>
                  </a:lnTo>
                  <a:lnTo>
                    <a:pt x="604" y="2697007"/>
                  </a:lnTo>
                  <a:lnTo>
                    <a:pt x="0" y="2693969"/>
                  </a:lnTo>
                  <a:lnTo>
                    <a:pt x="0" y="2690812"/>
                  </a:lnTo>
                  <a:close/>
                </a:path>
              </a:pathLst>
            </a:custGeom>
            <a:ln w="9524">
              <a:solidFill>
                <a:srgbClr val="999999"/>
              </a:solidFill>
            </a:ln>
          </p:spPr>
          <p:txBody>
            <a:bodyPr wrap="square" lIns="0" tIns="0" rIns="0" bIns="0" rtlCol="0"/>
            <a:lstStyle/>
            <a:p>
              <a:endParaRPr/>
            </a:p>
          </p:txBody>
        </p:sp>
      </p:grpSp>
      <p:sp>
        <p:nvSpPr>
          <p:cNvPr id="8" name="object 5">
            <a:extLst>
              <a:ext uri="{FF2B5EF4-FFF2-40B4-BE49-F238E27FC236}">
                <a16:creationId xmlns:a16="http://schemas.microsoft.com/office/drawing/2014/main" id="{03447F0E-8A4C-847F-E54B-1F4798802228}"/>
              </a:ext>
            </a:extLst>
          </p:cNvPr>
          <p:cNvSpPr txBox="1">
            <a:spLocks/>
          </p:cNvSpPr>
          <p:nvPr/>
        </p:nvSpPr>
        <p:spPr>
          <a:xfrm>
            <a:off x="1413073" y="950900"/>
            <a:ext cx="3896995" cy="574040"/>
          </a:xfrm>
          <a:prstGeom prst="rect">
            <a:avLst/>
          </a:prstGeom>
        </p:spPr>
        <p:txBody>
          <a:bodyPr vert="horz" wrap="square" lIns="0" tIns="33655" rIns="0" bIns="0" rtlCol="0" anchor="t">
            <a:spAutoFit/>
          </a:bodyPr>
          <a:lstStyle>
            <a:lvl1pPr algn="l" defTabSz="914400" rtl="0" eaLnBrk="1" latinLnBrk="0" hangingPunct="1">
              <a:lnSpc>
                <a:spcPct val="90000"/>
              </a:lnSpc>
              <a:spcBef>
                <a:spcPct val="0"/>
              </a:spcBef>
              <a:buNone/>
              <a:defRPr sz="3600" b="1" kern="1200">
                <a:solidFill>
                  <a:schemeClr val="tx1"/>
                </a:solidFill>
                <a:latin typeface="+mj-lt"/>
                <a:ea typeface="+mj-ea"/>
                <a:cs typeface="+mj-cs"/>
              </a:defRPr>
            </a:lvl1pPr>
          </a:lstStyle>
          <a:p>
            <a:pPr marL="12700" marR="5080">
              <a:lnSpc>
                <a:spcPts val="2100"/>
              </a:lnSpc>
              <a:spcBef>
                <a:spcPts val="265"/>
              </a:spcBef>
            </a:pPr>
            <a:r>
              <a:rPr lang="en-GB" sz="1850" b="0" dirty="0">
                <a:solidFill>
                  <a:srgbClr val="959895"/>
                </a:solidFill>
                <a:latin typeface="Consolas"/>
                <a:cs typeface="Consolas"/>
              </a:rPr>
              <a:t>//</a:t>
            </a:r>
            <a:r>
              <a:rPr lang="en-GB" sz="1850" b="0" spc="-25" dirty="0">
                <a:solidFill>
                  <a:srgbClr val="959895"/>
                </a:solidFill>
                <a:latin typeface="Consolas"/>
                <a:cs typeface="Consolas"/>
              </a:rPr>
              <a:t> </a:t>
            </a:r>
            <a:r>
              <a:rPr lang="en-GB" sz="1850" b="0" dirty="0">
                <a:solidFill>
                  <a:srgbClr val="959895"/>
                </a:solidFill>
                <a:latin typeface="Consolas"/>
                <a:cs typeface="Consolas"/>
              </a:rPr>
              <a:t>Use</a:t>
            </a:r>
            <a:r>
              <a:rPr lang="en-GB" sz="1850" b="0" spc="-15" dirty="0">
                <a:solidFill>
                  <a:srgbClr val="959895"/>
                </a:solidFill>
                <a:latin typeface="Consolas"/>
                <a:cs typeface="Consolas"/>
              </a:rPr>
              <a:t> </a:t>
            </a:r>
            <a:r>
              <a:rPr lang="en-GB" sz="1850" b="0" dirty="0">
                <a:solidFill>
                  <a:srgbClr val="959895"/>
                </a:solidFill>
                <a:latin typeface="Consolas"/>
                <a:cs typeface="Consolas"/>
              </a:rPr>
              <a:t>this</a:t>
            </a:r>
            <a:r>
              <a:rPr lang="en-GB" sz="1850" b="0" spc="-15" dirty="0">
                <a:solidFill>
                  <a:srgbClr val="959895"/>
                </a:solidFill>
                <a:latin typeface="Consolas"/>
                <a:cs typeface="Consolas"/>
              </a:rPr>
              <a:t> </a:t>
            </a:r>
            <a:r>
              <a:rPr lang="en-GB" sz="1850" b="0" dirty="0">
                <a:solidFill>
                  <a:srgbClr val="959895"/>
                </a:solidFill>
                <a:latin typeface="Consolas"/>
                <a:cs typeface="Consolas"/>
              </a:rPr>
              <a:t>for</a:t>
            </a:r>
            <a:r>
              <a:rPr lang="en-GB" sz="1850" b="0" spc="-15" dirty="0">
                <a:solidFill>
                  <a:srgbClr val="959895"/>
                </a:solidFill>
                <a:latin typeface="Consolas"/>
                <a:cs typeface="Consolas"/>
              </a:rPr>
              <a:t> </a:t>
            </a:r>
            <a:r>
              <a:rPr lang="en-GB" sz="1850" b="0" spc="-10" dirty="0">
                <a:solidFill>
                  <a:srgbClr val="959895"/>
                </a:solidFill>
                <a:latin typeface="Consolas"/>
                <a:cs typeface="Consolas"/>
              </a:rPr>
              <a:t>initialization </a:t>
            </a:r>
            <a:r>
              <a:rPr lang="en-GB" sz="1850" b="0" dirty="0">
                <a:solidFill>
                  <a:srgbClr val="D63A49"/>
                </a:solidFill>
                <a:latin typeface="Consolas"/>
                <a:cs typeface="Consolas"/>
              </a:rPr>
              <a:t>void</a:t>
            </a:r>
            <a:r>
              <a:rPr lang="en-GB" sz="1850" b="0" spc="-25" dirty="0">
                <a:solidFill>
                  <a:srgbClr val="D63A49"/>
                </a:solidFill>
                <a:latin typeface="Consolas"/>
                <a:cs typeface="Consolas"/>
              </a:rPr>
              <a:t> </a:t>
            </a:r>
            <a:r>
              <a:rPr lang="en-GB" sz="1850" b="0" dirty="0">
                <a:solidFill>
                  <a:srgbClr val="6F41C1"/>
                </a:solidFill>
                <a:latin typeface="Consolas"/>
                <a:cs typeface="Consolas"/>
              </a:rPr>
              <a:t>Start</a:t>
            </a:r>
            <a:r>
              <a:rPr lang="en-GB" sz="1850" b="0" spc="-20" dirty="0">
                <a:solidFill>
                  <a:srgbClr val="6F41C1"/>
                </a:solidFill>
                <a:latin typeface="Consolas"/>
                <a:cs typeface="Consolas"/>
              </a:rPr>
              <a:t> </a:t>
            </a:r>
            <a:r>
              <a:rPr lang="en-GB" sz="1850" b="0" spc="-25" dirty="0">
                <a:solidFill>
                  <a:srgbClr val="24292E"/>
                </a:solidFill>
                <a:latin typeface="Consolas"/>
                <a:cs typeface="Consolas"/>
              </a:rPr>
              <a:t>()</a:t>
            </a:r>
            <a:endParaRPr lang="en-GB" sz="1850" dirty="0">
              <a:latin typeface="Consolas"/>
              <a:cs typeface="Consolas"/>
            </a:endParaRPr>
          </a:p>
        </p:txBody>
      </p:sp>
      <p:sp>
        <p:nvSpPr>
          <p:cNvPr id="9" name="object 6">
            <a:extLst>
              <a:ext uri="{FF2B5EF4-FFF2-40B4-BE49-F238E27FC236}">
                <a16:creationId xmlns:a16="http://schemas.microsoft.com/office/drawing/2014/main" id="{DB4555B4-5B58-495B-1483-CA6C2B4FAEC5}"/>
              </a:ext>
            </a:extLst>
          </p:cNvPr>
          <p:cNvSpPr txBox="1"/>
          <p:nvPr/>
        </p:nvSpPr>
        <p:spPr>
          <a:xfrm>
            <a:off x="1413098" y="1484300"/>
            <a:ext cx="6477635" cy="1907539"/>
          </a:xfrm>
          <a:prstGeom prst="rect">
            <a:avLst/>
          </a:prstGeom>
        </p:spPr>
        <p:txBody>
          <a:bodyPr vert="horz" wrap="square" lIns="0" tIns="12065" rIns="0" bIns="0" rtlCol="0">
            <a:spAutoFit/>
          </a:bodyPr>
          <a:lstStyle/>
          <a:p>
            <a:pPr marL="12700">
              <a:lnSpc>
                <a:spcPts val="2160"/>
              </a:lnSpc>
              <a:spcBef>
                <a:spcPts val="95"/>
              </a:spcBef>
            </a:pPr>
            <a:r>
              <a:rPr sz="1850" spc="-50" dirty="0">
                <a:solidFill>
                  <a:srgbClr val="24292E"/>
                </a:solidFill>
                <a:latin typeface="Consolas"/>
                <a:cs typeface="Consolas"/>
              </a:rPr>
              <a:t>{</a:t>
            </a:r>
            <a:endParaRPr sz="1850" dirty="0">
              <a:latin typeface="Consolas"/>
              <a:cs typeface="Consolas"/>
            </a:endParaRPr>
          </a:p>
          <a:p>
            <a:pPr marL="528320">
              <a:lnSpc>
                <a:spcPts val="2160"/>
              </a:lnSpc>
            </a:pPr>
            <a:r>
              <a:rPr sz="1850" dirty="0">
                <a:solidFill>
                  <a:srgbClr val="24292E"/>
                </a:solidFill>
                <a:latin typeface="Consolas"/>
                <a:cs typeface="Consolas"/>
              </a:rPr>
              <a:t>obstacle</a:t>
            </a:r>
            <a:r>
              <a:rPr sz="1850" spc="-25" dirty="0">
                <a:solidFill>
                  <a:srgbClr val="24292E"/>
                </a:solidFill>
                <a:latin typeface="Consolas"/>
                <a:cs typeface="Consolas"/>
              </a:rPr>
              <a:t> </a:t>
            </a:r>
            <a:r>
              <a:rPr sz="1850" dirty="0">
                <a:solidFill>
                  <a:srgbClr val="24292E"/>
                </a:solidFill>
                <a:latin typeface="Consolas"/>
                <a:cs typeface="Consolas"/>
              </a:rPr>
              <a:t>=</a:t>
            </a:r>
            <a:r>
              <a:rPr sz="1850" spc="-20" dirty="0">
                <a:solidFill>
                  <a:srgbClr val="24292E"/>
                </a:solidFill>
                <a:latin typeface="Consolas"/>
                <a:cs typeface="Consolas"/>
              </a:rPr>
              <a:t> </a:t>
            </a:r>
            <a:r>
              <a:rPr sz="1850" spc="-10" dirty="0">
                <a:solidFill>
                  <a:srgbClr val="24292E"/>
                </a:solidFill>
                <a:latin typeface="Consolas"/>
                <a:cs typeface="Consolas"/>
              </a:rPr>
              <a:t>GetComponent&lt;Rigidbody2D&gt;();</a:t>
            </a:r>
            <a:endParaRPr sz="1850" dirty="0">
              <a:latin typeface="Consolas"/>
              <a:cs typeface="Consolas"/>
            </a:endParaRPr>
          </a:p>
          <a:p>
            <a:pPr marL="528320">
              <a:lnSpc>
                <a:spcPts val="2160"/>
              </a:lnSpc>
              <a:spcBef>
                <a:spcPts val="1980"/>
              </a:spcBef>
            </a:pPr>
            <a:r>
              <a:rPr sz="1850" dirty="0">
                <a:solidFill>
                  <a:srgbClr val="959895"/>
                </a:solidFill>
                <a:latin typeface="Consolas"/>
                <a:cs typeface="Consolas"/>
              </a:rPr>
              <a:t>//Invoke</a:t>
            </a:r>
            <a:r>
              <a:rPr sz="1850" spc="-40" dirty="0">
                <a:solidFill>
                  <a:srgbClr val="959895"/>
                </a:solidFill>
                <a:latin typeface="Consolas"/>
                <a:cs typeface="Consolas"/>
              </a:rPr>
              <a:t> </a:t>
            </a:r>
            <a:r>
              <a:rPr sz="1850" dirty="0">
                <a:solidFill>
                  <a:srgbClr val="959895"/>
                </a:solidFill>
                <a:latin typeface="Consolas"/>
                <a:cs typeface="Consolas"/>
              </a:rPr>
              <a:t>the</a:t>
            </a:r>
            <a:r>
              <a:rPr sz="1850" spc="-35" dirty="0">
                <a:solidFill>
                  <a:srgbClr val="959895"/>
                </a:solidFill>
                <a:latin typeface="Consolas"/>
                <a:cs typeface="Consolas"/>
              </a:rPr>
              <a:t> </a:t>
            </a:r>
            <a:r>
              <a:rPr sz="1850" dirty="0">
                <a:solidFill>
                  <a:srgbClr val="959895"/>
                </a:solidFill>
                <a:latin typeface="Consolas"/>
                <a:cs typeface="Consolas"/>
              </a:rPr>
              <a:t>method</a:t>
            </a:r>
            <a:r>
              <a:rPr sz="1850" spc="-40" dirty="0">
                <a:solidFill>
                  <a:srgbClr val="959895"/>
                </a:solidFill>
                <a:latin typeface="Consolas"/>
                <a:cs typeface="Consolas"/>
              </a:rPr>
              <a:t> </a:t>
            </a:r>
            <a:r>
              <a:rPr sz="1850" dirty="0">
                <a:solidFill>
                  <a:srgbClr val="959895"/>
                </a:solidFill>
                <a:latin typeface="Consolas"/>
                <a:cs typeface="Consolas"/>
              </a:rPr>
              <a:t>"SpawnObstacle"</a:t>
            </a:r>
            <a:r>
              <a:rPr sz="1850" spc="-35" dirty="0">
                <a:solidFill>
                  <a:srgbClr val="959895"/>
                </a:solidFill>
                <a:latin typeface="Consolas"/>
                <a:cs typeface="Consolas"/>
              </a:rPr>
              <a:t> </a:t>
            </a:r>
            <a:r>
              <a:rPr sz="1850" dirty="0">
                <a:solidFill>
                  <a:srgbClr val="959895"/>
                </a:solidFill>
                <a:latin typeface="Consolas"/>
                <a:cs typeface="Consolas"/>
              </a:rPr>
              <a:t>every</a:t>
            </a:r>
            <a:r>
              <a:rPr sz="1850" spc="-35" dirty="0">
                <a:solidFill>
                  <a:srgbClr val="959895"/>
                </a:solidFill>
                <a:latin typeface="Consolas"/>
                <a:cs typeface="Consolas"/>
              </a:rPr>
              <a:t> </a:t>
            </a:r>
            <a:r>
              <a:rPr sz="1850" spc="-20" dirty="0">
                <a:solidFill>
                  <a:srgbClr val="959895"/>
                </a:solidFill>
                <a:latin typeface="Consolas"/>
                <a:cs typeface="Consolas"/>
              </a:rPr>
              <a:t>four</a:t>
            </a:r>
            <a:endParaRPr sz="1850" dirty="0">
              <a:latin typeface="Consolas"/>
              <a:cs typeface="Consolas"/>
            </a:endParaRPr>
          </a:p>
          <a:p>
            <a:pPr marL="528320" marR="2456815" indent="-635">
              <a:lnSpc>
                <a:spcPts val="2100"/>
              </a:lnSpc>
              <a:spcBef>
                <a:spcPts val="110"/>
              </a:spcBef>
            </a:pPr>
            <a:r>
              <a:rPr sz="1850" spc="-10" dirty="0">
                <a:solidFill>
                  <a:srgbClr val="959895"/>
                </a:solidFill>
                <a:latin typeface="Consolas"/>
                <a:cs typeface="Consolas"/>
              </a:rPr>
              <a:t>//seconds </a:t>
            </a:r>
            <a:r>
              <a:rPr sz="1850" dirty="0">
                <a:solidFill>
                  <a:srgbClr val="24292E"/>
                </a:solidFill>
                <a:latin typeface="Consolas"/>
                <a:cs typeface="Consolas"/>
              </a:rPr>
              <a:t>Invoke(</a:t>
            </a:r>
            <a:r>
              <a:rPr sz="1850" dirty="0">
                <a:solidFill>
                  <a:srgbClr val="032E61"/>
                </a:solidFill>
                <a:latin typeface="Consolas"/>
                <a:cs typeface="Consolas"/>
              </a:rPr>
              <a:t>"SpawnObstacle"</a:t>
            </a:r>
            <a:r>
              <a:rPr sz="1850" dirty="0">
                <a:solidFill>
                  <a:srgbClr val="24292E"/>
                </a:solidFill>
                <a:latin typeface="Consolas"/>
                <a:cs typeface="Consolas"/>
              </a:rPr>
              <a:t>,</a:t>
            </a:r>
            <a:r>
              <a:rPr sz="1850" spc="-125" dirty="0">
                <a:solidFill>
                  <a:srgbClr val="24292E"/>
                </a:solidFill>
                <a:latin typeface="Consolas"/>
                <a:cs typeface="Consolas"/>
              </a:rPr>
              <a:t> </a:t>
            </a:r>
            <a:r>
              <a:rPr sz="1850" spc="-25" dirty="0">
                <a:solidFill>
                  <a:srgbClr val="005CC4"/>
                </a:solidFill>
                <a:latin typeface="Consolas"/>
                <a:cs typeface="Consolas"/>
              </a:rPr>
              <a:t>4</a:t>
            </a:r>
            <a:r>
              <a:rPr sz="1850" spc="-25" dirty="0">
                <a:solidFill>
                  <a:srgbClr val="24292E"/>
                </a:solidFill>
                <a:latin typeface="Consolas"/>
                <a:cs typeface="Consolas"/>
              </a:rPr>
              <a:t>);</a:t>
            </a:r>
            <a:endParaRPr sz="1850" dirty="0">
              <a:latin typeface="Consolas"/>
              <a:cs typeface="Consolas"/>
            </a:endParaRPr>
          </a:p>
          <a:p>
            <a:pPr marL="12700">
              <a:lnSpc>
                <a:spcPts val="2050"/>
              </a:lnSpc>
            </a:pPr>
            <a:r>
              <a:rPr sz="1850" spc="-50" dirty="0">
                <a:solidFill>
                  <a:srgbClr val="24292E"/>
                </a:solidFill>
                <a:latin typeface="Consolas"/>
                <a:cs typeface="Consolas"/>
              </a:rPr>
              <a:t>}</a:t>
            </a:r>
            <a:endParaRPr sz="1850" dirty="0">
              <a:latin typeface="Consolas"/>
              <a:cs typeface="Consolas"/>
            </a:endParaRPr>
          </a:p>
        </p:txBody>
      </p:sp>
    </p:spTree>
    <p:extLst>
      <p:ext uri="{BB962C8B-B14F-4D97-AF65-F5344CB8AC3E}">
        <p14:creationId xmlns:p14="http://schemas.microsoft.com/office/powerpoint/2010/main" val="24320197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1312D75-925A-26B6-1A59-51268C134D67}"/>
              </a:ext>
            </a:extLst>
          </p:cNvPr>
          <p:cNvSpPr>
            <a:spLocks noGrp="1"/>
          </p:cNvSpPr>
          <p:nvPr>
            <p:ph idx="1"/>
          </p:nvPr>
        </p:nvSpPr>
        <p:spPr>
          <a:xfrm>
            <a:off x="612513" y="3080589"/>
            <a:ext cx="10653579" cy="2661075"/>
          </a:xfrm>
        </p:spPr>
        <p:txBody>
          <a:bodyPr>
            <a:normAutofit/>
          </a:bodyPr>
          <a:lstStyle/>
          <a:p>
            <a:r>
              <a:rPr lang="en-GB" sz="1400" dirty="0"/>
              <a:t>When we create a new C# Script, </a:t>
            </a:r>
            <a:r>
              <a:rPr lang="en-GB" sz="1400" dirty="0">
                <a:solidFill>
                  <a:srgbClr val="C00000"/>
                </a:solidFill>
              </a:rPr>
              <a:t>void</a:t>
            </a:r>
            <a:r>
              <a:rPr lang="en-GB" sz="1400" dirty="0"/>
              <a:t> </a:t>
            </a:r>
            <a:r>
              <a:rPr lang="en-GB" sz="1400" dirty="0">
                <a:solidFill>
                  <a:schemeClr val="accent3">
                    <a:lumMod val="75000"/>
                  </a:schemeClr>
                </a:solidFill>
              </a:rPr>
              <a:t>Start</a:t>
            </a:r>
            <a:r>
              <a:rPr lang="en-GB" sz="1400" dirty="0"/>
              <a:t>(), and </a:t>
            </a:r>
            <a:r>
              <a:rPr lang="en-GB" sz="1400" dirty="0">
                <a:solidFill>
                  <a:srgbClr val="C00000"/>
                </a:solidFill>
              </a:rPr>
              <a:t>void</a:t>
            </a:r>
            <a:r>
              <a:rPr lang="en-GB" sz="1400" dirty="0"/>
              <a:t> </a:t>
            </a:r>
            <a:r>
              <a:rPr lang="en-GB" sz="1400" dirty="0">
                <a:solidFill>
                  <a:schemeClr val="accent3">
                    <a:lumMod val="75000"/>
                  </a:schemeClr>
                </a:solidFill>
              </a:rPr>
              <a:t>Update</a:t>
            </a:r>
            <a:r>
              <a:rPr lang="en-GB" sz="1400" dirty="0"/>
              <a:t>() are part of the boilerplate code that is created in the Class.</a:t>
            </a:r>
          </a:p>
          <a:p>
            <a:r>
              <a:rPr lang="en-GB" sz="1400" dirty="0"/>
              <a:t>We want to use </a:t>
            </a:r>
            <a:r>
              <a:rPr lang="en-GB" sz="1400" dirty="0">
                <a:solidFill>
                  <a:srgbClr val="C00000"/>
                </a:solidFill>
              </a:rPr>
              <a:t>void</a:t>
            </a:r>
            <a:r>
              <a:rPr lang="en-GB" sz="1400" dirty="0"/>
              <a:t> </a:t>
            </a:r>
            <a:r>
              <a:rPr lang="en-GB" sz="1400" dirty="0">
                <a:solidFill>
                  <a:schemeClr val="accent3">
                    <a:lumMod val="75000"/>
                  </a:schemeClr>
                </a:solidFill>
              </a:rPr>
              <a:t>Start</a:t>
            </a:r>
            <a:r>
              <a:rPr lang="en-GB" sz="1400" dirty="0"/>
              <a:t>() if we need to enable a Script (an Event) at the beginning of the Scene.</a:t>
            </a:r>
          </a:p>
          <a:p>
            <a:r>
              <a:rPr lang="en-GB" sz="1400" dirty="0">
                <a:solidFill>
                  <a:srgbClr val="C00000"/>
                </a:solidFill>
              </a:rPr>
              <a:t>void</a:t>
            </a:r>
            <a:r>
              <a:rPr lang="en-GB" sz="1400" dirty="0"/>
              <a:t> </a:t>
            </a:r>
            <a:r>
              <a:rPr lang="en-GB" sz="1400" dirty="0">
                <a:solidFill>
                  <a:schemeClr val="accent3">
                    <a:lumMod val="75000"/>
                  </a:schemeClr>
                </a:solidFill>
              </a:rPr>
              <a:t>Update</a:t>
            </a:r>
            <a:r>
              <a:rPr lang="en-GB" sz="1400" dirty="0"/>
              <a:t>() triggers whenever the screen is refreshed (every frame).</a:t>
            </a:r>
          </a:p>
          <a:p>
            <a:r>
              <a:rPr lang="en-GB" sz="1400" dirty="0"/>
              <a:t>There are others too: </a:t>
            </a:r>
          </a:p>
          <a:p>
            <a:pPr lvl="1"/>
            <a:r>
              <a:rPr lang="en-GB" sz="1400" dirty="0"/>
              <a:t>void Awake(): When the game starts (only triggers once)</a:t>
            </a:r>
          </a:p>
          <a:p>
            <a:pPr lvl="1"/>
            <a:r>
              <a:rPr lang="en-GB" sz="1400" dirty="0"/>
              <a:t>void </a:t>
            </a:r>
            <a:r>
              <a:rPr lang="en-GB" sz="1400" dirty="0" err="1"/>
              <a:t>OnControllerColliderHit</a:t>
            </a:r>
            <a:r>
              <a:rPr lang="en-GB" sz="1400" dirty="0"/>
              <a:t>():</a:t>
            </a:r>
            <a:r>
              <a:rPr lang="en-GB" sz="1200" dirty="0"/>
              <a:t> </a:t>
            </a:r>
            <a:r>
              <a:rPr lang="en-GB" sz="1400" dirty="0"/>
              <a:t>What happens when the Player collides with an object…</a:t>
            </a:r>
          </a:p>
          <a:p>
            <a:r>
              <a:rPr lang="en-GB" sz="1400" dirty="0"/>
              <a:t>Aside from the Methods Unity has pre-defined, we can create our own too…</a:t>
            </a:r>
          </a:p>
        </p:txBody>
      </p:sp>
      <p:sp>
        <p:nvSpPr>
          <p:cNvPr id="4" name="Title 1">
            <a:extLst>
              <a:ext uri="{FF2B5EF4-FFF2-40B4-BE49-F238E27FC236}">
                <a16:creationId xmlns:a16="http://schemas.microsoft.com/office/drawing/2014/main" id="{C1FA7F15-A9D5-E413-708E-1BA27E8108C8}"/>
              </a:ext>
            </a:extLst>
          </p:cNvPr>
          <p:cNvSpPr>
            <a:spLocks noGrp="1"/>
          </p:cNvSpPr>
          <p:nvPr>
            <p:ph type="title"/>
          </p:nvPr>
        </p:nvSpPr>
        <p:spPr>
          <a:xfrm>
            <a:off x="612647" y="124444"/>
            <a:ext cx="10653713" cy="620024"/>
          </a:xfrm>
        </p:spPr>
        <p:txBody>
          <a:bodyPr>
            <a:normAutofit/>
          </a:bodyPr>
          <a:lstStyle/>
          <a:p>
            <a:r>
              <a:rPr lang="en-GB" dirty="0"/>
              <a:t>Code Example</a:t>
            </a:r>
          </a:p>
        </p:txBody>
      </p:sp>
      <p:sp>
        <p:nvSpPr>
          <p:cNvPr id="8" name="object 5">
            <a:extLst>
              <a:ext uri="{FF2B5EF4-FFF2-40B4-BE49-F238E27FC236}">
                <a16:creationId xmlns:a16="http://schemas.microsoft.com/office/drawing/2014/main" id="{03447F0E-8A4C-847F-E54B-1F4798802228}"/>
              </a:ext>
            </a:extLst>
          </p:cNvPr>
          <p:cNvSpPr txBox="1">
            <a:spLocks/>
          </p:cNvSpPr>
          <p:nvPr/>
        </p:nvSpPr>
        <p:spPr>
          <a:xfrm>
            <a:off x="1413073" y="950900"/>
            <a:ext cx="3896995" cy="574040"/>
          </a:xfrm>
          <a:prstGeom prst="rect">
            <a:avLst/>
          </a:prstGeom>
        </p:spPr>
        <p:txBody>
          <a:bodyPr vert="horz" wrap="square" lIns="0" tIns="33655" rIns="0" bIns="0" rtlCol="0" anchor="t">
            <a:spAutoFit/>
          </a:bodyPr>
          <a:lstStyle>
            <a:lvl1pPr algn="l" defTabSz="914400" rtl="0" eaLnBrk="1" latinLnBrk="0" hangingPunct="1">
              <a:lnSpc>
                <a:spcPct val="90000"/>
              </a:lnSpc>
              <a:spcBef>
                <a:spcPct val="0"/>
              </a:spcBef>
              <a:buNone/>
              <a:defRPr sz="3600" b="1" kern="1200">
                <a:solidFill>
                  <a:schemeClr val="tx1"/>
                </a:solidFill>
                <a:latin typeface="+mj-lt"/>
                <a:ea typeface="+mj-ea"/>
                <a:cs typeface="+mj-cs"/>
              </a:defRPr>
            </a:lvl1pPr>
          </a:lstStyle>
          <a:p>
            <a:pPr marL="12700" marR="5080">
              <a:lnSpc>
                <a:spcPts val="2100"/>
              </a:lnSpc>
              <a:spcBef>
                <a:spcPts val="265"/>
              </a:spcBef>
            </a:pPr>
            <a:r>
              <a:rPr lang="en-GB" sz="1850" b="0" dirty="0">
                <a:solidFill>
                  <a:srgbClr val="959895"/>
                </a:solidFill>
                <a:latin typeface="Consolas"/>
                <a:cs typeface="Consolas"/>
              </a:rPr>
              <a:t>//</a:t>
            </a:r>
            <a:r>
              <a:rPr lang="en-GB" sz="1850" b="0" spc="-25" dirty="0">
                <a:solidFill>
                  <a:srgbClr val="959895"/>
                </a:solidFill>
                <a:latin typeface="Consolas"/>
                <a:cs typeface="Consolas"/>
              </a:rPr>
              <a:t> </a:t>
            </a:r>
            <a:r>
              <a:rPr lang="en-GB" sz="1850" b="0" dirty="0">
                <a:solidFill>
                  <a:srgbClr val="959895"/>
                </a:solidFill>
                <a:latin typeface="Consolas"/>
                <a:cs typeface="Consolas"/>
              </a:rPr>
              <a:t>Use</a:t>
            </a:r>
            <a:r>
              <a:rPr lang="en-GB" sz="1850" b="0" spc="-15" dirty="0">
                <a:solidFill>
                  <a:srgbClr val="959895"/>
                </a:solidFill>
                <a:latin typeface="Consolas"/>
                <a:cs typeface="Consolas"/>
              </a:rPr>
              <a:t> </a:t>
            </a:r>
            <a:r>
              <a:rPr lang="en-GB" sz="1850" b="0" dirty="0">
                <a:solidFill>
                  <a:srgbClr val="959895"/>
                </a:solidFill>
                <a:latin typeface="Consolas"/>
                <a:cs typeface="Consolas"/>
              </a:rPr>
              <a:t>this</a:t>
            </a:r>
            <a:r>
              <a:rPr lang="en-GB" sz="1850" b="0" spc="-15" dirty="0">
                <a:solidFill>
                  <a:srgbClr val="959895"/>
                </a:solidFill>
                <a:latin typeface="Consolas"/>
                <a:cs typeface="Consolas"/>
              </a:rPr>
              <a:t> </a:t>
            </a:r>
            <a:r>
              <a:rPr lang="en-GB" sz="1850" b="0" dirty="0">
                <a:solidFill>
                  <a:srgbClr val="959895"/>
                </a:solidFill>
                <a:latin typeface="Consolas"/>
                <a:cs typeface="Consolas"/>
              </a:rPr>
              <a:t>for</a:t>
            </a:r>
            <a:r>
              <a:rPr lang="en-GB" sz="1850" b="0" spc="-15" dirty="0">
                <a:solidFill>
                  <a:srgbClr val="959895"/>
                </a:solidFill>
                <a:latin typeface="Consolas"/>
                <a:cs typeface="Consolas"/>
              </a:rPr>
              <a:t> </a:t>
            </a:r>
            <a:r>
              <a:rPr lang="en-GB" sz="1850" b="0" spc="-10" dirty="0">
                <a:solidFill>
                  <a:srgbClr val="959895"/>
                </a:solidFill>
                <a:latin typeface="Consolas"/>
                <a:cs typeface="Consolas"/>
              </a:rPr>
              <a:t>initialization </a:t>
            </a:r>
            <a:r>
              <a:rPr lang="en-GB" sz="1850" b="0" dirty="0">
                <a:solidFill>
                  <a:srgbClr val="D63A49"/>
                </a:solidFill>
                <a:latin typeface="Consolas"/>
                <a:cs typeface="Consolas"/>
              </a:rPr>
              <a:t>void</a:t>
            </a:r>
            <a:r>
              <a:rPr lang="en-GB" sz="1850" b="0" spc="-25" dirty="0">
                <a:solidFill>
                  <a:srgbClr val="D63A49"/>
                </a:solidFill>
                <a:latin typeface="Consolas"/>
                <a:cs typeface="Consolas"/>
              </a:rPr>
              <a:t> </a:t>
            </a:r>
            <a:r>
              <a:rPr lang="en-GB" sz="1850" b="0" dirty="0">
                <a:solidFill>
                  <a:srgbClr val="6F41C1"/>
                </a:solidFill>
                <a:latin typeface="Consolas"/>
                <a:cs typeface="Consolas"/>
              </a:rPr>
              <a:t>Start</a:t>
            </a:r>
            <a:r>
              <a:rPr lang="en-GB" sz="1850" b="0" spc="-20" dirty="0">
                <a:solidFill>
                  <a:srgbClr val="6F41C1"/>
                </a:solidFill>
                <a:latin typeface="Consolas"/>
                <a:cs typeface="Consolas"/>
              </a:rPr>
              <a:t> </a:t>
            </a:r>
            <a:r>
              <a:rPr lang="en-GB" sz="1850" b="0" spc="-25" dirty="0">
                <a:solidFill>
                  <a:srgbClr val="24292E"/>
                </a:solidFill>
                <a:latin typeface="Consolas"/>
                <a:cs typeface="Consolas"/>
              </a:rPr>
              <a:t>()</a:t>
            </a:r>
            <a:endParaRPr lang="en-GB" sz="1850" dirty="0">
              <a:latin typeface="Consolas"/>
              <a:cs typeface="Consolas"/>
            </a:endParaRPr>
          </a:p>
        </p:txBody>
      </p:sp>
      <p:sp>
        <p:nvSpPr>
          <p:cNvPr id="9" name="object 6">
            <a:extLst>
              <a:ext uri="{FF2B5EF4-FFF2-40B4-BE49-F238E27FC236}">
                <a16:creationId xmlns:a16="http://schemas.microsoft.com/office/drawing/2014/main" id="{DB4555B4-5B58-495B-1483-CA6C2B4FAEC5}"/>
              </a:ext>
            </a:extLst>
          </p:cNvPr>
          <p:cNvSpPr txBox="1"/>
          <p:nvPr/>
        </p:nvSpPr>
        <p:spPr>
          <a:xfrm>
            <a:off x="1413099" y="1484300"/>
            <a:ext cx="4682902" cy="832920"/>
          </a:xfrm>
          <a:prstGeom prst="rect">
            <a:avLst/>
          </a:prstGeom>
        </p:spPr>
        <p:txBody>
          <a:bodyPr vert="horz" wrap="square" lIns="0" tIns="12065" rIns="0" bIns="0" rtlCol="0">
            <a:spAutoFit/>
          </a:bodyPr>
          <a:lstStyle/>
          <a:p>
            <a:pPr marL="12700">
              <a:lnSpc>
                <a:spcPts val="2160"/>
              </a:lnSpc>
              <a:spcBef>
                <a:spcPts val="95"/>
              </a:spcBef>
            </a:pPr>
            <a:r>
              <a:rPr sz="1850" spc="-50" dirty="0">
                <a:solidFill>
                  <a:srgbClr val="24292E"/>
                </a:solidFill>
                <a:latin typeface="Consolas"/>
                <a:cs typeface="Consolas"/>
              </a:rPr>
              <a:t>{</a:t>
            </a:r>
            <a:endParaRPr sz="1850" dirty="0">
              <a:latin typeface="Consolas"/>
              <a:cs typeface="Consolas"/>
            </a:endParaRPr>
          </a:p>
          <a:p>
            <a:pPr marL="12700">
              <a:lnSpc>
                <a:spcPts val="2050"/>
              </a:lnSpc>
            </a:pPr>
            <a:endParaRPr lang="en-GB" sz="1850" spc="-50" dirty="0">
              <a:solidFill>
                <a:srgbClr val="24292E"/>
              </a:solidFill>
              <a:latin typeface="Consolas"/>
              <a:cs typeface="Consolas"/>
            </a:endParaRPr>
          </a:p>
          <a:p>
            <a:pPr marL="12700">
              <a:lnSpc>
                <a:spcPts val="2050"/>
              </a:lnSpc>
            </a:pPr>
            <a:r>
              <a:rPr sz="1850" spc="-50" dirty="0">
                <a:solidFill>
                  <a:srgbClr val="24292E"/>
                </a:solidFill>
                <a:latin typeface="Consolas"/>
                <a:cs typeface="Consolas"/>
              </a:rPr>
              <a:t>}</a:t>
            </a:r>
            <a:endParaRPr sz="1850" dirty="0">
              <a:latin typeface="Consolas"/>
              <a:cs typeface="Consolas"/>
            </a:endParaRPr>
          </a:p>
        </p:txBody>
      </p:sp>
      <p:sp>
        <p:nvSpPr>
          <p:cNvPr id="2" name="object 5">
            <a:extLst>
              <a:ext uri="{FF2B5EF4-FFF2-40B4-BE49-F238E27FC236}">
                <a16:creationId xmlns:a16="http://schemas.microsoft.com/office/drawing/2014/main" id="{F73A2B8A-12FB-0DD7-2698-3A75C2BBAE3E}"/>
              </a:ext>
            </a:extLst>
          </p:cNvPr>
          <p:cNvSpPr txBox="1">
            <a:spLocks/>
          </p:cNvSpPr>
          <p:nvPr/>
        </p:nvSpPr>
        <p:spPr>
          <a:xfrm>
            <a:off x="6197632" y="950900"/>
            <a:ext cx="4413250" cy="574040"/>
          </a:xfrm>
          <a:prstGeom prst="rect">
            <a:avLst/>
          </a:prstGeom>
        </p:spPr>
        <p:txBody>
          <a:bodyPr vert="horz" wrap="square" lIns="0" tIns="33655" rIns="0" bIns="0" rtlCol="0" anchor="t">
            <a:spAutoFit/>
          </a:bodyPr>
          <a:lstStyle>
            <a:lvl1pPr algn="l" defTabSz="914400" rtl="0" eaLnBrk="1" latinLnBrk="0" hangingPunct="1">
              <a:lnSpc>
                <a:spcPct val="90000"/>
              </a:lnSpc>
              <a:spcBef>
                <a:spcPct val="0"/>
              </a:spcBef>
              <a:buNone/>
              <a:defRPr sz="3600" b="1" kern="1200">
                <a:solidFill>
                  <a:schemeClr val="tx1"/>
                </a:solidFill>
                <a:latin typeface="+mj-lt"/>
                <a:ea typeface="+mj-ea"/>
                <a:cs typeface="+mj-cs"/>
              </a:defRPr>
            </a:lvl1pPr>
          </a:lstStyle>
          <a:p>
            <a:pPr marL="12700" marR="5080">
              <a:lnSpc>
                <a:spcPts val="2100"/>
              </a:lnSpc>
              <a:spcBef>
                <a:spcPts val="265"/>
              </a:spcBef>
            </a:pPr>
            <a:r>
              <a:rPr lang="en-GB" sz="1850" b="0" dirty="0">
                <a:solidFill>
                  <a:srgbClr val="959895"/>
                </a:solidFill>
                <a:latin typeface="Consolas"/>
                <a:cs typeface="Consolas"/>
              </a:rPr>
              <a:t>//</a:t>
            </a:r>
            <a:r>
              <a:rPr lang="en-GB" sz="1850" b="0" spc="-30" dirty="0">
                <a:solidFill>
                  <a:srgbClr val="959895"/>
                </a:solidFill>
                <a:latin typeface="Consolas"/>
                <a:cs typeface="Consolas"/>
              </a:rPr>
              <a:t> </a:t>
            </a:r>
            <a:r>
              <a:rPr lang="en-GB" sz="1850" b="0" dirty="0">
                <a:solidFill>
                  <a:srgbClr val="959895"/>
                </a:solidFill>
                <a:latin typeface="Consolas"/>
                <a:cs typeface="Consolas"/>
              </a:rPr>
              <a:t>Update</a:t>
            </a:r>
            <a:r>
              <a:rPr lang="en-GB" sz="1850" b="0" spc="-20" dirty="0">
                <a:solidFill>
                  <a:srgbClr val="959895"/>
                </a:solidFill>
                <a:latin typeface="Consolas"/>
                <a:cs typeface="Consolas"/>
              </a:rPr>
              <a:t> </a:t>
            </a:r>
            <a:r>
              <a:rPr lang="en-GB" sz="1850" b="0" dirty="0">
                <a:solidFill>
                  <a:srgbClr val="959895"/>
                </a:solidFill>
                <a:latin typeface="Consolas"/>
                <a:cs typeface="Consolas"/>
              </a:rPr>
              <a:t>is</a:t>
            </a:r>
            <a:r>
              <a:rPr lang="en-GB" sz="1850" b="0" spc="-20" dirty="0">
                <a:solidFill>
                  <a:srgbClr val="959895"/>
                </a:solidFill>
                <a:latin typeface="Consolas"/>
                <a:cs typeface="Consolas"/>
              </a:rPr>
              <a:t> </a:t>
            </a:r>
            <a:r>
              <a:rPr lang="en-GB" sz="1850" b="0" dirty="0">
                <a:solidFill>
                  <a:srgbClr val="959895"/>
                </a:solidFill>
                <a:latin typeface="Consolas"/>
                <a:cs typeface="Consolas"/>
              </a:rPr>
              <a:t>called</a:t>
            </a:r>
            <a:r>
              <a:rPr lang="en-GB" sz="1850" b="0" spc="-20" dirty="0">
                <a:solidFill>
                  <a:srgbClr val="959895"/>
                </a:solidFill>
                <a:latin typeface="Consolas"/>
                <a:cs typeface="Consolas"/>
              </a:rPr>
              <a:t> </a:t>
            </a:r>
            <a:r>
              <a:rPr lang="en-GB" sz="1850" b="0" dirty="0">
                <a:solidFill>
                  <a:srgbClr val="959895"/>
                </a:solidFill>
                <a:latin typeface="Consolas"/>
                <a:cs typeface="Consolas"/>
              </a:rPr>
              <a:t>once</a:t>
            </a:r>
            <a:r>
              <a:rPr lang="en-GB" sz="1850" b="0" spc="-20" dirty="0">
                <a:solidFill>
                  <a:srgbClr val="959895"/>
                </a:solidFill>
                <a:latin typeface="Consolas"/>
                <a:cs typeface="Consolas"/>
              </a:rPr>
              <a:t> </a:t>
            </a:r>
            <a:r>
              <a:rPr lang="en-GB" sz="1850" b="0" dirty="0">
                <a:solidFill>
                  <a:srgbClr val="959895"/>
                </a:solidFill>
                <a:latin typeface="Consolas"/>
                <a:cs typeface="Consolas"/>
              </a:rPr>
              <a:t>per</a:t>
            </a:r>
            <a:r>
              <a:rPr lang="en-GB" sz="1850" b="0" spc="-15" dirty="0">
                <a:solidFill>
                  <a:srgbClr val="959895"/>
                </a:solidFill>
                <a:latin typeface="Consolas"/>
                <a:cs typeface="Consolas"/>
              </a:rPr>
              <a:t> </a:t>
            </a:r>
            <a:r>
              <a:rPr lang="en-GB" sz="1850" b="0" spc="-10" dirty="0">
                <a:solidFill>
                  <a:srgbClr val="959895"/>
                </a:solidFill>
                <a:latin typeface="Consolas"/>
                <a:cs typeface="Consolas"/>
              </a:rPr>
              <a:t>frame </a:t>
            </a:r>
            <a:r>
              <a:rPr lang="en-GB" sz="1850" b="0" dirty="0">
                <a:solidFill>
                  <a:srgbClr val="D63A49"/>
                </a:solidFill>
                <a:latin typeface="Consolas"/>
                <a:cs typeface="Consolas"/>
              </a:rPr>
              <a:t>void</a:t>
            </a:r>
            <a:r>
              <a:rPr lang="en-GB" sz="1850" b="0" spc="-25" dirty="0">
                <a:solidFill>
                  <a:srgbClr val="D63A49"/>
                </a:solidFill>
                <a:latin typeface="Consolas"/>
                <a:cs typeface="Consolas"/>
              </a:rPr>
              <a:t> </a:t>
            </a:r>
            <a:r>
              <a:rPr lang="en-GB" sz="1850" b="0" dirty="0">
                <a:solidFill>
                  <a:srgbClr val="6F41C1"/>
                </a:solidFill>
                <a:latin typeface="Consolas"/>
                <a:cs typeface="Consolas"/>
              </a:rPr>
              <a:t>Update</a:t>
            </a:r>
            <a:r>
              <a:rPr lang="en-GB" sz="1850" b="0" spc="-25" dirty="0">
                <a:solidFill>
                  <a:srgbClr val="6F41C1"/>
                </a:solidFill>
                <a:latin typeface="Consolas"/>
                <a:cs typeface="Consolas"/>
              </a:rPr>
              <a:t> </a:t>
            </a:r>
            <a:r>
              <a:rPr lang="en-GB" sz="1850" b="0" spc="-25" dirty="0">
                <a:solidFill>
                  <a:srgbClr val="24292E"/>
                </a:solidFill>
                <a:latin typeface="Consolas"/>
                <a:cs typeface="Consolas"/>
              </a:rPr>
              <a:t>()</a:t>
            </a:r>
            <a:endParaRPr lang="en-GB" sz="1850" dirty="0">
              <a:latin typeface="Consolas"/>
              <a:cs typeface="Consolas"/>
            </a:endParaRPr>
          </a:p>
        </p:txBody>
      </p:sp>
      <p:sp>
        <p:nvSpPr>
          <p:cNvPr id="10" name="object 6">
            <a:extLst>
              <a:ext uri="{FF2B5EF4-FFF2-40B4-BE49-F238E27FC236}">
                <a16:creationId xmlns:a16="http://schemas.microsoft.com/office/drawing/2014/main" id="{354424EE-E875-E95C-5F6C-14CB711C07A4}"/>
              </a:ext>
            </a:extLst>
          </p:cNvPr>
          <p:cNvSpPr txBox="1"/>
          <p:nvPr/>
        </p:nvSpPr>
        <p:spPr>
          <a:xfrm>
            <a:off x="6031877" y="1507837"/>
            <a:ext cx="6160124" cy="838050"/>
          </a:xfrm>
          <a:prstGeom prst="rect">
            <a:avLst/>
          </a:prstGeom>
        </p:spPr>
        <p:txBody>
          <a:bodyPr vert="horz" wrap="square" lIns="0" tIns="12065" rIns="0" bIns="0" rtlCol="0">
            <a:spAutoFit/>
          </a:bodyPr>
          <a:lstStyle/>
          <a:p>
            <a:pPr marL="142875">
              <a:lnSpc>
                <a:spcPct val="100000"/>
              </a:lnSpc>
              <a:spcBef>
                <a:spcPts val="95"/>
              </a:spcBef>
            </a:pPr>
            <a:r>
              <a:rPr sz="1850" spc="-50" dirty="0">
                <a:solidFill>
                  <a:srgbClr val="24292E"/>
                </a:solidFill>
                <a:latin typeface="Consolas"/>
                <a:cs typeface="Consolas"/>
              </a:rPr>
              <a:t>{</a:t>
            </a:r>
            <a:endParaRPr sz="1850" dirty="0">
              <a:latin typeface="Consolas"/>
              <a:cs typeface="Consolas"/>
            </a:endParaRPr>
          </a:p>
          <a:p>
            <a:pPr marL="142875">
              <a:lnSpc>
                <a:spcPct val="100000"/>
              </a:lnSpc>
              <a:spcBef>
                <a:spcPts val="1980"/>
              </a:spcBef>
            </a:pPr>
            <a:r>
              <a:rPr sz="1850" spc="-50" dirty="0">
                <a:solidFill>
                  <a:srgbClr val="24292E"/>
                </a:solidFill>
                <a:latin typeface="Consolas"/>
                <a:cs typeface="Consolas"/>
              </a:rPr>
              <a:t>}</a:t>
            </a:r>
            <a:endParaRPr sz="1850" dirty="0">
              <a:latin typeface="Consolas"/>
              <a:cs typeface="Consolas"/>
            </a:endParaRPr>
          </a:p>
        </p:txBody>
      </p:sp>
    </p:spTree>
    <p:extLst>
      <p:ext uri="{BB962C8B-B14F-4D97-AF65-F5344CB8AC3E}">
        <p14:creationId xmlns:p14="http://schemas.microsoft.com/office/powerpoint/2010/main" val="152587549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AC98385-95DD-873A-581A-78CE1A257371}"/>
              </a:ext>
            </a:extLst>
          </p:cNvPr>
          <p:cNvSpPr>
            <a:spLocks noGrp="1"/>
          </p:cNvSpPr>
          <p:nvPr>
            <p:ph idx="1"/>
          </p:nvPr>
        </p:nvSpPr>
        <p:spPr>
          <a:xfrm>
            <a:off x="612647" y="4855170"/>
            <a:ext cx="6820409" cy="1878385"/>
          </a:xfrm>
        </p:spPr>
        <p:txBody>
          <a:bodyPr>
            <a:normAutofit/>
          </a:bodyPr>
          <a:lstStyle/>
          <a:p>
            <a:r>
              <a:rPr lang="en-GB" sz="1400" dirty="0"/>
              <a:t>The </a:t>
            </a:r>
            <a:r>
              <a:rPr lang="en-GB" sz="1400" dirty="0" err="1"/>
              <a:t>SpawnObstacle</a:t>
            </a:r>
            <a:r>
              <a:rPr lang="en-GB" sz="1400" dirty="0"/>
              <a:t> Method is being called already in our Script from Invoke.</a:t>
            </a:r>
          </a:p>
          <a:p>
            <a:r>
              <a:rPr lang="en-GB" sz="1400" dirty="0"/>
              <a:t>We can see by hovering over it in VS that Invoke is a property of </a:t>
            </a:r>
            <a:r>
              <a:rPr lang="en-GB" sz="1400" dirty="0" err="1"/>
              <a:t>Monobehaviour</a:t>
            </a:r>
            <a:r>
              <a:rPr lang="en-GB" sz="1400" dirty="0"/>
              <a:t>, and inside the brackets we are looking for two parameters: a string (the “name of the Method” being Invoked), and a Float (the time between the Method being Invoked). </a:t>
            </a:r>
          </a:p>
        </p:txBody>
      </p:sp>
      <p:sp>
        <p:nvSpPr>
          <p:cNvPr id="4" name="Title 1">
            <a:extLst>
              <a:ext uri="{FF2B5EF4-FFF2-40B4-BE49-F238E27FC236}">
                <a16:creationId xmlns:a16="http://schemas.microsoft.com/office/drawing/2014/main" id="{55C63ECB-91C4-CA70-88BB-D5D711189F68}"/>
              </a:ext>
            </a:extLst>
          </p:cNvPr>
          <p:cNvSpPr>
            <a:spLocks noGrp="1"/>
          </p:cNvSpPr>
          <p:nvPr>
            <p:ph type="title"/>
          </p:nvPr>
        </p:nvSpPr>
        <p:spPr>
          <a:xfrm>
            <a:off x="612647" y="124444"/>
            <a:ext cx="10653713" cy="620024"/>
          </a:xfrm>
        </p:spPr>
        <p:txBody>
          <a:bodyPr>
            <a:normAutofit/>
          </a:bodyPr>
          <a:lstStyle/>
          <a:p>
            <a:r>
              <a:rPr lang="en-GB" dirty="0"/>
              <a:t>Code Example</a:t>
            </a:r>
          </a:p>
        </p:txBody>
      </p:sp>
      <p:grpSp>
        <p:nvGrpSpPr>
          <p:cNvPr id="10" name="Group 9">
            <a:extLst>
              <a:ext uri="{FF2B5EF4-FFF2-40B4-BE49-F238E27FC236}">
                <a16:creationId xmlns:a16="http://schemas.microsoft.com/office/drawing/2014/main" id="{C3E07302-FCF7-23B4-C4FA-010AD46689A5}"/>
              </a:ext>
            </a:extLst>
          </p:cNvPr>
          <p:cNvGrpSpPr/>
          <p:nvPr/>
        </p:nvGrpSpPr>
        <p:grpSpPr>
          <a:xfrm>
            <a:off x="612647" y="699214"/>
            <a:ext cx="10696575" cy="4111502"/>
            <a:chOff x="752474" y="371486"/>
            <a:chExt cx="10696575" cy="4591050"/>
          </a:xfrm>
        </p:grpSpPr>
        <p:grpSp>
          <p:nvGrpSpPr>
            <p:cNvPr id="5" name="object 2">
              <a:extLst>
                <a:ext uri="{FF2B5EF4-FFF2-40B4-BE49-F238E27FC236}">
                  <a16:creationId xmlns:a16="http://schemas.microsoft.com/office/drawing/2014/main" id="{5C8541FD-E519-A1FC-A371-E295A3F3C90D}"/>
                </a:ext>
              </a:extLst>
            </p:cNvPr>
            <p:cNvGrpSpPr/>
            <p:nvPr/>
          </p:nvGrpSpPr>
          <p:grpSpPr>
            <a:xfrm>
              <a:off x="752474" y="371486"/>
              <a:ext cx="10696575" cy="4591050"/>
              <a:chOff x="752474" y="371486"/>
              <a:chExt cx="10696575" cy="4591050"/>
            </a:xfrm>
          </p:grpSpPr>
          <p:sp>
            <p:nvSpPr>
              <p:cNvPr id="6" name="object 3">
                <a:extLst>
                  <a:ext uri="{FF2B5EF4-FFF2-40B4-BE49-F238E27FC236}">
                    <a16:creationId xmlns:a16="http://schemas.microsoft.com/office/drawing/2014/main" id="{BA82EF62-D527-FA18-C288-627AB4685A4F}"/>
                  </a:ext>
                </a:extLst>
              </p:cNvPr>
              <p:cNvSpPr/>
              <p:nvPr/>
            </p:nvSpPr>
            <p:spPr>
              <a:xfrm>
                <a:off x="757237" y="376249"/>
                <a:ext cx="10687050" cy="4581525"/>
              </a:xfrm>
              <a:custGeom>
                <a:avLst/>
                <a:gdLst/>
                <a:ahLst/>
                <a:cxnLst/>
                <a:rect l="l" t="t" r="r" b="b"/>
                <a:pathLst>
                  <a:path w="10687050" h="4581525">
                    <a:moveTo>
                      <a:pt x="10666394" y="4581524"/>
                    </a:moveTo>
                    <a:lnTo>
                      <a:pt x="20654" y="4581524"/>
                    </a:lnTo>
                    <a:lnTo>
                      <a:pt x="17617" y="4580919"/>
                    </a:lnTo>
                    <a:lnTo>
                      <a:pt x="0" y="4560869"/>
                    </a:lnTo>
                    <a:lnTo>
                      <a:pt x="0" y="4557712"/>
                    </a:lnTo>
                    <a:lnTo>
                      <a:pt x="0" y="20654"/>
                    </a:lnTo>
                    <a:lnTo>
                      <a:pt x="20654" y="0"/>
                    </a:lnTo>
                    <a:lnTo>
                      <a:pt x="10666394" y="0"/>
                    </a:lnTo>
                    <a:lnTo>
                      <a:pt x="10687048" y="20654"/>
                    </a:lnTo>
                    <a:lnTo>
                      <a:pt x="10687048" y="4560869"/>
                    </a:lnTo>
                    <a:lnTo>
                      <a:pt x="10669431" y="4580919"/>
                    </a:lnTo>
                    <a:lnTo>
                      <a:pt x="10666394" y="4581524"/>
                    </a:lnTo>
                    <a:close/>
                  </a:path>
                </a:pathLst>
              </a:custGeom>
              <a:solidFill>
                <a:srgbClr val="F5F7FA"/>
              </a:solidFill>
            </p:spPr>
            <p:txBody>
              <a:bodyPr wrap="square" lIns="0" tIns="0" rIns="0" bIns="0" rtlCol="0"/>
              <a:lstStyle/>
              <a:p>
                <a:endParaRPr/>
              </a:p>
            </p:txBody>
          </p:sp>
          <p:sp>
            <p:nvSpPr>
              <p:cNvPr id="7" name="object 4">
                <a:extLst>
                  <a:ext uri="{FF2B5EF4-FFF2-40B4-BE49-F238E27FC236}">
                    <a16:creationId xmlns:a16="http://schemas.microsoft.com/office/drawing/2014/main" id="{7510DD69-E014-1F64-247B-530BB9D4D4A3}"/>
                  </a:ext>
                </a:extLst>
              </p:cNvPr>
              <p:cNvSpPr/>
              <p:nvPr/>
            </p:nvSpPr>
            <p:spPr>
              <a:xfrm>
                <a:off x="757237" y="376249"/>
                <a:ext cx="10687050" cy="4581525"/>
              </a:xfrm>
              <a:custGeom>
                <a:avLst/>
                <a:gdLst/>
                <a:ahLst/>
                <a:cxnLst/>
                <a:rect l="l" t="t" r="r" b="b"/>
                <a:pathLst>
                  <a:path w="10687050" h="4581525">
                    <a:moveTo>
                      <a:pt x="0" y="4557712"/>
                    </a:moveTo>
                    <a:lnTo>
                      <a:pt x="0" y="23812"/>
                    </a:lnTo>
                    <a:lnTo>
                      <a:pt x="0" y="20654"/>
                    </a:lnTo>
                    <a:lnTo>
                      <a:pt x="604" y="17617"/>
                    </a:lnTo>
                    <a:lnTo>
                      <a:pt x="1812" y="14699"/>
                    </a:lnTo>
                    <a:lnTo>
                      <a:pt x="3021" y="11782"/>
                    </a:lnTo>
                    <a:lnTo>
                      <a:pt x="4741" y="9207"/>
                    </a:lnTo>
                    <a:lnTo>
                      <a:pt x="6974" y="6974"/>
                    </a:lnTo>
                    <a:lnTo>
                      <a:pt x="9207" y="4741"/>
                    </a:lnTo>
                    <a:lnTo>
                      <a:pt x="11782" y="3020"/>
                    </a:lnTo>
                    <a:lnTo>
                      <a:pt x="14699" y="1812"/>
                    </a:lnTo>
                    <a:lnTo>
                      <a:pt x="17617" y="604"/>
                    </a:lnTo>
                    <a:lnTo>
                      <a:pt x="20654" y="0"/>
                    </a:lnTo>
                    <a:lnTo>
                      <a:pt x="23812" y="0"/>
                    </a:lnTo>
                    <a:lnTo>
                      <a:pt x="10663236" y="0"/>
                    </a:lnTo>
                    <a:lnTo>
                      <a:pt x="10666394" y="0"/>
                    </a:lnTo>
                    <a:lnTo>
                      <a:pt x="10669431" y="604"/>
                    </a:lnTo>
                    <a:lnTo>
                      <a:pt x="10687049" y="23812"/>
                    </a:lnTo>
                    <a:lnTo>
                      <a:pt x="10687049" y="4557712"/>
                    </a:lnTo>
                    <a:lnTo>
                      <a:pt x="10663236" y="4581524"/>
                    </a:lnTo>
                    <a:lnTo>
                      <a:pt x="23812" y="4581524"/>
                    </a:lnTo>
                    <a:lnTo>
                      <a:pt x="0" y="4560869"/>
                    </a:lnTo>
                    <a:lnTo>
                      <a:pt x="0" y="4557712"/>
                    </a:lnTo>
                    <a:close/>
                  </a:path>
                </a:pathLst>
              </a:custGeom>
              <a:ln w="9524">
                <a:solidFill>
                  <a:srgbClr val="999999"/>
                </a:solidFill>
              </a:ln>
            </p:spPr>
            <p:txBody>
              <a:bodyPr wrap="square" lIns="0" tIns="0" rIns="0" bIns="0" rtlCol="0"/>
              <a:lstStyle/>
              <a:p>
                <a:endParaRPr/>
              </a:p>
            </p:txBody>
          </p:sp>
        </p:grpSp>
        <p:sp>
          <p:nvSpPr>
            <p:cNvPr id="8" name="object 5">
              <a:extLst>
                <a:ext uri="{FF2B5EF4-FFF2-40B4-BE49-F238E27FC236}">
                  <a16:creationId xmlns:a16="http://schemas.microsoft.com/office/drawing/2014/main" id="{2E8A0334-420E-777D-7C7A-2D2AC1F31CD6}"/>
                </a:ext>
              </a:extLst>
            </p:cNvPr>
            <p:cNvSpPr txBox="1">
              <a:spLocks/>
            </p:cNvSpPr>
            <p:nvPr/>
          </p:nvSpPr>
          <p:spPr>
            <a:xfrm>
              <a:off x="901700" y="476420"/>
              <a:ext cx="2606675" cy="307340"/>
            </a:xfrm>
            <a:prstGeom prst="rect">
              <a:avLst/>
            </a:prstGeom>
          </p:spPr>
          <p:txBody>
            <a:bodyPr vert="horz" wrap="square" lIns="0" tIns="12065" rIns="0" bIns="0" rtlCol="0" anchor="t">
              <a:spAutoFit/>
            </a:bodyPr>
            <a:lstStyle>
              <a:lvl1pPr algn="l" defTabSz="914400" rtl="0" eaLnBrk="1" latinLnBrk="0" hangingPunct="1">
                <a:lnSpc>
                  <a:spcPct val="90000"/>
                </a:lnSpc>
                <a:spcBef>
                  <a:spcPct val="0"/>
                </a:spcBef>
                <a:buNone/>
                <a:defRPr sz="3600" b="1" kern="1200">
                  <a:solidFill>
                    <a:schemeClr val="tx1"/>
                  </a:solidFill>
                  <a:latin typeface="+mj-lt"/>
                  <a:ea typeface="+mj-ea"/>
                  <a:cs typeface="+mj-cs"/>
                </a:defRPr>
              </a:lvl1pPr>
            </a:lstStyle>
            <a:p>
              <a:pPr marL="12700">
                <a:lnSpc>
                  <a:spcPct val="100000"/>
                </a:lnSpc>
                <a:spcBef>
                  <a:spcPts val="95"/>
                </a:spcBef>
              </a:pPr>
              <a:r>
                <a:rPr lang="en-GB" sz="1850" b="0" dirty="0">
                  <a:solidFill>
                    <a:srgbClr val="D63A49"/>
                  </a:solidFill>
                  <a:latin typeface="Consolas"/>
                  <a:cs typeface="Consolas"/>
                </a:rPr>
                <a:t>void</a:t>
              </a:r>
              <a:r>
                <a:rPr lang="en-GB" sz="1850" b="0" spc="-20" dirty="0">
                  <a:solidFill>
                    <a:srgbClr val="D63A49"/>
                  </a:solidFill>
                  <a:latin typeface="Consolas"/>
                  <a:cs typeface="Consolas"/>
                </a:rPr>
                <a:t> </a:t>
              </a:r>
              <a:r>
                <a:rPr lang="en-GB" sz="1850" b="0" spc="-10" dirty="0" err="1">
                  <a:solidFill>
                    <a:srgbClr val="6F41C1"/>
                  </a:solidFill>
                  <a:latin typeface="Consolas"/>
                  <a:cs typeface="Consolas"/>
                </a:rPr>
                <a:t>SpawnObstacle</a:t>
              </a:r>
              <a:r>
                <a:rPr lang="en-GB" sz="1850" b="0" spc="-10" dirty="0">
                  <a:solidFill>
                    <a:srgbClr val="24292E"/>
                  </a:solidFill>
                  <a:latin typeface="Consolas"/>
                  <a:cs typeface="Consolas"/>
                </a:rPr>
                <a:t>()</a:t>
              </a:r>
              <a:endParaRPr lang="en-GB" sz="1850" dirty="0">
                <a:latin typeface="Consolas"/>
                <a:cs typeface="Consolas"/>
              </a:endParaRPr>
            </a:p>
          </p:txBody>
        </p:sp>
        <p:sp>
          <p:nvSpPr>
            <p:cNvPr id="9" name="object 10">
              <a:extLst>
                <a:ext uri="{FF2B5EF4-FFF2-40B4-BE49-F238E27FC236}">
                  <a16:creationId xmlns:a16="http://schemas.microsoft.com/office/drawing/2014/main" id="{F85E2F41-9813-FE57-9E81-86CF7B061AC5}"/>
                </a:ext>
              </a:extLst>
            </p:cNvPr>
            <p:cNvSpPr txBox="1"/>
            <p:nvPr/>
          </p:nvSpPr>
          <p:spPr>
            <a:xfrm>
              <a:off x="901700" y="743120"/>
              <a:ext cx="7767955" cy="4107150"/>
            </a:xfrm>
            <a:prstGeom prst="rect">
              <a:avLst/>
            </a:prstGeom>
          </p:spPr>
          <p:txBody>
            <a:bodyPr vert="horz" wrap="square" lIns="0" tIns="12065" rIns="0" bIns="0" rtlCol="0">
              <a:spAutoFit/>
            </a:bodyPr>
            <a:lstStyle/>
            <a:p>
              <a:pPr marL="12700">
                <a:lnSpc>
                  <a:spcPts val="2160"/>
                </a:lnSpc>
                <a:spcBef>
                  <a:spcPts val="95"/>
                </a:spcBef>
              </a:pPr>
              <a:r>
                <a:rPr sz="1850" spc="-50" dirty="0">
                  <a:solidFill>
                    <a:srgbClr val="24292E"/>
                  </a:solidFill>
                  <a:latin typeface="Consolas"/>
                  <a:cs typeface="Consolas"/>
                </a:rPr>
                <a:t>{</a:t>
              </a:r>
              <a:endParaRPr sz="1850" dirty="0">
                <a:latin typeface="Consolas"/>
                <a:cs typeface="Consolas"/>
              </a:endParaRPr>
            </a:p>
            <a:p>
              <a:pPr marL="528320">
                <a:lnSpc>
                  <a:spcPts val="2100"/>
                </a:lnSpc>
              </a:pPr>
              <a:r>
                <a:rPr sz="1850" dirty="0">
                  <a:solidFill>
                    <a:srgbClr val="D63A49"/>
                  </a:solidFill>
                  <a:latin typeface="Consolas"/>
                  <a:cs typeface="Consolas"/>
                </a:rPr>
                <a:t>float</a:t>
              </a:r>
              <a:r>
                <a:rPr sz="1850" spc="-20" dirty="0">
                  <a:solidFill>
                    <a:srgbClr val="D63A49"/>
                  </a:solidFill>
                  <a:latin typeface="Consolas"/>
                  <a:cs typeface="Consolas"/>
                </a:rPr>
                <a:t> </a:t>
              </a:r>
              <a:r>
                <a:rPr sz="1850" dirty="0">
                  <a:solidFill>
                    <a:srgbClr val="24292E"/>
                  </a:solidFill>
                  <a:latin typeface="Consolas"/>
                  <a:cs typeface="Consolas"/>
                </a:rPr>
                <a:t>height</a:t>
              </a:r>
              <a:r>
                <a:rPr sz="1850" spc="-20" dirty="0">
                  <a:solidFill>
                    <a:srgbClr val="24292E"/>
                  </a:solidFill>
                  <a:latin typeface="Consolas"/>
                  <a:cs typeface="Consolas"/>
                </a:rPr>
                <a:t> </a:t>
              </a:r>
              <a:r>
                <a:rPr sz="1850" dirty="0">
                  <a:solidFill>
                    <a:srgbClr val="24292E"/>
                  </a:solidFill>
                  <a:latin typeface="Consolas"/>
                  <a:cs typeface="Consolas"/>
                </a:rPr>
                <a:t>=</a:t>
              </a:r>
              <a:r>
                <a:rPr sz="1850" spc="-20" dirty="0">
                  <a:solidFill>
                    <a:srgbClr val="24292E"/>
                  </a:solidFill>
                  <a:latin typeface="Consolas"/>
                  <a:cs typeface="Consolas"/>
                </a:rPr>
                <a:t> </a:t>
              </a:r>
              <a:r>
                <a:rPr sz="1850" spc="-10" dirty="0">
                  <a:solidFill>
                    <a:srgbClr val="24292E"/>
                  </a:solidFill>
                  <a:latin typeface="Consolas"/>
                  <a:cs typeface="Consolas"/>
                </a:rPr>
                <a:t>Random.Range(rockLowerLimit,</a:t>
              </a:r>
              <a:endParaRPr sz="1850" dirty="0">
                <a:latin typeface="Consolas"/>
                <a:cs typeface="Consolas"/>
              </a:endParaRPr>
            </a:p>
            <a:p>
              <a:pPr marL="4141470">
                <a:lnSpc>
                  <a:spcPts val="2160"/>
                </a:lnSpc>
              </a:pPr>
              <a:r>
                <a:rPr sz="1850" spc="-10" dirty="0">
                  <a:solidFill>
                    <a:srgbClr val="24292E"/>
                  </a:solidFill>
                  <a:latin typeface="Consolas"/>
                  <a:cs typeface="Consolas"/>
                </a:rPr>
                <a:t>rockHigherLimit);</a:t>
              </a:r>
              <a:endParaRPr sz="1850" dirty="0">
                <a:latin typeface="Consolas"/>
                <a:cs typeface="Consolas"/>
              </a:endParaRPr>
            </a:p>
            <a:p>
              <a:pPr marL="528320">
                <a:lnSpc>
                  <a:spcPct val="100000"/>
                </a:lnSpc>
                <a:spcBef>
                  <a:spcPts val="1980"/>
                </a:spcBef>
              </a:pPr>
              <a:r>
                <a:rPr sz="1850" dirty="0">
                  <a:solidFill>
                    <a:srgbClr val="24292E"/>
                  </a:solidFill>
                  <a:latin typeface="Consolas"/>
                  <a:cs typeface="Consolas"/>
                </a:rPr>
                <a:t>Vector3</a:t>
              </a:r>
              <a:r>
                <a:rPr sz="1850" spc="-40" dirty="0">
                  <a:solidFill>
                    <a:srgbClr val="24292E"/>
                  </a:solidFill>
                  <a:latin typeface="Consolas"/>
                  <a:cs typeface="Consolas"/>
                </a:rPr>
                <a:t> </a:t>
              </a:r>
              <a:r>
                <a:rPr sz="1850" dirty="0">
                  <a:solidFill>
                    <a:srgbClr val="24292E"/>
                  </a:solidFill>
                  <a:latin typeface="Consolas"/>
                  <a:cs typeface="Consolas"/>
                </a:rPr>
                <a:t>pos</a:t>
              </a:r>
              <a:r>
                <a:rPr sz="1850" spc="-25" dirty="0">
                  <a:solidFill>
                    <a:srgbClr val="24292E"/>
                  </a:solidFill>
                  <a:latin typeface="Consolas"/>
                  <a:cs typeface="Consolas"/>
                </a:rPr>
                <a:t> </a:t>
              </a:r>
              <a:r>
                <a:rPr sz="1850" dirty="0">
                  <a:solidFill>
                    <a:srgbClr val="24292E"/>
                  </a:solidFill>
                  <a:latin typeface="Consolas"/>
                  <a:cs typeface="Consolas"/>
                </a:rPr>
                <a:t>=</a:t>
              </a:r>
              <a:r>
                <a:rPr sz="1850" spc="-25" dirty="0">
                  <a:solidFill>
                    <a:srgbClr val="24292E"/>
                  </a:solidFill>
                  <a:latin typeface="Consolas"/>
                  <a:cs typeface="Consolas"/>
                </a:rPr>
                <a:t> </a:t>
              </a:r>
              <a:r>
                <a:rPr sz="1850" dirty="0">
                  <a:solidFill>
                    <a:srgbClr val="D63A49"/>
                  </a:solidFill>
                  <a:latin typeface="Consolas"/>
                  <a:cs typeface="Consolas"/>
                </a:rPr>
                <a:t>new</a:t>
              </a:r>
              <a:r>
                <a:rPr sz="1850" spc="-30" dirty="0">
                  <a:solidFill>
                    <a:srgbClr val="D63A49"/>
                  </a:solidFill>
                  <a:latin typeface="Consolas"/>
                  <a:cs typeface="Consolas"/>
                </a:rPr>
                <a:t> </a:t>
              </a:r>
              <a:r>
                <a:rPr sz="1850" dirty="0">
                  <a:solidFill>
                    <a:srgbClr val="24292E"/>
                  </a:solidFill>
                  <a:latin typeface="Consolas"/>
                  <a:cs typeface="Consolas"/>
                </a:rPr>
                <a:t>Vector3(</a:t>
              </a:r>
              <a:r>
                <a:rPr sz="1850" dirty="0">
                  <a:solidFill>
                    <a:srgbClr val="005CC4"/>
                  </a:solidFill>
                  <a:latin typeface="Consolas"/>
                  <a:cs typeface="Consolas"/>
                </a:rPr>
                <a:t>10</a:t>
              </a:r>
              <a:r>
                <a:rPr sz="1850" dirty="0">
                  <a:solidFill>
                    <a:srgbClr val="24292E"/>
                  </a:solidFill>
                  <a:latin typeface="Consolas"/>
                  <a:cs typeface="Consolas"/>
                </a:rPr>
                <a:t>,</a:t>
              </a:r>
              <a:r>
                <a:rPr sz="1850" spc="-25" dirty="0">
                  <a:solidFill>
                    <a:srgbClr val="24292E"/>
                  </a:solidFill>
                  <a:latin typeface="Consolas"/>
                  <a:cs typeface="Consolas"/>
                </a:rPr>
                <a:t> </a:t>
              </a:r>
              <a:r>
                <a:rPr sz="1850" dirty="0">
                  <a:solidFill>
                    <a:srgbClr val="24292E"/>
                  </a:solidFill>
                  <a:latin typeface="Consolas"/>
                  <a:cs typeface="Consolas"/>
                </a:rPr>
                <a:t>height,</a:t>
              </a:r>
              <a:r>
                <a:rPr sz="1850" spc="-25" dirty="0">
                  <a:solidFill>
                    <a:srgbClr val="24292E"/>
                  </a:solidFill>
                  <a:latin typeface="Consolas"/>
                  <a:cs typeface="Consolas"/>
                </a:rPr>
                <a:t> </a:t>
              </a:r>
              <a:r>
                <a:rPr sz="1850" spc="-25" dirty="0">
                  <a:solidFill>
                    <a:srgbClr val="005CC4"/>
                  </a:solidFill>
                  <a:latin typeface="Consolas"/>
                  <a:cs typeface="Consolas"/>
                </a:rPr>
                <a:t>0</a:t>
              </a:r>
              <a:r>
                <a:rPr sz="1850" spc="-25" dirty="0">
                  <a:solidFill>
                    <a:srgbClr val="24292E"/>
                  </a:solidFill>
                  <a:latin typeface="Consolas"/>
                  <a:cs typeface="Consolas"/>
                </a:rPr>
                <a:t>);</a:t>
              </a:r>
              <a:endParaRPr sz="1850" dirty="0">
                <a:latin typeface="Consolas"/>
                <a:cs typeface="Consolas"/>
              </a:endParaRPr>
            </a:p>
            <a:p>
              <a:pPr marL="528320" marR="5080">
                <a:lnSpc>
                  <a:spcPct val="189200"/>
                </a:lnSpc>
              </a:pPr>
              <a:r>
                <a:rPr sz="1850" dirty="0">
                  <a:solidFill>
                    <a:srgbClr val="24292E"/>
                  </a:solidFill>
                  <a:latin typeface="Consolas"/>
                  <a:cs typeface="Consolas"/>
                </a:rPr>
                <a:t>Quaternion</a:t>
              </a:r>
              <a:r>
                <a:rPr sz="1850" spc="-50" dirty="0">
                  <a:solidFill>
                    <a:srgbClr val="24292E"/>
                  </a:solidFill>
                  <a:latin typeface="Consolas"/>
                  <a:cs typeface="Consolas"/>
                </a:rPr>
                <a:t> </a:t>
              </a:r>
              <a:r>
                <a:rPr sz="1850" dirty="0">
                  <a:solidFill>
                    <a:srgbClr val="24292E"/>
                  </a:solidFill>
                  <a:latin typeface="Consolas"/>
                  <a:cs typeface="Consolas"/>
                </a:rPr>
                <a:t>rot</a:t>
              </a:r>
              <a:r>
                <a:rPr sz="1850" spc="-40" dirty="0">
                  <a:solidFill>
                    <a:srgbClr val="24292E"/>
                  </a:solidFill>
                  <a:latin typeface="Consolas"/>
                  <a:cs typeface="Consolas"/>
                </a:rPr>
                <a:t> </a:t>
              </a:r>
              <a:r>
                <a:rPr sz="1850" dirty="0">
                  <a:solidFill>
                    <a:srgbClr val="24292E"/>
                  </a:solidFill>
                  <a:latin typeface="Consolas"/>
                  <a:cs typeface="Consolas"/>
                </a:rPr>
                <a:t>=</a:t>
              </a:r>
              <a:r>
                <a:rPr sz="1850" spc="-35" dirty="0">
                  <a:solidFill>
                    <a:srgbClr val="24292E"/>
                  </a:solidFill>
                  <a:latin typeface="Consolas"/>
                  <a:cs typeface="Consolas"/>
                </a:rPr>
                <a:t> </a:t>
              </a:r>
              <a:r>
                <a:rPr sz="1850" dirty="0">
                  <a:solidFill>
                    <a:srgbClr val="24292E"/>
                  </a:solidFill>
                  <a:latin typeface="Consolas"/>
                  <a:cs typeface="Consolas"/>
                </a:rPr>
                <a:t>Quaternion.Euler(</a:t>
              </a:r>
              <a:r>
                <a:rPr sz="1850" dirty="0">
                  <a:solidFill>
                    <a:srgbClr val="D63A49"/>
                  </a:solidFill>
                  <a:latin typeface="Consolas"/>
                  <a:cs typeface="Consolas"/>
                </a:rPr>
                <a:t>new</a:t>
              </a:r>
              <a:r>
                <a:rPr sz="1850" spc="-40" dirty="0">
                  <a:solidFill>
                    <a:srgbClr val="D63A49"/>
                  </a:solidFill>
                  <a:latin typeface="Consolas"/>
                  <a:cs typeface="Consolas"/>
                </a:rPr>
                <a:t> </a:t>
              </a:r>
              <a:r>
                <a:rPr sz="1850" dirty="0">
                  <a:solidFill>
                    <a:srgbClr val="24292E"/>
                  </a:solidFill>
                  <a:latin typeface="Consolas"/>
                  <a:cs typeface="Consolas"/>
                </a:rPr>
                <a:t>Vector3(</a:t>
              </a:r>
              <a:r>
                <a:rPr sz="1850" dirty="0">
                  <a:solidFill>
                    <a:srgbClr val="005CC4"/>
                  </a:solidFill>
                  <a:latin typeface="Consolas"/>
                  <a:cs typeface="Consolas"/>
                </a:rPr>
                <a:t>0</a:t>
              </a:r>
              <a:r>
                <a:rPr sz="1850" dirty="0">
                  <a:solidFill>
                    <a:srgbClr val="24292E"/>
                  </a:solidFill>
                  <a:latin typeface="Consolas"/>
                  <a:cs typeface="Consolas"/>
                </a:rPr>
                <a:t>,</a:t>
              </a:r>
              <a:r>
                <a:rPr sz="1850" spc="-40" dirty="0">
                  <a:solidFill>
                    <a:srgbClr val="24292E"/>
                  </a:solidFill>
                  <a:latin typeface="Consolas"/>
                  <a:cs typeface="Consolas"/>
                </a:rPr>
                <a:t> </a:t>
              </a:r>
              <a:r>
                <a:rPr sz="1850" dirty="0">
                  <a:solidFill>
                    <a:srgbClr val="005CC4"/>
                  </a:solidFill>
                  <a:latin typeface="Consolas"/>
                  <a:cs typeface="Consolas"/>
                </a:rPr>
                <a:t>0</a:t>
              </a:r>
              <a:r>
                <a:rPr sz="1850" dirty="0">
                  <a:solidFill>
                    <a:srgbClr val="24292E"/>
                  </a:solidFill>
                  <a:latin typeface="Consolas"/>
                  <a:cs typeface="Consolas"/>
                </a:rPr>
                <a:t>,</a:t>
              </a:r>
              <a:r>
                <a:rPr sz="1850" spc="-35" dirty="0">
                  <a:solidFill>
                    <a:srgbClr val="24292E"/>
                  </a:solidFill>
                  <a:latin typeface="Consolas"/>
                  <a:cs typeface="Consolas"/>
                </a:rPr>
                <a:t> </a:t>
              </a:r>
              <a:r>
                <a:rPr sz="1850" spc="-20" dirty="0">
                  <a:solidFill>
                    <a:srgbClr val="005CC4"/>
                  </a:solidFill>
                  <a:latin typeface="Consolas"/>
                  <a:cs typeface="Consolas"/>
                </a:rPr>
                <a:t>0</a:t>
              </a:r>
              <a:r>
                <a:rPr sz="1850" spc="-20" dirty="0">
                  <a:solidFill>
                    <a:srgbClr val="24292E"/>
                  </a:solidFill>
                  <a:latin typeface="Consolas"/>
                  <a:cs typeface="Consolas"/>
                </a:rPr>
                <a:t>)); </a:t>
              </a:r>
              <a:r>
                <a:rPr sz="1850" dirty="0">
                  <a:solidFill>
                    <a:srgbClr val="24292E"/>
                  </a:solidFill>
                  <a:latin typeface="Consolas"/>
                  <a:cs typeface="Consolas"/>
                </a:rPr>
                <a:t>Rigidbody2D</a:t>
              </a:r>
              <a:r>
                <a:rPr sz="1850" spc="-60" dirty="0">
                  <a:solidFill>
                    <a:srgbClr val="24292E"/>
                  </a:solidFill>
                  <a:latin typeface="Consolas"/>
                  <a:cs typeface="Consolas"/>
                </a:rPr>
                <a:t> </a:t>
              </a:r>
              <a:r>
                <a:rPr sz="1850" dirty="0">
                  <a:solidFill>
                    <a:srgbClr val="24292E"/>
                  </a:solidFill>
                  <a:latin typeface="Consolas"/>
                  <a:cs typeface="Consolas"/>
                </a:rPr>
                <a:t>obstacleInstance</a:t>
              </a:r>
              <a:r>
                <a:rPr sz="1850" spc="-45" dirty="0">
                  <a:solidFill>
                    <a:srgbClr val="24292E"/>
                  </a:solidFill>
                  <a:latin typeface="Consolas"/>
                  <a:cs typeface="Consolas"/>
                </a:rPr>
                <a:t> </a:t>
              </a:r>
              <a:r>
                <a:rPr sz="1850" dirty="0">
                  <a:solidFill>
                    <a:srgbClr val="24292E"/>
                  </a:solidFill>
                  <a:latin typeface="Consolas"/>
                  <a:cs typeface="Consolas"/>
                </a:rPr>
                <a:t>=</a:t>
              </a:r>
              <a:r>
                <a:rPr sz="1850" spc="-45" dirty="0">
                  <a:solidFill>
                    <a:srgbClr val="24292E"/>
                  </a:solidFill>
                  <a:latin typeface="Consolas"/>
                  <a:cs typeface="Consolas"/>
                </a:rPr>
                <a:t> </a:t>
              </a:r>
              <a:r>
                <a:rPr sz="1850" spc="-10" dirty="0">
                  <a:solidFill>
                    <a:srgbClr val="24292E"/>
                  </a:solidFill>
                  <a:latin typeface="Consolas"/>
                  <a:cs typeface="Consolas"/>
                </a:rPr>
                <a:t>Instantiate(obstacle,</a:t>
              </a:r>
              <a:endParaRPr sz="1850" dirty="0">
                <a:latin typeface="Consolas"/>
                <a:cs typeface="Consolas"/>
              </a:endParaRPr>
            </a:p>
            <a:p>
              <a:pPr marL="6077585" marR="1036955">
                <a:lnSpc>
                  <a:spcPts val="2100"/>
                </a:lnSpc>
                <a:spcBef>
                  <a:spcPts val="50"/>
                </a:spcBef>
              </a:pPr>
              <a:r>
                <a:rPr sz="1850" spc="-20" dirty="0">
                  <a:solidFill>
                    <a:srgbClr val="24292E"/>
                  </a:solidFill>
                  <a:latin typeface="Consolas"/>
                  <a:cs typeface="Consolas"/>
                </a:rPr>
                <a:t>pos, </a:t>
              </a:r>
              <a:r>
                <a:rPr sz="1850" spc="-10" dirty="0">
                  <a:solidFill>
                    <a:srgbClr val="24292E"/>
                  </a:solidFill>
                  <a:latin typeface="Consolas"/>
                  <a:cs typeface="Consolas"/>
                </a:rPr>
                <a:t>rot);</a:t>
              </a:r>
              <a:endParaRPr sz="1850" dirty="0">
                <a:latin typeface="Consolas"/>
                <a:cs typeface="Consolas"/>
              </a:endParaRPr>
            </a:p>
            <a:p>
              <a:pPr marL="528320" marR="779145">
                <a:lnSpc>
                  <a:spcPts val="2100"/>
                </a:lnSpc>
              </a:pPr>
              <a:r>
                <a:rPr sz="1850" dirty="0">
                  <a:solidFill>
                    <a:srgbClr val="24292E"/>
                  </a:solidFill>
                  <a:latin typeface="Consolas"/>
                  <a:cs typeface="Consolas"/>
                </a:rPr>
                <a:t>obstacleInstance.name</a:t>
              </a:r>
              <a:r>
                <a:rPr sz="1850" spc="-65" dirty="0">
                  <a:solidFill>
                    <a:srgbClr val="24292E"/>
                  </a:solidFill>
                  <a:latin typeface="Consolas"/>
                  <a:cs typeface="Consolas"/>
                </a:rPr>
                <a:t> </a:t>
              </a:r>
              <a:r>
                <a:rPr sz="1850" dirty="0">
                  <a:solidFill>
                    <a:srgbClr val="24292E"/>
                  </a:solidFill>
                  <a:latin typeface="Consolas"/>
                  <a:cs typeface="Consolas"/>
                </a:rPr>
                <a:t>=</a:t>
              </a:r>
              <a:r>
                <a:rPr sz="1850" spc="-55" dirty="0">
                  <a:solidFill>
                    <a:srgbClr val="24292E"/>
                  </a:solidFill>
                  <a:latin typeface="Consolas"/>
                  <a:cs typeface="Consolas"/>
                </a:rPr>
                <a:t> </a:t>
              </a:r>
              <a:r>
                <a:rPr sz="1850" spc="-10" dirty="0">
                  <a:solidFill>
                    <a:srgbClr val="032E61"/>
                  </a:solidFill>
                  <a:latin typeface="Consolas"/>
                  <a:cs typeface="Consolas"/>
                </a:rPr>
                <a:t>"Obstacle(Clone)"</a:t>
              </a:r>
              <a:r>
                <a:rPr sz="1850" spc="-10" dirty="0">
                  <a:solidFill>
                    <a:srgbClr val="24292E"/>
                  </a:solidFill>
                  <a:latin typeface="Consolas"/>
                  <a:cs typeface="Consolas"/>
                </a:rPr>
                <a:t>; </a:t>
              </a:r>
              <a:r>
                <a:rPr sz="1850" dirty="0">
                  <a:solidFill>
                    <a:srgbClr val="24292E"/>
                  </a:solidFill>
                  <a:latin typeface="Consolas"/>
                  <a:cs typeface="Consolas"/>
                </a:rPr>
                <a:t>obstacleInstance.velocity</a:t>
              </a:r>
              <a:r>
                <a:rPr sz="1850" spc="-65" dirty="0">
                  <a:solidFill>
                    <a:srgbClr val="24292E"/>
                  </a:solidFill>
                  <a:latin typeface="Consolas"/>
                  <a:cs typeface="Consolas"/>
                </a:rPr>
                <a:t> </a:t>
              </a:r>
              <a:r>
                <a:rPr sz="1850" dirty="0">
                  <a:solidFill>
                    <a:srgbClr val="24292E"/>
                  </a:solidFill>
                  <a:latin typeface="Consolas"/>
                  <a:cs typeface="Consolas"/>
                </a:rPr>
                <a:t>=</a:t>
              </a:r>
              <a:r>
                <a:rPr sz="1850" spc="-55" dirty="0">
                  <a:solidFill>
                    <a:srgbClr val="24292E"/>
                  </a:solidFill>
                  <a:latin typeface="Consolas"/>
                  <a:cs typeface="Consolas"/>
                </a:rPr>
                <a:t> </a:t>
              </a:r>
              <a:r>
                <a:rPr sz="1850" dirty="0">
                  <a:solidFill>
                    <a:srgbClr val="D63A49"/>
                  </a:solidFill>
                  <a:latin typeface="Consolas"/>
                  <a:cs typeface="Consolas"/>
                </a:rPr>
                <a:t>new</a:t>
              </a:r>
              <a:r>
                <a:rPr sz="1850" spc="-55" dirty="0">
                  <a:solidFill>
                    <a:srgbClr val="D63A49"/>
                  </a:solidFill>
                  <a:latin typeface="Consolas"/>
                  <a:cs typeface="Consolas"/>
                </a:rPr>
                <a:t> </a:t>
              </a:r>
              <a:r>
                <a:rPr sz="1850" dirty="0">
                  <a:solidFill>
                    <a:srgbClr val="24292E"/>
                  </a:solidFill>
                  <a:latin typeface="Consolas"/>
                  <a:cs typeface="Consolas"/>
                </a:rPr>
                <a:t>Vector2(speed,</a:t>
              </a:r>
              <a:r>
                <a:rPr sz="1850" spc="-50" dirty="0">
                  <a:solidFill>
                    <a:srgbClr val="24292E"/>
                  </a:solidFill>
                  <a:latin typeface="Consolas"/>
                  <a:cs typeface="Consolas"/>
                </a:rPr>
                <a:t> </a:t>
              </a:r>
              <a:r>
                <a:rPr sz="1850" spc="-25" dirty="0">
                  <a:solidFill>
                    <a:srgbClr val="005CC4"/>
                  </a:solidFill>
                  <a:latin typeface="Consolas"/>
                  <a:cs typeface="Consolas"/>
                </a:rPr>
                <a:t>0</a:t>
              </a:r>
              <a:r>
                <a:rPr sz="1850" spc="-25" dirty="0">
                  <a:solidFill>
                    <a:srgbClr val="24292E"/>
                  </a:solidFill>
                  <a:latin typeface="Consolas"/>
                  <a:cs typeface="Consolas"/>
                </a:rPr>
                <a:t>);</a:t>
              </a:r>
              <a:endParaRPr sz="1850" dirty="0">
                <a:latin typeface="Consolas"/>
                <a:cs typeface="Consolas"/>
              </a:endParaRPr>
            </a:p>
            <a:p>
              <a:pPr marL="12700">
                <a:lnSpc>
                  <a:spcPts val="2050"/>
                </a:lnSpc>
              </a:pPr>
              <a:r>
                <a:rPr sz="1850" spc="-50" dirty="0">
                  <a:solidFill>
                    <a:srgbClr val="24292E"/>
                  </a:solidFill>
                  <a:latin typeface="Consolas"/>
                  <a:cs typeface="Consolas"/>
                </a:rPr>
                <a:t>}</a:t>
              </a:r>
              <a:endParaRPr sz="1850" dirty="0">
                <a:latin typeface="Consolas"/>
                <a:cs typeface="Consolas"/>
              </a:endParaRPr>
            </a:p>
            <a:p>
              <a:pPr>
                <a:lnSpc>
                  <a:spcPct val="100000"/>
                </a:lnSpc>
              </a:pPr>
              <a:endParaRPr sz="1850" dirty="0">
                <a:latin typeface="Consolas"/>
                <a:cs typeface="Consolas"/>
              </a:endParaRPr>
            </a:p>
          </p:txBody>
        </p:sp>
      </p:grpSp>
      <p:pic>
        <p:nvPicPr>
          <p:cNvPr id="12" name="Picture 11">
            <a:extLst>
              <a:ext uri="{FF2B5EF4-FFF2-40B4-BE49-F238E27FC236}">
                <a16:creationId xmlns:a16="http://schemas.microsoft.com/office/drawing/2014/main" id="{CEFE2CFA-E4C3-4E03-86E5-BA0D4EA2239C}"/>
              </a:ext>
            </a:extLst>
          </p:cNvPr>
          <p:cNvPicPr>
            <a:picLocks noChangeAspect="1"/>
          </p:cNvPicPr>
          <p:nvPr/>
        </p:nvPicPr>
        <p:blipFill>
          <a:blip r:embed="rId2"/>
          <a:stretch>
            <a:fillRect/>
          </a:stretch>
        </p:blipFill>
        <p:spPr>
          <a:xfrm>
            <a:off x="7369645" y="4884275"/>
            <a:ext cx="3934815" cy="1883390"/>
          </a:xfrm>
          <a:prstGeom prst="rect">
            <a:avLst/>
          </a:prstGeom>
        </p:spPr>
      </p:pic>
    </p:spTree>
    <p:extLst>
      <p:ext uri="{BB962C8B-B14F-4D97-AF65-F5344CB8AC3E}">
        <p14:creationId xmlns:p14="http://schemas.microsoft.com/office/powerpoint/2010/main" val="217378759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AC98385-95DD-873A-581A-78CE1A257371}"/>
              </a:ext>
            </a:extLst>
          </p:cNvPr>
          <p:cNvSpPr>
            <a:spLocks noGrp="1"/>
          </p:cNvSpPr>
          <p:nvPr>
            <p:ph idx="1"/>
          </p:nvPr>
        </p:nvSpPr>
        <p:spPr>
          <a:xfrm>
            <a:off x="612647" y="3027680"/>
            <a:ext cx="10717785" cy="3705875"/>
          </a:xfrm>
        </p:spPr>
        <p:txBody>
          <a:bodyPr>
            <a:normAutofit/>
          </a:bodyPr>
          <a:lstStyle/>
          <a:p>
            <a:r>
              <a:rPr lang="en-GB" sz="1400" dirty="0"/>
              <a:t>We have a </a:t>
            </a:r>
            <a:r>
              <a:rPr lang="en-GB" sz="1400" b="1" dirty="0"/>
              <a:t>local</a:t>
            </a:r>
            <a:r>
              <a:rPr lang="en-GB" sz="1400" dirty="0"/>
              <a:t> Float variable for height that is defined as: </a:t>
            </a:r>
            <a:r>
              <a:rPr lang="en-GB" sz="1400" dirty="0" err="1"/>
              <a:t>Random.Range</a:t>
            </a:r>
            <a:r>
              <a:rPr lang="en-GB" sz="1400" dirty="0"/>
              <a:t>(</a:t>
            </a:r>
            <a:r>
              <a:rPr lang="en-GB" sz="1400" dirty="0" err="1"/>
              <a:t>rockLowerLimit</a:t>
            </a:r>
            <a:r>
              <a:rPr lang="en-GB" sz="1400" dirty="0"/>
              <a:t>, </a:t>
            </a:r>
            <a:r>
              <a:rPr lang="en-GB" sz="1400" dirty="0" err="1"/>
              <a:t>rockHigherLimit</a:t>
            </a:r>
            <a:r>
              <a:rPr lang="en-GB" sz="1400" dirty="0"/>
              <a:t>);</a:t>
            </a:r>
          </a:p>
          <a:p>
            <a:r>
              <a:rPr lang="en-GB" sz="1400" dirty="0"/>
              <a:t>We have already defined the values for </a:t>
            </a:r>
            <a:r>
              <a:rPr lang="en-GB" sz="1400" dirty="0" err="1"/>
              <a:t>rockLowerLimit</a:t>
            </a:r>
            <a:r>
              <a:rPr lang="en-GB" sz="1400" dirty="0"/>
              <a:t> and </a:t>
            </a:r>
            <a:r>
              <a:rPr lang="en-GB" sz="1400" dirty="0" err="1"/>
              <a:t>rockHigherLimit</a:t>
            </a:r>
            <a:r>
              <a:rPr lang="en-GB" sz="1400" dirty="0"/>
              <a:t> in our </a:t>
            </a:r>
            <a:r>
              <a:rPr lang="en-GB" sz="1400" b="1" dirty="0"/>
              <a:t>Member</a:t>
            </a:r>
            <a:r>
              <a:rPr lang="en-GB" sz="1400" dirty="0"/>
              <a:t> variables at the top of the Script.</a:t>
            </a:r>
          </a:p>
          <a:p>
            <a:pPr lvl="1"/>
            <a:r>
              <a:rPr lang="en-GB" sz="1200" dirty="0"/>
              <a:t>A </a:t>
            </a:r>
            <a:r>
              <a:rPr lang="en-GB" sz="1200" b="1" dirty="0"/>
              <a:t>Member</a:t>
            </a:r>
            <a:r>
              <a:rPr lang="en-GB" sz="1200" dirty="0"/>
              <a:t> variable can be used anywhere in the Script, but a </a:t>
            </a:r>
            <a:r>
              <a:rPr lang="en-GB" sz="1200" b="1" dirty="0"/>
              <a:t>Local</a:t>
            </a:r>
            <a:r>
              <a:rPr lang="en-GB" sz="1200" dirty="0"/>
              <a:t> variable can only be used within the Method it is declared. </a:t>
            </a:r>
          </a:p>
          <a:p>
            <a:r>
              <a:rPr lang="en-GB" sz="1400" dirty="0"/>
              <a:t>Then we need to tell Unity at what point in our game world to spawn our obstacle in to.</a:t>
            </a:r>
          </a:p>
          <a:p>
            <a:pPr lvl="1"/>
            <a:r>
              <a:rPr lang="en-GB" sz="1200" dirty="0"/>
              <a:t>A Point is a location in Space (coordinate system – X, Y, Z).</a:t>
            </a:r>
          </a:p>
          <a:p>
            <a:pPr lvl="1"/>
            <a:r>
              <a:rPr lang="en-GB" sz="1200" dirty="0"/>
              <a:t>A Vector is the displacement between the points – It has a direction and a magnitude (length).</a:t>
            </a:r>
          </a:p>
          <a:p>
            <a:pPr lvl="1"/>
            <a:r>
              <a:rPr lang="en-GB" sz="1200" dirty="0"/>
              <a:t>Time and Duration – How long is takes to get from one Point to another Point.</a:t>
            </a:r>
          </a:p>
          <a:p>
            <a:r>
              <a:rPr lang="en-GB" sz="1400" dirty="0"/>
              <a:t>The Parameters for the Vector3 are all floats – Remember we are cheating 2D here, hence why this is a Vector3 and not a Vector2. We still need to make sure the obstacle is appearing above the Background and not behind it. Our X value is 10, and our Z value is 0. For the Y value, we can use the float we have already defined as </a:t>
            </a:r>
            <a:r>
              <a:rPr lang="en-GB" sz="1400" dirty="0">
                <a:solidFill>
                  <a:srgbClr val="C00000"/>
                </a:solidFill>
              </a:rPr>
              <a:t>float</a:t>
            </a:r>
            <a:r>
              <a:rPr lang="en-GB" sz="1400" dirty="0"/>
              <a:t> height.</a:t>
            </a:r>
          </a:p>
        </p:txBody>
      </p:sp>
      <p:sp>
        <p:nvSpPr>
          <p:cNvPr id="4" name="Title 1">
            <a:extLst>
              <a:ext uri="{FF2B5EF4-FFF2-40B4-BE49-F238E27FC236}">
                <a16:creationId xmlns:a16="http://schemas.microsoft.com/office/drawing/2014/main" id="{55C63ECB-91C4-CA70-88BB-D5D711189F68}"/>
              </a:ext>
            </a:extLst>
          </p:cNvPr>
          <p:cNvSpPr>
            <a:spLocks noGrp="1"/>
          </p:cNvSpPr>
          <p:nvPr>
            <p:ph type="title"/>
          </p:nvPr>
        </p:nvSpPr>
        <p:spPr>
          <a:xfrm>
            <a:off x="612647" y="124444"/>
            <a:ext cx="10653713" cy="620024"/>
          </a:xfrm>
        </p:spPr>
        <p:txBody>
          <a:bodyPr>
            <a:normAutofit/>
          </a:bodyPr>
          <a:lstStyle/>
          <a:p>
            <a:r>
              <a:rPr lang="en-GB" dirty="0"/>
              <a:t>Code Example</a:t>
            </a:r>
          </a:p>
        </p:txBody>
      </p:sp>
      <p:grpSp>
        <p:nvGrpSpPr>
          <p:cNvPr id="10" name="Group 9">
            <a:extLst>
              <a:ext uri="{FF2B5EF4-FFF2-40B4-BE49-F238E27FC236}">
                <a16:creationId xmlns:a16="http://schemas.microsoft.com/office/drawing/2014/main" id="{C3E07302-FCF7-23B4-C4FA-010AD46689A5}"/>
              </a:ext>
            </a:extLst>
          </p:cNvPr>
          <p:cNvGrpSpPr/>
          <p:nvPr/>
        </p:nvGrpSpPr>
        <p:grpSpPr>
          <a:xfrm>
            <a:off x="628014" y="744468"/>
            <a:ext cx="10687050" cy="2108896"/>
            <a:chOff x="757237" y="376248"/>
            <a:chExt cx="10687050" cy="4581526"/>
          </a:xfrm>
        </p:grpSpPr>
        <p:grpSp>
          <p:nvGrpSpPr>
            <p:cNvPr id="5" name="object 2">
              <a:extLst>
                <a:ext uri="{FF2B5EF4-FFF2-40B4-BE49-F238E27FC236}">
                  <a16:creationId xmlns:a16="http://schemas.microsoft.com/office/drawing/2014/main" id="{5C8541FD-E519-A1FC-A371-E295A3F3C90D}"/>
                </a:ext>
              </a:extLst>
            </p:cNvPr>
            <p:cNvGrpSpPr/>
            <p:nvPr/>
          </p:nvGrpSpPr>
          <p:grpSpPr>
            <a:xfrm>
              <a:off x="757237" y="376248"/>
              <a:ext cx="10687050" cy="4581526"/>
              <a:chOff x="757237" y="376248"/>
              <a:chExt cx="10687050" cy="4581526"/>
            </a:xfrm>
          </p:grpSpPr>
          <p:sp>
            <p:nvSpPr>
              <p:cNvPr id="6" name="object 3">
                <a:extLst>
                  <a:ext uri="{FF2B5EF4-FFF2-40B4-BE49-F238E27FC236}">
                    <a16:creationId xmlns:a16="http://schemas.microsoft.com/office/drawing/2014/main" id="{BA82EF62-D527-FA18-C288-627AB4685A4F}"/>
                  </a:ext>
                </a:extLst>
              </p:cNvPr>
              <p:cNvSpPr/>
              <p:nvPr/>
            </p:nvSpPr>
            <p:spPr>
              <a:xfrm>
                <a:off x="757237" y="376248"/>
                <a:ext cx="10687050" cy="4581526"/>
              </a:xfrm>
              <a:custGeom>
                <a:avLst/>
                <a:gdLst/>
                <a:ahLst/>
                <a:cxnLst/>
                <a:rect l="l" t="t" r="r" b="b"/>
                <a:pathLst>
                  <a:path w="10687050" h="4581525">
                    <a:moveTo>
                      <a:pt x="10666394" y="4581524"/>
                    </a:moveTo>
                    <a:lnTo>
                      <a:pt x="20654" y="4581524"/>
                    </a:lnTo>
                    <a:lnTo>
                      <a:pt x="17617" y="4580919"/>
                    </a:lnTo>
                    <a:lnTo>
                      <a:pt x="0" y="4560869"/>
                    </a:lnTo>
                    <a:lnTo>
                      <a:pt x="0" y="4557712"/>
                    </a:lnTo>
                    <a:lnTo>
                      <a:pt x="0" y="20654"/>
                    </a:lnTo>
                    <a:lnTo>
                      <a:pt x="20654" y="0"/>
                    </a:lnTo>
                    <a:lnTo>
                      <a:pt x="10666394" y="0"/>
                    </a:lnTo>
                    <a:lnTo>
                      <a:pt x="10687048" y="20654"/>
                    </a:lnTo>
                    <a:lnTo>
                      <a:pt x="10687048" y="4560869"/>
                    </a:lnTo>
                    <a:lnTo>
                      <a:pt x="10669431" y="4580919"/>
                    </a:lnTo>
                    <a:lnTo>
                      <a:pt x="10666394" y="4581524"/>
                    </a:lnTo>
                    <a:close/>
                  </a:path>
                </a:pathLst>
              </a:custGeom>
              <a:solidFill>
                <a:srgbClr val="F5F7FA"/>
              </a:solidFill>
            </p:spPr>
            <p:txBody>
              <a:bodyPr wrap="square" lIns="0" tIns="0" rIns="0" bIns="0" rtlCol="0"/>
              <a:lstStyle/>
              <a:p>
                <a:endParaRPr/>
              </a:p>
            </p:txBody>
          </p:sp>
          <p:sp>
            <p:nvSpPr>
              <p:cNvPr id="7" name="object 4">
                <a:extLst>
                  <a:ext uri="{FF2B5EF4-FFF2-40B4-BE49-F238E27FC236}">
                    <a16:creationId xmlns:a16="http://schemas.microsoft.com/office/drawing/2014/main" id="{7510DD69-E014-1F64-247B-530BB9D4D4A3}"/>
                  </a:ext>
                </a:extLst>
              </p:cNvPr>
              <p:cNvSpPr/>
              <p:nvPr/>
            </p:nvSpPr>
            <p:spPr>
              <a:xfrm>
                <a:off x="757237" y="376248"/>
                <a:ext cx="10687050" cy="4581526"/>
              </a:xfrm>
              <a:custGeom>
                <a:avLst/>
                <a:gdLst/>
                <a:ahLst/>
                <a:cxnLst/>
                <a:rect l="l" t="t" r="r" b="b"/>
                <a:pathLst>
                  <a:path w="10687050" h="4581525">
                    <a:moveTo>
                      <a:pt x="0" y="4557712"/>
                    </a:moveTo>
                    <a:lnTo>
                      <a:pt x="0" y="23812"/>
                    </a:lnTo>
                    <a:lnTo>
                      <a:pt x="0" y="20654"/>
                    </a:lnTo>
                    <a:lnTo>
                      <a:pt x="604" y="17617"/>
                    </a:lnTo>
                    <a:lnTo>
                      <a:pt x="1812" y="14699"/>
                    </a:lnTo>
                    <a:lnTo>
                      <a:pt x="3021" y="11782"/>
                    </a:lnTo>
                    <a:lnTo>
                      <a:pt x="4741" y="9207"/>
                    </a:lnTo>
                    <a:lnTo>
                      <a:pt x="6974" y="6974"/>
                    </a:lnTo>
                    <a:lnTo>
                      <a:pt x="9207" y="4741"/>
                    </a:lnTo>
                    <a:lnTo>
                      <a:pt x="11782" y="3020"/>
                    </a:lnTo>
                    <a:lnTo>
                      <a:pt x="14699" y="1812"/>
                    </a:lnTo>
                    <a:lnTo>
                      <a:pt x="17617" y="604"/>
                    </a:lnTo>
                    <a:lnTo>
                      <a:pt x="20654" y="0"/>
                    </a:lnTo>
                    <a:lnTo>
                      <a:pt x="23812" y="0"/>
                    </a:lnTo>
                    <a:lnTo>
                      <a:pt x="10663236" y="0"/>
                    </a:lnTo>
                    <a:lnTo>
                      <a:pt x="10666394" y="0"/>
                    </a:lnTo>
                    <a:lnTo>
                      <a:pt x="10669431" y="604"/>
                    </a:lnTo>
                    <a:lnTo>
                      <a:pt x="10687049" y="23812"/>
                    </a:lnTo>
                    <a:lnTo>
                      <a:pt x="10687049" y="4557712"/>
                    </a:lnTo>
                    <a:lnTo>
                      <a:pt x="10663236" y="4581524"/>
                    </a:lnTo>
                    <a:lnTo>
                      <a:pt x="23812" y="4581524"/>
                    </a:lnTo>
                    <a:lnTo>
                      <a:pt x="0" y="4560869"/>
                    </a:lnTo>
                    <a:lnTo>
                      <a:pt x="0" y="4557712"/>
                    </a:lnTo>
                    <a:close/>
                  </a:path>
                </a:pathLst>
              </a:custGeom>
              <a:ln w="9524">
                <a:solidFill>
                  <a:srgbClr val="999999"/>
                </a:solidFill>
              </a:ln>
            </p:spPr>
            <p:txBody>
              <a:bodyPr wrap="square" lIns="0" tIns="0" rIns="0" bIns="0" rtlCol="0"/>
              <a:lstStyle/>
              <a:p>
                <a:endParaRPr/>
              </a:p>
            </p:txBody>
          </p:sp>
        </p:grpSp>
        <p:sp>
          <p:nvSpPr>
            <p:cNvPr id="8" name="object 5">
              <a:extLst>
                <a:ext uri="{FF2B5EF4-FFF2-40B4-BE49-F238E27FC236}">
                  <a16:creationId xmlns:a16="http://schemas.microsoft.com/office/drawing/2014/main" id="{2E8A0334-420E-777D-7C7A-2D2AC1F31CD6}"/>
                </a:ext>
              </a:extLst>
            </p:cNvPr>
            <p:cNvSpPr txBox="1">
              <a:spLocks/>
            </p:cNvSpPr>
            <p:nvPr/>
          </p:nvSpPr>
          <p:spPr>
            <a:xfrm>
              <a:off x="901700" y="476420"/>
              <a:ext cx="2606675" cy="307340"/>
            </a:xfrm>
            <a:prstGeom prst="rect">
              <a:avLst/>
            </a:prstGeom>
          </p:spPr>
          <p:txBody>
            <a:bodyPr vert="horz" wrap="square" lIns="0" tIns="12065" rIns="0" bIns="0" rtlCol="0" anchor="t">
              <a:spAutoFit/>
            </a:bodyPr>
            <a:lstStyle>
              <a:lvl1pPr algn="l" defTabSz="914400" rtl="0" eaLnBrk="1" latinLnBrk="0" hangingPunct="1">
                <a:lnSpc>
                  <a:spcPct val="90000"/>
                </a:lnSpc>
                <a:spcBef>
                  <a:spcPct val="0"/>
                </a:spcBef>
                <a:buNone/>
                <a:defRPr sz="3600" b="1" kern="1200">
                  <a:solidFill>
                    <a:schemeClr val="tx1"/>
                  </a:solidFill>
                  <a:latin typeface="+mj-lt"/>
                  <a:ea typeface="+mj-ea"/>
                  <a:cs typeface="+mj-cs"/>
                </a:defRPr>
              </a:lvl1pPr>
            </a:lstStyle>
            <a:p>
              <a:pPr marL="12700">
                <a:lnSpc>
                  <a:spcPct val="100000"/>
                </a:lnSpc>
                <a:spcBef>
                  <a:spcPts val="95"/>
                </a:spcBef>
              </a:pPr>
              <a:r>
                <a:rPr lang="en-GB" sz="1850" b="0" dirty="0">
                  <a:solidFill>
                    <a:srgbClr val="D63A49"/>
                  </a:solidFill>
                  <a:latin typeface="Consolas"/>
                  <a:cs typeface="Consolas"/>
                </a:rPr>
                <a:t>void</a:t>
              </a:r>
              <a:r>
                <a:rPr lang="en-GB" sz="1850" b="0" spc="-20" dirty="0">
                  <a:solidFill>
                    <a:srgbClr val="D63A49"/>
                  </a:solidFill>
                  <a:latin typeface="Consolas"/>
                  <a:cs typeface="Consolas"/>
                </a:rPr>
                <a:t> </a:t>
              </a:r>
              <a:r>
                <a:rPr lang="en-GB" sz="1850" b="0" spc="-10" dirty="0" err="1">
                  <a:solidFill>
                    <a:srgbClr val="6F41C1"/>
                  </a:solidFill>
                  <a:latin typeface="Consolas"/>
                  <a:cs typeface="Consolas"/>
                </a:rPr>
                <a:t>SpawnObstacle</a:t>
              </a:r>
              <a:r>
                <a:rPr lang="en-GB" sz="1850" b="0" spc="-10" dirty="0">
                  <a:solidFill>
                    <a:srgbClr val="24292E"/>
                  </a:solidFill>
                  <a:latin typeface="Consolas"/>
                  <a:cs typeface="Consolas"/>
                </a:rPr>
                <a:t>()</a:t>
              </a:r>
              <a:endParaRPr lang="en-GB" sz="1850" dirty="0">
                <a:latin typeface="Consolas"/>
                <a:cs typeface="Consolas"/>
              </a:endParaRPr>
            </a:p>
          </p:txBody>
        </p:sp>
        <p:sp>
          <p:nvSpPr>
            <p:cNvPr id="9" name="object 10">
              <a:extLst>
                <a:ext uri="{FF2B5EF4-FFF2-40B4-BE49-F238E27FC236}">
                  <a16:creationId xmlns:a16="http://schemas.microsoft.com/office/drawing/2014/main" id="{F85E2F41-9813-FE57-9E81-86CF7B061AC5}"/>
                </a:ext>
              </a:extLst>
            </p:cNvPr>
            <p:cNvSpPr txBox="1"/>
            <p:nvPr/>
          </p:nvSpPr>
          <p:spPr>
            <a:xfrm>
              <a:off x="901700" y="1290515"/>
              <a:ext cx="7767955" cy="2167297"/>
            </a:xfrm>
            <a:prstGeom prst="rect">
              <a:avLst/>
            </a:prstGeom>
          </p:spPr>
          <p:txBody>
            <a:bodyPr vert="horz" wrap="square" lIns="0" tIns="12065" rIns="0" bIns="0" rtlCol="0">
              <a:spAutoFit/>
            </a:bodyPr>
            <a:lstStyle/>
            <a:p>
              <a:pPr marL="12700">
                <a:lnSpc>
                  <a:spcPts val="2160"/>
                </a:lnSpc>
                <a:spcBef>
                  <a:spcPts val="95"/>
                </a:spcBef>
              </a:pPr>
              <a:r>
                <a:rPr sz="1850" spc="-50" dirty="0">
                  <a:solidFill>
                    <a:srgbClr val="24292E"/>
                  </a:solidFill>
                  <a:latin typeface="Consolas"/>
                  <a:cs typeface="Consolas"/>
                </a:rPr>
                <a:t>{</a:t>
              </a:r>
              <a:endParaRPr sz="1850" dirty="0">
                <a:latin typeface="Consolas"/>
                <a:cs typeface="Consolas"/>
              </a:endParaRPr>
            </a:p>
            <a:p>
              <a:pPr marL="528320">
                <a:lnSpc>
                  <a:spcPts val="2100"/>
                </a:lnSpc>
              </a:pPr>
              <a:r>
                <a:rPr sz="1850" dirty="0">
                  <a:solidFill>
                    <a:srgbClr val="D63A49"/>
                  </a:solidFill>
                  <a:latin typeface="Consolas"/>
                  <a:cs typeface="Consolas"/>
                </a:rPr>
                <a:t>float</a:t>
              </a:r>
              <a:r>
                <a:rPr sz="1850" spc="-20" dirty="0">
                  <a:solidFill>
                    <a:srgbClr val="D63A49"/>
                  </a:solidFill>
                  <a:latin typeface="Consolas"/>
                  <a:cs typeface="Consolas"/>
                </a:rPr>
                <a:t> </a:t>
              </a:r>
              <a:r>
                <a:rPr sz="1850" dirty="0">
                  <a:solidFill>
                    <a:srgbClr val="24292E"/>
                  </a:solidFill>
                  <a:latin typeface="Consolas"/>
                  <a:cs typeface="Consolas"/>
                </a:rPr>
                <a:t>height</a:t>
              </a:r>
              <a:r>
                <a:rPr sz="1850" spc="-20" dirty="0">
                  <a:solidFill>
                    <a:srgbClr val="24292E"/>
                  </a:solidFill>
                  <a:latin typeface="Consolas"/>
                  <a:cs typeface="Consolas"/>
                </a:rPr>
                <a:t> </a:t>
              </a:r>
              <a:r>
                <a:rPr sz="1850" dirty="0">
                  <a:solidFill>
                    <a:srgbClr val="24292E"/>
                  </a:solidFill>
                  <a:latin typeface="Consolas"/>
                  <a:cs typeface="Consolas"/>
                </a:rPr>
                <a:t>=</a:t>
              </a:r>
              <a:r>
                <a:rPr sz="1850" spc="-20" dirty="0">
                  <a:solidFill>
                    <a:srgbClr val="24292E"/>
                  </a:solidFill>
                  <a:latin typeface="Consolas"/>
                  <a:cs typeface="Consolas"/>
                </a:rPr>
                <a:t> </a:t>
              </a:r>
              <a:r>
                <a:rPr sz="1850" spc="-10" dirty="0">
                  <a:solidFill>
                    <a:srgbClr val="24292E"/>
                  </a:solidFill>
                  <a:latin typeface="Consolas"/>
                  <a:cs typeface="Consolas"/>
                </a:rPr>
                <a:t>Random.Range(rockLowerLimit,</a:t>
              </a:r>
              <a:endParaRPr sz="1850" dirty="0">
                <a:latin typeface="Consolas"/>
                <a:cs typeface="Consolas"/>
              </a:endParaRPr>
            </a:p>
            <a:p>
              <a:pPr marL="4141470">
                <a:lnSpc>
                  <a:spcPts val="2160"/>
                </a:lnSpc>
              </a:pPr>
              <a:r>
                <a:rPr sz="1850" spc="-10" dirty="0">
                  <a:solidFill>
                    <a:srgbClr val="24292E"/>
                  </a:solidFill>
                  <a:latin typeface="Consolas"/>
                  <a:cs typeface="Consolas"/>
                </a:rPr>
                <a:t>rockHigherLimit);</a:t>
              </a:r>
              <a:endParaRPr sz="1850" dirty="0">
                <a:latin typeface="Consolas"/>
                <a:cs typeface="Consolas"/>
              </a:endParaRPr>
            </a:p>
            <a:p>
              <a:pPr marL="528320">
                <a:lnSpc>
                  <a:spcPct val="100000"/>
                </a:lnSpc>
                <a:spcBef>
                  <a:spcPts val="1980"/>
                </a:spcBef>
              </a:pPr>
              <a:r>
                <a:rPr sz="1850" dirty="0">
                  <a:solidFill>
                    <a:srgbClr val="24292E"/>
                  </a:solidFill>
                  <a:latin typeface="Consolas"/>
                  <a:cs typeface="Consolas"/>
                </a:rPr>
                <a:t>Vector3</a:t>
              </a:r>
              <a:r>
                <a:rPr sz="1850" spc="-40" dirty="0">
                  <a:solidFill>
                    <a:srgbClr val="24292E"/>
                  </a:solidFill>
                  <a:latin typeface="Consolas"/>
                  <a:cs typeface="Consolas"/>
                </a:rPr>
                <a:t> </a:t>
              </a:r>
              <a:r>
                <a:rPr sz="1850" dirty="0">
                  <a:solidFill>
                    <a:srgbClr val="24292E"/>
                  </a:solidFill>
                  <a:latin typeface="Consolas"/>
                  <a:cs typeface="Consolas"/>
                </a:rPr>
                <a:t>pos</a:t>
              </a:r>
              <a:r>
                <a:rPr sz="1850" spc="-25" dirty="0">
                  <a:solidFill>
                    <a:srgbClr val="24292E"/>
                  </a:solidFill>
                  <a:latin typeface="Consolas"/>
                  <a:cs typeface="Consolas"/>
                </a:rPr>
                <a:t> </a:t>
              </a:r>
              <a:r>
                <a:rPr sz="1850" dirty="0">
                  <a:solidFill>
                    <a:srgbClr val="24292E"/>
                  </a:solidFill>
                  <a:latin typeface="Consolas"/>
                  <a:cs typeface="Consolas"/>
                </a:rPr>
                <a:t>=</a:t>
              </a:r>
              <a:r>
                <a:rPr sz="1850" spc="-25" dirty="0">
                  <a:solidFill>
                    <a:srgbClr val="24292E"/>
                  </a:solidFill>
                  <a:latin typeface="Consolas"/>
                  <a:cs typeface="Consolas"/>
                </a:rPr>
                <a:t> </a:t>
              </a:r>
              <a:r>
                <a:rPr sz="1850" dirty="0">
                  <a:solidFill>
                    <a:srgbClr val="D63A49"/>
                  </a:solidFill>
                  <a:latin typeface="Consolas"/>
                  <a:cs typeface="Consolas"/>
                </a:rPr>
                <a:t>new</a:t>
              </a:r>
              <a:r>
                <a:rPr sz="1850" spc="-30" dirty="0">
                  <a:solidFill>
                    <a:srgbClr val="D63A49"/>
                  </a:solidFill>
                  <a:latin typeface="Consolas"/>
                  <a:cs typeface="Consolas"/>
                </a:rPr>
                <a:t> </a:t>
              </a:r>
              <a:r>
                <a:rPr sz="1850" dirty="0">
                  <a:solidFill>
                    <a:srgbClr val="24292E"/>
                  </a:solidFill>
                  <a:latin typeface="Consolas"/>
                  <a:cs typeface="Consolas"/>
                </a:rPr>
                <a:t>Vector3(</a:t>
              </a:r>
              <a:r>
                <a:rPr sz="1850" dirty="0">
                  <a:solidFill>
                    <a:srgbClr val="005CC4"/>
                  </a:solidFill>
                  <a:latin typeface="Consolas"/>
                  <a:cs typeface="Consolas"/>
                </a:rPr>
                <a:t>10</a:t>
              </a:r>
              <a:r>
                <a:rPr sz="1850" dirty="0">
                  <a:solidFill>
                    <a:srgbClr val="24292E"/>
                  </a:solidFill>
                  <a:latin typeface="Consolas"/>
                  <a:cs typeface="Consolas"/>
                </a:rPr>
                <a:t>,</a:t>
              </a:r>
              <a:r>
                <a:rPr sz="1850" spc="-25" dirty="0">
                  <a:solidFill>
                    <a:srgbClr val="24292E"/>
                  </a:solidFill>
                  <a:latin typeface="Consolas"/>
                  <a:cs typeface="Consolas"/>
                </a:rPr>
                <a:t> </a:t>
              </a:r>
              <a:r>
                <a:rPr sz="1850" dirty="0">
                  <a:solidFill>
                    <a:srgbClr val="24292E"/>
                  </a:solidFill>
                  <a:latin typeface="Consolas"/>
                  <a:cs typeface="Consolas"/>
                </a:rPr>
                <a:t>height,</a:t>
              </a:r>
              <a:r>
                <a:rPr sz="1850" spc="-25" dirty="0">
                  <a:solidFill>
                    <a:srgbClr val="24292E"/>
                  </a:solidFill>
                  <a:latin typeface="Consolas"/>
                  <a:cs typeface="Consolas"/>
                </a:rPr>
                <a:t> </a:t>
              </a:r>
              <a:r>
                <a:rPr sz="1850" spc="-25" dirty="0">
                  <a:solidFill>
                    <a:srgbClr val="005CC4"/>
                  </a:solidFill>
                  <a:latin typeface="Consolas"/>
                  <a:cs typeface="Consolas"/>
                </a:rPr>
                <a:t>0</a:t>
              </a:r>
              <a:r>
                <a:rPr sz="1850" spc="-25" dirty="0">
                  <a:solidFill>
                    <a:srgbClr val="24292E"/>
                  </a:solidFill>
                  <a:latin typeface="Consolas"/>
                  <a:cs typeface="Consolas"/>
                </a:rPr>
                <a:t>);</a:t>
              </a:r>
              <a:endParaRPr sz="1850" dirty="0">
                <a:latin typeface="Consolas"/>
                <a:cs typeface="Consolas"/>
              </a:endParaRPr>
            </a:p>
            <a:p>
              <a:pPr marL="12700">
                <a:lnSpc>
                  <a:spcPts val="2050"/>
                </a:lnSpc>
              </a:pPr>
              <a:endParaRPr sz="1850" dirty="0">
                <a:latin typeface="Consolas"/>
                <a:cs typeface="Consolas"/>
              </a:endParaRPr>
            </a:p>
            <a:p>
              <a:pPr>
                <a:lnSpc>
                  <a:spcPct val="100000"/>
                </a:lnSpc>
              </a:pPr>
              <a:endParaRPr sz="1850" dirty="0">
                <a:latin typeface="Consolas"/>
                <a:cs typeface="Consolas"/>
              </a:endParaRPr>
            </a:p>
          </p:txBody>
        </p:sp>
      </p:grpSp>
    </p:spTree>
    <p:extLst>
      <p:ext uri="{BB962C8B-B14F-4D97-AF65-F5344CB8AC3E}">
        <p14:creationId xmlns:p14="http://schemas.microsoft.com/office/powerpoint/2010/main" val="403246108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object 2"/>
          <p:cNvGrpSpPr/>
          <p:nvPr/>
        </p:nvGrpSpPr>
        <p:grpSpPr>
          <a:xfrm>
            <a:off x="752474" y="371486"/>
            <a:ext cx="10696575" cy="4591050"/>
            <a:chOff x="752474" y="371486"/>
            <a:chExt cx="10696575" cy="4591050"/>
          </a:xfrm>
        </p:grpSpPr>
        <p:sp>
          <p:nvSpPr>
            <p:cNvPr id="3" name="object 3"/>
            <p:cNvSpPr/>
            <p:nvPr/>
          </p:nvSpPr>
          <p:spPr>
            <a:xfrm>
              <a:off x="757237" y="376249"/>
              <a:ext cx="10687050" cy="4581525"/>
            </a:xfrm>
            <a:custGeom>
              <a:avLst/>
              <a:gdLst/>
              <a:ahLst/>
              <a:cxnLst/>
              <a:rect l="l" t="t" r="r" b="b"/>
              <a:pathLst>
                <a:path w="10687050" h="4581525">
                  <a:moveTo>
                    <a:pt x="10666394" y="4581524"/>
                  </a:moveTo>
                  <a:lnTo>
                    <a:pt x="20654" y="4581524"/>
                  </a:lnTo>
                  <a:lnTo>
                    <a:pt x="17617" y="4580919"/>
                  </a:lnTo>
                  <a:lnTo>
                    <a:pt x="0" y="4560869"/>
                  </a:lnTo>
                  <a:lnTo>
                    <a:pt x="0" y="4557712"/>
                  </a:lnTo>
                  <a:lnTo>
                    <a:pt x="0" y="20654"/>
                  </a:lnTo>
                  <a:lnTo>
                    <a:pt x="20654" y="0"/>
                  </a:lnTo>
                  <a:lnTo>
                    <a:pt x="10666394" y="0"/>
                  </a:lnTo>
                  <a:lnTo>
                    <a:pt x="10687048" y="20654"/>
                  </a:lnTo>
                  <a:lnTo>
                    <a:pt x="10687048" y="4560869"/>
                  </a:lnTo>
                  <a:lnTo>
                    <a:pt x="10669431" y="4580919"/>
                  </a:lnTo>
                  <a:lnTo>
                    <a:pt x="10666394" y="4581524"/>
                  </a:lnTo>
                  <a:close/>
                </a:path>
              </a:pathLst>
            </a:custGeom>
            <a:solidFill>
              <a:srgbClr val="F5F7FA"/>
            </a:solidFill>
          </p:spPr>
          <p:txBody>
            <a:bodyPr wrap="square" lIns="0" tIns="0" rIns="0" bIns="0" rtlCol="0"/>
            <a:lstStyle/>
            <a:p>
              <a:endParaRPr/>
            </a:p>
          </p:txBody>
        </p:sp>
        <p:sp>
          <p:nvSpPr>
            <p:cNvPr id="4" name="object 4"/>
            <p:cNvSpPr/>
            <p:nvPr/>
          </p:nvSpPr>
          <p:spPr>
            <a:xfrm>
              <a:off x="757237" y="376249"/>
              <a:ext cx="10687050" cy="4581525"/>
            </a:xfrm>
            <a:custGeom>
              <a:avLst/>
              <a:gdLst/>
              <a:ahLst/>
              <a:cxnLst/>
              <a:rect l="l" t="t" r="r" b="b"/>
              <a:pathLst>
                <a:path w="10687050" h="4581525">
                  <a:moveTo>
                    <a:pt x="0" y="4557712"/>
                  </a:moveTo>
                  <a:lnTo>
                    <a:pt x="0" y="23812"/>
                  </a:lnTo>
                  <a:lnTo>
                    <a:pt x="0" y="20654"/>
                  </a:lnTo>
                  <a:lnTo>
                    <a:pt x="604" y="17617"/>
                  </a:lnTo>
                  <a:lnTo>
                    <a:pt x="1812" y="14699"/>
                  </a:lnTo>
                  <a:lnTo>
                    <a:pt x="3021" y="11782"/>
                  </a:lnTo>
                  <a:lnTo>
                    <a:pt x="4741" y="9207"/>
                  </a:lnTo>
                  <a:lnTo>
                    <a:pt x="6974" y="6974"/>
                  </a:lnTo>
                  <a:lnTo>
                    <a:pt x="9207" y="4741"/>
                  </a:lnTo>
                  <a:lnTo>
                    <a:pt x="11782" y="3020"/>
                  </a:lnTo>
                  <a:lnTo>
                    <a:pt x="14699" y="1812"/>
                  </a:lnTo>
                  <a:lnTo>
                    <a:pt x="17617" y="604"/>
                  </a:lnTo>
                  <a:lnTo>
                    <a:pt x="20654" y="0"/>
                  </a:lnTo>
                  <a:lnTo>
                    <a:pt x="23812" y="0"/>
                  </a:lnTo>
                  <a:lnTo>
                    <a:pt x="10663236" y="0"/>
                  </a:lnTo>
                  <a:lnTo>
                    <a:pt x="10666394" y="0"/>
                  </a:lnTo>
                  <a:lnTo>
                    <a:pt x="10669431" y="604"/>
                  </a:lnTo>
                  <a:lnTo>
                    <a:pt x="10687049" y="23812"/>
                  </a:lnTo>
                  <a:lnTo>
                    <a:pt x="10687049" y="4557712"/>
                  </a:lnTo>
                  <a:lnTo>
                    <a:pt x="10663236" y="4581524"/>
                  </a:lnTo>
                  <a:lnTo>
                    <a:pt x="23812" y="4581524"/>
                  </a:lnTo>
                  <a:lnTo>
                    <a:pt x="0" y="4560869"/>
                  </a:lnTo>
                  <a:lnTo>
                    <a:pt x="0" y="4557712"/>
                  </a:lnTo>
                  <a:close/>
                </a:path>
              </a:pathLst>
            </a:custGeom>
            <a:ln w="9524">
              <a:solidFill>
                <a:srgbClr val="999999"/>
              </a:solidFill>
            </a:ln>
          </p:spPr>
          <p:txBody>
            <a:bodyPr wrap="square" lIns="0" tIns="0" rIns="0" bIns="0" rtlCol="0"/>
            <a:lstStyle/>
            <a:p>
              <a:endParaRPr/>
            </a:p>
          </p:txBody>
        </p:sp>
      </p:grpSp>
      <p:sp>
        <p:nvSpPr>
          <p:cNvPr id="5" name="object 5"/>
          <p:cNvSpPr txBox="1">
            <a:spLocks noGrp="1"/>
          </p:cNvSpPr>
          <p:nvPr>
            <p:ph type="title"/>
          </p:nvPr>
        </p:nvSpPr>
        <p:spPr>
          <a:xfrm>
            <a:off x="901700" y="476420"/>
            <a:ext cx="2606675" cy="307340"/>
          </a:xfrm>
          <a:prstGeom prst="rect">
            <a:avLst/>
          </a:prstGeom>
        </p:spPr>
        <p:txBody>
          <a:bodyPr vert="horz" wrap="square" lIns="0" tIns="12065" rIns="0" bIns="0" rtlCol="0">
            <a:spAutoFit/>
          </a:bodyPr>
          <a:lstStyle/>
          <a:p>
            <a:pPr marL="12700">
              <a:lnSpc>
                <a:spcPct val="100000"/>
              </a:lnSpc>
              <a:spcBef>
                <a:spcPts val="95"/>
              </a:spcBef>
            </a:pPr>
            <a:r>
              <a:rPr sz="1850" b="0" dirty="0">
                <a:solidFill>
                  <a:srgbClr val="D63A49"/>
                </a:solidFill>
                <a:latin typeface="Consolas"/>
                <a:cs typeface="Consolas"/>
              </a:rPr>
              <a:t>void</a:t>
            </a:r>
            <a:r>
              <a:rPr sz="1850" b="0" spc="-20" dirty="0">
                <a:solidFill>
                  <a:srgbClr val="D63A49"/>
                </a:solidFill>
                <a:latin typeface="Consolas"/>
                <a:cs typeface="Consolas"/>
              </a:rPr>
              <a:t> </a:t>
            </a:r>
            <a:r>
              <a:rPr sz="1850" b="0" spc="-10" dirty="0">
                <a:solidFill>
                  <a:srgbClr val="6F41C1"/>
                </a:solidFill>
                <a:latin typeface="Consolas"/>
                <a:cs typeface="Consolas"/>
              </a:rPr>
              <a:t>SpawnObstacle</a:t>
            </a:r>
            <a:r>
              <a:rPr sz="1850" b="0" spc="-10" dirty="0">
                <a:solidFill>
                  <a:srgbClr val="24292E"/>
                </a:solidFill>
                <a:latin typeface="Consolas"/>
                <a:cs typeface="Consolas"/>
              </a:rPr>
              <a:t>()</a:t>
            </a:r>
            <a:endParaRPr sz="1850">
              <a:latin typeface="Consolas"/>
              <a:cs typeface="Consolas"/>
            </a:endParaRPr>
          </a:p>
        </p:txBody>
      </p:sp>
      <p:pic>
        <p:nvPicPr>
          <p:cNvPr id="6" name="object 6"/>
          <p:cNvPicPr/>
          <p:nvPr/>
        </p:nvPicPr>
        <p:blipFill>
          <a:blip r:embed="rId2" cstate="print"/>
          <a:stretch>
            <a:fillRect/>
          </a:stretch>
        </p:blipFill>
        <p:spPr>
          <a:xfrm>
            <a:off x="1076324" y="5286386"/>
            <a:ext cx="85725" cy="85724"/>
          </a:xfrm>
          <a:prstGeom prst="rect">
            <a:avLst/>
          </a:prstGeom>
        </p:spPr>
      </p:pic>
      <p:pic>
        <p:nvPicPr>
          <p:cNvPr id="7" name="object 7"/>
          <p:cNvPicPr/>
          <p:nvPr/>
        </p:nvPicPr>
        <p:blipFill>
          <a:blip r:embed="rId2" cstate="print"/>
          <a:stretch>
            <a:fillRect/>
          </a:stretch>
        </p:blipFill>
        <p:spPr>
          <a:xfrm>
            <a:off x="1076324" y="5772161"/>
            <a:ext cx="85725" cy="85724"/>
          </a:xfrm>
          <a:prstGeom prst="rect">
            <a:avLst/>
          </a:prstGeom>
        </p:spPr>
      </p:pic>
      <p:sp>
        <p:nvSpPr>
          <p:cNvPr id="8" name="object 8"/>
          <p:cNvSpPr/>
          <p:nvPr/>
        </p:nvSpPr>
        <p:spPr>
          <a:xfrm>
            <a:off x="1306512" y="5591333"/>
            <a:ext cx="1590675" cy="314325"/>
          </a:xfrm>
          <a:custGeom>
            <a:avLst/>
            <a:gdLst/>
            <a:ahLst/>
            <a:cxnLst/>
            <a:rect l="l" t="t" r="r" b="b"/>
            <a:pathLst>
              <a:path w="1590675" h="314325">
                <a:moveTo>
                  <a:pt x="1565889" y="314324"/>
                </a:moveTo>
                <a:lnTo>
                  <a:pt x="24785" y="314324"/>
                </a:lnTo>
                <a:lnTo>
                  <a:pt x="21140" y="313598"/>
                </a:lnTo>
                <a:lnTo>
                  <a:pt x="0" y="289538"/>
                </a:lnTo>
                <a:lnTo>
                  <a:pt x="0" y="285749"/>
                </a:lnTo>
                <a:lnTo>
                  <a:pt x="0" y="24785"/>
                </a:lnTo>
                <a:lnTo>
                  <a:pt x="24785" y="0"/>
                </a:lnTo>
                <a:lnTo>
                  <a:pt x="1565889" y="0"/>
                </a:lnTo>
                <a:lnTo>
                  <a:pt x="1590674" y="24785"/>
                </a:lnTo>
                <a:lnTo>
                  <a:pt x="1590674" y="289538"/>
                </a:lnTo>
                <a:lnTo>
                  <a:pt x="1569534" y="313598"/>
                </a:lnTo>
                <a:lnTo>
                  <a:pt x="1565889" y="314324"/>
                </a:lnTo>
                <a:close/>
              </a:path>
            </a:pathLst>
          </a:custGeom>
          <a:solidFill>
            <a:srgbClr val="1B1F23">
              <a:alpha val="5099"/>
            </a:srgbClr>
          </a:solidFill>
        </p:spPr>
        <p:txBody>
          <a:bodyPr wrap="square" lIns="0" tIns="0" rIns="0" bIns="0" rtlCol="0"/>
          <a:lstStyle/>
          <a:p>
            <a:endParaRPr/>
          </a:p>
        </p:txBody>
      </p:sp>
      <p:sp>
        <p:nvSpPr>
          <p:cNvPr id="10" name="object 10"/>
          <p:cNvSpPr txBox="1"/>
          <p:nvPr/>
        </p:nvSpPr>
        <p:spPr>
          <a:xfrm>
            <a:off x="901700" y="743120"/>
            <a:ext cx="7767955" cy="5165325"/>
          </a:xfrm>
          <a:prstGeom prst="rect">
            <a:avLst/>
          </a:prstGeom>
        </p:spPr>
        <p:txBody>
          <a:bodyPr vert="horz" wrap="square" lIns="0" tIns="12065" rIns="0" bIns="0" rtlCol="0">
            <a:spAutoFit/>
          </a:bodyPr>
          <a:lstStyle/>
          <a:p>
            <a:pPr marL="12700">
              <a:lnSpc>
                <a:spcPts val="2160"/>
              </a:lnSpc>
              <a:spcBef>
                <a:spcPts val="95"/>
              </a:spcBef>
            </a:pPr>
            <a:r>
              <a:rPr sz="1850" spc="-50" dirty="0">
                <a:solidFill>
                  <a:srgbClr val="24292E"/>
                </a:solidFill>
                <a:latin typeface="Consolas"/>
                <a:cs typeface="Consolas"/>
              </a:rPr>
              <a:t>{</a:t>
            </a:r>
            <a:endParaRPr sz="1850" dirty="0">
              <a:latin typeface="Consolas"/>
              <a:cs typeface="Consolas"/>
            </a:endParaRPr>
          </a:p>
          <a:p>
            <a:pPr marL="528320">
              <a:lnSpc>
                <a:spcPts val="2100"/>
              </a:lnSpc>
            </a:pPr>
            <a:r>
              <a:rPr sz="1850" dirty="0">
                <a:solidFill>
                  <a:srgbClr val="D63A49"/>
                </a:solidFill>
                <a:latin typeface="Consolas"/>
                <a:cs typeface="Consolas"/>
              </a:rPr>
              <a:t>float</a:t>
            </a:r>
            <a:r>
              <a:rPr sz="1850" spc="-20" dirty="0">
                <a:solidFill>
                  <a:srgbClr val="D63A49"/>
                </a:solidFill>
                <a:latin typeface="Consolas"/>
                <a:cs typeface="Consolas"/>
              </a:rPr>
              <a:t> </a:t>
            </a:r>
            <a:r>
              <a:rPr sz="1850" dirty="0">
                <a:solidFill>
                  <a:srgbClr val="24292E"/>
                </a:solidFill>
                <a:latin typeface="Consolas"/>
                <a:cs typeface="Consolas"/>
              </a:rPr>
              <a:t>height</a:t>
            </a:r>
            <a:r>
              <a:rPr sz="1850" spc="-20" dirty="0">
                <a:solidFill>
                  <a:srgbClr val="24292E"/>
                </a:solidFill>
                <a:latin typeface="Consolas"/>
                <a:cs typeface="Consolas"/>
              </a:rPr>
              <a:t> </a:t>
            </a:r>
            <a:r>
              <a:rPr sz="1850" dirty="0">
                <a:solidFill>
                  <a:srgbClr val="24292E"/>
                </a:solidFill>
                <a:latin typeface="Consolas"/>
                <a:cs typeface="Consolas"/>
              </a:rPr>
              <a:t>=</a:t>
            </a:r>
            <a:r>
              <a:rPr sz="1850" spc="-20" dirty="0">
                <a:solidFill>
                  <a:srgbClr val="24292E"/>
                </a:solidFill>
                <a:latin typeface="Consolas"/>
                <a:cs typeface="Consolas"/>
              </a:rPr>
              <a:t> </a:t>
            </a:r>
            <a:r>
              <a:rPr sz="1850" spc="-10" dirty="0">
                <a:solidFill>
                  <a:srgbClr val="24292E"/>
                </a:solidFill>
                <a:latin typeface="Consolas"/>
                <a:cs typeface="Consolas"/>
              </a:rPr>
              <a:t>Random.Range(rockLowerLimit,</a:t>
            </a:r>
            <a:endParaRPr sz="1850" dirty="0">
              <a:latin typeface="Consolas"/>
              <a:cs typeface="Consolas"/>
            </a:endParaRPr>
          </a:p>
          <a:p>
            <a:pPr marL="4141470">
              <a:lnSpc>
                <a:spcPts val="2160"/>
              </a:lnSpc>
            </a:pPr>
            <a:r>
              <a:rPr sz="1850" spc="-10" dirty="0">
                <a:solidFill>
                  <a:srgbClr val="24292E"/>
                </a:solidFill>
                <a:latin typeface="Consolas"/>
                <a:cs typeface="Consolas"/>
              </a:rPr>
              <a:t>rockHigherLimit);</a:t>
            </a:r>
            <a:endParaRPr sz="1850" dirty="0">
              <a:latin typeface="Consolas"/>
              <a:cs typeface="Consolas"/>
            </a:endParaRPr>
          </a:p>
          <a:p>
            <a:pPr marL="528320">
              <a:lnSpc>
                <a:spcPct val="100000"/>
              </a:lnSpc>
              <a:spcBef>
                <a:spcPts val="1980"/>
              </a:spcBef>
            </a:pPr>
            <a:r>
              <a:rPr sz="1850" dirty="0">
                <a:solidFill>
                  <a:srgbClr val="24292E"/>
                </a:solidFill>
                <a:latin typeface="Consolas"/>
                <a:cs typeface="Consolas"/>
              </a:rPr>
              <a:t>Vector3</a:t>
            </a:r>
            <a:r>
              <a:rPr sz="1850" spc="-40" dirty="0">
                <a:solidFill>
                  <a:srgbClr val="24292E"/>
                </a:solidFill>
                <a:latin typeface="Consolas"/>
                <a:cs typeface="Consolas"/>
              </a:rPr>
              <a:t> </a:t>
            </a:r>
            <a:r>
              <a:rPr sz="1850" dirty="0">
                <a:solidFill>
                  <a:srgbClr val="24292E"/>
                </a:solidFill>
                <a:latin typeface="Consolas"/>
                <a:cs typeface="Consolas"/>
              </a:rPr>
              <a:t>pos</a:t>
            </a:r>
            <a:r>
              <a:rPr sz="1850" spc="-25" dirty="0">
                <a:solidFill>
                  <a:srgbClr val="24292E"/>
                </a:solidFill>
                <a:latin typeface="Consolas"/>
                <a:cs typeface="Consolas"/>
              </a:rPr>
              <a:t> </a:t>
            </a:r>
            <a:r>
              <a:rPr sz="1850" dirty="0">
                <a:solidFill>
                  <a:srgbClr val="24292E"/>
                </a:solidFill>
                <a:latin typeface="Consolas"/>
                <a:cs typeface="Consolas"/>
              </a:rPr>
              <a:t>=</a:t>
            </a:r>
            <a:r>
              <a:rPr sz="1850" spc="-25" dirty="0">
                <a:solidFill>
                  <a:srgbClr val="24292E"/>
                </a:solidFill>
                <a:latin typeface="Consolas"/>
                <a:cs typeface="Consolas"/>
              </a:rPr>
              <a:t> </a:t>
            </a:r>
            <a:r>
              <a:rPr sz="1850" dirty="0">
                <a:solidFill>
                  <a:srgbClr val="D63A49"/>
                </a:solidFill>
                <a:latin typeface="Consolas"/>
                <a:cs typeface="Consolas"/>
              </a:rPr>
              <a:t>new</a:t>
            </a:r>
            <a:r>
              <a:rPr sz="1850" spc="-30" dirty="0">
                <a:solidFill>
                  <a:srgbClr val="D63A49"/>
                </a:solidFill>
                <a:latin typeface="Consolas"/>
                <a:cs typeface="Consolas"/>
              </a:rPr>
              <a:t> </a:t>
            </a:r>
            <a:r>
              <a:rPr sz="1850" dirty="0">
                <a:solidFill>
                  <a:srgbClr val="24292E"/>
                </a:solidFill>
                <a:latin typeface="Consolas"/>
                <a:cs typeface="Consolas"/>
              </a:rPr>
              <a:t>Vector3(</a:t>
            </a:r>
            <a:r>
              <a:rPr sz="1850" dirty="0">
                <a:solidFill>
                  <a:srgbClr val="005CC4"/>
                </a:solidFill>
                <a:latin typeface="Consolas"/>
                <a:cs typeface="Consolas"/>
              </a:rPr>
              <a:t>10</a:t>
            </a:r>
            <a:r>
              <a:rPr sz="1850" dirty="0">
                <a:solidFill>
                  <a:srgbClr val="24292E"/>
                </a:solidFill>
                <a:latin typeface="Consolas"/>
                <a:cs typeface="Consolas"/>
              </a:rPr>
              <a:t>,</a:t>
            </a:r>
            <a:r>
              <a:rPr sz="1850" spc="-25" dirty="0">
                <a:solidFill>
                  <a:srgbClr val="24292E"/>
                </a:solidFill>
                <a:latin typeface="Consolas"/>
                <a:cs typeface="Consolas"/>
              </a:rPr>
              <a:t> </a:t>
            </a:r>
            <a:r>
              <a:rPr sz="1850" dirty="0">
                <a:solidFill>
                  <a:srgbClr val="24292E"/>
                </a:solidFill>
                <a:latin typeface="Consolas"/>
                <a:cs typeface="Consolas"/>
              </a:rPr>
              <a:t>height,</a:t>
            </a:r>
            <a:r>
              <a:rPr sz="1850" spc="-25" dirty="0">
                <a:solidFill>
                  <a:srgbClr val="24292E"/>
                </a:solidFill>
                <a:latin typeface="Consolas"/>
                <a:cs typeface="Consolas"/>
              </a:rPr>
              <a:t> </a:t>
            </a:r>
            <a:r>
              <a:rPr sz="1850" spc="-25" dirty="0">
                <a:solidFill>
                  <a:srgbClr val="005CC4"/>
                </a:solidFill>
                <a:latin typeface="Consolas"/>
                <a:cs typeface="Consolas"/>
              </a:rPr>
              <a:t>0</a:t>
            </a:r>
            <a:r>
              <a:rPr sz="1850" spc="-25" dirty="0">
                <a:solidFill>
                  <a:srgbClr val="24292E"/>
                </a:solidFill>
                <a:latin typeface="Consolas"/>
                <a:cs typeface="Consolas"/>
              </a:rPr>
              <a:t>);</a:t>
            </a:r>
            <a:endParaRPr sz="1850" dirty="0">
              <a:latin typeface="Consolas"/>
              <a:cs typeface="Consolas"/>
            </a:endParaRPr>
          </a:p>
          <a:p>
            <a:pPr marL="528320" marR="5080">
              <a:lnSpc>
                <a:spcPct val="189200"/>
              </a:lnSpc>
            </a:pPr>
            <a:r>
              <a:rPr sz="1850" dirty="0">
                <a:solidFill>
                  <a:srgbClr val="24292E"/>
                </a:solidFill>
                <a:latin typeface="Consolas"/>
                <a:cs typeface="Consolas"/>
              </a:rPr>
              <a:t>Quaternion</a:t>
            </a:r>
            <a:r>
              <a:rPr sz="1850" spc="-50" dirty="0">
                <a:solidFill>
                  <a:srgbClr val="24292E"/>
                </a:solidFill>
                <a:latin typeface="Consolas"/>
                <a:cs typeface="Consolas"/>
              </a:rPr>
              <a:t> </a:t>
            </a:r>
            <a:r>
              <a:rPr sz="1850" dirty="0">
                <a:solidFill>
                  <a:srgbClr val="24292E"/>
                </a:solidFill>
                <a:latin typeface="Consolas"/>
                <a:cs typeface="Consolas"/>
              </a:rPr>
              <a:t>rot</a:t>
            </a:r>
            <a:r>
              <a:rPr sz="1850" spc="-40" dirty="0">
                <a:solidFill>
                  <a:srgbClr val="24292E"/>
                </a:solidFill>
                <a:latin typeface="Consolas"/>
                <a:cs typeface="Consolas"/>
              </a:rPr>
              <a:t> </a:t>
            </a:r>
            <a:r>
              <a:rPr sz="1850" dirty="0">
                <a:solidFill>
                  <a:srgbClr val="24292E"/>
                </a:solidFill>
                <a:latin typeface="Consolas"/>
                <a:cs typeface="Consolas"/>
              </a:rPr>
              <a:t>=</a:t>
            </a:r>
            <a:r>
              <a:rPr sz="1850" spc="-35" dirty="0">
                <a:solidFill>
                  <a:srgbClr val="24292E"/>
                </a:solidFill>
                <a:latin typeface="Consolas"/>
                <a:cs typeface="Consolas"/>
              </a:rPr>
              <a:t> </a:t>
            </a:r>
            <a:r>
              <a:rPr sz="1850" dirty="0">
                <a:solidFill>
                  <a:srgbClr val="24292E"/>
                </a:solidFill>
                <a:latin typeface="Consolas"/>
                <a:cs typeface="Consolas"/>
              </a:rPr>
              <a:t>Quaternion.Euler(</a:t>
            </a:r>
            <a:r>
              <a:rPr sz="1850" dirty="0">
                <a:solidFill>
                  <a:srgbClr val="D63A49"/>
                </a:solidFill>
                <a:latin typeface="Consolas"/>
                <a:cs typeface="Consolas"/>
              </a:rPr>
              <a:t>new</a:t>
            </a:r>
            <a:r>
              <a:rPr sz="1850" spc="-40" dirty="0">
                <a:solidFill>
                  <a:srgbClr val="D63A49"/>
                </a:solidFill>
                <a:latin typeface="Consolas"/>
                <a:cs typeface="Consolas"/>
              </a:rPr>
              <a:t> </a:t>
            </a:r>
            <a:r>
              <a:rPr sz="1850" dirty="0">
                <a:solidFill>
                  <a:srgbClr val="24292E"/>
                </a:solidFill>
                <a:latin typeface="Consolas"/>
                <a:cs typeface="Consolas"/>
              </a:rPr>
              <a:t>Vector3(</a:t>
            </a:r>
            <a:r>
              <a:rPr sz="1850" dirty="0">
                <a:solidFill>
                  <a:srgbClr val="005CC4"/>
                </a:solidFill>
                <a:latin typeface="Consolas"/>
                <a:cs typeface="Consolas"/>
              </a:rPr>
              <a:t>0</a:t>
            </a:r>
            <a:r>
              <a:rPr sz="1850" dirty="0">
                <a:solidFill>
                  <a:srgbClr val="24292E"/>
                </a:solidFill>
                <a:latin typeface="Consolas"/>
                <a:cs typeface="Consolas"/>
              </a:rPr>
              <a:t>,</a:t>
            </a:r>
            <a:r>
              <a:rPr sz="1850" spc="-40" dirty="0">
                <a:solidFill>
                  <a:srgbClr val="24292E"/>
                </a:solidFill>
                <a:latin typeface="Consolas"/>
                <a:cs typeface="Consolas"/>
              </a:rPr>
              <a:t> </a:t>
            </a:r>
            <a:r>
              <a:rPr sz="1850" dirty="0">
                <a:solidFill>
                  <a:srgbClr val="005CC4"/>
                </a:solidFill>
                <a:latin typeface="Consolas"/>
                <a:cs typeface="Consolas"/>
              </a:rPr>
              <a:t>0</a:t>
            </a:r>
            <a:r>
              <a:rPr sz="1850" dirty="0">
                <a:solidFill>
                  <a:srgbClr val="24292E"/>
                </a:solidFill>
                <a:latin typeface="Consolas"/>
                <a:cs typeface="Consolas"/>
              </a:rPr>
              <a:t>,</a:t>
            </a:r>
            <a:r>
              <a:rPr sz="1850" spc="-35" dirty="0">
                <a:solidFill>
                  <a:srgbClr val="24292E"/>
                </a:solidFill>
                <a:latin typeface="Consolas"/>
                <a:cs typeface="Consolas"/>
              </a:rPr>
              <a:t> </a:t>
            </a:r>
            <a:r>
              <a:rPr sz="1850" spc="-20" dirty="0">
                <a:solidFill>
                  <a:srgbClr val="005CC4"/>
                </a:solidFill>
                <a:latin typeface="Consolas"/>
                <a:cs typeface="Consolas"/>
              </a:rPr>
              <a:t>0</a:t>
            </a:r>
            <a:r>
              <a:rPr sz="1850" spc="-20" dirty="0">
                <a:solidFill>
                  <a:srgbClr val="24292E"/>
                </a:solidFill>
                <a:latin typeface="Consolas"/>
                <a:cs typeface="Consolas"/>
              </a:rPr>
              <a:t>)); </a:t>
            </a:r>
            <a:r>
              <a:rPr sz="1850" dirty="0">
                <a:solidFill>
                  <a:srgbClr val="24292E"/>
                </a:solidFill>
                <a:latin typeface="Consolas"/>
                <a:cs typeface="Consolas"/>
              </a:rPr>
              <a:t>Rigidbody2D</a:t>
            </a:r>
            <a:r>
              <a:rPr sz="1850" spc="-60" dirty="0">
                <a:solidFill>
                  <a:srgbClr val="24292E"/>
                </a:solidFill>
                <a:latin typeface="Consolas"/>
                <a:cs typeface="Consolas"/>
              </a:rPr>
              <a:t> </a:t>
            </a:r>
            <a:r>
              <a:rPr sz="1850" dirty="0">
                <a:solidFill>
                  <a:srgbClr val="24292E"/>
                </a:solidFill>
                <a:latin typeface="Consolas"/>
                <a:cs typeface="Consolas"/>
              </a:rPr>
              <a:t>obstacleInstance</a:t>
            </a:r>
            <a:r>
              <a:rPr sz="1850" spc="-45" dirty="0">
                <a:solidFill>
                  <a:srgbClr val="24292E"/>
                </a:solidFill>
                <a:latin typeface="Consolas"/>
                <a:cs typeface="Consolas"/>
              </a:rPr>
              <a:t> </a:t>
            </a:r>
            <a:r>
              <a:rPr sz="1850" dirty="0">
                <a:solidFill>
                  <a:srgbClr val="24292E"/>
                </a:solidFill>
                <a:latin typeface="Consolas"/>
                <a:cs typeface="Consolas"/>
              </a:rPr>
              <a:t>=</a:t>
            </a:r>
            <a:r>
              <a:rPr sz="1850" spc="-45" dirty="0">
                <a:solidFill>
                  <a:srgbClr val="24292E"/>
                </a:solidFill>
                <a:latin typeface="Consolas"/>
                <a:cs typeface="Consolas"/>
              </a:rPr>
              <a:t> </a:t>
            </a:r>
            <a:r>
              <a:rPr sz="1850" spc="-10" dirty="0">
                <a:solidFill>
                  <a:srgbClr val="24292E"/>
                </a:solidFill>
                <a:latin typeface="Consolas"/>
                <a:cs typeface="Consolas"/>
              </a:rPr>
              <a:t>Instantiate(obstacle,</a:t>
            </a:r>
            <a:endParaRPr sz="1850" dirty="0">
              <a:latin typeface="Consolas"/>
              <a:cs typeface="Consolas"/>
            </a:endParaRPr>
          </a:p>
          <a:p>
            <a:pPr marL="6077585" marR="1036955">
              <a:lnSpc>
                <a:spcPts val="2100"/>
              </a:lnSpc>
              <a:spcBef>
                <a:spcPts val="50"/>
              </a:spcBef>
            </a:pPr>
            <a:r>
              <a:rPr sz="1850" spc="-20" dirty="0">
                <a:solidFill>
                  <a:srgbClr val="24292E"/>
                </a:solidFill>
                <a:latin typeface="Consolas"/>
                <a:cs typeface="Consolas"/>
              </a:rPr>
              <a:t>pos, </a:t>
            </a:r>
            <a:r>
              <a:rPr sz="1850" spc="-10" dirty="0">
                <a:solidFill>
                  <a:srgbClr val="24292E"/>
                </a:solidFill>
                <a:latin typeface="Consolas"/>
                <a:cs typeface="Consolas"/>
              </a:rPr>
              <a:t>rot);</a:t>
            </a:r>
            <a:endParaRPr sz="1850" dirty="0">
              <a:latin typeface="Consolas"/>
              <a:cs typeface="Consolas"/>
            </a:endParaRPr>
          </a:p>
          <a:p>
            <a:pPr marL="528320" marR="779145">
              <a:lnSpc>
                <a:spcPts val="2100"/>
              </a:lnSpc>
            </a:pPr>
            <a:r>
              <a:rPr sz="1850" dirty="0">
                <a:solidFill>
                  <a:srgbClr val="24292E"/>
                </a:solidFill>
                <a:latin typeface="Consolas"/>
                <a:cs typeface="Consolas"/>
              </a:rPr>
              <a:t>obstacleInstance.name</a:t>
            </a:r>
            <a:r>
              <a:rPr sz="1850" spc="-65" dirty="0">
                <a:solidFill>
                  <a:srgbClr val="24292E"/>
                </a:solidFill>
                <a:latin typeface="Consolas"/>
                <a:cs typeface="Consolas"/>
              </a:rPr>
              <a:t> </a:t>
            </a:r>
            <a:r>
              <a:rPr sz="1850" dirty="0">
                <a:solidFill>
                  <a:srgbClr val="24292E"/>
                </a:solidFill>
                <a:latin typeface="Consolas"/>
                <a:cs typeface="Consolas"/>
              </a:rPr>
              <a:t>=</a:t>
            </a:r>
            <a:r>
              <a:rPr sz="1850" spc="-55" dirty="0">
                <a:solidFill>
                  <a:srgbClr val="24292E"/>
                </a:solidFill>
                <a:latin typeface="Consolas"/>
                <a:cs typeface="Consolas"/>
              </a:rPr>
              <a:t> </a:t>
            </a:r>
            <a:r>
              <a:rPr sz="1850" spc="-10" dirty="0">
                <a:solidFill>
                  <a:srgbClr val="032E61"/>
                </a:solidFill>
                <a:latin typeface="Consolas"/>
                <a:cs typeface="Consolas"/>
              </a:rPr>
              <a:t>"Obstacle(Clone)"</a:t>
            </a:r>
            <a:r>
              <a:rPr sz="1850" spc="-10" dirty="0">
                <a:solidFill>
                  <a:srgbClr val="24292E"/>
                </a:solidFill>
                <a:latin typeface="Consolas"/>
                <a:cs typeface="Consolas"/>
              </a:rPr>
              <a:t>; </a:t>
            </a:r>
            <a:r>
              <a:rPr sz="1850" dirty="0">
                <a:solidFill>
                  <a:srgbClr val="24292E"/>
                </a:solidFill>
                <a:latin typeface="Consolas"/>
                <a:cs typeface="Consolas"/>
              </a:rPr>
              <a:t>obstacleInstance.velocity</a:t>
            </a:r>
            <a:r>
              <a:rPr sz="1850" spc="-65" dirty="0">
                <a:solidFill>
                  <a:srgbClr val="24292E"/>
                </a:solidFill>
                <a:latin typeface="Consolas"/>
                <a:cs typeface="Consolas"/>
              </a:rPr>
              <a:t> </a:t>
            </a:r>
            <a:r>
              <a:rPr sz="1850" dirty="0">
                <a:solidFill>
                  <a:srgbClr val="24292E"/>
                </a:solidFill>
                <a:latin typeface="Consolas"/>
                <a:cs typeface="Consolas"/>
              </a:rPr>
              <a:t>=</a:t>
            </a:r>
            <a:r>
              <a:rPr sz="1850" spc="-55" dirty="0">
                <a:solidFill>
                  <a:srgbClr val="24292E"/>
                </a:solidFill>
                <a:latin typeface="Consolas"/>
                <a:cs typeface="Consolas"/>
              </a:rPr>
              <a:t> </a:t>
            </a:r>
            <a:r>
              <a:rPr sz="1850" dirty="0">
                <a:solidFill>
                  <a:srgbClr val="D63A49"/>
                </a:solidFill>
                <a:latin typeface="Consolas"/>
                <a:cs typeface="Consolas"/>
              </a:rPr>
              <a:t>new</a:t>
            </a:r>
            <a:r>
              <a:rPr sz="1850" spc="-55" dirty="0">
                <a:solidFill>
                  <a:srgbClr val="D63A49"/>
                </a:solidFill>
                <a:latin typeface="Consolas"/>
                <a:cs typeface="Consolas"/>
              </a:rPr>
              <a:t> </a:t>
            </a:r>
            <a:r>
              <a:rPr sz="1850" dirty="0">
                <a:solidFill>
                  <a:srgbClr val="24292E"/>
                </a:solidFill>
                <a:latin typeface="Consolas"/>
                <a:cs typeface="Consolas"/>
              </a:rPr>
              <a:t>Vector2(speed,</a:t>
            </a:r>
            <a:r>
              <a:rPr sz="1850" spc="-50" dirty="0">
                <a:solidFill>
                  <a:srgbClr val="24292E"/>
                </a:solidFill>
                <a:latin typeface="Consolas"/>
                <a:cs typeface="Consolas"/>
              </a:rPr>
              <a:t> </a:t>
            </a:r>
            <a:r>
              <a:rPr sz="1850" spc="-25" dirty="0">
                <a:solidFill>
                  <a:srgbClr val="005CC4"/>
                </a:solidFill>
                <a:latin typeface="Consolas"/>
                <a:cs typeface="Consolas"/>
              </a:rPr>
              <a:t>0</a:t>
            </a:r>
            <a:r>
              <a:rPr sz="1850" spc="-25" dirty="0">
                <a:solidFill>
                  <a:srgbClr val="24292E"/>
                </a:solidFill>
                <a:latin typeface="Consolas"/>
                <a:cs typeface="Consolas"/>
              </a:rPr>
              <a:t>);</a:t>
            </a:r>
            <a:endParaRPr sz="1850" dirty="0">
              <a:latin typeface="Consolas"/>
              <a:cs typeface="Consolas"/>
            </a:endParaRPr>
          </a:p>
          <a:p>
            <a:pPr marL="12700">
              <a:lnSpc>
                <a:spcPts val="2050"/>
              </a:lnSpc>
            </a:pPr>
            <a:r>
              <a:rPr sz="1850" spc="-50" dirty="0">
                <a:solidFill>
                  <a:srgbClr val="24292E"/>
                </a:solidFill>
                <a:latin typeface="Consolas"/>
                <a:cs typeface="Consolas"/>
              </a:rPr>
              <a:t>}</a:t>
            </a:r>
            <a:endParaRPr sz="1850" dirty="0">
              <a:latin typeface="Consolas"/>
              <a:cs typeface="Consolas"/>
            </a:endParaRPr>
          </a:p>
          <a:p>
            <a:pPr>
              <a:lnSpc>
                <a:spcPct val="100000"/>
              </a:lnSpc>
            </a:pPr>
            <a:endParaRPr sz="1850" dirty="0">
              <a:latin typeface="Consolas"/>
              <a:cs typeface="Consolas"/>
            </a:endParaRPr>
          </a:p>
          <a:p>
            <a:pPr>
              <a:lnSpc>
                <a:spcPct val="100000"/>
              </a:lnSpc>
              <a:spcBef>
                <a:spcPts val="650"/>
              </a:spcBef>
            </a:pPr>
            <a:endParaRPr sz="1850" dirty="0">
              <a:latin typeface="Consolas"/>
              <a:cs typeface="Consolas"/>
            </a:endParaRPr>
          </a:p>
          <a:p>
            <a:pPr marL="398145">
              <a:lnSpc>
                <a:spcPct val="100000"/>
              </a:lnSpc>
            </a:pPr>
            <a:r>
              <a:rPr dirty="0">
                <a:solidFill>
                  <a:srgbClr val="24292E"/>
                </a:solidFill>
                <a:latin typeface="Arial"/>
                <a:cs typeface="Arial"/>
              </a:rPr>
              <a:t>Quaternion</a:t>
            </a:r>
            <a:r>
              <a:rPr spc="25" dirty="0">
                <a:solidFill>
                  <a:srgbClr val="24292E"/>
                </a:solidFill>
                <a:latin typeface="Arial"/>
                <a:cs typeface="Arial"/>
              </a:rPr>
              <a:t> </a:t>
            </a:r>
            <a:r>
              <a:rPr dirty="0">
                <a:solidFill>
                  <a:srgbClr val="24292E"/>
                </a:solidFill>
                <a:latin typeface="Arial"/>
                <a:cs typeface="Arial"/>
              </a:rPr>
              <a:t>(actually</a:t>
            </a:r>
            <a:r>
              <a:rPr spc="20" dirty="0">
                <a:solidFill>
                  <a:srgbClr val="24292E"/>
                </a:solidFill>
                <a:latin typeface="Arial"/>
                <a:cs typeface="Arial"/>
              </a:rPr>
              <a:t> </a:t>
            </a:r>
            <a:r>
              <a:rPr dirty="0">
                <a:solidFill>
                  <a:srgbClr val="24292E"/>
                </a:solidFill>
                <a:latin typeface="Arial"/>
                <a:cs typeface="Arial"/>
              </a:rPr>
              <a:t>a</a:t>
            </a:r>
            <a:r>
              <a:rPr spc="25" dirty="0">
                <a:solidFill>
                  <a:srgbClr val="24292E"/>
                </a:solidFill>
                <a:latin typeface="Arial"/>
                <a:cs typeface="Arial"/>
              </a:rPr>
              <a:t> </a:t>
            </a:r>
            <a:r>
              <a:rPr dirty="0">
                <a:solidFill>
                  <a:srgbClr val="24292E"/>
                </a:solidFill>
                <a:latin typeface="Arial"/>
                <a:cs typeface="Arial"/>
              </a:rPr>
              <a:t>Unit</a:t>
            </a:r>
            <a:r>
              <a:rPr spc="20" dirty="0">
                <a:solidFill>
                  <a:srgbClr val="24292E"/>
                </a:solidFill>
                <a:latin typeface="Arial"/>
                <a:cs typeface="Arial"/>
              </a:rPr>
              <a:t> </a:t>
            </a:r>
            <a:r>
              <a:rPr dirty="0">
                <a:solidFill>
                  <a:srgbClr val="24292E"/>
                </a:solidFill>
                <a:latin typeface="Arial"/>
                <a:cs typeface="Arial"/>
              </a:rPr>
              <a:t>Quaternion)</a:t>
            </a:r>
            <a:r>
              <a:rPr spc="25" dirty="0">
                <a:solidFill>
                  <a:srgbClr val="24292E"/>
                </a:solidFill>
                <a:latin typeface="Arial"/>
                <a:cs typeface="Arial"/>
              </a:rPr>
              <a:t> </a:t>
            </a:r>
            <a:r>
              <a:rPr dirty="0">
                <a:solidFill>
                  <a:srgbClr val="24292E"/>
                </a:solidFill>
                <a:latin typeface="Arial"/>
                <a:cs typeface="Arial"/>
              </a:rPr>
              <a:t>-</a:t>
            </a:r>
            <a:r>
              <a:rPr spc="25" dirty="0">
                <a:solidFill>
                  <a:srgbClr val="24292E"/>
                </a:solidFill>
                <a:latin typeface="Arial"/>
                <a:cs typeface="Arial"/>
              </a:rPr>
              <a:t> </a:t>
            </a:r>
            <a:r>
              <a:rPr dirty="0">
                <a:solidFill>
                  <a:srgbClr val="24292E"/>
                </a:solidFill>
                <a:latin typeface="Arial"/>
                <a:cs typeface="Arial"/>
              </a:rPr>
              <a:t>don't</a:t>
            </a:r>
            <a:r>
              <a:rPr spc="20" dirty="0">
                <a:solidFill>
                  <a:srgbClr val="24292E"/>
                </a:solidFill>
                <a:latin typeface="Arial"/>
                <a:cs typeface="Arial"/>
              </a:rPr>
              <a:t> </a:t>
            </a:r>
            <a:r>
              <a:rPr spc="-10" dirty="0">
                <a:solidFill>
                  <a:srgbClr val="24292E"/>
                </a:solidFill>
                <a:latin typeface="Arial"/>
                <a:cs typeface="Arial"/>
              </a:rPr>
              <a:t>worry.</a:t>
            </a:r>
            <a:endParaRPr dirty="0">
              <a:latin typeface="Arial"/>
              <a:cs typeface="Arial"/>
            </a:endParaRPr>
          </a:p>
          <a:p>
            <a:pPr marL="398145" marR="2791460" indent="85725">
              <a:lnSpc>
                <a:spcPct val="145300"/>
              </a:lnSpc>
              <a:spcBef>
                <a:spcPts val="75"/>
              </a:spcBef>
            </a:pPr>
            <a:r>
              <a:rPr dirty="0">
                <a:solidFill>
                  <a:srgbClr val="24292E"/>
                </a:solidFill>
                <a:latin typeface="Consolas"/>
                <a:cs typeface="Consolas"/>
              </a:rPr>
              <a:t>Instantiate</a:t>
            </a:r>
            <a:r>
              <a:rPr spc="245" dirty="0">
                <a:solidFill>
                  <a:srgbClr val="24292E"/>
                </a:solidFill>
                <a:latin typeface="Consolas"/>
                <a:cs typeface="Consolas"/>
              </a:rPr>
              <a:t> </a:t>
            </a:r>
            <a:r>
              <a:rPr sz="2000" dirty="0">
                <a:solidFill>
                  <a:srgbClr val="24292E"/>
                </a:solidFill>
                <a:latin typeface="Arial"/>
                <a:cs typeface="Arial"/>
              </a:rPr>
              <a:t>creates</a:t>
            </a:r>
            <a:r>
              <a:rPr sz="2000" spc="5" dirty="0">
                <a:solidFill>
                  <a:srgbClr val="24292E"/>
                </a:solidFill>
                <a:latin typeface="Arial"/>
                <a:cs typeface="Arial"/>
              </a:rPr>
              <a:t> </a:t>
            </a:r>
            <a:r>
              <a:rPr sz="2000" dirty="0">
                <a:solidFill>
                  <a:srgbClr val="24292E"/>
                </a:solidFill>
                <a:latin typeface="Arial"/>
                <a:cs typeface="Arial"/>
              </a:rPr>
              <a:t>a new</a:t>
            </a:r>
            <a:r>
              <a:rPr sz="2000" spc="5" dirty="0">
                <a:solidFill>
                  <a:srgbClr val="24292E"/>
                </a:solidFill>
                <a:latin typeface="Arial"/>
                <a:cs typeface="Arial"/>
              </a:rPr>
              <a:t> </a:t>
            </a:r>
            <a:r>
              <a:rPr sz="2000" spc="-10" dirty="0">
                <a:solidFill>
                  <a:srgbClr val="24292E"/>
                </a:solidFill>
                <a:latin typeface="Arial"/>
                <a:cs typeface="Arial"/>
              </a:rPr>
              <a:t>instance.</a:t>
            </a:r>
            <a:endParaRPr sz="2000" dirty="0">
              <a:latin typeface="Arial"/>
              <a:cs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735012" y="193052"/>
            <a:ext cx="9625330" cy="1099185"/>
          </a:xfrm>
          <a:prstGeom prst="rect">
            <a:avLst/>
          </a:prstGeom>
        </p:spPr>
        <p:txBody>
          <a:bodyPr vert="horz" wrap="square" lIns="0" tIns="11430" rIns="0" bIns="0" rtlCol="0">
            <a:spAutoFit/>
          </a:bodyPr>
          <a:lstStyle/>
          <a:p>
            <a:pPr marL="12700" marR="5080">
              <a:lnSpc>
                <a:spcPts val="4280"/>
              </a:lnSpc>
              <a:spcBef>
                <a:spcPts val="90"/>
              </a:spcBef>
            </a:pPr>
            <a:r>
              <a:rPr dirty="0"/>
              <a:t>Problem:</a:t>
            </a:r>
            <a:r>
              <a:rPr spc="25" dirty="0"/>
              <a:t> </a:t>
            </a:r>
            <a:r>
              <a:rPr dirty="0"/>
              <a:t>How</a:t>
            </a:r>
            <a:r>
              <a:rPr spc="25" dirty="0"/>
              <a:t> </a:t>
            </a:r>
            <a:r>
              <a:rPr dirty="0"/>
              <a:t>to</a:t>
            </a:r>
            <a:r>
              <a:rPr spc="25" dirty="0"/>
              <a:t> </a:t>
            </a:r>
            <a:r>
              <a:rPr dirty="0"/>
              <a:t>move</a:t>
            </a:r>
            <a:r>
              <a:rPr spc="25" dirty="0"/>
              <a:t> </a:t>
            </a:r>
            <a:r>
              <a:rPr dirty="0"/>
              <a:t>the</a:t>
            </a:r>
            <a:r>
              <a:rPr spc="20" dirty="0"/>
              <a:t> </a:t>
            </a:r>
            <a:r>
              <a:rPr dirty="0"/>
              <a:t>object</a:t>
            </a:r>
            <a:r>
              <a:rPr spc="25" dirty="0"/>
              <a:t> </a:t>
            </a:r>
            <a:r>
              <a:rPr dirty="0"/>
              <a:t>towards</a:t>
            </a:r>
            <a:r>
              <a:rPr spc="25" dirty="0"/>
              <a:t> </a:t>
            </a:r>
            <a:r>
              <a:rPr spc="-25" dirty="0"/>
              <a:t>the </a:t>
            </a:r>
            <a:r>
              <a:rPr spc="-10" dirty="0"/>
              <a:t>player?</a:t>
            </a:r>
          </a:p>
        </p:txBody>
      </p:sp>
      <p:pic>
        <p:nvPicPr>
          <p:cNvPr id="3" name="object 3"/>
          <p:cNvPicPr/>
          <p:nvPr/>
        </p:nvPicPr>
        <p:blipFill>
          <a:blip r:embed="rId2" cstate="print"/>
          <a:stretch>
            <a:fillRect/>
          </a:stretch>
        </p:blipFill>
        <p:spPr>
          <a:xfrm>
            <a:off x="1076324" y="2705111"/>
            <a:ext cx="85725" cy="85724"/>
          </a:xfrm>
          <a:prstGeom prst="rect">
            <a:avLst/>
          </a:prstGeom>
        </p:spPr>
      </p:pic>
      <p:pic>
        <p:nvPicPr>
          <p:cNvPr id="4" name="object 4"/>
          <p:cNvPicPr/>
          <p:nvPr/>
        </p:nvPicPr>
        <p:blipFill>
          <a:blip r:embed="rId2" cstate="print"/>
          <a:stretch>
            <a:fillRect/>
          </a:stretch>
        </p:blipFill>
        <p:spPr>
          <a:xfrm>
            <a:off x="1076324" y="4619636"/>
            <a:ext cx="85725" cy="85724"/>
          </a:xfrm>
          <a:prstGeom prst="rect">
            <a:avLst/>
          </a:prstGeom>
        </p:spPr>
      </p:pic>
      <p:pic>
        <p:nvPicPr>
          <p:cNvPr id="5" name="object 5"/>
          <p:cNvPicPr/>
          <p:nvPr/>
        </p:nvPicPr>
        <p:blipFill>
          <a:blip r:embed="rId3" cstate="print"/>
          <a:stretch>
            <a:fillRect/>
          </a:stretch>
        </p:blipFill>
        <p:spPr>
          <a:xfrm>
            <a:off x="1624012" y="5024449"/>
            <a:ext cx="95250" cy="95249"/>
          </a:xfrm>
          <a:prstGeom prst="rect">
            <a:avLst/>
          </a:prstGeom>
        </p:spPr>
      </p:pic>
      <p:pic>
        <p:nvPicPr>
          <p:cNvPr id="6" name="object 6"/>
          <p:cNvPicPr/>
          <p:nvPr/>
        </p:nvPicPr>
        <p:blipFill>
          <a:blip r:embed="rId2" cstate="print"/>
          <a:stretch>
            <a:fillRect/>
          </a:stretch>
        </p:blipFill>
        <p:spPr>
          <a:xfrm>
            <a:off x="1076324" y="5505461"/>
            <a:ext cx="85725" cy="85724"/>
          </a:xfrm>
          <a:prstGeom prst="rect">
            <a:avLst/>
          </a:prstGeom>
        </p:spPr>
      </p:pic>
      <p:pic>
        <p:nvPicPr>
          <p:cNvPr id="7" name="object 7"/>
          <p:cNvPicPr/>
          <p:nvPr/>
        </p:nvPicPr>
        <p:blipFill>
          <a:blip r:embed="rId3" cstate="print"/>
          <a:stretch>
            <a:fillRect/>
          </a:stretch>
        </p:blipFill>
        <p:spPr>
          <a:xfrm>
            <a:off x="1624012" y="5910274"/>
            <a:ext cx="95250" cy="95249"/>
          </a:xfrm>
          <a:prstGeom prst="rect">
            <a:avLst/>
          </a:prstGeom>
        </p:spPr>
      </p:pic>
      <p:pic>
        <p:nvPicPr>
          <p:cNvPr id="8" name="object 8"/>
          <p:cNvPicPr/>
          <p:nvPr/>
        </p:nvPicPr>
        <p:blipFill>
          <a:blip r:embed="rId3" cstate="print"/>
          <a:stretch>
            <a:fillRect/>
          </a:stretch>
        </p:blipFill>
        <p:spPr>
          <a:xfrm>
            <a:off x="1624012" y="6386523"/>
            <a:ext cx="95250" cy="95249"/>
          </a:xfrm>
          <a:prstGeom prst="rect">
            <a:avLst/>
          </a:prstGeom>
        </p:spPr>
      </p:pic>
      <p:sp>
        <p:nvSpPr>
          <p:cNvPr id="9" name="object 9"/>
          <p:cNvSpPr txBox="1"/>
          <p:nvPr/>
        </p:nvSpPr>
        <p:spPr>
          <a:xfrm>
            <a:off x="735012" y="1799919"/>
            <a:ext cx="10373995" cy="4783455"/>
          </a:xfrm>
          <a:prstGeom prst="rect">
            <a:avLst/>
          </a:prstGeom>
        </p:spPr>
        <p:txBody>
          <a:bodyPr vert="horz" wrap="square" lIns="0" tIns="15875" rIns="0" bIns="0" rtlCol="0">
            <a:spAutoFit/>
          </a:bodyPr>
          <a:lstStyle/>
          <a:p>
            <a:pPr marL="12700">
              <a:lnSpc>
                <a:spcPct val="100000"/>
              </a:lnSpc>
              <a:spcBef>
                <a:spcPts val="125"/>
              </a:spcBef>
            </a:pPr>
            <a:r>
              <a:rPr sz="2800" b="1" spc="-10" dirty="0">
                <a:solidFill>
                  <a:srgbClr val="24292E"/>
                </a:solidFill>
                <a:latin typeface="Arial"/>
                <a:cs typeface="Arial"/>
              </a:rPr>
              <a:t>Motivation</a:t>
            </a:r>
            <a:endParaRPr sz="2800" dirty="0">
              <a:latin typeface="Arial"/>
              <a:cs typeface="Arial"/>
            </a:endParaRPr>
          </a:p>
          <a:p>
            <a:pPr marL="564515" marR="5080">
              <a:lnSpc>
                <a:spcPct val="125000"/>
              </a:lnSpc>
              <a:spcBef>
                <a:spcPts val="1820"/>
              </a:spcBef>
            </a:pPr>
            <a:r>
              <a:rPr sz="2150" dirty="0">
                <a:solidFill>
                  <a:srgbClr val="24292E"/>
                </a:solidFill>
                <a:latin typeface="Arial"/>
                <a:cs typeface="Arial"/>
              </a:rPr>
              <a:t>So</a:t>
            </a:r>
            <a:r>
              <a:rPr sz="2150" spc="15" dirty="0">
                <a:solidFill>
                  <a:srgbClr val="24292E"/>
                </a:solidFill>
                <a:latin typeface="Arial"/>
                <a:cs typeface="Arial"/>
              </a:rPr>
              <a:t> </a:t>
            </a:r>
            <a:r>
              <a:rPr sz="2150" dirty="0">
                <a:solidFill>
                  <a:srgbClr val="24292E"/>
                </a:solidFill>
                <a:latin typeface="Arial"/>
                <a:cs typeface="Arial"/>
              </a:rPr>
              <a:t>we</a:t>
            </a:r>
            <a:r>
              <a:rPr sz="2150" spc="15" dirty="0">
                <a:solidFill>
                  <a:srgbClr val="24292E"/>
                </a:solidFill>
                <a:latin typeface="Arial"/>
                <a:cs typeface="Arial"/>
              </a:rPr>
              <a:t> </a:t>
            </a:r>
            <a:r>
              <a:rPr sz="2150" dirty="0">
                <a:solidFill>
                  <a:srgbClr val="24292E"/>
                </a:solidFill>
                <a:latin typeface="Arial"/>
                <a:cs typeface="Arial"/>
              </a:rPr>
              <a:t>can</a:t>
            </a:r>
            <a:r>
              <a:rPr sz="2150" spc="20" dirty="0">
                <a:solidFill>
                  <a:srgbClr val="24292E"/>
                </a:solidFill>
                <a:latin typeface="Arial"/>
                <a:cs typeface="Arial"/>
              </a:rPr>
              <a:t> </a:t>
            </a:r>
            <a:r>
              <a:rPr sz="2150" dirty="0">
                <a:solidFill>
                  <a:srgbClr val="24292E"/>
                </a:solidFill>
                <a:latin typeface="Arial"/>
                <a:cs typeface="Arial"/>
              </a:rPr>
              <a:t>spawn</a:t>
            </a:r>
            <a:r>
              <a:rPr sz="2150" spc="15" dirty="0">
                <a:solidFill>
                  <a:srgbClr val="24292E"/>
                </a:solidFill>
                <a:latin typeface="Arial"/>
                <a:cs typeface="Arial"/>
              </a:rPr>
              <a:t> </a:t>
            </a:r>
            <a:r>
              <a:rPr sz="2150" dirty="0">
                <a:solidFill>
                  <a:srgbClr val="24292E"/>
                </a:solidFill>
                <a:latin typeface="Arial"/>
                <a:cs typeface="Arial"/>
              </a:rPr>
              <a:t>boulders</a:t>
            </a:r>
            <a:r>
              <a:rPr sz="2150" spc="15" dirty="0">
                <a:solidFill>
                  <a:srgbClr val="24292E"/>
                </a:solidFill>
                <a:latin typeface="Arial"/>
                <a:cs typeface="Arial"/>
              </a:rPr>
              <a:t> </a:t>
            </a:r>
            <a:r>
              <a:rPr sz="2150" dirty="0">
                <a:solidFill>
                  <a:srgbClr val="24292E"/>
                </a:solidFill>
                <a:latin typeface="Arial"/>
                <a:cs typeface="Arial"/>
              </a:rPr>
              <a:t>at</a:t>
            </a:r>
            <a:r>
              <a:rPr sz="2150" spc="15" dirty="0">
                <a:solidFill>
                  <a:srgbClr val="24292E"/>
                </a:solidFill>
                <a:latin typeface="Arial"/>
                <a:cs typeface="Arial"/>
              </a:rPr>
              <a:t> </a:t>
            </a:r>
            <a:r>
              <a:rPr sz="2150" dirty="0">
                <a:solidFill>
                  <a:srgbClr val="24292E"/>
                </a:solidFill>
                <a:latin typeface="Arial"/>
                <a:cs typeface="Arial"/>
              </a:rPr>
              <a:t>a</a:t>
            </a:r>
            <a:r>
              <a:rPr sz="2150" spc="15" dirty="0">
                <a:solidFill>
                  <a:srgbClr val="24292E"/>
                </a:solidFill>
                <a:latin typeface="Arial"/>
                <a:cs typeface="Arial"/>
              </a:rPr>
              <a:t> </a:t>
            </a:r>
            <a:r>
              <a:rPr sz="2150" dirty="0">
                <a:solidFill>
                  <a:srgbClr val="24292E"/>
                </a:solidFill>
                <a:latin typeface="Arial"/>
                <a:cs typeface="Arial"/>
              </a:rPr>
              <a:t>random</a:t>
            </a:r>
            <a:r>
              <a:rPr sz="2150" spc="20" dirty="0">
                <a:solidFill>
                  <a:srgbClr val="24292E"/>
                </a:solidFill>
                <a:latin typeface="Arial"/>
                <a:cs typeface="Arial"/>
              </a:rPr>
              <a:t> </a:t>
            </a:r>
            <a:r>
              <a:rPr sz="2150" dirty="0">
                <a:solidFill>
                  <a:srgbClr val="24292E"/>
                </a:solidFill>
                <a:latin typeface="Arial"/>
                <a:cs typeface="Arial"/>
              </a:rPr>
              <a:t>height,</a:t>
            </a:r>
            <a:r>
              <a:rPr sz="2150" spc="15" dirty="0">
                <a:solidFill>
                  <a:srgbClr val="24292E"/>
                </a:solidFill>
                <a:latin typeface="Arial"/>
                <a:cs typeface="Arial"/>
              </a:rPr>
              <a:t> </a:t>
            </a:r>
            <a:r>
              <a:rPr sz="2150" dirty="0">
                <a:solidFill>
                  <a:srgbClr val="24292E"/>
                </a:solidFill>
                <a:latin typeface="Arial"/>
                <a:cs typeface="Arial"/>
              </a:rPr>
              <a:t>this</a:t>
            </a:r>
            <a:r>
              <a:rPr sz="2150" spc="15" dirty="0">
                <a:solidFill>
                  <a:srgbClr val="24292E"/>
                </a:solidFill>
                <a:latin typeface="Arial"/>
                <a:cs typeface="Arial"/>
              </a:rPr>
              <a:t> </a:t>
            </a:r>
            <a:r>
              <a:rPr sz="2150" dirty="0">
                <a:solidFill>
                  <a:srgbClr val="24292E"/>
                </a:solidFill>
                <a:latin typeface="Arial"/>
                <a:cs typeface="Arial"/>
              </a:rPr>
              <a:t>is</a:t>
            </a:r>
            <a:r>
              <a:rPr sz="2150" spc="15" dirty="0">
                <a:solidFill>
                  <a:srgbClr val="24292E"/>
                </a:solidFill>
                <a:latin typeface="Arial"/>
                <a:cs typeface="Arial"/>
              </a:rPr>
              <a:t> </a:t>
            </a:r>
            <a:r>
              <a:rPr sz="2150" dirty="0">
                <a:solidFill>
                  <a:srgbClr val="24292E"/>
                </a:solidFill>
                <a:latin typeface="Arial"/>
                <a:cs typeface="Arial"/>
              </a:rPr>
              <a:t>great</a:t>
            </a:r>
            <a:r>
              <a:rPr sz="2150" spc="20" dirty="0">
                <a:solidFill>
                  <a:srgbClr val="24292E"/>
                </a:solidFill>
                <a:latin typeface="Arial"/>
                <a:cs typeface="Arial"/>
              </a:rPr>
              <a:t> </a:t>
            </a:r>
            <a:r>
              <a:rPr sz="2150" dirty="0">
                <a:solidFill>
                  <a:srgbClr val="24292E"/>
                </a:solidFill>
                <a:latin typeface="Arial"/>
                <a:cs typeface="Arial"/>
              </a:rPr>
              <a:t>but</a:t>
            </a:r>
            <a:r>
              <a:rPr sz="2150" spc="15" dirty="0">
                <a:solidFill>
                  <a:srgbClr val="24292E"/>
                </a:solidFill>
                <a:latin typeface="Arial"/>
                <a:cs typeface="Arial"/>
              </a:rPr>
              <a:t> </a:t>
            </a:r>
            <a:r>
              <a:rPr sz="2150" dirty="0">
                <a:solidFill>
                  <a:srgbClr val="24292E"/>
                </a:solidFill>
                <a:latin typeface="Arial"/>
                <a:cs typeface="Arial"/>
              </a:rPr>
              <a:t>we</a:t>
            </a:r>
            <a:r>
              <a:rPr sz="2150" spc="15" dirty="0">
                <a:solidFill>
                  <a:srgbClr val="24292E"/>
                </a:solidFill>
                <a:latin typeface="Arial"/>
                <a:cs typeface="Arial"/>
              </a:rPr>
              <a:t> </a:t>
            </a:r>
            <a:r>
              <a:rPr sz="2150" dirty="0">
                <a:solidFill>
                  <a:srgbClr val="24292E"/>
                </a:solidFill>
                <a:latin typeface="Arial"/>
                <a:cs typeface="Arial"/>
              </a:rPr>
              <a:t>want</a:t>
            </a:r>
            <a:r>
              <a:rPr sz="2150" spc="15" dirty="0">
                <a:solidFill>
                  <a:srgbClr val="24292E"/>
                </a:solidFill>
                <a:latin typeface="Arial"/>
                <a:cs typeface="Arial"/>
              </a:rPr>
              <a:t> </a:t>
            </a:r>
            <a:r>
              <a:rPr sz="2150" dirty="0">
                <a:solidFill>
                  <a:srgbClr val="24292E"/>
                </a:solidFill>
                <a:latin typeface="Arial"/>
                <a:cs typeface="Arial"/>
              </a:rPr>
              <a:t>them</a:t>
            </a:r>
            <a:r>
              <a:rPr sz="2150" spc="15" dirty="0">
                <a:solidFill>
                  <a:srgbClr val="24292E"/>
                </a:solidFill>
                <a:latin typeface="Arial"/>
                <a:cs typeface="Arial"/>
              </a:rPr>
              <a:t> </a:t>
            </a:r>
            <a:r>
              <a:rPr sz="2150" spc="-25" dirty="0">
                <a:solidFill>
                  <a:srgbClr val="24292E"/>
                </a:solidFill>
                <a:latin typeface="Arial"/>
                <a:cs typeface="Arial"/>
              </a:rPr>
              <a:t>to </a:t>
            </a:r>
            <a:r>
              <a:rPr sz="2150" spc="-10" dirty="0">
                <a:solidFill>
                  <a:srgbClr val="24292E"/>
                </a:solidFill>
                <a:latin typeface="Arial"/>
                <a:cs typeface="Arial"/>
              </a:rPr>
              <a:t>move.</a:t>
            </a:r>
            <a:endParaRPr sz="2150" dirty="0">
              <a:latin typeface="Arial"/>
              <a:cs typeface="Arial"/>
            </a:endParaRPr>
          </a:p>
          <a:p>
            <a:pPr>
              <a:lnSpc>
                <a:spcPct val="100000"/>
              </a:lnSpc>
              <a:spcBef>
                <a:spcPts val="900"/>
              </a:spcBef>
            </a:pPr>
            <a:endParaRPr sz="2150" dirty="0">
              <a:latin typeface="Arial"/>
              <a:cs typeface="Arial"/>
            </a:endParaRPr>
          </a:p>
          <a:p>
            <a:pPr marL="12700">
              <a:lnSpc>
                <a:spcPct val="100000"/>
              </a:lnSpc>
            </a:pPr>
            <a:r>
              <a:rPr sz="2800" b="1" spc="-10" dirty="0">
                <a:solidFill>
                  <a:srgbClr val="24292E"/>
                </a:solidFill>
                <a:latin typeface="Arial"/>
                <a:cs typeface="Arial"/>
              </a:rPr>
              <a:t>Solution(s)</a:t>
            </a:r>
            <a:endParaRPr sz="2800" dirty="0">
              <a:latin typeface="Arial"/>
              <a:cs typeface="Arial"/>
            </a:endParaRPr>
          </a:p>
          <a:p>
            <a:pPr marL="564515">
              <a:lnSpc>
                <a:spcPct val="100000"/>
              </a:lnSpc>
              <a:spcBef>
                <a:spcPts val="2540"/>
              </a:spcBef>
            </a:pPr>
            <a:r>
              <a:rPr sz="2150" dirty="0">
                <a:solidFill>
                  <a:srgbClr val="24292E"/>
                </a:solidFill>
                <a:latin typeface="Arial"/>
                <a:cs typeface="Arial"/>
              </a:rPr>
              <a:t>We</a:t>
            </a:r>
            <a:r>
              <a:rPr sz="2150" spc="10" dirty="0">
                <a:solidFill>
                  <a:srgbClr val="24292E"/>
                </a:solidFill>
                <a:latin typeface="Arial"/>
                <a:cs typeface="Arial"/>
              </a:rPr>
              <a:t> </a:t>
            </a:r>
            <a:r>
              <a:rPr sz="2150" dirty="0">
                <a:solidFill>
                  <a:srgbClr val="24292E"/>
                </a:solidFill>
                <a:latin typeface="Arial"/>
                <a:cs typeface="Arial"/>
              </a:rPr>
              <a:t>saw</a:t>
            </a:r>
            <a:r>
              <a:rPr sz="2150" spc="10" dirty="0">
                <a:solidFill>
                  <a:srgbClr val="24292E"/>
                </a:solidFill>
                <a:latin typeface="Arial"/>
                <a:cs typeface="Arial"/>
              </a:rPr>
              <a:t> </a:t>
            </a:r>
            <a:r>
              <a:rPr sz="2150" dirty="0">
                <a:solidFill>
                  <a:srgbClr val="24292E"/>
                </a:solidFill>
                <a:latin typeface="Arial"/>
                <a:cs typeface="Arial"/>
              </a:rPr>
              <a:t>a</a:t>
            </a:r>
            <a:r>
              <a:rPr sz="2150" spc="5" dirty="0">
                <a:solidFill>
                  <a:srgbClr val="24292E"/>
                </a:solidFill>
                <a:latin typeface="Arial"/>
                <a:cs typeface="Arial"/>
              </a:rPr>
              <a:t> </a:t>
            </a:r>
            <a:r>
              <a:rPr sz="2150" dirty="0">
                <a:solidFill>
                  <a:srgbClr val="24292E"/>
                </a:solidFill>
                <a:latin typeface="Arial"/>
                <a:cs typeface="Arial"/>
              </a:rPr>
              <a:t>per</a:t>
            </a:r>
            <a:r>
              <a:rPr sz="2150" spc="10" dirty="0">
                <a:solidFill>
                  <a:srgbClr val="24292E"/>
                </a:solidFill>
                <a:latin typeface="Arial"/>
                <a:cs typeface="Arial"/>
              </a:rPr>
              <a:t> </a:t>
            </a:r>
            <a:r>
              <a:rPr sz="2150" dirty="0">
                <a:solidFill>
                  <a:srgbClr val="24292E"/>
                </a:solidFill>
                <a:latin typeface="Arial"/>
                <a:cs typeface="Arial"/>
              </a:rPr>
              <a:t>frame</a:t>
            </a:r>
            <a:r>
              <a:rPr sz="2150" spc="10" dirty="0">
                <a:solidFill>
                  <a:srgbClr val="24292E"/>
                </a:solidFill>
                <a:latin typeface="Arial"/>
                <a:cs typeface="Arial"/>
              </a:rPr>
              <a:t> </a:t>
            </a:r>
            <a:r>
              <a:rPr sz="2150" dirty="0">
                <a:solidFill>
                  <a:srgbClr val="24292E"/>
                </a:solidFill>
                <a:latin typeface="Arial"/>
                <a:cs typeface="Arial"/>
              </a:rPr>
              <a:t>update</a:t>
            </a:r>
            <a:r>
              <a:rPr sz="2150" spc="10" dirty="0">
                <a:solidFill>
                  <a:srgbClr val="24292E"/>
                </a:solidFill>
                <a:latin typeface="Arial"/>
                <a:cs typeface="Arial"/>
              </a:rPr>
              <a:t> </a:t>
            </a:r>
            <a:r>
              <a:rPr sz="2150" dirty="0">
                <a:solidFill>
                  <a:srgbClr val="24292E"/>
                </a:solidFill>
                <a:latin typeface="Arial"/>
                <a:cs typeface="Arial"/>
              </a:rPr>
              <a:t>earlier,</a:t>
            </a:r>
            <a:r>
              <a:rPr sz="2150" spc="10" dirty="0">
                <a:solidFill>
                  <a:srgbClr val="24292E"/>
                </a:solidFill>
                <a:latin typeface="Arial"/>
                <a:cs typeface="Arial"/>
              </a:rPr>
              <a:t> </a:t>
            </a:r>
            <a:r>
              <a:rPr sz="2150" dirty="0">
                <a:solidFill>
                  <a:srgbClr val="24292E"/>
                </a:solidFill>
                <a:latin typeface="Arial"/>
                <a:cs typeface="Arial"/>
              </a:rPr>
              <a:t>can</a:t>
            </a:r>
            <a:r>
              <a:rPr sz="2150" spc="10" dirty="0">
                <a:solidFill>
                  <a:srgbClr val="24292E"/>
                </a:solidFill>
                <a:latin typeface="Arial"/>
                <a:cs typeface="Arial"/>
              </a:rPr>
              <a:t> </a:t>
            </a:r>
            <a:r>
              <a:rPr sz="2150" dirty="0">
                <a:solidFill>
                  <a:srgbClr val="24292E"/>
                </a:solidFill>
                <a:latin typeface="Arial"/>
                <a:cs typeface="Arial"/>
              </a:rPr>
              <a:t>we</a:t>
            </a:r>
            <a:r>
              <a:rPr sz="2150" spc="5" dirty="0">
                <a:solidFill>
                  <a:srgbClr val="24292E"/>
                </a:solidFill>
                <a:latin typeface="Arial"/>
                <a:cs typeface="Arial"/>
              </a:rPr>
              <a:t> </a:t>
            </a:r>
            <a:r>
              <a:rPr sz="2150" dirty="0">
                <a:solidFill>
                  <a:srgbClr val="24292E"/>
                </a:solidFill>
                <a:latin typeface="Arial"/>
                <a:cs typeface="Arial"/>
              </a:rPr>
              <a:t>use</a:t>
            </a:r>
            <a:r>
              <a:rPr sz="2150" spc="10" dirty="0">
                <a:solidFill>
                  <a:srgbClr val="24292E"/>
                </a:solidFill>
                <a:latin typeface="Arial"/>
                <a:cs typeface="Arial"/>
              </a:rPr>
              <a:t> </a:t>
            </a:r>
            <a:r>
              <a:rPr sz="2150" spc="-10" dirty="0">
                <a:solidFill>
                  <a:srgbClr val="24292E"/>
                </a:solidFill>
                <a:latin typeface="Arial"/>
                <a:cs typeface="Arial"/>
              </a:rPr>
              <a:t>this?</a:t>
            </a:r>
            <a:endParaRPr sz="2150" dirty="0">
              <a:latin typeface="Arial"/>
              <a:cs typeface="Arial"/>
            </a:endParaRPr>
          </a:p>
          <a:p>
            <a:pPr marL="1116965">
              <a:lnSpc>
                <a:spcPct val="100000"/>
              </a:lnSpc>
              <a:spcBef>
                <a:spcPts val="645"/>
              </a:spcBef>
            </a:pPr>
            <a:r>
              <a:rPr sz="2150" spc="-20" dirty="0">
                <a:solidFill>
                  <a:srgbClr val="24292E"/>
                </a:solidFill>
                <a:latin typeface="Arial"/>
                <a:cs typeface="Arial"/>
              </a:rPr>
              <a:t>Yes</a:t>
            </a:r>
            <a:r>
              <a:rPr sz="2150" spc="-5" dirty="0">
                <a:solidFill>
                  <a:srgbClr val="24292E"/>
                </a:solidFill>
                <a:latin typeface="Arial"/>
                <a:cs typeface="Arial"/>
              </a:rPr>
              <a:t> </a:t>
            </a:r>
            <a:r>
              <a:rPr sz="2150" dirty="0">
                <a:solidFill>
                  <a:srgbClr val="24292E"/>
                </a:solidFill>
                <a:latin typeface="Arial"/>
                <a:cs typeface="Arial"/>
              </a:rPr>
              <a:t>-</a:t>
            </a:r>
            <a:r>
              <a:rPr sz="2150" spc="5" dirty="0">
                <a:solidFill>
                  <a:srgbClr val="24292E"/>
                </a:solidFill>
                <a:latin typeface="Arial"/>
                <a:cs typeface="Arial"/>
              </a:rPr>
              <a:t> </a:t>
            </a:r>
            <a:r>
              <a:rPr sz="2150" dirty="0">
                <a:solidFill>
                  <a:srgbClr val="24292E"/>
                </a:solidFill>
                <a:latin typeface="Arial"/>
                <a:cs typeface="Arial"/>
              </a:rPr>
              <a:t>but</a:t>
            </a:r>
            <a:r>
              <a:rPr sz="2150" spc="-5" dirty="0">
                <a:solidFill>
                  <a:srgbClr val="24292E"/>
                </a:solidFill>
                <a:latin typeface="Arial"/>
                <a:cs typeface="Arial"/>
              </a:rPr>
              <a:t> </a:t>
            </a:r>
            <a:r>
              <a:rPr sz="2150" dirty="0">
                <a:solidFill>
                  <a:srgbClr val="24292E"/>
                </a:solidFill>
                <a:latin typeface="Arial"/>
                <a:cs typeface="Arial"/>
              </a:rPr>
              <a:t>we'd</a:t>
            </a:r>
            <a:r>
              <a:rPr sz="2150" spc="5" dirty="0">
                <a:solidFill>
                  <a:srgbClr val="24292E"/>
                </a:solidFill>
                <a:latin typeface="Arial"/>
                <a:cs typeface="Arial"/>
              </a:rPr>
              <a:t> </a:t>
            </a:r>
            <a:r>
              <a:rPr sz="2150" dirty="0">
                <a:solidFill>
                  <a:srgbClr val="24292E"/>
                </a:solidFill>
                <a:latin typeface="Arial"/>
                <a:cs typeface="Arial"/>
              </a:rPr>
              <a:t>probably</a:t>
            </a:r>
            <a:r>
              <a:rPr sz="2150" spc="-5" dirty="0">
                <a:solidFill>
                  <a:srgbClr val="24292E"/>
                </a:solidFill>
                <a:latin typeface="Arial"/>
                <a:cs typeface="Arial"/>
              </a:rPr>
              <a:t> </a:t>
            </a:r>
            <a:r>
              <a:rPr sz="2150" dirty="0">
                <a:solidFill>
                  <a:srgbClr val="24292E"/>
                </a:solidFill>
                <a:latin typeface="Arial"/>
                <a:cs typeface="Arial"/>
              </a:rPr>
              <a:t>use a physics based</a:t>
            </a:r>
            <a:r>
              <a:rPr sz="2150" spc="-5" dirty="0">
                <a:solidFill>
                  <a:srgbClr val="24292E"/>
                </a:solidFill>
                <a:latin typeface="Arial"/>
                <a:cs typeface="Arial"/>
              </a:rPr>
              <a:t> </a:t>
            </a:r>
            <a:r>
              <a:rPr sz="2150" spc="-10" dirty="0">
                <a:solidFill>
                  <a:srgbClr val="24292E"/>
                </a:solidFill>
                <a:latin typeface="Arial"/>
                <a:cs typeface="Arial"/>
              </a:rPr>
              <a:t>update</a:t>
            </a:r>
            <a:endParaRPr sz="2150" dirty="0">
              <a:latin typeface="Arial"/>
              <a:cs typeface="Arial"/>
            </a:endParaRPr>
          </a:p>
          <a:p>
            <a:pPr marL="564515">
              <a:lnSpc>
                <a:spcPct val="100000"/>
              </a:lnSpc>
              <a:spcBef>
                <a:spcPts val="1170"/>
              </a:spcBef>
            </a:pPr>
            <a:r>
              <a:rPr sz="2150" dirty="0">
                <a:solidFill>
                  <a:srgbClr val="24292E"/>
                </a:solidFill>
                <a:latin typeface="Arial"/>
                <a:cs typeface="Arial"/>
              </a:rPr>
              <a:t>We</a:t>
            </a:r>
            <a:r>
              <a:rPr sz="2150" spc="15" dirty="0">
                <a:solidFill>
                  <a:srgbClr val="24292E"/>
                </a:solidFill>
                <a:latin typeface="Arial"/>
                <a:cs typeface="Arial"/>
              </a:rPr>
              <a:t> </a:t>
            </a:r>
            <a:r>
              <a:rPr sz="2150" dirty="0">
                <a:solidFill>
                  <a:srgbClr val="24292E"/>
                </a:solidFill>
                <a:latin typeface="Arial"/>
                <a:cs typeface="Arial"/>
              </a:rPr>
              <a:t>can</a:t>
            </a:r>
            <a:r>
              <a:rPr sz="2150" spc="15" dirty="0">
                <a:solidFill>
                  <a:srgbClr val="24292E"/>
                </a:solidFill>
                <a:latin typeface="Arial"/>
                <a:cs typeface="Arial"/>
              </a:rPr>
              <a:t> </a:t>
            </a:r>
            <a:r>
              <a:rPr sz="2150" dirty="0">
                <a:solidFill>
                  <a:srgbClr val="24292E"/>
                </a:solidFill>
                <a:latin typeface="Arial"/>
                <a:cs typeface="Arial"/>
              </a:rPr>
              <a:t>add</a:t>
            </a:r>
            <a:r>
              <a:rPr sz="2150" spc="15" dirty="0">
                <a:solidFill>
                  <a:srgbClr val="24292E"/>
                </a:solidFill>
                <a:latin typeface="Arial"/>
                <a:cs typeface="Arial"/>
              </a:rPr>
              <a:t> </a:t>
            </a:r>
            <a:r>
              <a:rPr sz="2150" dirty="0">
                <a:solidFill>
                  <a:srgbClr val="24292E"/>
                </a:solidFill>
                <a:latin typeface="Arial"/>
                <a:cs typeface="Arial"/>
              </a:rPr>
              <a:t>a</a:t>
            </a:r>
            <a:r>
              <a:rPr sz="2150" spc="15" dirty="0">
                <a:solidFill>
                  <a:srgbClr val="24292E"/>
                </a:solidFill>
                <a:latin typeface="Arial"/>
                <a:cs typeface="Arial"/>
              </a:rPr>
              <a:t> </a:t>
            </a:r>
            <a:r>
              <a:rPr sz="2150" dirty="0">
                <a:solidFill>
                  <a:srgbClr val="24292E"/>
                </a:solidFill>
                <a:latin typeface="Arial"/>
                <a:cs typeface="Arial"/>
              </a:rPr>
              <a:t>2D</a:t>
            </a:r>
            <a:r>
              <a:rPr sz="2150" spc="15" dirty="0">
                <a:solidFill>
                  <a:srgbClr val="24292E"/>
                </a:solidFill>
                <a:latin typeface="Arial"/>
                <a:cs typeface="Arial"/>
              </a:rPr>
              <a:t> </a:t>
            </a:r>
            <a:r>
              <a:rPr sz="2150" dirty="0">
                <a:solidFill>
                  <a:srgbClr val="24292E"/>
                </a:solidFill>
                <a:latin typeface="Arial"/>
                <a:cs typeface="Arial"/>
              </a:rPr>
              <a:t>Physics</a:t>
            </a:r>
            <a:r>
              <a:rPr sz="2150" spc="20" dirty="0">
                <a:solidFill>
                  <a:srgbClr val="24292E"/>
                </a:solidFill>
                <a:latin typeface="Arial"/>
                <a:cs typeface="Arial"/>
              </a:rPr>
              <a:t> </a:t>
            </a:r>
            <a:r>
              <a:rPr sz="2150" dirty="0">
                <a:solidFill>
                  <a:srgbClr val="24292E"/>
                </a:solidFill>
                <a:latin typeface="Arial"/>
                <a:cs typeface="Arial"/>
              </a:rPr>
              <a:t>component</a:t>
            </a:r>
            <a:r>
              <a:rPr sz="2150" spc="15" dirty="0">
                <a:solidFill>
                  <a:srgbClr val="24292E"/>
                </a:solidFill>
                <a:latin typeface="Arial"/>
                <a:cs typeface="Arial"/>
              </a:rPr>
              <a:t> </a:t>
            </a:r>
            <a:r>
              <a:rPr sz="2150" dirty="0">
                <a:solidFill>
                  <a:srgbClr val="24292E"/>
                </a:solidFill>
                <a:latin typeface="Arial"/>
                <a:cs typeface="Arial"/>
              </a:rPr>
              <a:t>and</a:t>
            </a:r>
            <a:r>
              <a:rPr sz="2150" spc="15" dirty="0">
                <a:solidFill>
                  <a:srgbClr val="24292E"/>
                </a:solidFill>
                <a:latin typeface="Arial"/>
                <a:cs typeface="Arial"/>
              </a:rPr>
              <a:t> </a:t>
            </a:r>
            <a:r>
              <a:rPr sz="2150" dirty="0">
                <a:solidFill>
                  <a:srgbClr val="24292E"/>
                </a:solidFill>
                <a:latin typeface="Arial"/>
                <a:cs typeface="Arial"/>
              </a:rPr>
              <a:t>just</a:t>
            </a:r>
            <a:r>
              <a:rPr sz="2150" spc="15" dirty="0">
                <a:solidFill>
                  <a:srgbClr val="24292E"/>
                </a:solidFill>
                <a:latin typeface="Arial"/>
                <a:cs typeface="Arial"/>
              </a:rPr>
              <a:t> </a:t>
            </a:r>
            <a:r>
              <a:rPr sz="2150" dirty="0">
                <a:solidFill>
                  <a:srgbClr val="24292E"/>
                </a:solidFill>
                <a:latin typeface="Arial"/>
                <a:cs typeface="Arial"/>
              </a:rPr>
              <a:t>set</a:t>
            </a:r>
            <a:r>
              <a:rPr sz="2150" spc="15" dirty="0">
                <a:solidFill>
                  <a:srgbClr val="24292E"/>
                </a:solidFill>
                <a:latin typeface="Arial"/>
                <a:cs typeface="Arial"/>
              </a:rPr>
              <a:t> </a:t>
            </a:r>
            <a:r>
              <a:rPr sz="2150" dirty="0">
                <a:solidFill>
                  <a:srgbClr val="24292E"/>
                </a:solidFill>
                <a:latin typeface="Arial"/>
                <a:cs typeface="Arial"/>
              </a:rPr>
              <a:t>the</a:t>
            </a:r>
            <a:r>
              <a:rPr sz="2150" spc="15" dirty="0">
                <a:solidFill>
                  <a:srgbClr val="24292E"/>
                </a:solidFill>
                <a:latin typeface="Arial"/>
                <a:cs typeface="Arial"/>
              </a:rPr>
              <a:t> </a:t>
            </a:r>
            <a:r>
              <a:rPr sz="2150" spc="-10" dirty="0">
                <a:solidFill>
                  <a:srgbClr val="24292E"/>
                </a:solidFill>
                <a:latin typeface="Arial"/>
                <a:cs typeface="Arial"/>
              </a:rPr>
              <a:t>velocity!</a:t>
            </a:r>
            <a:endParaRPr sz="2150" dirty="0">
              <a:latin typeface="Arial"/>
              <a:cs typeface="Arial"/>
            </a:endParaRPr>
          </a:p>
          <a:p>
            <a:pPr marL="1116965">
              <a:lnSpc>
                <a:spcPct val="100000"/>
              </a:lnSpc>
              <a:spcBef>
                <a:spcPts val="645"/>
              </a:spcBef>
            </a:pPr>
            <a:r>
              <a:rPr sz="2150" dirty="0">
                <a:solidFill>
                  <a:srgbClr val="24292E"/>
                </a:solidFill>
                <a:latin typeface="Arial"/>
                <a:cs typeface="Arial"/>
              </a:rPr>
              <a:t>Didn't</a:t>
            </a:r>
            <a:r>
              <a:rPr sz="2150" spc="25" dirty="0">
                <a:solidFill>
                  <a:srgbClr val="24292E"/>
                </a:solidFill>
                <a:latin typeface="Arial"/>
                <a:cs typeface="Arial"/>
              </a:rPr>
              <a:t> </a:t>
            </a:r>
            <a:r>
              <a:rPr sz="2150" dirty="0">
                <a:solidFill>
                  <a:srgbClr val="24292E"/>
                </a:solidFill>
                <a:latin typeface="Arial"/>
                <a:cs typeface="Arial"/>
              </a:rPr>
              <a:t>you</a:t>
            </a:r>
            <a:r>
              <a:rPr sz="2150" spc="30" dirty="0">
                <a:solidFill>
                  <a:srgbClr val="24292E"/>
                </a:solidFill>
                <a:latin typeface="Arial"/>
                <a:cs typeface="Arial"/>
              </a:rPr>
              <a:t> </a:t>
            </a:r>
            <a:r>
              <a:rPr sz="2150" dirty="0">
                <a:solidFill>
                  <a:srgbClr val="24292E"/>
                </a:solidFill>
                <a:latin typeface="Arial"/>
                <a:cs typeface="Arial"/>
              </a:rPr>
              <a:t>just</a:t>
            </a:r>
            <a:r>
              <a:rPr sz="2150" spc="25" dirty="0">
                <a:solidFill>
                  <a:srgbClr val="24292E"/>
                </a:solidFill>
                <a:latin typeface="Arial"/>
                <a:cs typeface="Arial"/>
              </a:rPr>
              <a:t> </a:t>
            </a:r>
            <a:r>
              <a:rPr sz="2150" dirty="0">
                <a:solidFill>
                  <a:srgbClr val="24292E"/>
                </a:solidFill>
                <a:latin typeface="Arial"/>
                <a:cs typeface="Arial"/>
              </a:rPr>
              <a:t>show</a:t>
            </a:r>
            <a:r>
              <a:rPr sz="2150" spc="30" dirty="0">
                <a:solidFill>
                  <a:srgbClr val="24292E"/>
                </a:solidFill>
                <a:latin typeface="Arial"/>
                <a:cs typeface="Arial"/>
              </a:rPr>
              <a:t> </a:t>
            </a:r>
            <a:r>
              <a:rPr sz="2150" dirty="0">
                <a:solidFill>
                  <a:srgbClr val="24292E"/>
                </a:solidFill>
                <a:latin typeface="Arial"/>
                <a:cs typeface="Arial"/>
              </a:rPr>
              <a:t>us</a:t>
            </a:r>
            <a:r>
              <a:rPr sz="2150" spc="25" dirty="0">
                <a:solidFill>
                  <a:srgbClr val="24292E"/>
                </a:solidFill>
                <a:latin typeface="Arial"/>
                <a:cs typeface="Arial"/>
              </a:rPr>
              <a:t> </a:t>
            </a:r>
            <a:r>
              <a:rPr sz="2150" dirty="0">
                <a:solidFill>
                  <a:srgbClr val="24292E"/>
                </a:solidFill>
                <a:latin typeface="Arial"/>
                <a:cs typeface="Arial"/>
              </a:rPr>
              <a:t>that,</a:t>
            </a:r>
            <a:r>
              <a:rPr sz="2150" spc="25" dirty="0">
                <a:solidFill>
                  <a:srgbClr val="24292E"/>
                </a:solidFill>
                <a:latin typeface="Arial"/>
                <a:cs typeface="Arial"/>
              </a:rPr>
              <a:t> </a:t>
            </a:r>
            <a:r>
              <a:rPr sz="2150" dirty="0">
                <a:solidFill>
                  <a:srgbClr val="24292E"/>
                </a:solidFill>
                <a:latin typeface="Arial"/>
                <a:cs typeface="Arial"/>
              </a:rPr>
              <a:t>with</a:t>
            </a:r>
            <a:r>
              <a:rPr sz="2150" spc="30" dirty="0">
                <a:solidFill>
                  <a:srgbClr val="24292E"/>
                </a:solidFill>
                <a:latin typeface="Arial"/>
                <a:cs typeface="Arial"/>
              </a:rPr>
              <a:t> </a:t>
            </a:r>
            <a:r>
              <a:rPr sz="2150" dirty="0">
                <a:solidFill>
                  <a:srgbClr val="24292E"/>
                </a:solidFill>
                <a:latin typeface="Arial"/>
                <a:cs typeface="Arial"/>
              </a:rPr>
              <a:t>a</a:t>
            </a:r>
            <a:r>
              <a:rPr sz="2150" spc="25" dirty="0">
                <a:solidFill>
                  <a:srgbClr val="24292E"/>
                </a:solidFill>
                <a:latin typeface="Arial"/>
                <a:cs typeface="Arial"/>
              </a:rPr>
              <a:t> </a:t>
            </a:r>
            <a:r>
              <a:rPr sz="2150" spc="-10" dirty="0">
                <a:solidFill>
                  <a:srgbClr val="24292E"/>
                </a:solidFill>
                <a:latin typeface="Arial"/>
                <a:cs typeface="Arial"/>
              </a:rPr>
              <a:t>Vector?</a:t>
            </a:r>
            <a:endParaRPr sz="2150" dirty="0">
              <a:latin typeface="Arial"/>
              <a:cs typeface="Arial"/>
            </a:endParaRPr>
          </a:p>
          <a:p>
            <a:pPr marL="1116965">
              <a:lnSpc>
                <a:spcPct val="100000"/>
              </a:lnSpc>
              <a:spcBef>
                <a:spcPts val="1170"/>
              </a:spcBef>
            </a:pPr>
            <a:r>
              <a:rPr sz="2150" spc="-20" dirty="0">
                <a:solidFill>
                  <a:srgbClr val="24292E"/>
                </a:solidFill>
                <a:latin typeface="Arial"/>
                <a:cs typeface="Arial"/>
              </a:rPr>
              <a:t>Yes</a:t>
            </a:r>
            <a:r>
              <a:rPr sz="2150" spc="-114" dirty="0">
                <a:solidFill>
                  <a:srgbClr val="24292E"/>
                </a:solidFill>
                <a:latin typeface="Arial"/>
                <a:cs typeface="Arial"/>
              </a:rPr>
              <a:t> </a:t>
            </a:r>
            <a:r>
              <a:rPr sz="2150" dirty="0">
                <a:solidFill>
                  <a:srgbClr val="24292E"/>
                </a:solidFill>
                <a:latin typeface="Arial"/>
                <a:cs typeface="Arial"/>
              </a:rPr>
              <a:t>:-</a:t>
            </a:r>
            <a:r>
              <a:rPr sz="2150" spc="-50" dirty="0">
                <a:solidFill>
                  <a:srgbClr val="24292E"/>
                </a:solidFill>
                <a:latin typeface="Arial"/>
                <a:cs typeface="Arial"/>
              </a:rPr>
              <a:t>D</a:t>
            </a:r>
            <a:endParaRPr sz="2150" dirty="0">
              <a:latin typeface="Arial"/>
              <a:cs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1430" rIns="0" bIns="0" rtlCol="0">
            <a:spAutoFit/>
          </a:bodyPr>
          <a:lstStyle/>
          <a:p>
            <a:pPr marL="12700" marR="5080">
              <a:lnSpc>
                <a:spcPts val="4280"/>
              </a:lnSpc>
              <a:spcBef>
                <a:spcPts val="90"/>
              </a:spcBef>
            </a:pPr>
            <a:r>
              <a:rPr dirty="0"/>
              <a:t>Problem(s):</a:t>
            </a:r>
            <a:r>
              <a:rPr spc="25" dirty="0"/>
              <a:t> </a:t>
            </a:r>
            <a:r>
              <a:rPr dirty="0"/>
              <a:t>How</a:t>
            </a:r>
            <a:r>
              <a:rPr spc="20" dirty="0"/>
              <a:t> </a:t>
            </a:r>
            <a:r>
              <a:rPr dirty="0"/>
              <a:t>to</a:t>
            </a:r>
            <a:r>
              <a:rPr spc="25" dirty="0"/>
              <a:t> </a:t>
            </a:r>
            <a:r>
              <a:rPr dirty="0"/>
              <a:t>check</a:t>
            </a:r>
            <a:r>
              <a:rPr spc="25" dirty="0"/>
              <a:t> </a:t>
            </a:r>
            <a:r>
              <a:rPr dirty="0"/>
              <a:t>for</a:t>
            </a:r>
            <a:r>
              <a:rPr spc="20" dirty="0"/>
              <a:t> </a:t>
            </a:r>
            <a:r>
              <a:rPr dirty="0"/>
              <a:t>player</a:t>
            </a:r>
            <a:r>
              <a:rPr spc="25" dirty="0"/>
              <a:t> </a:t>
            </a:r>
            <a:r>
              <a:rPr dirty="0"/>
              <a:t>hit</a:t>
            </a:r>
            <a:r>
              <a:rPr spc="25" dirty="0"/>
              <a:t> </a:t>
            </a:r>
            <a:r>
              <a:rPr dirty="0"/>
              <a:t>and</a:t>
            </a:r>
            <a:r>
              <a:rPr spc="20" dirty="0"/>
              <a:t> </a:t>
            </a:r>
            <a:r>
              <a:rPr spc="-25" dirty="0"/>
              <a:t>end </a:t>
            </a:r>
            <a:r>
              <a:rPr dirty="0"/>
              <a:t>the</a:t>
            </a:r>
            <a:r>
              <a:rPr spc="5" dirty="0"/>
              <a:t> </a:t>
            </a:r>
            <a:r>
              <a:rPr spc="-10" dirty="0"/>
              <a:t>game?</a:t>
            </a:r>
          </a:p>
        </p:txBody>
      </p:sp>
      <p:pic>
        <p:nvPicPr>
          <p:cNvPr id="3" name="object 3"/>
          <p:cNvPicPr/>
          <p:nvPr/>
        </p:nvPicPr>
        <p:blipFill>
          <a:blip r:embed="rId2" cstate="print"/>
          <a:stretch>
            <a:fillRect/>
          </a:stretch>
        </p:blipFill>
        <p:spPr>
          <a:xfrm>
            <a:off x="1076324" y="2914661"/>
            <a:ext cx="85725" cy="85724"/>
          </a:xfrm>
          <a:prstGeom prst="rect">
            <a:avLst/>
          </a:prstGeom>
        </p:spPr>
      </p:pic>
      <p:pic>
        <p:nvPicPr>
          <p:cNvPr id="4" name="object 4"/>
          <p:cNvPicPr/>
          <p:nvPr/>
        </p:nvPicPr>
        <p:blipFill>
          <a:blip r:embed="rId2" cstate="print"/>
          <a:stretch>
            <a:fillRect/>
          </a:stretch>
        </p:blipFill>
        <p:spPr>
          <a:xfrm>
            <a:off x="1076324" y="3390911"/>
            <a:ext cx="85725" cy="85724"/>
          </a:xfrm>
          <a:prstGeom prst="rect">
            <a:avLst/>
          </a:prstGeom>
        </p:spPr>
      </p:pic>
      <p:sp>
        <p:nvSpPr>
          <p:cNvPr id="5" name="object 5"/>
          <p:cNvSpPr txBox="1"/>
          <p:nvPr/>
        </p:nvSpPr>
        <p:spPr>
          <a:xfrm>
            <a:off x="735012" y="1999944"/>
            <a:ext cx="10507345" cy="1992630"/>
          </a:xfrm>
          <a:prstGeom prst="rect">
            <a:avLst/>
          </a:prstGeom>
        </p:spPr>
        <p:txBody>
          <a:bodyPr vert="horz" wrap="square" lIns="0" tIns="15875" rIns="0" bIns="0" rtlCol="0">
            <a:spAutoFit/>
          </a:bodyPr>
          <a:lstStyle/>
          <a:p>
            <a:pPr marL="12700">
              <a:lnSpc>
                <a:spcPct val="100000"/>
              </a:lnSpc>
              <a:spcBef>
                <a:spcPts val="125"/>
              </a:spcBef>
            </a:pPr>
            <a:r>
              <a:rPr sz="2800" b="1" spc="-10" dirty="0">
                <a:solidFill>
                  <a:srgbClr val="24292E"/>
                </a:solidFill>
                <a:latin typeface="Arial"/>
                <a:cs typeface="Arial"/>
              </a:rPr>
              <a:t>Motivation</a:t>
            </a:r>
            <a:endParaRPr sz="2800">
              <a:latin typeface="Arial"/>
              <a:cs typeface="Arial"/>
            </a:endParaRPr>
          </a:p>
          <a:p>
            <a:pPr marL="564515">
              <a:lnSpc>
                <a:spcPct val="100000"/>
              </a:lnSpc>
              <a:spcBef>
                <a:spcPts val="2540"/>
              </a:spcBef>
            </a:pPr>
            <a:r>
              <a:rPr sz="2150" dirty="0">
                <a:solidFill>
                  <a:srgbClr val="24292E"/>
                </a:solidFill>
                <a:latin typeface="Arial"/>
                <a:cs typeface="Arial"/>
              </a:rPr>
              <a:t>The</a:t>
            </a:r>
            <a:r>
              <a:rPr sz="2150" spc="10" dirty="0">
                <a:solidFill>
                  <a:srgbClr val="24292E"/>
                </a:solidFill>
                <a:latin typeface="Arial"/>
                <a:cs typeface="Arial"/>
              </a:rPr>
              <a:t> </a:t>
            </a:r>
            <a:r>
              <a:rPr sz="2150" dirty="0">
                <a:solidFill>
                  <a:srgbClr val="24292E"/>
                </a:solidFill>
                <a:latin typeface="Arial"/>
                <a:cs typeface="Arial"/>
              </a:rPr>
              <a:t>boulders</a:t>
            </a:r>
            <a:r>
              <a:rPr sz="2150" spc="20" dirty="0">
                <a:solidFill>
                  <a:srgbClr val="24292E"/>
                </a:solidFill>
                <a:latin typeface="Arial"/>
                <a:cs typeface="Arial"/>
              </a:rPr>
              <a:t> </a:t>
            </a:r>
            <a:r>
              <a:rPr sz="2150" dirty="0">
                <a:solidFill>
                  <a:srgbClr val="24292E"/>
                </a:solidFill>
                <a:latin typeface="Arial"/>
                <a:cs typeface="Arial"/>
              </a:rPr>
              <a:t>move,</a:t>
            </a:r>
            <a:r>
              <a:rPr sz="2150" spc="20" dirty="0">
                <a:solidFill>
                  <a:srgbClr val="24292E"/>
                </a:solidFill>
                <a:latin typeface="Arial"/>
                <a:cs typeface="Arial"/>
              </a:rPr>
              <a:t> </a:t>
            </a:r>
            <a:r>
              <a:rPr sz="2150" dirty="0">
                <a:solidFill>
                  <a:srgbClr val="24292E"/>
                </a:solidFill>
                <a:latin typeface="Arial"/>
                <a:cs typeface="Arial"/>
              </a:rPr>
              <a:t>now</a:t>
            </a:r>
            <a:r>
              <a:rPr sz="2150" spc="20" dirty="0">
                <a:solidFill>
                  <a:srgbClr val="24292E"/>
                </a:solidFill>
                <a:latin typeface="Arial"/>
                <a:cs typeface="Arial"/>
              </a:rPr>
              <a:t> </a:t>
            </a:r>
            <a:r>
              <a:rPr sz="2150" dirty="0">
                <a:solidFill>
                  <a:srgbClr val="24292E"/>
                </a:solidFill>
                <a:latin typeface="Arial"/>
                <a:cs typeface="Arial"/>
              </a:rPr>
              <a:t>we</a:t>
            </a:r>
            <a:r>
              <a:rPr sz="2150" spc="20" dirty="0">
                <a:solidFill>
                  <a:srgbClr val="24292E"/>
                </a:solidFill>
                <a:latin typeface="Arial"/>
                <a:cs typeface="Arial"/>
              </a:rPr>
              <a:t> </a:t>
            </a:r>
            <a:r>
              <a:rPr sz="2150" dirty="0">
                <a:solidFill>
                  <a:srgbClr val="24292E"/>
                </a:solidFill>
                <a:latin typeface="Arial"/>
                <a:cs typeface="Arial"/>
              </a:rPr>
              <a:t>want</a:t>
            </a:r>
            <a:r>
              <a:rPr sz="2150" spc="20" dirty="0">
                <a:solidFill>
                  <a:srgbClr val="24292E"/>
                </a:solidFill>
                <a:latin typeface="Arial"/>
                <a:cs typeface="Arial"/>
              </a:rPr>
              <a:t> </a:t>
            </a:r>
            <a:r>
              <a:rPr sz="2150" dirty="0">
                <a:solidFill>
                  <a:srgbClr val="24292E"/>
                </a:solidFill>
                <a:latin typeface="Arial"/>
                <a:cs typeface="Arial"/>
              </a:rPr>
              <a:t>them</a:t>
            </a:r>
            <a:r>
              <a:rPr sz="2150" spc="20" dirty="0">
                <a:solidFill>
                  <a:srgbClr val="24292E"/>
                </a:solidFill>
                <a:latin typeface="Arial"/>
                <a:cs typeface="Arial"/>
              </a:rPr>
              <a:t> </a:t>
            </a:r>
            <a:r>
              <a:rPr sz="2150" dirty="0">
                <a:solidFill>
                  <a:srgbClr val="24292E"/>
                </a:solidFill>
                <a:latin typeface="Arial"/>
                <a:cs typeface="Arial"/>
              </a:rPr>
              <a:t>to</a:t>
            </a:r>
            <a:r>
              <a:rPr sz="2150" spc="20" dirty="0">
                <a:solidFill>
                  <a:srgbClr val="24292E"/>
                </a:solidFill>
                <a:latin typeface="Arial"/>
                <a:cs typeface="Arial"/>
              </a:rPr>
              <a:t> </a:t>
            </a:r>
            <a:r>
              <a:rPr sz="2150" dirty="0">
                <a:solidFill>
                  <a:srgbClr val="24292E"/>
                </a:solidFill>
                <a:latin typeface="Arial"/>
                <a:cs typeface="Arial"/>
              </a:rPr>
              <a:t>interact</a:t>
            </a:r>
            <a:r>
              <a:rPr sz="2150" spc="20" dirty="0">
                <a:solidFill>
                  <a:srgbClr val="24292E"/>
                </a:solidFill>
                <a:latin typeface="Arial"/>
                <a:cs typeface="Arial"/>
              </a:rPr>
              <a:t> </a:t>
            </a:r>
            <a:r>
              <a:rPr sz="2150" dirty="0">
                <a:solidFill>
                  <a:srgbClr val="24292E"/>
                </a:solidFill>
                <a:latin typeface="Arial"/>
                <a:cs typeface="Arial"/>
              </a:rPr>
              <a:t>with</a:t>
            </a:r>
            <a:r>
              <a:rPr sz="2150" spc="20" dirty="0">
                <a:solidFill>
                  <a:srgbClr val="24292E"/>
                </a:solidFill>
                <a:latin typeface="Arial"/>
                <a:cs typeface="Arial"/>
              </a:rPr>
              <a:t> </a:t>
            </a:r>
            <a:r>
              <a:rPr sz="2150" dirty="0">
                <a:solidFill>
                  <a:srgbClr val="24292E"/>
                </a:solidFill>
                <a:latin typeface="Arial"/>
                <a:cs typeface="Arial"/>
              </a:rPr>
              <a:t>the</a:t>
            </a:r>
            <a:r>
              <a:rPr sz="2150" spc="20" dirty="0">
                <a:solidFill>
                  <a:srgbClr val="24292E"/>
                </a:solidFill>
                <a:latin typeface="Arial"/>
                <a:cs typeface="Arial"/>
              </a:rPr>
              <a:t> </a:t>
            </a:r>
            <a:r>
              <a:rPr sz="2150" spc="-10" dirty="0">
                <a:solidFill>
                  <a:srgbClr val="24292E"/>
                </a:solidFill>
                <a:latin typeface="Arial"/>
                <a:cs typeface="Arial"/>
              </a:rPr>
              <a:t>player.</a:t>
            </a:r>
            <a:endParaRPr sz="2150">
              <a:latin typeface="Arial"/>
              <a:cs typeface="Arial"/>
            </a:endParaRPr>
          </a:p>
          <a:p>
            <a:pPr marL="564515" marR="5080">
              <a:lnSpc>
                <a:spcPct val="125000"/>
              </a:lnSpc>
              <a:spcBef>
                <a:spcPts val="525"/>
              </a:spcBef>
            </a:pPr>
            <a:r>
              <a:rPr sz="2150" dirty="0">
                <a:solidFill>
                  <a:srgbClr val="24292E"/>
                </a:solidFill>
                <a:latin typeface="Arial"/>
                <a:cs typeface="Arial"/>
              </a:rPr>
              <a:t>We</a:t>
            </a:r>
            <a:r>
              <a:rPr sz="2150" spc="15" dirty="0">
                <a:solidFill>
                  <a:srgbClr val="24292E"/>
                </a:solidFill>
                <a:latin typeface="Arial"/>
                <a:cs typeface="Arial"/>
              </a:rPr>
              <a:t> </a:t>
            </a:r>
            <a:r>
              <a:rPr sz="2150" dirty="0">
                <a:solidFill>
                  <a:srgbClr val="24292E"/>
                </a:solidFill>
                <a:latin typeface="Arial"/>
                <a:cs typeface="Arial"/>
              </a:rPr>
              <a:t>want</a:t>
            </a:r>
            <a:r>
              <a:rPr sz="2150" spc="10" dirty="0">
                <a:solidFill>
                  <a:srgbClr val="24292E"/>
                </a:solidFill>
                <a:latin typeface="Arial"/>
                <a:cs typeface="Arial"/>
              </a:rPr>
              <a:t> </a:t>
            </a:r>
            <a:r>
              <a:rPr sz="2150" dirty="0">
                <a:solidFill>
                  <a:srgbClr val="24292E"/>
                </a:solidFill>
                <a:latin typeface="Arial"/>
                <a:cs typeface="Arial"/>
              </a:rPr>
              <a:t>to</a:t>
            </a:r>
            <a:r>
              <a:rPr sz="2150" spc="15" dirty="0">
                <a:solidFill>
                  <a:srgbClr val="24292E"/>
                </a:solidFill>
                <a:latin typeface="Arial"/>
                <a:cs typeface="Arial"/>
              </a:rPr>
              <a:t> </a:t>
            </a:r>
            <a:r>
              <a:rPr sz="2150" dirty="0">
                <a:solidFill>
                  <a:srgbClr val="24292E"/>
                </a:solidFill>
                <a:latin typeface="Arial"/>
                <a:cs typeface="Arial"/>
              </a:rPr>
              <a:t>detect</a:t>
            </a:r>
            <a:r>
              <a:rPr sz="2150" spc="15" dirty="0">
                <a:solidFill>
                  <a:srgbClr val="24292E"/>
                </a:solidFill>
                <a:latin typeface="Arial"/>
                <a:cs typeface="Arial"/>
              </a:rPr>
              <a:t> </a:t>
            </a:r>
            <a:r>
              <a:rPr sz="2150" dirty="0">
                <a:solidFill>
                  <a:srgbClr val="24292E"/>
                </a:solidFill>
                <a:latin typeface="Arial"/>
                <a:cs typeface="Arial"/>
              </a:rPr>
              <a:t>the</a:t>
            </a:r>
            <a:r>
              <a:rPr sz="2150" spc="15" dirty="0">
                <a:solidFill>
                  <a:srgbClr val="24292E"/>
                </a:solidFill>
                <a:latin typeface="Arial"/>
                <a:cs typeface="Arial"/>
              </a:rPr>
              <a:t> </a:t>
            </a:r>
            <a:r>
              <a:rPr sz="2150" dirty="0">
                <a:solidFill>
                  <a:srgbClr val="24292E"/>
                </a:solidFill>
                <a:latin typeface="Arial"/>
                <a:cs typeface="Arial"/>
              </a:rPr>
              <a:t>collisions</a:t>
            </a:r>
            <a:r>
              <a:rPr sz="2150" spc="10" dirty="0">
                <a:solidFill>
                  <a:srgbClr val="24292E"/>
                </a:solidFill>
                <a:latin typeface="Arial"/>
                <a:cs typeface="Arial"/>
              </a:rPr>
              <a:t> </a:t>
            </a:r>
            <a:r>
              <a:rPr sz="2150" dirty="0">
                <a:solidFill>
                  <a:srgbClr val="24292E"/>
                </a:solidFill>
                <a:latin typeface="Arial"/>
                <a:cs typeface="Arial"/>
              </a:rPr>
              <a:t>and</a:t>
            </a:r>
            <a:r>
              <a:rPr sz="2150" spc="15" dirty="0">
                <a:solidFill>
                  <a:srgbClr val="24292E"/>
                </a:solidFill>
                <a:latin typeface="Arial"/>
                <a:cs typeface="Arial"/>
              </a:rPr>
              <a:t> </a:t>
            </a:r>
            <a:r>
              <a:rPr sz="2150" dirty="0">
                <a:solidFill>
                  <a:srgbClr val="24292E"/>
                </a:solidFill>
                <a:latin typeface="Arial"/>
                <a:cs typeface="Arial"/>
              </a:rPr>
              <a:t>respond,</a:t>
            </a:r>
            <a:r>
              <a:rPr sz="2150" spc="15" dirty="0">
                <a:solidFill>
                  <a:srgbClr val="24292E"/>
                </a:solidFill>
                <a:latin typeface="Arial"/>
                <a:cs typeface="Arial"/>
              </a:rPr>
              <a:t> </a:t>
            </a:r>
            <a:r>
              <a:rPr sz="2150" dirty="0">
                <a:solidFill>
                  <a:srgbClr val="24292E"/>
                </a:solidFill>
                <a:latin typeface="Arial"/>
                <a:cs typeface="Arial"/>
              </a:rPr>
              <a:t>these</a:t>
            </a:r>
            <a:r>
              <a:rPr sz="2150" spc="10" dirty="0">
                <a:solidFill>
                  <a:srgbClr val="24292E"/>
                </a:solidFill>
                <a:latin typeface="Arial"/>
                <a:cs typeface="Arial"/>
              </a:rPr>
              <a:t> </a:t>
            </a:r>
            <a:r>
              <a:rPr sz="2150" dirty="0">
                <a:solidFill>
                  <a:srgbClr val="24292E"/>
                </a:solidFill>
                <a:latin typeface="Arial"/>
                <a:cs typeface="Arial"/>
              </a:rPr>
              <a:t>are</a:t>
            </a:r>
            <a:r>
              <a:rPr sz="2150" spc="15" dirty="0">
                <a:solidFill>
                  <a:srgbClr val="24292E"/>
                </a:solidFill>
                <a:latin typeface="Arial"/>
                <a:cs typeface="Arial"/>
              </a:rPr>
              <a:t> </a:t>
            </a:r>
            <a:r>
              <a:rPr sz="2150" dirty="0">
                <a:solidFill>
                  <a:srgbClr val="24292E"/>
                </a:solidFill>
                <a:latin typeface="Arial"/>
                <a:cs typeface="Arial"/>
              </a:rPr>
              <a:t>part</a:t>
            </a:r>
            <a:r>
              <a:rPr sz="2150" spc="15" dirty="0">
                <a:solidFill>
                  <a:srgbClr val="24292E"/>
                </a:solidFill>
                <a:latin typeface="Arial"/>
                <a:cs typeface="Arial"/>
              </a:rPr>
              <a:t> </a:t>
            </a:r>
            <a:r>
              <a:rPr sz="2150" dirty="0">
                <a:solidFill>
                  <a:srgbClr val="24292E"/>
                </a:solidFill>
                <a:latin typeface="Arial"/>
                <a:cs typeface="Arial"/>
              </a:rPr>
              <a:t>of</a:t>
            </a:r>
            <a:r>
              <a:rPr sz="2150" spc="15" dirty="0">
                <a:solidFill>
                  <a:srgbClr val="24292E"/>
                </a:solidFill>
                <a:latin typeface="Arial"/>
                <a:cs typeface="Arial"/>
              </a:rPr>
              <a:t> </a:t>
            </a:r>
            <a:r>
              <a:rPr sz="2150" dirty="0">
                <a:solidFill>
                  <a:srgbClr val="24292E"/>
                </a:solidFill>
                <a:latin typeface="Arial"/>
                <a:cs typeface="Arial"/>
              </a:rPr>
              <a:t>the</a:t>
            </a:r>
            <a:r>
              <a:rPr sz="2150" spc="10" dirty="0">
                <a:solidFill>
                  <a:srgbClr val="24292E"/>
                </a:solidFill>
                <a:latin typeface="Arial"/>
                <a:cs typeface="Arial"/>
              </a:rPr>
              <a:t> </a:t>
            </a:r>
            <a:r>
              <a:rPr sz="2150" dirty="0">
                <a:solidFill>
                  <a:srgbClr val="24292E"/>
                </a:solidFill>
                <a:latin typeface="Arial"/>
                <a:cs typeface="Arial"/>
              </a:rPr>
              <a:t>same</a:t>
            </a:r>
            <a:r>
              <a:rPr sz="2150" spc="15" dirty="0">
                <a:solidFill>
                  <a:srgbClr val="24292E"/>
                </a:solidFill>
                <a:latin typeface="Arial"/>
                <a:cs typeface="Arial"/>
              </a:rPr>
              <a:t> </a:t>
            </a:r>
            <a:r>
              <a:rPr sz="2150" spc="-10" dirty="0">
                <a:solidFill>
                  <a:srgbClr val="24292E"/>
                </a:solidFill>
                <a:latin typeface="Arial"/>
                <a:cs typeface="Arial"/>
              </a:rPr>
              <a:t>problem </a:t>
            </a:r>
            <a:r>
              <a:rPr sz="2150" dirty="0">
                <a:solidFill>
                  <a:srgbClr val="24292E"/>
                </a:solidFill>
                <a:latin typeface="Arial"/>
                <a:cs typeface="Arial"/>
              </a:rPr>
              <a:t>(so</a:t>
            </a:r>
            <a:r>
              <a:rPr sz="2150" spc="5" dirty="0">
                <a:solidFill>
                  <a:srgbClr val="24292E"/>
                </a:solidFill>
                <a:latin typeface="Arial"/>
                <a:cs typeface="Arial"/>
              </a:rPr>
              <a:t> </a:t>
            </a:r>
            <a:r>
              <a:rPr sz="2150" dirty="0">
                <a:solidFill>
                  <a:srgbClr val="24292E"/>
                </a:solidFill>
                <a:latin typeface="Arial"/>
                <a:cs typeface="Arial"/>
              </a:rPr>
              <a:t>I</a:t>
            </a:r>
            <a:r>
              <a:rPr sz="2150" spc="15" dirty="0">
                <a:solidFill>
                  <a:srgbClr val="24292E"/>
                </a:solidFill>
                <a:latin typeface="Arial"/>
                <a:cs typeface="Arial"/>
              </a:rPr>
              <a:t> </a:t>
            </a:r>
            <a:r>
              <a:rPr sz="2150" dirty="0">
                <a:solidFill>
                  <a:srgbClr val="24292E"/>
                </a:solidFill>
                <a:latin typeface="Arial"/>
                <a:cs typeface="Arial"/>
              </a:rPr>
              <a:t>combined</a:t>
            </a:r>
            <a:r>
              <a:rPr sz="2150" spc="15" dirty="0">
                <a:solidFill>
                  <a:srgbClr val="24292E"/>
                </a:solidFill>
                <a:latin typeface="Arial"/>
                <a:cs typeface="Arial"/>
              </a:rPr>
              <a:t> </a:t>
            </a:r>
            <a:r>
              <a:rPr sz="2150" spc="-10" dirty="0">
                <a:solidFill>
                  <a:srgbClr val="24292E"/>
                </a:solidFill>
                <a:latin typeface="Arial"/>
                <a:cs typeface="Arial"/>
              </a:rPr>
              <a:t>them).</a:t>
            </a:r>
            <a:endParaRPr sz="2150">
              <a:latin typeface="Arial"/>
              <a:cs typeface="Arial"/>
            </a:endParaRPr>
          </a:p>
        </p:txBody>
      </p:sp>
      <p:pic>
        <p:nvPicPr>
          <p:cNvPr id="6" name="object 6"/>
          <p:cNvPicPr/>
          <p:nvPr/>
        </p:nvPicPr>
        <p:blipFill>
          <a:blip r:embed="rId2" cstate="print"/>
          <a:stretch>
            <a:fillRect/>
          </a:stretch>
        </p:blipFill>
        <p:spPr>
          <a:xfrm>
            <a:off x="1076324" y="5295911"/>
            <a:ext cx="85725" cy="85724"/>
          </a:xfrm>
          <a:prstGeom prst="rect">
            <a:avLst/>
          </a:prstGeom>
        </p:spPr>
      </p:pic>
      <p:pic>
        <p:nvPicPr>
          <p:cNvPr id="7" name="object 7"/>
          <p:cNvPicPr/>
          <p:nvPr/>
        </p:nvPicPr>
        <p:blipFill>
          <a:blip r:embed="rId3" cstate="print"/>
          <a:stretch>
            <a:fillRect/>
          </a:stretch>
        </p:blipFill>
        <p:spPr>
          <a:xfrm>
            <a:off x="1624012" y="5700724"/>
            <a:ext cx="95250" cy="95249"/>
          </a:xfrm>
          <a:prstGeom prst="rect">
            <a:avLst/>
          </a:prstGeom>
        </p:spPr>
      </p:pic>
      <p:sp>
        <p:nvSpPr>
          <p:cNvPr id="8" name="object 8"/>
          <p:cNvSpPr txBox="1"/>
          <p:nvPr/>
        </p:nvSpPr>
        <p:spPr>
          <a:xfrm>
            <a:off x="735012" y="4390719"/>
            <a:ext cx="5321935" cy="1506855"/>
          </a:xfrm>
          <a:prstGeom prst="rect">
            <a:avLst/>
          </a:prstGeom>
        </p:spPr>
        <p:txBody>
          <a:bodyPr vert="horz" wrap="square" lIns="0" tIns="15875" rIns="0" bIns="0" rtlCol="0">
            <a:spAutoFit/>
          </a:bodyPr>
          <a:lstStyle/>
          <a:p>
            <a:pPr marL="12700">
              <a:lnSpc>
                <a:spcPct val="100000"/>
              </a:lnSpc>
              <a:spcBef>
                <a:spcPts val="125"/>
              </a:spcBef>
            </a:pPr>
            <a:r>
              <a:rPr sz="2800" b="1" spc="-10" dirty="0">
                <a:solidFill>
                  <a:srgbClr val="24292E"/>
                </a:solidFill>
                <a:latin typeface="Arial"/>
                <a:cs typeface="Arial"/>
              </a:rPr>
              <a:t>Solution(s)</a:t>
            </a:r>
            <a:endParaRPr sz="2800">
              <a:latin typeface="Arial"/>
              <a:cs typeface="Arial"/>
            </a:endParaRPr>
          </a:p>
          <a:p>
            <a:pPr marL="1116965" marR="5080" indent="-552450">
              <a:lnSpc>
                <a:spcPct val="125000"/>
              </a:lnSpc>
              <a:spcBef>
                <a:spcPts val="1820"/>
              </a:spcBef>
            </a:pPr>
            <a:r>
              <a:rPr sz="2150" dirty="0">
                <a:solidFill>
                  <a:srgbClr val="24292E"/>
                </a:solidFill>
                <a:latin typeface="Arial"/>
                <a:cs typeface="Arial"/>
              </a:rPr>
              <a:t>Use</a:t>
            </a:r>
            <a:r>
              <a:rPr sz="2150" spc="25" dirty="0">
                <a:solidFill>
                  <a:srgbClr val="24292E"/>
                </a:solidFill>
                <a:latin typeface="Arial"/>
                <a:cs typeface="Arial"/>
              </a:rPr>
              <a:t> </a:t>
            </a:r>
            <a:r>
              <a:rPr sz="2150" dirty="0">
                <a:solidFill>
                  <a:srgbClr val="24292E"/>
                </a:solidFill>
                <a:latin typeface="Arial"/>
                <a:cs typeface="Arial"/>
              </a:rPr>
              <a:t>a</a:t>
            </a:r>
            <a:r>
              <a:rPr sz="2150" spc="30" dirty="0">
                <a:solidFill>
                  <a:srgbClr val="24292E"/>
                </a:solidFill>
                <a:latin typeface="Arial"/>
                <a:cs typeface="Arial"/>
              </a:rPr>
              <a:t> </a:t>
            </a:r>
            <a:r>
              <a:rPr sz="2150" dirty="0">
                <a:solidFill>
                  <a:srgbClr val="24292E"/>
                </a:solidFill>
                <a:latin typeface="Arial"/>
                <a:cs typeface="Arial"/>
              </a:rPr>
              <a:t>collision</a:t>
            </a:r>
            <a:r>
              <a:rPr sz="2150" spc="35" dirty="0">
                <a:solidFill>
                  <a:srgbClr val="24292E"/>
                </a:solidFill>
                <a:latin typeface="Arial"/>
                <a:cs typeface="Arial"/>
              </a:rPr>
              <a:t> </a:t>
            </a:r>
            <a:r>
              <a:rPr sz="2150" dirty="0">
                <a:solidFill>
                  <a:srgbClr val="24292E"/>
                </a:solidFill>
                <a:latin typeface="Arial"/>
                <a:cs typeface="Arial"/>
              </a:rPr>
              <a:t>detection</a:t>
            </a:r>
            <a:r>
              <a:rPr sz="2150" spc="35" dirty="0">
                <a:solidFill>
                  <a:srgbClr val="24292E"/>
                </a:solidFill>
                <a:latin typeface="Arial"/>
                <a:cs typeface="Arial"/>
              </a:rPr>
              <a:t> </a:t>
            </a:r>
            <a:r>
              <a:rPr sz="2150" spc="-10" dirty="0">
                <a:solidFill>
                  <a:srgbClr val="24292E"/>
                </a:solidFill>
                <a:latin typeface="Arial"/>
                <a:cs typeface="Arial"/>
              </a:rPr>
              <a:t>component </a:t>
            </a:r>
            <a:r>
              <a:rPr sz="2150" dirty="0">
                <a:solidFill>
                  <a:srgbClr val="24292E"/>
                </a:solidFill>
                <a:latin typeface="Arial"/>
                <a:cs typeface="Arial"/>
              </a:rPr>
              <a:t>Requires</a:t>
            </a:r>
            <a:r>
              <a:rPr sz="2150" spc="25" dirty="0">
                <a:solidFill>
                  <a:srgbClr val="24292E"/>
                </a:solidFill>
                <a:latin typeface="Arial"/>
                <a:cs typeface="Arial"/>
              </a:rPr>
              <a:t> </a:t>
            </a:r>
            <a:r>
              <a:rPr sz="2150" dirty="0">
                <a:solidFill>
                  <a:srgbClr val="24292E"/>
                </a:solidFill>
                <a:latin typeface="Arial"/>
                <a:cs typeface="Arial"/>
              </a:rPr>
              <a:t>that</a:t>
            </a:r>
            <a:r>
              <a:rPr sz="2150" spc="30" dirty="0">
                <a:solidFill>
                  <a:srgbClr val="24292E"/>
                </a:solidFill>
                <a:latin typeface="Arial"/>
                <a:cs typeface="Arial"/>
              </a:rPr>
              <a:t> </a:t>
            </a:r>
            <a:r>
              <a:rPr sz="2150" dirty="0">
                <a:solidFill>
                  <a:srgbClr val="24292E"/>
                </a:solidFill>
                <a:latin typeface="Arial"/>
                <a:cs typeface="Arial"/>
              </a:rPr>
              <a:t>our</a:t>
            </a:r>
            <a:r>
              <a:rPr sz="2150" spc="35" dirty="0">
                <a:solidFill>
                  <a:srgbClr val="24292E"/>
                </a:solidFill>
                <a:latin typeface="Arial"/>
                <a:cs typeface="Arial"/>
              </a:rPr>
              <a:t> </a:t>
            </a:r>
            <a:r>
              <a:rPr sz="2150" dirty="0">
                <a:solidFill>
                  <a:srgbClr val="24292E"/>
                </a:solidFill>
                <a:latin typeface="Arial"/>
                <a:cs typeface="Arial"/>
              </a:rPr>
              <a:t>script</a:t>
            </a:r>
            <a:r>
              <a:rPr sz="2150" spc="30" dirty="0">
                <a:solidFill>
                  <a:srgbClr val="24292E"/>
                </a:solidFill>
                <a:latin typeface="Arial"/>
                <a:cs typeface="Arial"/>
              </a:rPr>
              <a:t> </a:t>
            </a:r>
            <a:r>
              <a:rPr sz="2150" dirty="0">
                <a:solidFill>
                  <a:srgbClr val="24292E"/>
                </a:solidFill>
                <a:latin typeface="Arial"/>
                <a:cs typeface="Arial"/>
              </a:rPr>
              <a:t>contains</a:t>
            </a:r>
            <a:r>
              <a:rPr sz="2150" spc="35" dirty="0">
                <a:solidFill>
                  <a:srgbClr val="24292E"/>
                </a:solidFill>
                <a:latin typeface="Arial"/>
                <a:cs typeface="Arial"/>
              </a:rPr>
              <a:t> </a:t>
            </a:r>
            <a:r>
              <a:rPr sz="2150" spc="-50" dirty="0">
                <a:solidFill>
                  <a:srgbClr val="24292E"/>
                </a:solidFill>
                <a:latin typeface="Arial"/>
                <a:cs typeface="Arial"/>
              </a:rPr>
              <a:t>a</a:t>
            </a:r>
            <a:endParaRPr sz="2150">
              <a:latin typeface="Arial"/>
              <a:cs typeface="Arial"/>
            </a:endParaRPr>
          </a:p>
        </p:txBody>
      </p:sp>
      <p:sp>
        <p:nvSpPr>
          <p:cNvPr id="9" name="object 9"/>
          <p:cNvSpPr/>
          <p:nvPr/>
        </p:nvSpPr>
        <p:spPr>
          <a:xfrm>
            <a:off x="6124573" y="5610236"/>
            <a:ext cx="2619375" cy="323850"/>
          </a:xfrm>
          <a:custGeom>
            <a:avLst/>
            <a:gdLst/>
            <a:ahLst/>
            <a:cxnLst/>
            <a:rect l="l" t="t" r="r" b="b"/>
            <a:pathLst>
              <a:path w="2619375" h="323850">
                <a:moveTo>
                  <a:pt x="2594589" y="323849"/>
                </a:moveTo>
                <a:lnTo>
                  <a:pt x="24785" y="323849"/>
                </a:lnTo>
                <a:lnTo>
                  <a:pt x="21140" y="323124"/>
                </a:lnTo>
                <a:lnTo>
                  <a:pt x="0" y="299063"/>
                </a:lnTo>
                <a:lnTo>
                  <a:pt x="0" y="295274"/>
                </a:lnTo>
                <a:lnTo>
                  <a:pt x="0" y="24785"/>
                </a:lnTo>
                <a:lnTo>
                  <a:pt x="24785" y="0"/>
                </a:lnTo>
                <a:lnTo>
                  <a:pt x="2594589" y="0"/>
                </a:lnTo>
                <a:lnTo>
                  <a:pt x="2619374" y="24785"/>
                </a:lnTo>
                <a:lnTo>
                  <a:pt x="2619374" y="299063"/>
                </a:lnTo>
                <a:lnTo>
                  <a:pt x="2598233" y="323124"/>
                </a:lnTo>
                <a:lnTo>
                  <a:pt x="2594589" y="323849"/>
                </a:lnTo>
                <a:close/>
              </a:path>
            </a:pathLst>
          </a:custGeom>
          <a:solidFill>
            <a:srgbClr val="1B1F23">
              <a:alpha val="5099"/>
            </a:srgbClr>
          </a:solidFill>
        </p:spPr>
        <p:txBody>
          <a:bodyPr wrap="square" lIns="0" tIns="0" rIns="0" bIns="0" rtlCol="0"/>
          <a:lstStyle/>
          <a:p>
            <a:endParaRPr/>
          </a:p>
        </p:txBody>
      </p:sp>
      <p:sp>
        <p:nvSpPr>
          <p:cNvPr id="10" name="object 10"/>
          <p:cNvSpPr txBox="1"/>
          <p:nvPr/>
        </p:nvSpPr>
        <p:spPr>
          <a:xfrm>
            <a:off x="6193878" y="5581820"/>
            <a:ext cx="2477770" cy="307340"/>
          </a:xfrm>
          <a:prstGeom prst="rect">
            <a:avLst/>
          </a:prstGeom>
        </p:spPr>
        <p:txBody>
          <a:bodyPr vert="horz" wrap="square" lIns="0" tIns="12065" rIns="0" bIns="0" rtlCol="0">
            <a:spAutoFit/>
          </a:bodyPr>
          <a:lstStyle/>
          <a:p>
            <a:pPr marL="12700">
              <a:lnSpc>
                <a:spcPct val="100000"/>
              </a:lnSpc>
              <a:spcBef>
                <a:spcPts val="95"/>
              </a:spcBef>
            </a:pPr>
            <a:r>
              <a:rPr sz="1850" spc="-10" dirty="0">
                <a:solidFill>
                  <a:srgbClr val="24292E"/>
                </a:solidFill>
                <a:latin typeface="Consolas"/>
                <a:cs typeface="Consolas"/>
              </a:rPr>
              <a:t>OnCollsionEnter2D()</a:t>
            </a:r>
            <a:endParaRPr sz="1850">
              <a:latin typeface="Consolas"/>
              <a:cs typeface="Consolas"/>
            </a:endParaRPr>
          </a:p>
        </p:txBody>
      </p:sp>
      <p:pic>
        <p:nvPicPr>
          <p:cNvPr id="11" name="object 11"/>
          <p:cNvPicPr/>
          <p:nvPr/>
        </p:nvPicPr>
        <p:blipFill>
          <a:blip r:embed="rId3" cstate="print"/>
          <a:stretch>
            <a:fillRect/>
          </a:stretch>
        </p:blipFill>
        <p:spPr>
          <a:xfrm>
            <a:off x="1624012" y="6186498"/>
            <a:ext cx="95250" cy="95249"/>
          </a:xfrm>
          <a:prstGeom prst="rect">
            <a:avLst/>
          </a:prstGeom>
        </p:spPr>
      </p:pic>
      <p:sp>
        <p:nvSpPr>
          <p:cNvPr id="12" name="object 12"/>
          <p:cNvSpPr txBox="1"/>
          <p:nvPr/>
        </p:nvSpPr>
        <p:spPr>
          <a:xfrm>
            <a:off x="1839912" y="6026161"/>
            <a:ext cx="5890895" cy="356870"/>
          </a:xfrm>
          <a:prstGeom prst="rect">
            <a:avLst/>
          </a:prstGeom>
        </p:spPr>
        <p:txBody>
          <a:bodyPr vert="horz" wrap="square" lIns="0" tIns="15875" rIns="0" bIns="0" rtlCol="0">
            <a:spAutoFit/>
          </a:bodyPr>
          <a:lstStyle/>
          <a:p>
            <a:pPr marL="12700">
              <a:lnSpc>
                <a:spcPct val="100000"/>
              </a:lnSpc>
              <a:spcBef>
                <a:spcPts val="125"/>
              </a:spcBef>
            </a:pPr>
            <a:r>
              <a:rPr sz="2150" dirty="0">
                <a:solidFill>
                  <a:srgbClr val="24292E"/>
                </a:solidFill>
                <a:latin typeface="Arial"/>
                <a:cs typeface="Arial"/>
              </a:rPr>
              <a:t>This</a:t>
            </a:r>
            <a:r>
              <a:rPr sz="2150" spc="20" dirty="0">
                <a:solidFill>
                  <a:srgbClr val="24292E"/>
                </a:solidFill>
                <a:latin typeface="Arial"/>
                <a:cs typeface="Arial"/>
              </a:rPr>
              <a:t> </a:t>
            </a:r>
            <a:r>
              <a:rPr sz="2150" dirty="0">
                <a:solidFill>
                  <a:srgbClr val="24292E"/>
                </a:solidFill>
                <a:latin typeface="Arial"/>
                <a:cs typeface="Arial"/>
              </a:rPr>
              <a:t>is</a:t>
            </a:r>
            <a:r>
              <a:rPr sz="2150" spc="35" dirty="0">
                <a:solidFill>
                  <a:srgbClr val="24292E"/>
                </a:solidFill>
                <a:latin typeface="Arial"/>
                <a:cs typeface="Arial"/>
              </a:rPr>
              <a:t> </a:t>
            </a:r>
            <a:r>
              <a:rPr sz="2150" dirty="0">
                <a:solidFill>
                  <a:srgbClr val="24292E"/>
                </a:solidFill>
                <a:latin typeface="Arial"/>
                <a:cs typeface="Arial"/>
              </a:rPr>
              <a:t>called</a:t>
            </a:r>
            <a:r>
              <a:rPr sz="2150" spc="30" dirty="0">
                <a:solidFill>
                  <a:srgbClr val="24292E"/>
                </a:solidFill>
                <a:latin typeface="Arial"/>
                <a:cs typeface="Arial"/>
              </a:rPr>
              <a:t> </a:t>
            </a:r>
            <a:r>
              <a:rPr sz="2150" dirty="0">
                <a:solidFill>
                  <a:srgbClr val="24292E"/>
                </a:solidFill>
                <a:latin typeface="Arial"/>
                <a:cs typeface="Arial"/>
              </a:rPr>
              <a:t>by</a:t>
            </a:r>
            <a:r>
              <a:rPr sz="2150" spc="30" dirty="0">
                <a:solidFill>
                  <a:srgbClr val="24292E"/>
                </a:solidFill>
                <a:latin typeface="Arial"/>
                <a:cs typeface="Arial"/>
              </a:rPr>
              <a:t> </a:t>
            </a:r>
            <a:r>
              <a:rPr sz="2150" dirty="0">
                <a:solidFill>
                  <a:srgbClr val="24292E"/>
                </a:solidFill>
                <a:latin typeface="Arial"/>
                <a:cs typeface="Arial"/>
              </a:rPr>
              <a:t>the</a:t>
            </a:r>
            <a:r>
              <a:rPr sz="2150" spc="35" dirty="0">
                <a:solidFill>
                  <a:srgbClr val="24292E"/>
                </a:solidFill>
                <a:latin typeface="Arial"/>
                <a:cs typeface="Arial"/>
              </a:rPr>
              <a:t> </a:t>
            </a:r>
            <a:r>
              <a:rPr sz="2150" dirty="0">
                <a:solidFill>
                  <a:srgbClr val="24292E"/>
                </a:solidFill>
                <a:latin typeface="Arial"/>
                <a:cs typeface="Arial"/>
              </a:rPr>
              <a:t>Box</a:t>
            </a:r>
            <a:r>
              <a:rPr sz="2150" spc="30" dirty="0">
                <a:solidFill>
                  <a:srgbClr val="24292E"/>
                </a:solidFill>
                <a:latin typeface="Arial"/>
                <a:cs typeface="Arial"/>
              </a:rPr>
              <a:t> </a:t>
            </a:r>
            <a:r>
              <a:rPr sz="2150" dirty="0">
                <a:solidFill>
                  <a:srgbClr val="24292E"/>
                </a:solidFill>
                <a:latin typeface="Arial"/>
                <a:cs typeface="Arial"/>
              </a:rPr>
              <a:t>Collider</a:t>
            </a:r>
            <a:r>
              <a:rPr sz="2150" spc="30" dirty="0">
                <a:solidFill>
                  <a:srgbClr val="24292E"/>
                </a:solidFill>
                <a:latin typeface="Arial"/>
                <a:cs typeface="Arial"/>
              </a:rPr>
              <a:t> </a:t>
            </a:r>
            <a:r>
              <a:rPr sz="2150" dirty="0">
                <a:solidFill>
                  <a:srgbClr val="24292E"/>
                </a:solidFill>
                <a:latin typeface="Arial"/>
                <a:cs typeface="Arial"/>
              </a:rPr>
              <a:t>2D</a:t>
            </a:r>
            <a:r>
              <a:rPr sz="2150" spc="35" dirty="0">
                <a:solidFill>
                  <a:srgbClr val="24292E"/>
                </a:solidFill>
                <a:latin typeface="Arial"/>
                <a:cs typeface="Arial"/>
              </a:rPr>
              <a:t> </a:t>
            </a:r>
            <a:r>
              <a:rPr sz="2150" spc="-10" dirty="0">
                <a:solidFill>
                  <a:srgbClr val="24292E"/>
                </a:solidFill>
                <a:latin typeface="Arial"/>
                <a:cs typeface="Arial"/>
              </a:rPr>
              <a:t>component</a:t>
            </a:r>
            <a:endParaRPr sz="2150">
              <a:latin typeface="Arial"/>
              <a:cs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object 2"/>
          <p:cNvGrpSpPr/>
          <p:nvPr/>
        </p:nvGrpSpPr>
        <p:grpSpPr>
          <a:xfrm>
            <a:off x="752474" y="742961"/>
            <a:ext cx="10696575" cy="4324350"/>
            <a:chOff x="752474" y="742961"/>
            <a:chExt cx="10696575" cy="4324350"/>
          </a:xfrm>
        </p:grpSpPr>
        <p:sp>
          <p:nvSpPr>
            <p:cNvPr id="3" name="object 3"/>
            <p:cNvSpPr/>
            <p:nvPr/>
          </p:nvSpPr>
          <p:spPr>
            <a:xfrm>
              <a:off x="757237" y="747724"/>
              <a:ext cx="10687050" cy="4314825"/>
            </a:xfrm>
            <a:custGeom>
              <a:avLst/>
              <a:gdLst/>
              <a:ahLst/>
              <a:cxnLst/>
              <a:rect l="l" t="t" r="r" b="b"/>
              <a:pathLst>
                <a:path w="10687050" h="4314825">
                  <a:moveTo>
                    <a:pt x="10666394" y="4314824"/>
                  </a:moveTo>
                  <a:lnTo>
                    <a:pt x="20654" y="4314824"/>
                  </a:lnTo>
                  <a:lnTo>
                    <a:pt x="17617" y="4314220"/>
                  </a:lnTo>
                  <a:lnTo>
                    <a:pt x="0" y="4294169"/>
                  </a:lnTo>
                  <a:lnTo>
                    <a:pt x="0" y="4291012"/>
                  </a:lnTo>
                  <a:lnTo>
                    <a:pt x="0" y="20654"/>
                  </a:lnTo>
                  <a:lnTo>
                    <a:pt x="20654" y="0"/>
                  </a:lnTo>
                  <a:lnTo>
                    <a:pt x="10666394" y="0"/>
                  </a:lnTo>
                  <a:lnTo>
                    <a:pt x="10687048" y="20654"/>
                  </a:lnTo>
                  <a:lnTo>
                    <a:pt x="10687048" y="4294169"/>
                  </a:lnTo>
                  <a:lnTo>
                    <a:pt x="10669431" y="4314220"/>
                  </a:lnTo>
                  <a:lnTo>
                    <a:pt x="10666394" y="4314824"/>
                  </a:lnTo>
                  <a:close/>
                </a:path>
              </a:pathLst>
            </a:custGeom>
            <a:solidFill>
              <a:srgbClr val="F5F7FA"/>
            </a:solidFill>
          </p:spPr>
          <p:txBody>
            <a:bodyPr wrap="square" lIns="0" tIns="0" rIns="0" bIns="0" rtlCol="0"/>
            <a:lstStyle/>
            <a:p>
              <a:endParaRPr/>
            </a:p>
          </p:txBody>
        </p:sp>
        <p:sp>
          <p:nvSpPr>
            <p:cNvPr id="4" name="object 4"/>
            <p:cNvSpPr/>
            <p:nvPr/>
          </p:nvSpPr>
          <p:spPr>
            <a:xfrm>
              <a:off x="757237" y="747724"/>
              <a:ext cx="10687050" cy="4314825"/>
            </a:xfrm>
            <a:custGeom>
              <a:avLst/>
              <a:gdLst/>
              <a:ahLst/>
              <a:cxnLst/>
              <a:rect l="l" t="t" r="r" b="b"/>
              <a:pathLst>
                <a:path w="10687050" h="4314825">
                  <a:moveTo>
                    <a:pt x="0" y="4291012"/>
                  </a:moveTo>
                  <a:lnTo>
                    <a:pt x="0" y="23812"/>
                  </a:lnTo>
                  <a:lnTo>
                    <a:pt x="0" y="20654"/>
                  </a:lnTo>
                  <a:lnTo>
                    <a:pt x="604" y="17617"/>
                  </a:lnTo>
                  <a:lnTo>
                    <a:pt x="1812" y="14699"/>
                  </a:lnTo>
                  <a:lnTo>
                    <a:pt x="3021" y="11782"/>
                  </a:lnTo>
                  <a:lnTo>
                    <a:pt x="4741" y="9207"/>
                  </a:lnTo>
                  <a:lnTo>
                    <a:pt x="6974" y="6974"/>
                  </a:lnTo>
                  <a:lnTo>
                    <a:pt x="9207" y="4741"/>
                  </a:lnTo>
                  <a:lnTo>
                    <a:pt x="11782" y="3020"/>
                  </a:lnTo>
                  <a:lnTo>
                    <a:pt x="14699" y="1812"/>
                  </a:lnTo>
                  <a:lnTo>
                    <a:pt x="17617" y="604"/>
                  </a:lnTo>
                  <a:lnTo>
                    <a:pt x="20654" y="0"/>
                  </a:lnTo>
                  <a:lnTo>
                    <a:pt x="23812" y="0"/>
                  </a:lnTo>
                  <a:lnTo>
                    <a:pt x="10663236" y="0"/>
                  </a:lnTo>
                  <a:lnTo>
                    <a:pt x="10666394" y="0"/>
                  </a:lnTo>
                  <a:lnTo>
                    <a:pt x="10669431" y="604"/>
                  </a:lnTo>
                  <a:lnTo>
                    <a:pt x="10685235" y="14699"/>
                  </a:lnTo>
                  <a:lnTo>
                    <a:pt x="10686443" y="17617"/>
                  </a:lnTo>
                  <a:lnTo>
                    <a:pt x="10687048" y="20654"/>
                  </a:lnTo>
                  <a:lnTo>
                    <a:pt x="10687049" y="23812"/>
                  </a:lnTo>
                  <a:lnTo>
                    <a:pt x="10687049" y="4291012"/>
                  </a:lnTo>
                  <a:lnTo>
                    <a:pt x="10687048" y="4294169"/>
                  </a:lnTo>
                  <a:lnTo>
                    <a:pt x="10686443" y="4297207"/>
                  </a:lnTo>
                  <a:lnTo>
                    <a:pt x="10685235" y="4300124"/>
                  </a:lnTo>
                  <a:lnTo>
                    <a:pt x="10684027" y="4303042"/>
                  </a:lnTo>
                  <a:lnTo>
                    <a:pt x="10663236" y="4314824"/>
                  </a:lnTo>
                  <a:lnTo>
                    <a:pt x="23812" y="4314824"/>
                  </a:lnTo>
                  <a:lnTo>
                    <a:pt x="6974" y="4307850"/>
                  </a:lnTo>
                  <a:lnTo>
                    <a:pt x="4741" y="4305617"/>
                  </a:lnTo>
                  <a:lnTo>
                    <a:pt x="3021" y="4303042"/>
                  </a:lnTo>
                  <a:lnTo>
                    <a:pt x="1812" y="4300124"/>
                  </a:lnTo>
                  <a:lnTo>
                    <a:pt x="604" y="4297207"/>
                  </a:lnTo>
                  <a:lnTo>
                    <a:pt x="0" y="4294169"/>
                  </a:lnTo>
                  <a:lnTo>
                    <a:pt x="0" y="4291012"/>
                  </a:lnTo>
                  <a:close/>
                </a:path>
              </a:pathLst>
            </a:custGeom>
            <a:ln w="9524">
              <a:solidFill>
                <a:srgbClr val="999999"/>
              </a:solidFill>
            </a:ln>
          </p:spPr>
          <p:txBody>
            <a:bodyPr wrap="square" lIns="0" tIns="0" rIns="0" bIns="0" rtlCol="0"/>
            <a:lstStyle/>
            <a:p>
              <a:endParaRPr/>
            </a:p>
          </p:txBody>
        </p:sp>
      </p:grpSp>
      <p:sp>
        <p:nvSpPr>
          <p:cNvPr id="5" name="object 5"/>
          <p:cNvSpPr txBox="1">
            <a:spLocks noGrp="1"/>
          </p:cNvSpPr>
          <p:nvPr>
            <p:ph type="title"/>
          </p:nvPr>
        </p:nvSpPr>
        <p:spPr>
          <a:xfrm>
            <a:off x="1417835" y="847895"/>
            <a:ext cx="5445125" cy="307340"/>
          </a:xfrm>
          <a:prstGeom prst="rect">
            <a:avLst/>
          </a:prstGeom>
        </p:spPr>
        <p:txBody>
          <a:bodyPr vert="horz" wrap="square" lIns="0" tIns="12065" rIns="0" bIns="0" rtlCol="0">
            <a:spAutoFit/>
          </a:bodyPr>
          <a:lstStyle/>
          <a:p>
            <a:pPr marL="12700">
              <a:lnSpc>
                <a:spcPct val="100000"/>
              </a:lnSpc>
              <a:spcBef>
                <a:spcPts val="95"/>
              </a:spcBef>
            </a:pPr>
            <a:r>
              <a:rPr sz="1850" b="0" dirty="0">
                <a:solidFill>
                  <a:srgbClr val="D63A49"/>
                </a:solidFill>
                <a:latin typeface="Consolas"/>
                <a:cs typeface="Consolas"/>
              </a:rPr>
              <a:t>void</a:t>
            </a:r>
            <a:r>
              <a:rPr sz="1850" b="0" spc="-85" dirty="0">
                <a:solidFill>
                  <a:srgbClr val="D63A49"/>
                </a:solidFill>
                <a:latin typeface="Consolas"/>
                <a:cs typeface="Consolas"/>
              </a:rPr>
              <a:t> </a:t>
            </a:r>
            <a:r>
              <a:rPr sz="1850" b="0" dirty="0">
                <a:solidFill>
                  <a:srgbClr val="6F41C1"/>
                </a:solidFill>
                <a:latin typeface="Consolas"/>
                <a:cs typeface="Consolas"/>
              </a:rPr>
              <a:t>OnCollisionEnter2D</a:t>
            </a:r>
            <a:r>
              <a:rPr sz="1850" b="0" dirty="0">
                <a:solidFill>
                  <a:srgbClr val="24292E"/>
                </a:solidFill>
                <a:latin typeface="Consolas"/>
                <a:cs typeface="Consolas"/>
              </a:rPr>
              <a:t>(Collision2D</a:t>
            </a:r>
            <a:r>
              <a:rPr sz="1850" b="0" spc="-85" dirty="0">
                <a:solidFill>
                  <a:srgbClr val="24292E"/>
                </a:solidFill>
                <a:latin typeface="Consolas"/>
                <a:cs typeface="Consolas"/>
              </a:rPr>
              <a:t> </a:t>
            </a:r>
            <a:r>
              <a:rPr sz="1850" b="0" spc="-10" dirty="0">
                <a:solidFill>
                  <a:srgbClr val="24292E"/>
                </a:solidFill>
                <a:latin typeface="Consolas"/>
                <a:cs typeface="Consolas"/>
              </a:rPr>
              <a:t>other)</a:t>
            </a:r>
            <a:endParaRPr sz="1850">
              <a:latin typeface="Consolas"/>
              <a:cs typeface="Consolas"/>
            </a:endParaRPr>
          </a:p>
        </p:txBody>
      </p:sp>
      <p:sp>
        <p:nvSpPr>
          <p:cNvPr id="6" name="object 6"/>
          <p:cNvSpPr txBox="1"/>
          <p:nvPr/>
        </p:nvSpPr>
        <p:spPr>
          <a:xfrm>
            <a:off x="1417860" y="1114595"/>
            <a:ext cx="6993890" cy="2707640"/>
          </a:xfrm>
          <a:prstGeom prst="rect">
            <a:avLst/>
          </a:prstGeom>
        </p:spPr>
        <p:txBody>
          <a:bodyPr vert="horz" wrap="square" lIns="0" tIns="12065" rIns="0" bIns="0" rtlCol="0">
            <a:spAutoFit/>
          </a:bodyPr>
          <a:lstStyle/>
          <a:p>
            <a:pPr marL="12700">
              <a:lnSpc>
                <a:spcPts val="2160"/>
              </a:lnSpc>
              <a:spcBef>
                <a:spcPts val="95"/>
              </a:spcBef>
            </a:pPr>
            <a:r>
              <a:rPr sz="1850" spc="-50" dirty="0">
                <a:solidFill>
                  <a:srgbClr val="24292E"/>
                </a:solidFill>
                <a:latin typeface="Consolas"/>
                <a:cs typeface="Consolas"/>
              </a:rPr>
              <a:t>{</a:t>
            </a:r>
            <a:endParaRPr sz="1850">
              <a:latin typeface="Consolas"/>
              <a:cs typeface="Consolas"/>
            </a:endParaRPr>
          </a:p>
          <a:p>
            <a:pPr marL="528320">
              <a:lnSpc>
                <a:spcPts val="2100"/>
              </a:lnSpc>
            </a:pPr>
            <a:r>
              <a:rPr sz="1850" dirty="0">
                <a:solidFill>
                  <a:srgbClr val="959895"/>
                </a:solidFill>
                <a:latin typeface="Consolas"/>
                <a:cs typeface="Consolas"/>
              </a:rPr>
              <a:t>//Debugging</a:t>
            </a:r>
            <a:r>
              <a:rPr sz="1850" spc="-30" dirty="0">
                <a:solidFill>
                  <a:srgbClr val="959895"/>
                </a:solidFill>
                <a:latin typeface="Consolas"/>
                <a:cs typeface="Consolas"/>
              </a:rPr>
              <a:t> </a:t>
            </a:r>
            <a:r>
              <a:rPr sz="1850" dirty="0">
                <a:solidFill>
                  <a:srgbClr val="959895"/>
                </a:solidFill>
                <a:latin typeface="Consolas"/>
                <a:cs typeface="Consolas"/>
              </a:rPr>
              <a:t>code,</a:t>
            </a:r>
            <a:r>
              <a:rPr sz="1850" spc="-30" dirty="0">
                <a:solidFill>
                  <a:srgbClr val="959895"/>
                </a:solidFill>
                <a:latin typeface="Consolas"/>
                <a:cs typeface="Consolas"/>
              </a:rPr>
              <a:t> </a:t>
            </a:r>
            <a:r>
              <a:rPr sz="1850" dirty="0">
                <a:solidFill>
                  <a:srgbClr val="959895"/>
                </a:solidFill>
                <a:latin typeface="Consolas"/>
                <a:cs typeface="Consolas"/>
              </a:rPr>
              <a:t>commented</a:t>
            </a:r>
            <a:r>
              <a:rPr sz="1850" spc="-30" dirty="0">
                <a:solidFill>
                  <a:srgbClr val="959895"/>
                </a:solidFill>
                <a:latin typeface="Consolas"/>
                <a:cs typeface="Consolas"/>
              </a:rPr>
              <a:t> </a:t>
            </a:r>
            <a:r>
              <a:rPr sz="1850" dirty="0">
                <a:solidFill>
                  <a:srgbClr val="959895"/>
                </a:solidFill>
                <a:latin typeface="Consolas"/>
                <a:cs typeface="Consolas"/>
              </a:rPr>
              <a:t>out</a:t>
            </a:r>
            <a:r>
              <a:rPr sz="1850" spc="-30" dirty="0">
                <a:solidFill>
                  <a:srgbClr val="959895"/>
                </a:solidFill>
                <a:latin typeface="Consolas"/>
                <a:cs typeface="Consolas"/>
              </a:rPr>
              <a:t> </a:t>
            </a:r>
            <a:r>
              <a:rPr sz="1850" dirty="0">
                <a:solidFill>
                  <a:srgbClr val="959895"/>
                </a:solidFill>
                <a:latin typeface="Consolas"/>
                <a:cs typeface="Consolas"/>
              </a:rPr>
              <a:t>for</a:t>
            </a:r>
            <a:r>
              <a:rPr sz="1850" spc="-30" dirty="0">
                <a:solidFill>
                  <a:srgbClr val="959895"/>
                </a:solidFill>
                <a:latin typeface="Consolas"/>
                <a:cs typeface="Consolas"/>
              </a:rPr>
              <a:t> </a:t>
            </a:r>
            <a:r>
              <a:rPr sz="1850" dirty="0">
                <a:solidFill>
                  <a:srgbClr val="959895"/>
                </a:solidFill>
                <a:latin typeface="Consolas"/>
                <a:cs typeface="Consolas"/>
              </a:rPr>
              <a:t>final</a:t>
            </a:r>
            <a:r>
              <a:rPr sz="1850" spc="-30" dirty="0">
                <a:solidFill>
                  <a:srgbClr val="959895"/>
                </a:solidFill>
                <a:latin typeface="Consolas"/>
                <a:cs typeface="Consolas"/>
              </a:rPr>
              <a:t> </a:t>
            </a:r>
            <a:r>
              <a:rPr sz="1850" spc="-10" dirty="0">
                <a:solidFill>
                  <a:srgbClr val="959895"/>
                </a:solidFill>
                <a:latin typeface="Consolas"/>
                <a:cs typeface="Consolas"/>
              </a:rPr>
              <a:t>version.</a:t>
            </a:r>
            <a:endParaRPr sz="1850">
              <a:latin typeface="Consolas"/>
              <a:cs typeface="Consolas"/>
            </a:endParaRPr>
          </a:p>
          <a:p>
            <a:pPr marL="528320">
              <a:lnSpc>
                <a:spcPts val="2160"/>
              </a:lnSpc>
            </a:pPr>
            <a:r>
              <a:rPr sz="1850" dirty="0">
                <a:solidFill>
                  <a:srgbClr val="959895"/>
                </a:solidFill>
                <a:latin typeface="Consolas"/>
                <a:cs typeface="Consolas"/>
              </a:rPr>
              <a:t>//Debug.Log("We've</a:t>
            </a:r>
            <a:r>
              <a:rPr sz="1850" spc="-55" dirty="0">
                <a:solidFill>
                  <a:srgbClr val="959895"/>
                </a:solidFill>
                <a:latin typeface="Consolas"/>
                <a:cs typeface="Consolas"/>
              </a:rPr>
              <a:t> </a:t>
            </a:r>
            <a:r>
              <a:rPr sz="1850" dirty="0">
                <a:solidFill>
                  <a:srgbClr val="959895"/>
                </a:solidFill>
                <a:latin typeface="Consolas"/>
                <a:cs typeface="Consolas"/>
              </a:rPr>
              <a:t>hit</a:t>
            </a:r>
            <a:r>
              <a:rPr sz="1850" spc="-50" dirty="0">
                <a:solidFill>
                  <a:srgbClr val="959895"/>
                </a:solidFill>
                <a:latin typeface="Consolas"/>
                <a:cs typeface="Consolas"/>
              </a:rPr>
              <a:t> </a:t>
            </a:r>
            <a:r>
              <a:rPr sz="1850" spc="-10" dirty="0">
                <a:solidFill>
                  <a:srgbClr val="959895"/>
                </a:solidFill>
                <a:latin typeface="Consolas"/>
                <a:cs typeface="Consolas"/>
              </a:rPr>
              <a:t>something");</a:t>
            </a:r>
            <a:endParaRPr sz="1850">
              <a:latin typeface="Consolas"/>
              <a:cs typeface="Consolas"/>
            </a:endParaRPr>
          </a:p>
          <a:p>
            <a:pPr marL="528320">
              <a:lnSpc>
                <a:spcPts val="2160"/>
              </a:lnSpc>
              <a:spcBef>
                <a:spcPts val="1980"/>
              </a:spcBef>
            </a:pPr>
            <a:r>
              <a:rPr sz="1850" dirty="0">
                <a:solidFill>
                  <a:srgbClr val="959895"/>
                </a:solidFill>
                <a:latin typeface="Consolas"/>
                <a:cs typeface="Consolas"/>
              </a:rPr>
              <a:t>//If</a:t>
            </a:r>
            <a:r>
              <a:rPr sz="1850" spc="-35" dirty="0">
                <a:solidFill>
                  <a:srgbClr val="959895"/>
                </a:solidFill>
                <a:latin typeface="Consolas"/>
                <a:cs typeface="Consolas"/>
              </a:rPr>
              <a:t> </a:t>
            </a:r>
            <a:r>
              <a:rPr sz="1850" dirty="0">
                <a:solidFill>
                  <a:srgbClr val="959895"/>
                </a:solidFill>
                <a:latin typeface="Consolas"/>
                <a:cs typeface="Consolas"/>
              </a:rPr>
              <a:t>the</a:t>
            </a:r>
            <a:r>
              <a:rPr sz="1850" spc="-25" dirty="0">
                <a:solidFill>
                  <a:srgbClr val="959895"/>
                </a:solidFill>
                <a:latin typeface="Consolas"/>
                <a:cs typeface="Consolas"/>
              </a:rPr>
              <a:t> </a:t>
            </a:r>
            <a:r>
              <a:rPr sz="1850" dirty="0">
                <a:solidFill>
                  <a:srgbClr val="959895"/>
                </a:solidFill>
                <a:latin typeface="Consolas"/>
                <a:cs typeface="Consolas"/>
              </a:rPr>
              <a:t>object</a:t>
            </a:r>
            <a:r>
              <a:rPr sz="1850" spc="-25" dirty="0">
                <a:solidFill>
                  <a:srgbClr val="959895"/>
                </a:solidFill>
                <a:latin typeface="Consolas"/>
                <a:cs typeface="Consolas"/>
              </a:rPr>
              <a:t> </a:t>
            </a:r>
            <a:r>
              <a:rPr sz="1850" dirty="0">
                <a:solidFill>
                  <a:srgbClr val="959895"/>
                </a:solidFill>
                <a:latin typeface="Consolas"/>
                <a:cs typeface="Consolas"/>
              </a:rPr>
              <a:t>we</a:t>
            </a:r>
            <a:r>
              <a:rPr sz="1850" spc="-20" dirty="0">
                <a:solidFill>
                  <a:srgbClr val="959895"/>
                </a:solidFill>
                <a:latin typeface="Consolas"/>
                <a:cs typeface="Consolas"/>
              </a:rPr>
              <a:t> </a:t>
            </a:r>
            <a:r>
              <a:rPr sz="1850" dirty="0">
                <a:solidFill>
                  <a:srgbClr val="959895"/>
                </a:solidFill>
                <a:latin typeface="Consolas"/>
                <a:cs typeface="Consolas"/>
              </a:rPr>
              <a:t>collided</a:t>
            </a:r>
            <a:r>
              <a:rPr sz="1850" spc="-25" dirty="0">
                <a:solidFill>
                  <a:srgbClr val="959895"/>
                </a:solidFill>
                <a:latin typeface="Consolas"/>
                <a:cs typeface="Consolas"/>
              </a:rPr>
              <a:t> </a:t>
            </a:r>
            <a:r>
              <a:rPr sz="1850" dirty="0">
                <a:solidFill>
                  <a:srgbClr val="959895"/>
                </a:solidFill>
                <a:latin typeface="Consolas"/>
                <a:cs typeface="Consolas"/>
              </a:rPr>
              <a:t>with</a:t>
            </a:r>
            <a:r>
              <a:rPr sz="1850" spc="-25" dirty="0">
                <a:solidFill>
                  <a:srgbClr val="959895"/>
                </a:solidFill>
                <a:latin typeface="Consolas"/>
                <a:cs typeface="Consolas"/>
              </a:rPr>
              <a:t> </a:t>
            </a:r>
            <a:r>
              <a:rPr sz="1850" dirty="0">
                <a:solidFill>
                  <a:srgbClr val="959895"/>
                </a:solidFill>
                <a:latin typeface="Consolas"/>
                <a:cs typeface="Consolas"/>
              </a:rPr>
              <a:t>(other</a:t>
            </a:r>
            <a:r>
              <a:rPr sz="1850" spc="-20" dirty="0">
                <a:solidFill>
                  <a:srgbClr val="959895"/>
                </a:solidFill>
                <a:latin typeface="Consolas"/>
                <a:cs typeface="Consolas"/>
              </a:rPr>
              <a:t> </a:t>
            </a:r>
            <a:r>
              <a:rPr sz="1850" spc="-25" dirty="0">
                <a:solidFill>
                  <a:srgbClr val="959895"/>
                </a:solidFill>
                <a:latin typeface="Consolas"/>
                <a:cs typeface="Consolas"/>
              </a:rPr>
              <a:t>has</a:t>
            </a:r>
            <a:endParaRPr sz="1850">
              <a:latin typeface="Consolas"/>
              <a:cs typeface="Consolas"/>
            </a:endParaRPr>
          </a:p>
          <a:p>
            <a:pPr marL="528320">
              <a:lnSpc>
                <a:spcPts val="2100"/>
              </a:lnSpc>
            </a:pPr>
            <a:r>
              <a:rPr sz="1850" dirty="0">
                <a:solidFill>
                  <a:srgbClr val="959895"/>
                </a:solidFill>
                <a:latin typeface="Consolas"/>
                <a:cs typeface="Consolas"/>
              </a:rPr>
              <a:t>//a</a:t>
            </a:r>
            <a:r>
              <a:rPr sz="1850" spc="-50" dirty="0">
                <a:solidFill>
                  <a:srgbClr val="959895"/>
                </a:solidFill>
                <a:latin typeface="Consolas"/>
                <a:cs typeface="Consolas"/>
              </a:rPr>
              <a:t> </a:t>
            </a:r>
            <a:r>
              <a:rPr sz="1850" dirty="0">
                <a:solidFill>
                  <a:srgbClr val="959895"/>
                </a:solidFill>
                <a:latin typeface="Consolas"/>
                <a:cs typeface="Consolas"/>
              </a:rPr>
              <a:t>PlayerMovement</a:t>
            </a:r>
            <a:r>
              <a:rPr sz="1850" spc="-40" dirty="0">
                <a:solidFill>
                  <a:srgbClr val="959895"/>
                </a:solidFill>
                <a:latin typeface="Consolas"/>
                <a:cs typeface="Consolas"/>
              </a:rPr>
              <a:t> </a:t>
            </a:r>
            <a:r>
              <a:rPr sz="1850" dirty="0">
                <a:solidFill>
                  <a:srgbClr val="959895"/>
                </a:solidFill>
                <a:latin typeface="Consolas"/>
                <a:cs typeface="Consolas"/>
              </a:rPr>
              <a:t>(script)</a:t>
            </a:r>
            <a:r>
              <a:rPr sz="1850" spc="-40" dirty="0">
                <a:solidFill>
                  <a:srgbClr val="959895"/>
                </a:solidFill>
                <a:latin typeface="Consolas"/>
                <a:cs typeface="Consolas"/>
              </a:rPr>
              <a:t> </a:t>
            </a:r>
            <a:r>
              <a:rPr sz="1850" dirty="0">
                <a:solidFill>
                  <a:srgbClr val="959895"/>
                </a:solidFill>
                <a:latin typeface="Consolas"/>
                <a:cs typeface="Consolas"/>
              </a:rPr>
              <a:t>object</a:t>
            </a:r>
            <a:r>
              <a:rPr sz="1850" spc="-35" dirty="0">
                <a:solidFill>
                  <a:srgbClr val="959895"/>
                </a:solidFill>
                <a:latin typeface="Consolas"/>
                <a:cs typeface="Consolas"/>
              </a:rPr>
              <a:t> </a:t>
            </a:r>
            <a:r>
              <a:rPr sz="1850" spc="-10" dirty="0">
                <a:solidFill>
                  <a:srgbClr val="959895"/>
                </a:solidFill>
                <a:latin typeface="Consolas"/>
                <a:cs typeface="Consolas"/>
              </a:rPr>
              <a:t>attached,</a:t>
            </a:r>
            <a:endParaRPr sz="1850">
              <a:latin typeface="Consolas"/>
              <a:cs typeface="Consolas"/>
            </a:endParaRPr>
          </a:p>
          <a:p>
            <a:pPr marL="528320">
              <a:lnSpc>
                <a:spcPts val="2160"/>
              </a:lnSpc>
            </a:pPr>
            <a:r>
              <a:rPr sz="1850" dirty="0">
                <a:solidFill>
                  <a:srgbClr val="959895"/>
                </a:solidFill>
                <a:latin typeface="Consolas"/>
                <a:cs typeface="Consolas"/>
              </a:rPr>
              <a:t>//its</a:t>
            </a:r>
            <a:r>
              <a:rPr sz="1850" spc="-20" dirty="0">
                <a:solidFill>
                  <a:srgbClr val="959895"/>
                </a:solidFill>
                <a:latin typeface="Consolas"/>
                <a:cs typeface="Consolas"/>
              </a:rPr>
              <a:t> </a:t>
            </a:r>
            <a:r>
              <a:rPr sz="1850" dirty="0">
                <a:solidFill>
                  <a:srgbClr val="959895"/>
                </a:solidFill>
                <a:latin typeface="Consolas"/>
                <a:cs typeface="Consolas"/>
              </a:rPr>
              <a:t>the</a:t>
            </a:r>
            <a:r>
              <a:rPr sz="1850" spc="-20" dirty="0">
                <a:solidFill>
                  <a:srgbClr val="959895"/>
                </a:solidFill>
                <a:latin typeface="Consolas"/>
                <a:cs typeface="Consolas"/>
              </a:rPr>
              <a:t> </a:t>
            </a:r>
            <a:r>
              <a:rPr sz="1850" spc="-10" dirty="0">
                <a:solidFill>
                  <a:srgbClr val="959895"/>
                </a:solidFill>
                <a:latin typeface="Consolas"/>
                <a:cs typeface="Consolas"/>
              </a:rPr>
              <a:t>Ninja</a:t>
            </a:r>
            <a:endParaRPr sz="1850">
              <a:latin typeface="Consolas"/>
              <a:cs typeface="Consolas"/>
            </a:endParaRPr>
          </a:p>
          <a:p>
            <a:pPr marL="528320" marR="391795">
              <a:lnSpc>
                <a:spcPts val="2100"/>
              </a:lnSpc>
              <a:spcBef>
                <a:spcPts val="2150"/>
              </a:spcBef>
            </a:pPr>
            <a:r>
              <a:rPr sz="1850" dirty="0">
                <a:solidFill>
                  <a:srgbClr val="24292E"/>
                </a:solidFill>
                <a:latin typeface="Consolas"/>
                <a:cs typeface="Consolas"/>
              </a:rPr>
              <a:t>PlayerMovement</a:t>
            </a:r>
            <a:r>
              <a:rPr sz="1850" spc="-40" dirty="0">
                <a:solidFill>
                  <a:srgbClr val="24292E"/>
                </a:solidFill>
                <a:latin typeface="Consolas"/>
                <a:cs typeface="Consolas"/>
              </a:rPr>
              <a:t> </a:t>
            </a:r>
            <a:r>
              <a:rPr sz="1850" dirty="0">
                <a:solidFill>
                  <a:srgbClr val="24292E"/>
                </a:solidFill>
                <a:latin typeface="Consolas"/>
                <a:cs typeface="Consolas"/>
              </a:rPr>
              <a:t>pm</a:t>
            </a:r>
            <a:r>
              <a:rPr sz="1850" spc="-40" dirty="0">
                <a:solidFill>
                  <a:srgbClr val="24292E"/>
                </a:solidFill>
                <a:latin typeface="Consolas"/>
                <a:cs typeface="Consolas"/>
              </a:rPr>
              <a:t> </a:t>
            </a:r>
            <a:r>
              <a:rPr sz="1850" spc="-50" dirty="0">
                <a:solidFill>
                  <a:srgbClr val="24292E"/>
                </a:solidFill>
                <a:latin typeface="Consolas"/>
                <a:cs typeface="Consolas"/>
              </a:rPr>
              <a:t>= </a:t>
            </a:r>
            <a:r>
              <a:rPr sz="1850" spc="-10" dirty="0">
                <a:solidFill>
                  <a:srgbClr val="24292E"/>
                </a:solidFill>
                <a:latin typeface="Consolas"/>
                <a:cs typeface="Consolas"/>
              </a:rPr>
              <a:t>other.gameObject.GetComponent&lt;PlayerMovement&gt;()</a:t>
            </a:r>
            <a:endParaRPr sz="1850">
              <a:latin typeface="Consolas"/>
              <a:cs typeface="Consolas"/>
            </a:endParaRPr>
          </a:p>
        </p:txBody>
      </p:sp>
      <p:sp>
        <p:nvSpPr>
          <p:cNvPr id="7" name="object 7"/>
          <p:cNvSpPr txBox="1"/>
          <p:nvPr/>
        </p:nvSpPr>
        <p:spPr>
          <a:xfrm>
            <a:off x="1933971" y="4048295"/>
            <a:ext cx="283845" cy="574040"/>
          </a:xfrm>
          <a:prstGeom prst="rect">
            <a:avLst/>
          </a:prstGeom>
        </p:spPr>
        <p:txBody>
          <a:bodyPr vert="horz" wrap="square" lIns="0" tIns="12065" rIns="0" bIns="0" rtlCol="0">
            <a:spAutoFit/>
          </a:bodyPr>
          <a:lstStyle/>
          <a:p>
            <a:pPr marL="12700">
              <a:lnSpc>
                <a:spcPts val="2160"/>
              </a:lnSpc>
              <a:spcBef>
                <a:spcPts val="95"/>
              </a:spcBef>
            </a:pPr>
            <a:r>
              <a:rPr sz="1850" spc="-25" dirty="0">
                <a:solidFill>
                  <a:srgbClr val="959895"/>
                </a:solidFill>
                <a:latin typeface="Consolas"/>
                <a:cs typeface="Consolas"/>
              </a:rPr>
              <a:t>//</a:t>
            </a:r>
            <a:endParaRPr sz="1850">
              <a:latin typeface="Consolas"/>
              <a:cs typeface="Consolas"/>
            </a:endParaRPr>
          </a:p>
          <a:p>
            <a:pPr marL="12700">
              <a:lnSpc>
                <a:spcPts val="2160"/>
              </a:lnSpc>
            </a:pPr>
            <a:r>
              <a:rPr sz="1850" spc="-25" dirty="0">
                <a:solidFill>
                  <a:srgbClr val="959895"/>
                </a:solidFill>
                <a:latin typeface="Consolas"/>
                <a:cs typeface="Consolas"/>
              </a:rPr>
              <a:t>//</a:t>
            </a:r>
            <a:endParaRPr sz="1850">
              <a:latin typeface="Consolas"/>
              <a:cs typeface="Consolas"/>
            </a:endParaRPr>
          </a:p>
        </p:txBody>
      </p:sp>
      <p:sp>
        <p:nvSpPr>
          <p:cNvPr id="8" name="object 8"/>
          <p:cNvSpPr txBox="1"/>
          <p:nvPr/>
        </p:nvSpPr>
        <p:spPr>
          <a:xfrm>
            <a:off x="2837253" y="4048295"/>
            <a:ext cx="4413250" cy="574040"/>
          </a:xfrm>
          <a:prstGeom prst="rect">
            <a:avLst/>
          </a:prstGeom>
        </p:spPr>
        <p:txBody>
          <a:bodyPr vert="horz" wrap="square" lIns="0" tIns="33655" rIns="0" bIns="0" rtlCol="0">
            <a:spAutoFit/>
          </a:bodyPr>
          <a:lstStyle/>
          <a:p>
            <a:pPr marL="528320" marR="5080" indent="-516255">
              <a:lnSpc>
                <a:spcPts val="2100"/>
              </a:lnSpc>
              <a:spcBef>
                <a:spcPts val="265"/>
              </a:spcBef>
            </a:pPr>
            <a:r>
              <a:rPr sz="1850" spc="-10" dirty="0">
                <a:solidFill>
                  <a:srgbClr val="959895"/>
                </a:solidFill>
                <a:latin typeface="Consolas"/>
                <a:cs typeface="Consolas"/>
              </a:rPr>
              <a:t>^-</a:t>
            </a:r>
            <a:r>
              <a:rPr sz="1850" dirty="0">
                <a:solidFill>
                  <a:srgbClr val="959895"/>
                </a:solidFill>
                <a:latin typeface="Consolas"/>
                <a:cs typeface="Consolas"/>
              </a:rPr>
              <a:t>-</a:t>
            </a:r>
            <a:r>
              <a:rPr sz="1850" spc="-20" dirty="0">
                <a:solidFill>
                  <a:srgbClr val="959895"/>
                </a:solidFill>
                <a:latin typeface="Consolas"/>
                <a:cs typeface="Consolas"/>
              </a:rPr>
              <a:t> </a:t>
            </a:r>
            <a:r>
              <a:rPr sz="1850" dirty="0">
                <a:solidFill>
                  <a:srgbClr val="959895"/>
                </a:solidFill>
                <a:latin typeface="Consolas"/>
                <a:cs typeface="Consolas"/>
              </a:rPr>
              <a:t>get</a:t>
            </a:r>
            <a:r>
              <a:rPr sz="1850" spc="-20" dirty="0">
                <a:solidFill>
                  <a:srgbClr val="959895"/>
                </a:solidFill>
                <a:latin typeface="Consolas"/>
                <a:cs typeface="Consolas"/>
              </a:rPr>
              <a:t> </a:t>
            </a:r>
            <a:r>
              <a:rPr sz="1850" dirty="0">
                <a:solidFill>
                  <a:srgbClr val="959895"/>
                </a:solidFill>
                <a:latin typeface="Consolas"/>
                <a:cs typeface="Consolas"/>
              </a:rPr>
              <a:t>the</a:t>
            </a:r>
            <a:r>
              <a:rPr sz="1850" spc="-20" dirty="0">
                <a:solidFill>
                  <a:srgbClr val="959895"/>
                </a:solidFill>
                <a:latin typeface="Consolas"/>
                <a:cs typeface="Consolas"/>
              </a:rPr>
              <a:t> </a:t>
            </a:r>
            <a:r>
              <a:rPr sz="1850" dirty="0">
                <a:solidFill>
                  <a:srgbClr val="959895"/>
                </a:solidFill>
                <a:latin typeface="Consolas"/>
                <a:cs typeface="Consolas"/>
              </a:rPr>
              <a:t>associated</a:t>
            </a:r>
            <a:r>
              <a:rPr sz="1850" spc="-20" dirty="0">
                <a:solidFill>
                  <a:srgbClr val="959895"/>
                </a:solidFill>
                <a:latin typeface="Consolas"/>
                <a:cs typeface="Consolas"/>
              </a:rPr>
              <a:t> </a:t>
            </a:r>
            <a:r>
              <a:rPr sz="1850" dirty="0">
                <a:solidFill>
                  <a:srgbClr val="959895"/>
                </a:solidFill>
                <a:latin typeface="Consolas"/>
                <a:cs typeface="Consolas"/>
              </a:rPr>
              <a:t>game</a:t>
            </a:r>
            <a:r>
              <a:rPr sz="1850" spc="-15" dirty="0">
                <a:solidFill>
                  <a:srgbClr val="959895"/>
                </a:solidFill>
                <a:latin typeface="Consolas"/>
                <a:cs typeface="Consolas"/>
              </a:rPr>
              <a:t> </a:t>
            </a:r>
            <a:r>
              <a:rPr sz="1850" spc="-10" dirty="0">
                <a:solidFill>
                  <a:srgbClr val="959895"/>
                </a:solidFill>
                <a:latin typeface="Consolas"/>
                <a:cs typeface="Consolas"/>
              </a:rPr>
              <a:t>object </a:t>
            </a:r>
            <a:r>
              <a:rPr sz="1850" dirty="0">
                <a:solidFill>
                  <a:srgbClr val="959895"/>
                </a:solidFill>
                <a:latin typeface="Consolas"/>
                <a:cs typeface="Consolas"/>
              </a:rPr>
              <a:t>call</a:t>
            </a:r>
            <a:r>
              <a:rPr sz="1850" spc="-30" dirty="0">
                <a:solidFill>
                  <a:srgbClr val="959895"/>
                </a:solidFill>
                <a:latin typeface="Consolas"/>
                <a:cs typeface="Consolas"/>
              </a:rPr>
              <a:t> </a:t>
            </a:r>
            <a:r>
              <a:rPr sz="1850" dirty="0">
                <a:solidFill>
                  <a:srgbClr val="959895"/>
                </a:solidFill>
                <a:latin typeface="Consolas"/>
                <a:cs typeface="Consolas"/>
              </a:rPr>
              <a:t>its</a:t>
            </a:r>
            <a:r>
              <a:rPr sz="1850" spc="-15" dirty="0">
                <a:solidFill>
                  <a:srgbClr val="959895"/>
                </a:solidFill>
                <a:latin typeface="Consolas"/>
                <a:cs typeface="Consolas"/>
              </a:rPr>
              <a:t> </a:t>
            </a:r>
            <a:r>
              <a:rPr sz="1850" spc="-10" dirty="0">
                <a:solidFill>
                  <a:srgbClr val="959895"/>
                </a:solidFill>
                <a:latin typeface="Consolas"/>
                <a:cs typeface="Consolas"/>
              </a:rPr>
              <a:t>GetComponent()</a:t>
            </a:r>
            <a:endParaRPr sz="1850">
              <a:latin typeface="Consolas"/>
              <a:cs typeface="Consolas"/>
            </a:endParaRPr>
          </a:p>
        </p:txBody>
      </p:sp>
      <p:pic>
        <p:nvPicPr>
          <p:cNvPr id="9" name="object 9"/>
          <p:cNvPicPr/>
          <p:nvPr/>
        </p:nvPicPr>
        <p:blipFill>
          <a:blip r:embed="rId2" cstate="print"/>
          <a:stretch>
            <a:fillRect/>
          </a:stretch>
        </p:blipFill>
        <p:spPr>
          <a:xfrm>
            <a:off x="1076324" y="5391161"/>
            <a:ext cx="85725" cy="85724"/>
          </a:xfrm>
          <a:prstGeom prst="rect">
            <a:avLst/>
          </a:prstGeom>
        </p:spPr>
      </p:pic>
      <p:pic>
        <p:nvPicPr>
          <p:cNvPr id="10" name="object 10"/>
          <p:cNvPicPr/>
          <p:nvPr/>
        </p:nvPicPr>
        <p:blipFill>
          <a:blip r:embed="rId2" cstate="print"/>
          <a:stretch>
            <a:fillRect/>
          </a:stretch>
        </p:blipFill>
        <p:spPr>
          <a:xfrm>
            <a:off x="1076324" y="5876936"/>
            <a:ext cx="85725" cy="85724"/>
          </a:xfrm>
          <a:prstGeom prst="rect">
            <a:avLst/>
          </a:prstGeom>
        </p:spPr>
      </p:pic>
      <p:sp>
        <p:nvSpPr>
          <p:cNvPr id="11" name="object 11"/>
          <p:cNvSpPr/>
          <p:nvPr/>
        </p:nvSpPr>
        <p:spPr>
          <a:xfrm>
            <a:off x="2009774" y="5781686"/>
            <a:ext cx="295275" cy="323850"/>
          </a:xfrm>
          <a:custGeom>
            <a:avLst/>
            <a:gdLst/>
            <a:ahLst/>
            <a:cxnLst/>
            <a:rect l="l" t="t" r="r" b="b"/>
            <a:pathLst>
              <a:path w="295275" h="323850">
                <a:moveTo>
                  <a:pt x="270489" y="323849"/>
                </a:moveTo>
                <a:lnTo>
                  <a:pt x="24785" y="323849"/>
                </a:lnTo>
                <a:lnTo>
                  <a:pt x="21140" y="323124"/>
                </a:lnTo>
                <a:lnTo>
                  <a:pt x="0" y="299063"/>
                </a:lnTo>
                <a:lnTo>
                  <a:pt x="0" y="295274"/>
                </a:lnTo>
                <a:lnTo>
                  <a:pt x="0" y="24785"/>
                </a:lnTo>
                <a:lnTo>
                  <a:pt x="24785" y="0"/>
                </a:lnTo>
                <a:lnTo>
                  <a:pt x="270489" y="0"/>
                </a:lnTo>
                <a:lnTo>
                  <a:pt x="295274" y="24785"/>
                </a:lnTo>
                <a:lnTo>
                  <a:pt x="295274" y="299063"/>
                </a:lnTo>
                <a:lnTo>
                  <a:pt x="274134" y="323124"/>
                </a:lnTo>
                <a:lnTo>
                  <a:pt x="270489" y="323849"/>
                </a:lnTo>
                <a:close/>
              </a:path>
            </a:pathLst>
          </a:custGeom>
          <a:solidFill>
            <a:srgbClr val="1B1F23">
              <a:alpha val="5099"/>
            </a:srgbClr>
          </a:solidFill>
        </p:spPr>
        <p:txBody>
          <a:bodyPr wrap="square" lIns="0" tIns="0" rIns="0" bIns="0" rtlCol="0"/>
          <a:lstStyle/>
          <a:p>
            <a:endParaRPr/>
          </a:p>
        </p:txBody>
      </p:sp>
      <p:sp>
        <p:nvSpPr>
          <p:cNvPr id="12" name="object 12"/>
          <p:cNvSpPr txBox="1"/>
          <p:nvPr/>
        </p:nvSpPr>
        <p:spPr>
          <a:xfrm>
            <a:off x="1287462" y="5071756"/>
            <a:ext cx="8602345" cy="996950"/>
          </a:xfrm>
          <a:prstGeom prst="rect">
            <a:avLst/>
          </a:prstGeom>
        </p:spPr>
        <p:txBody>
          <a:bodyPr vert="horz" wrap="square" lIns="0" tIns="170180" rIns="0" bIns="0" rtlCol="0">
            <a:spAutoFit/>
          </a:bodyPr>
          <a:lstStyle/>
          <a:p>
            <a:pPr marL="12700">
              <a:lnSpc>
                <a:spcPct val="100000"/>
              </a:lnSpc>
              <a:spcBef>
                <a:spcPts val="1340"/>
              </a:spcBef>
            </a:pPr>
            <a:r>
              <a:rPr sz="2150" dirty="0">
                <a:solidFill>
                  <a:srgbClr val="24292E"/>
                </a:solidFill>
                <a:latin typeface="Arial"/>
                <a:cs typeface="Arial"/>
              </a:rPr>
              <a:t>Note</a:t>
            </a:r>
            <a:r>
              <a:rPr sz="2150" spc="5" dirty="0">
                <a:solidFill>
                  <a:srgbClr val="24292E"/>
                </a:solidFill>
                <a:latin typeface="Arial"/>
                <a:cs typeface="Arial"/>
              </a:rPr>
              <a:t> </a:t>
            </a:r>
            <a:r>
              <a:rPr sz="2150" dirty="0">
                <a:solidFill>
                  <a:srgbClr val="24292E"/>
                </a:solidFill>
                <a:latin typeface="Arial"/>
                <a:cs typeface="Arial"/>
              </a:rPr>
              <a:t>debugging</a:t>
            </a:r>
            <a:r>
              <a:rPr sz="2150" spc="5" dirty="0">
                <a:solidFill>
                  <a:srgbClr val="24292E"/>
                </a:solidFill>
                <a:latin typeface="Arial"/>
                <a:cs typeface="Arial"/>
              </a:rPr>
              <a:t> </a:t>
            </a:r>
            <a:r>
              <a:rPr sz="2150" spc="-20" dirty="0">
                <a:solidFill>
                  <a:srgbClr val="24292E"/>
                </a:solidFill>
                <a:latin typeface="Arial"/>
                <a:cs typeface="Arial"/>
              </a:rPr>
              <a:t>code</a:t>
            </a:r>
            <a:endParaRPr sz="2150">
              <a:latin typeface="Arial"/>
              <a:cs typeface="Arial"/>
            </a:endParaRPr>
          </a:p>
          <a:p>
            <a:pPr marL="12700">
              <a:lnSpc>
                <a:spcPct val="100000"/>
              </a:lnSpc>
              <a:spcBef>
                <a:spcPts val="1245"/>
              </a:spcBef>
              <a:tabLst>
                <a:tab pos="803910" algn="l"/>
              </a:tabLst>
            </a:pPr>
            <a:r>
              <a:rPr sz="2150" spc="-20" dirty="0">
                <a:solidFill>
                  <a:srgbClr val="24292E"/>
                </a:solidFill>
                <a:latin typeface="Arial"/>
                <a:cs typeface="Arial"/>
              </a:rPr>
              <a:t>Uses</a:t>
            </a:r>
            <a:r>
              <a:rPr sz="2150" dirty="0">
                <a:solidFill>
                  <a:srgbClr val="24292E"/>
                </a:solidFill>
                <a:latin typeface="Arial"/>
                <a:cs typeface="Arial"/>
              </a:rPr>
              <a:t>	</a:t>
            </a:r>
            <a:r>
              <a:rPr sz="1850" dirty="0">
                <a:solidFill>
                  <a:srgbClr val="24292E"/>
                </a:solidFill>
                <a:latin typeface="Consolas"/>
                <a:cs typeface="Consolas"/>
              </a:rPr>
              <a:t>.</a:t>
            </a:r>
            <a:r>
              <a:rPr sz="1850" spc="270" dirty="0">
                <a:solidFill>
                  <a:srgbClr val="24292E"/>
                </a:solidFill>
                <a:latin typeface="Consolas"/>
                <a:cs typeface="Consolas"/>
              </a:rPr>
              <a:t> </a:t>
            </a:r>
            <a:r>
              <a:rPr sz="2150" dirty="0">
                <a:solidFill>
                  <a:srgbClr val="24292E"/>
                </a:solidFill>
                <a:latin typeface="Arial"/>
                <a:cs typeface="Arial"/>
              </a:rPr>
              <a:t>notation</a:t>
            </a:r>
            <a:r>
              <a:rPr sz="2150" spc="20" dirty="0">
                <a:solidFill>
                  <a:srgbClr val="24292E"/>
                </a:solidFill>
                <a:latin typeface="Arial"/>
                <a:cs typeface="Arial"/>
              </a:rPr>
              <a:t> </a:t>
            </a:r>
            <a:r>
              <a:rPr sz="2150" dirty="0">
                <a:solidFill>
                  <a:srgbClr val="24292E"/>
                </a:solidFill>
                <a:latin typeface="Arial"/>
                <a:cs typeface="Arial"/>
              </a:rPr>
              <a:t>to</a:t>
            </a:r>
            <a:r>
              <a:rPr sz="2150" spc="20" dirty="0">
                <a:solidFill>
                  <a:srgbClr val="24292E"/>
                </a:solidFill>
                <a:latin typeface="Arial"/>
                <a:cs typeface="Arial"/>
              </a:rPr>
              <a:t> </a:t>
            </a:r>
            <a:r>
              <a:rPr sz="2150" dirty="0">
                <a:solidFill>
                  <a:srgbClr val="24292E"/>
                </a:solidFill>
                <a:latin typeface="Arial"/>
                <a:cs typeface="Arial"/>
              </a:rPr>
              <a:t>extract</a:t>
            </a:r>
            <a:r>
              <a:rPr sz="2150" spc="15" dirty="0">
                <a:solidFill>
                  <a:srgbClr val="24292E"/>
                </a:solidFill>
                <a:latin typeface="Arial"/>
                <a:cs typeface="Arial"/>
              </a:rPr>
              <a:t> </a:t>
            </a:r>
            <a:r>
              <a:rPr sz="2150" dirty="0">
                <a:solidFill>
                  <a:srgbClr val="24292E"/>
                </a:solidFill>
                <a:latin typeface="Arial"/>
                <a:cs typeface="Arial"/>
              </a:rPr>
              <a:t>associated</a:t>
            </a:r>
            <a:r>
              <a:rPr sz="2150" spc="15" dirty="0">
                <a:solidFill>
                  <a:srgbClr val="24292E"/>
                </a:solidFill>
                <a:latin typeface="Arial"/>
                <a:cs typeface="Arial"/>
              </a:rPr>
              <a:t> </a:t>
            </a:r>
            <a:r>
              <a:rPr sz="2150" dirty="0">
                <a:solidFill>
                  <a:srgbClr val="24292E"/>
                </a:solidFill>
                <a:latin typeface="Arial"/>
                <a:cs typeface="Arial"/>
              </a:rPr>
              <a:t>component</a:t>
            </a:r>
            <a:r>
              <a:rPr sz="2150" spc="20" dirty="0">
                <a:solidFill>
                  <a:srgbClr val="24292E"/>
                </a:solidFill>
                <a:latin typeface="Arial"/>
                <a:cs typeface="Arial"/>
              </a:rPr>
              <a:t> </a:t>
            </a:r>
            <a:r>
              <a:rPr sz="2150" dirty="0">
                <a:solidFill>
                  <a:srgbClr val="24292E"/>
                </a:solidFill>
                <a:latin typeface="Arial"/>
                <a:cs typeface="Arial"/>
              </a:rPr>
              <a:t>and</a:t>
            </a:r>
            <a:r>
              <a:rPr sz="2150" spc="15" dirty="0">
                <a:solidFill>
                  <a:srgbClr val="24292E"/>
                </a:solidFill>
                <a:latin typeface="Arial"/>
                <a:cs typeface="Arial"/>
              </a:rPr>
              <a:t> </a:t>
            </a:r>
            <a:r>
              <a:rPr sz="2150" dirty="0">
                <a:solidFill>
                  <a:srgbClr val="24292E"/>
                </a:solidFill>
                <a:latin typeface="Arial"/>
                <a:cs typeface="Arial"/>
              </a:rPr>
              <a:t>call</a:t>
            </a:r>
            <a:r>
              <a:rPr sz="2150" spc="15" dirty="0">
                <a:solidFill>
                  <a:srgbClr val="24292E"/>
                </a:solidFill>
                <a:latin typeface="Arial"/>
                <a:cs typeface="Arial"/>
              </a:rPr>
              <a:t> </a:t>
            </a:r>
            <a:r>
              <a:rPr sz="2150" dirty="0">
                <a:solidFill>
                  <a:srgbClr val="24292E"/>
                </a:solidFill>
                <a:latin typeface="Arial"/>
                <a:cs typeface="Arial"/>
              </a:rPr>
              <a:t>its</a:t>
            </a:r>
            <a:r>
              <a:rPr sz="2150" spc="20" dirty="0">
                <a:solidFill>
                  <a:srgbClr val="24292E"/>
                </a:solidFill>
                <a:latin typeface="Arial"/>
                <a:cs typeface="Arial"/>
              </a:rPr>
              <a:t> </a:t>
            </a:r>
            <a:r>
              <a:rPr sz="2150" spc="-10" dirty="0">
                <a:solidFill>
                  <a:srgbClr val="24292E"/>
                </a:solidFill>
                <a:latin typeface="Arial"/>
                <a:cs typeface="Arial"/>
              </a:rPr>
              <a:t>method.</a:t>
            </a:r>
            <a:endParaRPr sz="2150">
              <a:latin typeface="Arial"/>
              <a:cs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object 2"/>
          <p:cNvGrpSpPr/>
          <p:nvPr/>
        </p:nvGrpSpPr>
        <p:grpSpPr>
          <a:xfrm>
            <a:off x="752474" y="1371599"/>
            <a:ext cx="10696575" cy="2190750"/>
            <a:chOff x="752474" y="1371599"/>
            <a:chExt cx="10696575" cy="2190750"/>
          </a:xfrm>
        </p:grpSpPr>
        <p:sp>
          <p:nvSpPr>
            <p:cNvPr id="3" name="object 3"/>
            <p:cNvSpPr/>
            <p:nvPr/>
          </p:nvSpPr>
          <p:spPr>
            <a:xfrm>
              <a:off x="757237" y="1376362"/>
              <a:ext cx="10687050" cy="2181225"/>
            </a:xfrm>
            <a:custGeom>
              <a:avLst/>
              <a:gdLst/>
              <a:ahLst/>
              <a:cxnLst/>
              <a:rect l="l" t="t" r="r" b="b"/>
              <a:pathLst>
                <a:path w="10687050" h="2181225">
                  <a:moveTo>
                    <a:pt x="10666394" y="2181224"/>
                  </a:moveTo>
                  <a:lnTo>
                    <a:pt x="20654" y="2181224"/>
                  </a:lnTo>
                  <a:lnTo>
                    <a:pt x="17617" y="2180619"/>
                  </a:lnTo>
                  <a:lnTo>
                    <a:pt x="0" y="2160569"/>
                  </a:lnTo>
                  <a:lnTo>
                    <a:pt x="0" y="2157412"/>
                  </a:lnTo>
                  <a:lnTo>
                    <a:pt x="0" y="20654"/>
                  </a:lnTo>
                  <a:lnTo>
                    <a:pt x="20654" y="0"/>
                  </a:lnTo>
                  <a:lnTo>
                    <a:pt x="10666394" y="0"/>
                  </a:lnTo>
                  <a:lnTo>
                    <a:pt x="10687048" y="20654"/>
                  </a:lnTo>
                  <a:lnTo>
                    <a:pt x="10687048" y="2160569"/>
                  </a:lnTo>
                  <a:lnTo>
                    <a:pt x="10669431" y="2180620"/>
                  </a:lnTo>
                  <a:lnTo>
                    <a:pt x="10666394" y="2181224"/>
                  </a:lnTo>
                  <a:close/>
                </a:path>
              </a:pathLst>
            </a:custGeom>
            <a:solidFill>
              <a:srgbClr val="F5F7FA"/>
            </a:solidFill>
          </p:spPr>
          <p:txBody>
            <a:bodyPr wrap="square" lIns="0" tIns="0" rIns="0" bIns="0" rtlCol="0"/>
            <a:lstStyle/>
            <a:p>
              <a:endParaRPr/>
            </a:p>
          </p:txBody>
        </p:sp>
        <p:sp>
          <p:nvSpPr>
            <p:cNvPr id="4" name="object 4"/>
            <p:cNvSpPr/>
            <p:nvPr/>
          </p:nvSpPr>
          <p:spPr>
            <a:xfrm>
              <a:off x="757237" y="1376362"/>
              <a:ext cx="10687050" cy="2181225"/>
            </a:xfrm>
            <a:custGeom>
              <a:avLst/>
              <a:gdLst/>
              <a:ahLst/>
              <a:cxnLst/>
              <a:rect l="l" t="t" r="r" b="b"/>
              <a:pathLst>
                <a:path w="10687050" h="2181225">
                  <a:moveTo>
                    <a:pt x="0" y="2157412"/>
                  </a:moveTo>
                  <a:lnTo>
                    <a:pt x="0" y="23812"/>
                  </a:lnTo>
                  <a:lnTo>
                    <a:pt x="0" y="20654"/>
                  </a:lnTo>
                  <a:lnTo>
                    <a:pt x="604" y="17617"/>
                  </a:lnTo>
                  <a:lnTo>
                    <a:pt x="1812" y="14699"/>
                  </a:lnTo>
                  <a:lnTo>
                    <a:pt x="3021" y="11782"/>
                  </a:lnTo>
                  <a:lnTo>
                    <a:pt x="4741" y="9207"/>
                  </a:lnTo>
                  <a:lnTo>
                    <a:pt x="6974" y="6974"/>
                  </a:lnTo>
                  <a:lnTo>
                    <a:pt x="9207" y="4741"/>
                  </a:lnTo>
                  <a:lnTo>
                    <a:pt x="11782" y="3020"/>
                  </a:lnTo>
                  <a:lnTo>
                    <a:pt x="14699" y="1812"/>
                  </a:lnTo>
                  <a:lnTo>
                    <a:pt x="17617" y="604"/>
                  </a:lnTo>
                  <a:lnTo>
                    <a:pt x="20654" y="0"/>
                  </a:lnTo>
                  <a:lnTo>
                    <a:pt x="23812" y="0"/>
                  </a:lnTo>
                  <a:lnTo>
                    <a:pt x="10663236" y="0"/>
                  </a:lnTo>
                  <a:lnTo>
                    <a:pt x="10666394" y="0"/>
                  </a:lnTo>
                  <a:lnTo>
                    <a:pt x="10669431" y="604"/>
                  </a:lnTo>
                  <a:lnTo>
                    <a:pt x="10685235" y="14699"/>
                  </a:lnTo>
                  <a:lnTo>
                    <a:pt x="10686443" y="17617"/>
                  </a:lnTo>
                  <a:lnTo>
                    <a:pt x="10687048" y="20654"/>
                  </a:lnTo>
                  <a:lnTo>
                    <a:pt x="10687049" y="23812"/>
                  </a:lnTo>
                  <a:lnTo>
                    <a:pt x="10687049" y="2157412"/>
                  </a:lnTo>
                  <a:lnTo>
                    <a:pt x="10687048" y="2160569"/>
                  </a:lnTo>
                  <a:lnTo>
                    <a:pt x="10686443" y="2163607"/>
                  </a:lnTo>
                  <a:lnTo>
                    <a:pt x="10685235" y="2166524"/>
                  </a:lnTo>
                  <a:lnTo>
                    <a:pt x="10684027" y="2169441"/>
                  </a:lnTo>
                  <a:lnTo>
                    <a:pt x="10663236" y="2181224"/>
                  </a:lnTo>
                  <a:lnTo>
                    <a:pt x="23812" y="2181224"/>
                  </a:lnTo>
                  <a:lnTo>
                    <a:pt x="0" y="2160569"/>
                  </a:lnTo>
                  <a:lnTo>
                    <a:pt x="0" y="2157412"/>
                  </a:lnTo>
                  <a:close/>
                </a:path>
              </a:pathLst>
            </a:custGeom>
            <a:ln w="9524">
              <a:solidFill>
                <a:srgbClr val="999999"/>
              </a:solidFill>
            </a:ln>
          </p:spPr>
          <p:txBody>
            <a:bodyPr wrap="square" lIns="0" tIns="0" rIns="0" bIns="0" rtlCol="0"/>
            <a:lstStyle/>
            <a:p>
              <a:endParaRPr/>
            </a:p>
          </p:txBody>
        </p:sp>
      </p:grpSp>
      <p:sp>
        <p:nvSpPr>
          <p:cNvPr id="5" name="object 5"/>
          <p:cNvSpPr txBox="1">
            <a:spLocks noGrp="1"/>
          </p:cNvSpPr>
          <p:nvPr>
            <p:ph type="title"/>
          </p:nvPr>
        </p:nvSpPr>
        <p:spPr>
          <a:xfrm>
            <a:off x="1933971" y="1476533"/>
            <a:ext cx="1574165" cy="307340"/>
          </a:xfrm>
          <a:prstGeom prst="rect">
            <a:avLst/>
          </a:prstGeom>
        </p:spPr>
        <p:txBody>
          <a:bodyPr vert="horz" wrap="square" lIns="0" tIns="12065" rIns="0" bIns="0" rtlCol="0">
            <a:spAutoFit/>
          </a:bodyPr>
          <a:lstStyle/>
          <a:p>
            <a:pPr marL="12700">
              <a:lnSpc>
                <a:spcPct val="100000"/>
              </a:lnSpc>
              <a:spcBef>
                <a:spcPts val="95"/>
              </a:spcBef>
            </a:pPr>
            <a:r>
              <a:rPr sz="1850" b="0" dirty="0">
                <a:solidFill>
                  <a:srgbClr val="D63A49"/>
                </a:solidFill>
                <a:latin typeface="Consolas"/>
                <a:cs typeface="Consolas"/>
              </a:rPr>
              <a:t>if</a:t>
            </a:r>
            <a:r>
              <a:rPr sz="1850" b="0" dirty="0">
                <a:solidFill>
                  <a:srgbClr val="24292E"/>
                </a:solidFill>
                <a:latin typeface="Consolas"/>
                <a:cs typeface="Consolas"/>
              </a:rPr>
              <a:t>(</a:t>
            </a:r>
            <a:r>
              <a:rPr sz="1850" b="0" spc="-15" dirty="0">
                <a:solidFill>
                  <a:srgbClr val="24292E"/>
                </a:solidFill>
                <a:latin typeface="Consolas"/>
                <a:cs typeface="Consolas"/>
              </a:rPr>
              <a:t> </a:t>
            </a:r>
            <a:r>
              <a:rPr sz="1850" b="0" dirty="0">
                <a:solidFill>
                  <a:srgbClr val="24292E"/>
                </a:solidFill>
                <a:latin typeface="Consolas"/>
                <a:cs typeface="Consolas"/>
              </a:rPr>
              <a:t>!=</a:t>
            </a:r>
            <a:r>
              <a:rPr sz="1850" b="0" spc="-10" dirty="0">
                <a:solidFill>
                  <a:srgbClr val="24292E"/>
                </a:solidFill>
                <a:latin typeface="Consolas"/>
                <a:cs typeface="Consolas"/>
              </a:rPr>
              <a:t> </a:t>
            </a:r>
            <a:r>
              <a:rPr sz="1850" b="0" spc="-10" dirty="0">
                <a:solidFill>
                  <a:srgbClr val="0086B3"/>
                </a:solidFill>
                <a:latin typeface="Consolas"/>
                <a:cs typeface="Consolas"/>
              </a:rPr>
              <a:t>null</a:t>
            </a:r>
            <a:r>
              <a:rPr sz="1850" b="0" spc="-10" dirty="0">
                <a:solidFill>
                  <a:srgbClr val="24292E"/>
                </a:solidFill>
                <a:latin typeface="Consolas"/>
                <a:cs typeface="Consolas"/>
              </a:rPr>
              <a:t>)</a:t>
            </a:r>
            <a:endParaRPr sz="1850">
              <a:latin typeface="Consolas"/>
              <a:cs typeface="Consolas"/>
            </a:endParaRPr>
          </a:p>
        </p:txBody>
      </p:sp>
      <p:pic>
        <p:nvPicPr>
          <p:cNvPr id="6" name="object 6"/>
          <p:cNvPicPr/>
          <p:nvPr/>
        </p:nvPicPr>
        <p:blipFill>
          <a:blip r:embed="rId2" cstate="print"/>
          <a:stretch>
            <a:fillRect/>
          </a:stretch>
        </p:blipFill>
        <p:spPr>
          <a:xfrm>
            <a:off x="1076324" y="3886199"/>
            <a:ext cx="85725" cy="85724"/>
          </a:xfrm>
          <a:prstGeom prst="rect">
            <a:avLst/>
          </a:prstGeom>
        </p:spPr>
      </p:pic>
      <p:pic>
        <p:nvPicPr>
          <p:cNvPr id="7" name="object 7"/>
          <p:cNvPicPr/>
          <p:nvPr/>
        </p:nvPicPr>
        <p:blipFill>
          <a:blip r:embed="rId3" cstate="print"/>
          <a:stretch>
            <a:fillRect/>
          </a:stretch>
        </p:blipFill>
        <p:spPr>
          <a:xfrm>
            <a:off x="1624012" y="4291012"/>
            <a:ext cx="95250" cy="95249"/>
          </a:xfrm>
          <a:prstGeom prst="rect">
            <a:avLst/>
          </a:prstGeom>
        </p:spPr>
      </p:pic>
      <p:pic>
        <p:nvPicPr>
          <p:cNvPr id="8" name="object 8"/>
          <p:cNvPicPr/>
          <p:nvPr/>
        </p:nvPicPr>
        <p:blipFill>
          <a:blip r:embed="rId3" cstate="print"/>
          <a:stretch>
            <a:fillRect/>
          </a:stretch>
        </p:blipFill>
        <p:spPr>
          <a:xfrm>
            <a:off x="1624012" y="4767262"/>
            <a:ext cx="95250" cy="95249"/>
          </a:xfrm>
          <a:prstGeom prst="rect">
            <a:avLst/>
          </a:prstGeom>
        </p:spPr>
      </p:pic>
      <p:pic>
        <p:nvPicPr>
          <p:cNvPr id="9" name="object 9"/>
          <p:cNvPicPr/>
          <p:nvPr/>
        </p:nvPicPr>
        <p:blipFill>
          <a:blip r:embed="rId2" cstate="print"/>
          <a:stretch>
            <a:fillRect/>
          </a:stretch>
        </p:blipFill>
        <p:spPr>
          <a:xfrm>
            <a:off x="1076324" y="5248274"/>
            <a:ext cx="85725" cy="85724"/>
          </a:xfrm>
          <a:prstGeom prst="rect">
            <a:avLst/>
          </a:prstGeom>
        </p:spPr>
      </p:pic>
      <p:sp>
        <p:nvSpPr>
          <p:cNvPr id="10" name="object 10"/>
          <p:cNvSpPr/>
          <p:nvPr/>
        </p:nvSpPr>
        <p:spPr>
          <a:xfrm>
            <a:off x="1304924" y="5153024"/>
            <a:ext cx="1714500" cy="323850"/>
          </a:xfrm>
          <a:custGeom>
            <a:avLst/>
            <a:gdLst/>
            <a:ahLst/>
            <a:cxnLst/>
            <a:rect l="l" t="t" r="r" b="b"/>
            <a:pathLst>
              <a:path w="1714500" h="323850">
                <a:moveTo>
                  <a:pt x="1689714" y="323849"/>
                </a:moveTo>
                <a:lnTo>
                  <a:pt x="24785" y="323849"/>
                </a:lnTo>
                <a:lnTo>
                  <a:pt x="21140" y="323124"/>
                </a:lnTo>
                <a:lnTo>
                  <a:pt x="0" y="299063"/>
                </a:lnTo>
                <a:lnTo>
                  <a:pt x="0" y="295274"/>
                </a:lnTo>
                <a:lnTo>
                  <a:pt x="0" y="24785"/>
                </a:lnTo>
                <a:lnTo>
                  <a:pt x="24785" y="0"/>
                </a:lnTo>
                <a:lnTo>
                  <a:pt x="1689714" y="0"/>
                </a:lnTo>
                <a:lnTo>
                  <a:pt x="1714499" y="24785"/>
                </a:lnTo>
                <a:lnTo>
                  <a:pt x="1714499" y="299063"/>
                </a:lnTo>
                <a:lnTo>
                  <a:pt x="1693359" y="323124"/>
                </a:lnTo>
                <a:lnTo>
                  <a:pt x="1689714" y="323849"/>
                </a:lnTo>
                <a:close/>
              </a:path>
            </a:pathLst>
          </a:custGeom>
          <a:solidFill>
            <a:srgbClr val="1B1F23">
              <a:alpha val="5099"/>
            </a:srgbClr>
          </a:solidFill>
        </p:spPr>
        <p:txBody>
          <a:bodyPr wrap="square" lIns="0" tIns="0" rIns="0" bIns="0" rtlCol="0"/>
          <a:lstStyle/>
          <a:p>
            <a:endParaRPr/>
          </a:p>
        </p:txBody>
      </p:sp>
      <p:sp>
        <p:nvSpPr>
          <p:cNvPr id="11" name="object 11"/>
          <p:cNvSpPr txBox="1"/>
          <p:nvPr/>
        </p:nvSpPr>
        <p:spPr>
          <a:xfrm>
            <a:off x="901700" y="1743233"/>
            <a:ext cx="8364855" cy="3696970"/>
          </a:xfrm>
          <a:prstGeom prst="rect">
            <a:avLst/>
          </a:prstGeom>
        </p:spPr>
        <p:txBody>
          <a:bodyPr vert="horz" wrap="square" lIns="0" tIns="12065" rIns="0" bIns="0" rtlCol="0">
            <a:spAutoFit/>
          </a:bodyPr>
          <a:lstStyle/>
          <a:p>
            <a:pPr marL="1044575">
              <a:lnSpc>
                <a:spcPts val="2160"/>
              </a:lnSpc>
              <a:spcBef>
                <a:spcPts val="95"/>
              </a:spcBef>
            </a:pPr>
            <a:r>
              <a:rPr sz="1850" spc="-50" dirty="0">
                <a:solidFill>
                  <a:srgbClr val="24292E"/>
                </a:solidFill>
                <a:latin typeface="Consolas"/>
                <a:cs typeface="Consolas"/>
              </a:rPr>
              <a:t>{</a:t>
            </a:r>
            <a:endParaRPr sz="1850">
              <a:latin typeface="Consolas"/>
              <a:cs typeface="Consolas"/>
            </a:endParaRPr>
          </a:p>
          <a:p>
            <a:pPr marL="1560830" marR="1246505">
              <a:lnSpc>
                <a:spcPts val="2100"/>
              </a:lnSpc>
              <a:spcBef>
                <a:spcPts val="110"/>
              </a:spcBef>
            </a:pPr>
            <a:r>
              <a:rPr sz="1850" dirty="0">
                <a:solidFill>
                  <a:srgbClr val="24292E"/>
                </a:solidFill>
                <a:latin typeface="Consolas"/>
                <a:cs typeface="Consolas"/>
              </a:rPr>
              <a:t>Time.timeScale</a:t>
            </a:r>
            <a:r>
              <a:rPr sz="1850" spc="-30" dirty="0">
                <a:solidFill>
                  <a:srgbClr val="24292E"/>
                </a:solidFill>
                <a:latin typeface="Consolas"/>
                <a:cs typeface="Consolas"/>
              </a:rPr>
              <a:t> </a:t>
            </a:r>
            <a:r>
              <a:rPr sz="1850" dirty="0">
                <a:solidFill>
                  <a:srgbClr val="24292E"/>
                </a:solidFill>
                <a:latin typeface="Consolas"/>
                <a:cs typeface="Consolas"/>
              </a:rPr>
              <a:t>=</a:t>
            </a:r>
            <a:r>
              <a:rPr sz="1850" spc="-20" dirty="0">
                <a:solidFill>
                  <a:srgbClr val="24292E"/>
                </a:solidFill>
                <a:latin typeface="Consolas"/>
                <a:cs typeface="Consolas"/>
              </a:rPr>
              <a:t> </a:t>
            </a:r>
            <a:r>
              <a:rPr sz="1850" dirty="0">
                <a:solidFill>
                  <a:srgbClr val="005CC4"/>
                </a:solidFill>
                <a:latin typeface="Consolas"/>
                <a:cs typeface="Consolas"/>
              </a:rPr>
              <a:t>0</a:t>
            </a:r>
            <a:r>
              <a:rPr sz="1850" dirty="0">
                <a:solidFill>
                  <a:srgbClr val="24292E"/>
                </a:solidFill>
                <a:latin typeface="Consolas"/>
                <a:cs typeface="Consolas"/>
              </a:rPr>
              <a:t>;</a:t>
            </a:r>
            <a:r>
              <a:rPr sz="1850" spc="-20" dirty="0">
                <a:solidFill>
                  <a:srgbClr val="24292E"/>
                </a:solidFill>
                <a:latin typeface="Consolas"/>
                <a:cs typeface="Consolas"/>
              </a:rPr>
              <a:t> </a:t>
            </a:r>
            <a:r>
              <a:rPr sz="1850" dirty="0">
                <a:solidFill>
                  <a:srgbClr val="959895"/>
                </a:solidFill>
                <a:latin typeface="Consolas"/>
                <a:cs typeface="Consolas"/>
              </a:rPr>
              <a:t>//</a:t>
            </a:r>
            <a:r>
              <a:rPr sz="1850" spc="-20" dirty="0">
                <a:solidFill>
                  <a:srgbClr val="959895"/>
                </a:solidFill>
                <a:latin typeface="Consolas"/>
                <a:cs typeface="Consolas"/>
              </a:rPr>
              <a:t> </a:t>
            </a:r>
            <a:r>
              <a:rPr sz="1850" dirty="0">
                <a:solidFill>
                  <a:srgbClr val="959895"/>
                </a:solidFill>
                <a:latin typeface="Consolas"/>
                <a:cs typeface="Consolas"/>
              </a:rPr>
              <a:t>Stop</a:t>
            </a:r>
            <a:r>
              <a:rPr sz="1850" spc="-20" dirty="0">
                <a:solidFill>
                  <a:srgbClr val="959895"/>
                </a:solidFill>
                <a:latin typeface="Consolas"/>
                <a:cs typeface="Consolas"/>
              </a:rPr>
              <a:t> </a:t>
            </a:r>
            <a:r>
              <a:rPr sz="1850" dirty="0">
                <a:solidFill>
                  <a:srgbClr val="959895"/>
                </a:solidFill>
                <a:latin typeface="Consolas"/>
                <a:cs typeface="Consolas"/>
              </a:rPr>
              <a:t>time</a:t>
            </a:r>
            <a:r>
              <a:rPr sz="1850" spc="-20" dirty="0">
                <a:solidFill>
                  <a:srgbClr val="959895"/>
                </a:solidFill>
                <a:latin typeface="Consolas"/>
                <a:cs typeface="Consolas"/>
              </a:rPr>
              <a:t> </a:t>
            </a:r>
            <a:r>
              <a:rPr sz="1850" dirty="0">
                <a:solidFill>
                  <a:srgbClr val="959895"/>
                </a:solidFill>
                <a:latin typeface="Consolas"/>
                <a:cs typeface="Consolas"/>
              </a:rPr>
              <a:t>-</a:t>
            </a:r>
            <a:r>
              <a:rPr sz="1850" spc="-20" dirty="0">
                <a:solidFill>
                  <a:srgbClr val="959895"/>
                </a:solidFill>
                <a:latin typeface="Consolas"/>
                <a:cs typeface="Consolas"/>
              </a:rPr>
              <a:t> </a:t>
            </a:r>
            <a:r>
              <a:rPr sz="1850" dirty="0">
                <a:solidFill>
                  <a:srgbClr val="959895"/>
                </a:solidFill>
                <a:latin typeface="Consolas"/>
                <a:cs typeface="Consolas"/>
              </a:rPr>
              <a:t>end</a:t>
            </a:r>
            <a:r>
              <a:rPr sz="1850" spc="-15" dirty="0">
                <a:solidFill>
                  <a:srgbClr val="959895"/>
                </a:solidFill>
                <a:latin typeface="Consolas"/>
                <a:cs typeface="Consolas"/>
              </a:rPr>
              <a:t> </a:t>
            </a:r>
            <a:r>
              <a:rPr sz="1850" spc="-20" dirty="0">
                <a:solidFill>
                  <a:srgbClr val="959895"/>
                </a:solidFill>
                <a:latin typeface="Consolas"/>
                <a:cs typeface="Consolas"/>
              </a:rPr>
              <a:t>game </a:t>
            </a:r>
            <a:r>
              <a:rPr sz="1850" spc="-10" dirty="0">
                <a:solidFill>
                  <a:srgbClr val="24292E"/>
                </a:solidFill>
                <a:latin typeface="Consolas"/>
                <a:cs typeface="Consolas"/>
              </a:rPr>
              <a:t>Destroy(gameObject);</a:t>
            </a:r>
            <a:endParaRPr sz="1850">
              <a:latin typeface="Consolas"/>
              <a:cs typeface="Consolas"/>
            </a:endParaRPr>
          </a:p>
          <a:p>
            <a:pPr marL="1044575">
              <a:lnSpc>
                <a:spcPts val="1989"/>
              </a:lnSpc>
            </a:pPr>
            <a:r>
              <a:rPr sz="1850" spc="-50" dirty="0">
                <a:solidFill>
                  <a:srgbClr val="24292E"/>
                </a:solidFill>
                <a:latin typeface="Consolas"/>
                <a:cs typeface="Consolas"/>
              </a:rPr>
              <a:t>}</a:t>
            </a:r>
            <a:endParaRPr sz="1850">
              <a:latin typeface="Consolas"/>
              <a:cs typeface="Consolas"/>
            </a:endParaRPr>
          </a:p>
          <a:p>
            <a:pPr marL="528320">
              <a:lnSpc>
                <a:spcPts val="2100"/>
              </a:lnSpc>
            </a:pPr>
            <a:r>
              <a:rPr sz="1850" spc="-50" dirty="0">
                <a:solidFill>
                  <a:srgbClr val="24292E"/>
                </a:solidFill>
                <a:latin typeface="Consolas"/>
                <a:cs typeface="Consolas"/>
              </a:rPr>
              <a:t>}</a:t>
            </a:r>
            <a:endParaRPr sz="1850">
              <a:latin typeface="Consolas"/>
              <a:cs typeface="Consolas"/>
            </a:endParaRPr>
          </a:p>
          <a:p>
            <a:pPr marL="12700">
              <a:lnSpc>
                <a:spcPts val="2160"/>
              </a:lnSpc>
            </a:pPr>
            <a:r>
              <a:rPr sz="1850" spc="-50" dirty="0">
                <a:solidFill>
                  <a:srgbClr val="24292E"/>
                </a:solidFill>
                <a:latin typeface="Consolas"/>
                <a:cs typeface="Consolas"/>
              </a:rPr>
              <a:t>}</a:t>
            </a:r>
            <a:endParaRPr sz="1850">
              <a:latin typeface="Consolas"/>
              <a:cs typeface="Consolas"/>
            </a:endParaRPr>
          </a:p>
          <a:p>
            <a:pPr>
              <a:lnSpc>
                <a:spcPct val="100000"/>
              </a:lnSpc>
              <a:spcBef>
                <a:spcPts val="70"/>
              </a:spcBef>
            </a:pPr>
            <a:endParaRPr sz="1850">
              <a:latin typeface="Consolas"/>
              <a:cs typeface="Consolas"/>
            </a:endParaRPr>
          </a:p>
          <a:p>
            <a:pPr marL="950594" marR="4964430" indent="-552450">
              <a:lnSpc>
                <a:spcPct val="125000"/>
              </a:lnSpc>
            </a:pPr>
            <a:r>
              <a:rPr sz="2150" dirty="0">
                <a:solidFill>
                  <a:srgbClr val="24292E"/>
                </a:solidFill>
                <a:latin typeface="Arial"/>
                <a:cs typeface="Arial"/>
              </a:rPr>
              <a:t>If</a:t>
            </a:r>
            <a:r>
              <a:rPr sz="2150" spc="20" dirty="0">
                <a:solidFill>
                  <a:srgbClr val="24292E"/>
                </a:solidFill>
                <a:latin typeface="Arial"/>
                <a:cs typeface="Arial"/>
              </a:rPr>
              <a:t> </a:t>
            </a:r>
            <a:r>
              <a:rPr sz="2150" dirty="0">
                <a:solidFill>
                  <a:srgbClr val="24292E"/>
                </a:solidFill>
                <a:latin typeface="Arial"/>
                <a:cs typeface="Arial"/>
              </a:rPr>
              <a:t>its</a:t>
            </a:r>
            <a:r>
              <a:rPr sz="2150" spc="20" dirty="0">
                <a:solidFill>
                  <a:srgbClr val="24292E"/>
                </a:solidFill>
                <a:latin typeface="Arial"/>
                <a:cs typeface="Arial"/>
              </a:rPr>
              <a:t> </a:t>
            </a:r>
            <a:r>
              <a:rPr sz="2150" dirty="0">
                <a:solidFill>
                  <a:srgbClr val="24292E"/>
                </a:solidFill>
                <a:latin typeface="Arial"/>
                <a:cs typeface="Arial"/>
              </a:rPr>
              <a:t>the</a:t>
            </a:r>
            <a:r>
              <a:rPr sz="2150" spc="25" dirty="0">
                <a:solidFill>
                  <a:srgbClr val="24292E"/>
                </a:solidFill>
                <a:latin typeface="Arial"/>
                <a:cs typeface="Arial"/>
              </a:rPr>
              <a:t> </a:t>
            </a:r>
            <a:r>
              <a:rPr sz="2150" dirty="0">
                <a:solidFill>
                  <a:srgbClr val="24292E"/>
                </a:solidFill>
                <a:latin typeface="Arial"/>
                <a:cs typeface="Arial"/>
              </a:rPr>
              <a:t>player</a:t>
            </a:r>
            <a:r>
              <a:rPr sz="2150" spc="20" dirty="0">
                <a:solidFill>
                  <a:srgbClr val="24292E"/>
                </a:solidFill>
                <a:latin typeface="Arial"/>
                <a:cs typeface="Arial"/>
              </a:rPr>
              <a:t> </a:t>
            </a:r>
            <a:r>
              <a:rPr sz="2150" dirty="0">
                <a:solidFill>
                  <a:srgbClr val="24292E"/>
                </a:solidFill>
                <a:latin typeface="Arial"/>
                <a:cs typeface="Arial"/>
              </a:rPr>
              <a:t>stop</a:t>
            </a:r>
            <a:r>
              <a:rPr sz="2150" spc="20" dirty="0">
                <a:solidFill>
                  <a:srgbClr val="24292E"/>
                </a:solidFill>
                <a:latin typeface="Arial"/>
                <a:cs typeface="Arial"/>
              </a:rPr>
              <a:t> </a:t>
            </a:r>
            <a:r>
              <a:rPr sz="2150" spc="-20" dirty="0">
                <a:solidFill>
                  <a:srgbClr val="24292E"/>
                </a:solidFill>
                <a:latin typeface="Arial"/>
                <a:cs typeface="Arial"/>
              </a:rPr>
              <a:t>time </a:t>
            </a:r>
            <a:r>
              <a:rPr sz="2150" dirty="0">
                <a:solidFill>
                  <a:srgbClr val="24292E"/>
                </a:solidFill>
                <a:latin typeface="Arial"/>
                <a:cs typeface="Arial"/>
              </a:rPr>
              <a:t>Not</a:t>
            </a:r>
            <a:r>
              <a:rPr sz="2150" spc="30" dirty="0">
                <a:solidFill>
                  <a:srgbClr val="24292E"/>
                </a:solidFill>
                <a:latin typeface="Arial"/>
                <a:cs typeface="Arial"/>
              </a:rPr>
              <a:t> </a:t>
            </a:r>
            <a:r>
              <a:rPr sz="2150" spc="-10" dirty="0">
                <a:solidFill>
                  <a:srgbClr val="24292E"/>
                </a:solidFill>
                <a:latin typeface="Arial"/>
                <a:cs typeface="Arial"/>
              </a:rPr>
              <a:t>ideal</a:t>
            </a:r>
            <a:endParaRPr sz="2150">
              <a:latin typeface="Arial"/>
              <a:cs typeface="Arial"/>
            </a:endParaRPr>
          </a:p>
          <a:p>
            <a:pPr marL="950594">
              <a:lnSpc>
                <a:spcPct val="100000"/>
              </a:lnSpc>
              <a:spcBef>
                <a:spcPts val="1170"/>
              </a:spcBef>
            </a:pPr>
            <a:r>
              <a:rPr sz="2150" dirty="0">
                <a:solidFill>
                  <a:srgbClr val="24292E"/>
                </a:solidFill>
                <a:latin typeface="Arial"/>
                <a:cs typeface="Arial"/>
              </a:rPr>
              <a:t>Need</a:t>
            </a:r>
            <a:r>
              <a:rPr sz="2150" spc="10" dirty="0">
                <a:solidFill>
                  <a:srgbClr val="24292E"/>
                </a:solidFill>
                <a:latin typeface="Arial"/>
                <a:cs typeface="Arial"/>
              </a:rPr>
              <a:t> </a:t>
            </a:r>
            <a:r>
              <a:rPr sz="2150" dirty="0">
                <a:solidFill>
                  <a:srgbClr val="24292E"/>
                </a:solidFill>
                <a:latin typeface="Arial"/>
                <a:cs typeface="Arial"/>
              </a:rPr>
              <a:t>a</a:t>
            </a:r>
            <a:r>
              <a:rPr sz="2150" spc="10" dirty="0">
                <a:solidFill>
                  <a:srgbClr val="24292E"/>
                </a:solidFill>
                <a:latin typeface="Arial"/>
                <a:cs typeface="Arial"/>
              </a:rPr>
              <a:t> </a:t>
            </a:r>
            <a:r>
              <a:rPr sz="2150" dirty="0">
                <a:solidFill>
                  <a:srgbClr val="24292E"/>
                </a:solidFill>
                <a:latin typeface="Arial"/>
                <a:cs typeface="Arial"/>
              </a:rPr>
              <a:t>'something'</a:t>
            </a:r>
            <a:r>
              <a:rPr sz="2150" spc="10" dirty="0">
                <a:solidFill>
                  <a:srgbClr val="24292E"/>
                </a:solidFill>
                <a:latin typeface="Arial"/>
                <a:cs typeface="Arial"/>
              </a:rPr>
              <a:t> </a:t>
            </a:r>
            <a:r>
              <a:rPr sz="2150" dirty="0">
                <a:solidFill>
                  <a:srgbClr val="24292E"/>
                </a:solidFill>
                <a:latin typeface="Arial"/>
                <a:cs typeface="Arial"/>
              </a:rPr>
              <a:t>to</a:t>
            </a:r>
            <a:r>
              <a:rPr sz="2150" spc="10" dirty="0">
                <a:solidFill>
                  <a:srgbClr val="24292E"/>
                </a:solidFill>
                <a:latin typeface="Arial"/>
                <a:cs typeface="Arial"/>
              </a:rPr>
              <a:t> </a:t>
            </a:r>
            <a:r>
              <a:rPr sz="2150" dirty="0">
                <a:solidFill>
                  <a:srgbClr val="24292E"/>
                </a:solidFill>
                <a:latin typeface="Arial"/>
                <a:cs typeface="Arial"/>
              </a:rPr>
              <a:t>track</a:t>
            </a:r>
            <a:r>
              <a:rPr sz="2150" spc="10" dirty="0">
                <a:solidFill>
                  <a:srgbClr val="24292E"/>
                </a:solidFill>
                <a:latin typeface="Arial"/>
                <a:cs typeface="Arial"/>
              </a:rPr>
              <a:t> </a:t>
            </a:r>
            <a:r>
              <a:rPr sz="2150" dirty="0">
                <a:solidFill>
                  <a:srgbClr val="24292E"/>
                </a:solidFill>
                <a:latin typeface="Arial"/>
                <a:cs typeface="Arial"/>
              </a:rPr>
              <a:t>the</a:t>
            </a:r>
            <a:r>
              <a:rPr sz="2150" spc="10" dirty="0">
                <a:solidFill>
                  <a:srgbClr val="24292E"/>
                </a:solidFill>
                <a:latin typeface="Arial"/>
                <a:cs typeface="Arial"/>
              </a:rPr>
              <a:t> </a:t>
            </a:r>
            <a:r>
              <a:rPr sz="2150" dirty="0">
                <a:solidFill>
                  <a:srgbClr val="24292E"/>
                </a:solidFill>
                <a:latin typeface="Arial"/>
                <a:cs typeface="Arial"/>
              </a:rPr>
              <a:t>game</a:t>
            </a:r>
            <a:r>
              <a:rPr sz="2150" spc="10" dirty="0">
                <a:solidFill>
                  <a:srgbClr val="24292E"/>
                </a:solidFill>
                <a:latin typeface="Arial"/>
                <a:cs typeface="Arial"/>
              </a:rPr>
              <a:t> </a:t>
            </a:r>
            <a:r>
              <a:rPr sz="2150" dirty="0">
                <a:solidFill>
                  <a:srgbClr val="24292E"/>
                </a:solidFill>
                <a:latin typeface="Arial"/>
                <a:cs typeface="Arial"/>
              </a:rPr>
              <a:t>state</a:t>
            </a:r>
            <a:r>
              <a:rPr sz="2150" spc="5" dirty="0">
                <a:solidFill>
                  <a:srgbClr val="24292E"/>
                </a:solidFill>
                <a:latin typeface="Arial"/>
                <a:cs typeface="Arial"/>
              </a:rPr>
              <a:t> </a:t>
            </a:r>
            <a:r>
              <a:rPr sz="2150" dirty="0">
                <a:solidFill>
                  <a:srgbClr val="24292E"/>
                </a:solidFill>
                <a:latin typeface="Arial"/>
                <a:cs typeface="Arial"/>
              </a:rPr>
              <a:t>to</a:t>
            </a:r>
            <a:r>
              <a:rPr sz="2150" spc="10" dirty="0">
                <a:solidFill>
                  <a:srgbClr val="24292E"/>
                </a:solidFill>
                <a:latin typeface="Arial"/>
                <a:cs typeface="Arial"/>
              </a:rPr>
              <a:t> </a:t>
            </a:r>
            <a:r>
              <a:rPr sz="2150" dirty="0">
                <a:solidFill>
                  <a:srgbClr val="24292E"/>
                </a:solidFill>
                <a:latin typeface="Arial"/>
                <a:cs typeface="Arial"/>
              </a:rPr>
              <a:t>do</a:t>
            </a:r>
            <a:r>
              <a:rPr sz="2150" spc="10" dirty="0">
                <a:solidFill>
                  <a:srgbClr val="24292E"/>
                </a:solidFill>
                <a:latin typeface="Arial"/>
                <a:cs typeface="Arial"/>
              </a:rPr>
              <a:t> </a:t>
            </a:r>
            <a:r>
              <a:rPr sz="2150" spc="-10" dirty="0">
                <a:solidFill>
                  <a:srgbClr val="24292E"/>
                </a:solidFill>
                <a:latin typeface="Arial"/>
                <a:cs typeface="Arial"/>
              </a:rPr>
              <a:t>more.</a:t>
            </a:r>
            <a:endParaRPr sz="2150">
              <a:latin typeface="Arial"/>
              <a:cs typeface="Arial"/>
            </a:endParaRPr>
          </a:p>
          <a:p>
            <a:pPr marL="483870">
              <a:lnSpc>
                <a:spcPct val="100000"/>
              </a:lnSpc>
              <a:spcBef>
                <a:spcPts val="1170"/>
              </a:spcBef>
            </a:pPr>
            <a:r>
              <a:rPr sz="1850" dirty="0">
                <a:solidFill>
                  <a:srgbClr val="24292E"/>
                </a:solidFill>
                <a:latin typeface="Consolas"/>
                <a:cs typeface="Consolas"/>
              </a:rPr>
              <a:t>Destroy(...)</a:t>
            </a:r>
            <a:r>
              <a:rPr sz="1850" spc="285" dirty="0">
                <a:solidFill>
                  <a:srgbClr val="24292E"/>
                </a:solidFill>
                <a:latin typeface="Consolas"/>
                <a:cs typeface="Consolas"/>
              </a:rPr>
              <a:t> </a:t>
            </a:r>
            <a:r>
              <a:rPr sz="2150" dirty="0">
                <a:solidFill>
                  <a:srgbClr val="24292E"/>
                </a:solidFill>
                <a:latin typeface="Arial"/>
                <a:cs typeface="Arial"/>
              </a:rPr>
              <a:t>-</a:t>
            </a:r>
            <a:r>
              <a:rPr sz="2150" spc="25" dirty="0">
                <a:solidFill>
                  <a:srgbClr val="24292E"/>
                </a:solidFill>
                <a:latin typeface="Arial"/>
                <a:cs typeface="Arial"/>
              </a:rPr>
              <a:t> </a:t>
            </a:r>
            <a:r>
              <a:rPr sz="2150" dirty="0">
                <a:solidFill>
                  <a:srgbClr val="24292E"/>
                </a:solidFill>
                <a:latin typeface="Arial"/>
                <a:cs typeface="Arial"/>
              </a:rPr>
              <a:t>Removes</a:t>
            </a:r>
            <a:r>
              <a:rPr sz="2150" spc="20" dirty="0">
                <a:solidFill>
                  <a:srgbClr val="24292E"/>
                </a:solidFill>
                <a:latin typeface="Arial"/>
                <a:cs typeface="Arial"/>
              </a:rPr>
              <a:t> </a:t>
            </a:r>
            <a:r>
              <a:rPr sz="2150" dirty="0">
                <a:solidFill>
                  <a:srgbClr val="24292E"/>
                </a:solidFill>
                <a:latin typeface="Arial"/>
                <a:cs typeface="Arial"/>
              </a:rPr>
              <a:t>the</a:t>
            </a:r>
            <a:r>
              <a:rPr sz="2150" spc="15" dirty="0">
                <a:solidFill>
                  <a:srgbClr val="24292E"/>
                </a:solidFill>
                <a:latin typeface="Arial"/>
                <a:cs typeface="Arial"/>
              </a:rPr>
              <a:t> </a:t>
            </a:r>
            <a:r>
              <a:rPr sz="2150" dirty="0">
                <a:solidFill>
                  <a:srgbClr val="24292E"/>
                </a:solidFill>
                <a:latin typeface="Arial"/>
                <a:cs typeface="Arial"/>
              </a:rPr>
              <a:t>game</a:t>
            </a:r>
            <a:r>
              <a:rPr sz="2150" spc="20" dirty="0">
                <a:solidFill>
                  <a:srgbClr val="24292E"/>
                </a:solidFill>
                <a:latin typeface="Arial"/>
                <a:cs typeface="Arial"/>
              </a:rPr>
              <a:t> </a:t>
            </a:r>
            <a:r>
              <a:rPr sz="2150" dirty="0">
                <a:solidFill>
                  <a:srgbClr val="24292E"/>
                </a:solidFill>
                <a:latin typeface="Arial"/>
                <a:cs typeface="Arial"/>
              </a:rPr>
              <a:t>object</a:t>
            </a:r>
            <a:r>
              <a:rPr sz="2150" spc="20" dirty="0">
                <a:solidFill>
                  <a:srgbClr val="24292E"/>
                </a:solidFill>
                <a:latin typeface="Arial"/>
                <a:cs typeface="Arial"/>
              </a:rPr>
              <a:t> </a:t>
            </a:r>
            <a:r>
              <a:rPr sz="2150" dirty="0">
                <a:solidFill>
                  <a:srgbClr val="24292E"/>
                </a:solidFill>
                <a:latin typeface="Arial"/>
                <a:cs typeface="Arial"/>
              </a:rPr>
              <a:t>from</a:t>
            </a:r>
            <a:r>
              <a:rPr sz="2150" spc="20" dirty="0">
                <a:solidFill>
                  <a:srgbClr val="24292E"/>
                </a:solidFill>
                <a:latin typeface="Arial"/>
                <a:cs typeface="Arial"/>
              </a:rPr>
              <a:t> </a:t>
            </a:r>
            <a:r>
              <a:rPr sz="2150" dirty="0">
                <a:solidFill>
                  <a:srgbClr val="24292E"/>
                </a:solidFill>
                <a:latin typeface="Arial"/>
                <a:cs typeface="Arial"/>
              </a:rPr>
              <a:t>the</a:t>
            </a:r>
            <a:r>
              <a:rPr sz="2150" spc="20" dirty="0">
                <a:solidFill>
                  <a:srgbClr val="24292E"/>
                </a:solidFill>
                <a:latin typeface="Arial"/>
                <a:cs typeface="Arial"/>
              </a:rPr>
              <a:t> </a:t>
            </a:r>
            <a:r>
              <a:rPr sz="2150" dirty="0">
                <a:solidFill>
                  <a:srgbClr val="24292E"/>
                </a:solidFill>
                <a:latin typeface="Arial"/>
                <a:cs typeface="Arial"/>
              </a:rPr>
              <a:t>active</a:t>
            </a:r>
            <a:r>
              <a:rPr sz="2150" spc="15" dirty="0">
                <a:solidFill>
                  <a:srgbClr val="24292E"/>
                </a:solidFill>
                <a:latin typeface="Arial"/>
                <a:cs typeface="Arial"/>
              </a:rPr>
              <a:t> </a:t>
            </a:r>
            <a:r>
              <a:rPr sz="2150" spc="-10" dirty="0">
                <a:solidFill>
                  <a:srgbClr val="24292E"/>
                </a:solidFill>
                <a:latin typeface="Arial"/>
                <a:cs typeface="Arial"/>
              </a:rPr>
              <a:t>scene.</a:t>
            </a:r>
            <a:endParaRPr sz="2150">
              <a:latin typeface="Arial"/>
              <a:cs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31C84D-224A-A962-63E5-D15A6F8E7777}"/>
              </a:ext>
            </a:extLst>
          </p:cNvPr>
          <p:cNvSpPr>
            <a:spLocks noGrp="1"/>
          </p:cNvSpPr>
          <p:nvPr>
            <p:ph type="title"/>
          </p:nvPr>
        </p:nvSpPr>
        <p:spPr/>
        <p:txBody>
          <a:bodyPr/>
          <a:lstStyle/>
          <a:p>
            <a:r>
              <a:rPr lang="en-GB" dirty="0"/>
              <a:t>References</a:t>
            </a:r>
          </a:p>
        </p:txBody>
      </p:sp>
      <p:sp>
        <p:nvSpPr>
          <p:cNvPr id="3" name="Content Placeholder 2">
            <a:extLst>
              <a:ext uri="{FF2B5EF4-FFF2-40B4-BE49-F238E27FC236}">
                <a16:creationId xmlns:a16="http://schemas.microsoft.com/office/drawing/2014/main" id="{1EA27821-1DCC-1998-3C6D-78872E7A3469}"/>
              </a:ext>
            </a:extLst>
          </p:cNvPr>
          <p:cNvSpPr>
            <a:spLocks noGrp="1"/>
          </p:cNvSpPr>
          <p:nvPr>
            <p:ph idx="1"/>
          </p:nvPr>
        </p:nvSpPr>
        <p:spPr/>
        <p:txBody>
          <a:bodyPr/>
          <a:lstStyle/>
          <a:p>
            <a:r>
              <a:rPr lang="en-GB" dirty="0" err="1"/>
              <a:t>PluralSight</a:t>
            </a:r>
            <a:r>
              <a:rPr lang="en-GB" dirty="0"/>
              <a:t> (2022) </a:t>
            </a:r>
            <a:r>
              <a:rPr lang="en-GB" i="1" dirty="0"/>
              <a:t>What is C# Programming? A Beginner’s Guide. </a:t>
            </a:r>
            <a:r>
              <a:rPr lang="en-GB" dirty="0"/>
              <a:t>Available at: </a:t>
            </a:r>
            <a:r>
              <a:rPr lang="en-GB" dirty="0">
                <a:hlinkClick r:id="rId2"/>
              </a:rPr>
              <a:t>https://www.pluralsight.com/blog/software-development/everything-you-need-to-know-about-c-</a:t>
            </a:r>
            <a:r>
              <a:rPr lang="en-GB" dirty="0"/>
              <a:t> [Accessed 29 October 2024]</a:t>
            </a:r>
          </a:p>
        </p:txBody>
      </p:sp>
    </p:spTree>
    <p:extLst>
      <p:ext uri="{BB962C8B-B14F-4D97-AF65-F5344CB8AC3E}">
        <p14:creationId xmlns:p14="http://schemas.microsoft.com/office/powerpoint/2010/main" val="4166772955"/>
      </p:ext>
    </p:extLst>
  </p:cSld>
  <p:clrMapOvr>
    <a:masterClrMapping/>
  </p:clrMapOvr>
</p:sld>
</file>

<file path=ppt/theme/theme1.xml><?xml version="1.0" encoding="utf-8"?>
<a:theme xmlns:a="http://schemas.openxmlformats.org/drawingml/2006/main" name="VanillaVTI">
  <a:themeElements>
    <a:clrScheme name="AnalogousFromRegularSeedRightStep">
      <a:dk1>
        <a:srgbClr val="000000"/>
      </a:dk1>
      <a:lt1>
        <a:srgbClr val="FFFFFF"/>
      </a:lt1>
      <a:dk2>
        <a:srgbClr val="211E3B"/>
      </a:dk2>
      <a:lt2>
        <a:srgbClr val="E8E4E2"/>
      </a:lt2>
      <a:accent1>
        <a:srgbClr val="22ADE4"/>
      </a:accent1>
      <a:accent2>
        <a:srgbClr val="1750D5"/>
      </a:accent2>
      <a:accent3>
        <a:srgbClr val="3F29E7"/>
      </a:accent3>
      <a:accent4>
        <a:srgbClr val="7C17D5"/>
      </a:accent4>
      <a:accent5>
        <a:srgbClr val="DD29E7"/>
      </a:accent5>
      <a:accent6>
        <a:srgbClr val="D5178F"/>
      </a:accent6>
      <a:hlink>
        <a:srgbClr val="BF633F"/>
      </a:hlink>
      <a:folHlink>
        <a:srgbClr val="7F7F7F"/>
      </a:folHlink>
    </a:clrScheme>
    <a:fontScheme name="Neue Haas">
      <a:majorFont>
        <a:latin typeface="Neue Haas Grotesk Text Pro"/>
        <a:ea typeface=""/>
        <a:cs typeface=""/>
      </a:majorFont>
      <a:minorFont>
        <a:latin typeface="Neue Haas Grotesk Tex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anillaVTI" id="{54D376C6-1C9B-4C6B-8F3C-483BB307BB05}" vid="{7690D8A9-C071-45EF-BA7A-F7FA9779B11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395</TotalTime>
  <Words>2119</Words>
  <Application>Microsoft Office PowerPoint</Application>
  <PresentationFormat>Widescreen</PresentationFormat>
  <Paragraphs>184</Paragraphs>
  <Slides>18</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18</vt:i4>
      </vt:variant>
    </vt:vector>
  </HeadingPairs>
  <TitlesOfParts>
    <vt:vector size="23" baseType="lpstr">
      <vt:lpstr>Aptos</vt:lpstr>
      <vt:lpstr>Arial</vt:lpstr>
      <vt:lpstr>Consolas</vt:lpstr>
      <vt:lpstr>Neue Haas Grotesk Text Pro</vt:lpstr>
      <vt:lpstr>VanillaVTI</vt:lpstr>
      <vt:lpstr>Introduction to Games Industry Practice GDV4000</vt:lpstr>
      <vt:lpstr>What is C#?</vt:lpstr>
      <vt:lpstr>Why learn C#?</vt:lpstr>
      <vt:lpstr>C# and Unity</vt:lpstr>
      <vt:lpstr>C# and Unity</vt:lpstr>
      <vt:lpstr>Code Review</vt:lpstr>
      <vt:lpstr>Code Example</vt:lpstr>
      <vt:lpstr>Code Example</vt:lpstr>
      <vt:lpstr>Code Example</vt:lpstr>
      <vt:lpstr>Code Example</vt:lpstr>
      <vt:lpstr>Code Example</vt:lpstr>
      <vt:lpstr>Code Example</vt:lpstr>
      <vt:lpstr>void SpawnObstacle()</vt:lpstr>
      <vt:lpstr>Problem: How to move the object towards the player?</vt:lpstr>
      <vt:lpstr>Problem(s): How to check for player hit and end the game?</vt:lpstr>
      <vt:lpstr>void OnCollisionEnter2D(Collision2D other)</vt:lpstr>
      <vt:lpstr>if( != null)</vt:lpstr>
      <vt:lpstr>References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Smith, Ian</dc:creator>
  <cp:lastModifiedBy>Smith, Ian</cp:lastModifiedBy>
  <cp:revision>2</cp:revision>
  <dcterms:created xsi:type="dcterms:W3CDTF">2024-10-29T11:24:35Z</dcterms:created>
  <dcterms:modified xsi:type="dcterms:W3CDTF">2026-01-19T15:15:13Z</dcterms:modified>
</cp:coreProperties>
</file>