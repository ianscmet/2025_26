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6" r:id="rId1"/>
  </p:sldMasterIdLst>
  <p:notesMasterIdLst>
    <p:notesMasterId r:id="rId14"/>
  </p:notesMasterIdLst>
  <p:sldIdLst>
    <p:sldId id="256" r:id="rId2"/>
    <p:sldId id="263" r:id="rId3"/>
    <p:sldId id="257" r:id="rId4"/>
    <p:sldId id="258" r:id="rId5"/>
    <p:sldId id="261" r:id="rId6"/>
    <p:sldId id="260" r:id="rId7"/>
    <p:sldId id="259" r:id="rId8"/>
    <p:sldId id="266" r:id="rId9"/>
    <p:sldId id="265" r:id="rId10"/>
    <p:sldId id="267" r:id="rId11"/>
    <p:sldId id="262" r:id="rId12"/>
    <p:sldId id="264"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93" autoAdjust="0"/>
    <p:restoredTop sz="94655" autoAdjust="0"/>
  </p:normalViewPr>
  <p:slideViewPr>
    <p:cSldViewPr snapToGrid="0">
      <p:cViewPr varScale="1">
        <p:scale>
          <a:sx n="188" d="100"/>
          <a:sy n="188" d="100"/>
        </p:scale>
        <p:origin x="389" y="139"/>
      </p:cViewPr>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diagrams/_rels/data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hyperlink" Target="http://gamestudies.org/0802/articles/sicart" TargetMode="External"/><Relationship Id="rId7" Type="http://schemas.openxmlformats.org/officeDocument/2006/relationships/image" Target="../media/image5.svg"/><Relationship Id="rId2" Type="http://schemas.openxmlformats.org/officeDocument/2006/relationships/hyperlink" Target="http://www.illc.uva.nl/Research/Publications/Dissertations/DS-2012-12.text.pdf" TargetMode="External"/><Relationship Id="rId1" Type="http://schemas.openxmlformats.org/officeDocument/2006/relationships/hyperlink" Target="https://library.cardiffmet.ac.uk/home" TargetMode="External"/><Relationship Id="rId6" Type="http://schemas.openxmlformats.org/officeDocument/2006/relationships/image" Target="../media/image4.png"/><Relationship Id="rId11" Type="http://schemas.openxmlformats.org/officeDocument/2006/relationships/image" Target="../media/image9.svg"/><Relationship Id="rId5" Type="http://schemas.openxmlformats.org/officeDocument/2006/relationships/image" Target="../media/image3.sv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svg"/></Relationships>
</file>

<file path=ppt/diagrams/_rels/data2.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svg"/><Relationship Id="rId1" Type="http://schemas.openxmlformats.org/officeDocument/2006/relationships/image" Target="../media/image10.png"/><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diagrams/_rels/drawing1.xml.rels><?xml version="1.0" encoding="UTF-8" standalone="yes"?>
<Relationships xmlns="http://schemas.openxmlformats.org/package/2006/relationships"><Relationship Id="rId8" Type="http://schemas.openxmlformats.org/officeDocument/2006/relationships/hyperlink" Target="http://www.illc.uva.nl/Research/Publications/Dissertations/DS-2012-12.text.pdf" TargetMode="External"/><Relationship Id="rId3" Type="http://schemas.openxmlformats.org/officeDocument/2006/relationships/hyperlink" Target="https://library.cardiffmet.ac.uk/home" TargetMode="External"/><Relationship Id="rId7" Type="http://schemas.openxmlformats.org/officeDocument/2006/relationships/image" Target="../media/image7.sv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6.png"/><Relationship Id="rId11" Type="http://schemas.openxmlformats.org/officeDocument/2006/relationships/hyperlink" Target="http://gamestudies.org/0802/articles/sicart" TargetMode="External"/><Relationship Id="rId5" Type="http://schemas.openxmlformats.org/officeDocument/2006/relationships/image" Target="../media/image5.svg"/><Relationship Id="rId10" Type="http://schemas.openxmlformats.org/officeDocument/2006/relationships/image" Target="../media/image9.svg"/><Relationship Id="rId4" Type="http://schemas.openxmlformats.org/officeDocument/2006/relationships/image" Target="../media/image4.png"/><Relationship Id="rId9" Type="http://schemas.openxmlformats.org/officeDocument/2006/relationships/image" Target="../media/image8.png"/></Relationships>
</file>

<file path=ppt/diagrams/_rels/drawing2.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svg"/><Relationship Id="rId1" Type="http://schemas.openxmlformats.org/officeDocument/2006/relationships/image" Target="../media/image10.png"/><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diagrams/colors1.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94FD16B-D66E-4394-A831-B9D00AF8BC63}"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063CEC15-70BD-4966-88DD-536B299322F9}">
      <dgm:prSet/>
      <dgm:spPr/>
      <dgm:t>
        <a:bodyPr/>
        <a:lstStyle/>
        <a:p>
          <a:r>
            <a:rPr lang="en-GB" dirty="0"/>
            <a:t>‘Game Mechanics: Advanced Games Design’ by Ernest Adams and Joris Dorman.</a:t>
          </a:r>
          <a:endParaRPr lang="en-US" dirty="0"/>
        </a:p>
      </dgm:t>
    </dgm:pt>
    <dgm:pt modelId="{95718319-0669-493D-BA33-DEE683EC481F}" type="parTrans" cxnId="{9D33780F-859E-4AB7-90B8-339C94E5F9E3}">
      <dgm:prSet/>
      <dgm:spPr/>
      <dgm:t>
        <a:bodyPr/>
        <a:lstStyle/>
        <a:p>
          <a:endParaRPr lang="en-US"/>
        </a:p>
      </dgm:t>
    </dgm:pt>
    <dgm:pt modelId="{C326373A-FBF6-4D31-8F52-0E29E4C6C45D}" type="sibTrans" cxnId="{9D33780F-859E-4AB7-90B8-339C94E5F9E3}">
      <dgm:prSet/>
      <dgm:spPr/>
      <dgm:t>
        <a:bodyPr/>
        <a:lstStyle/>
        <a:p>
          <a:endParaRPr lang="en-US"/>
        </a:p>
      </dgm:t>
    </dgm:pt>
    <dgm:pt modelId="{A5C49D89-B94E-43D6-B1BF-5734A0C06AC6}">
      <dgm:prSet/>
      <dgm:spPr/>
      <dgm:t>
        <a:bodyPr/>
        <a:lstStyle/>
        <a:p>
          <a:r>
            <a:rPr lang="en-GB" dirty="0"/>
            <a:t>Limited physical copies in Llandaff Campus library. eBook available via MetSearch - </a:t>
          </a:r>
          <a:r>
            <a:rPr lang="en-GB" dirty="0">
              <a:hlinkClick xmlns:r="http://schemas.openxmlformats.org/officeDocument/2006/relationships" r:id="rId1"/>
            </a:rPr>
            <a:t>https://library.cardiffmet.ac.uk/home</a:t>
          </a:r>
          <a:endParaRPr lang="en-US" dirty="0"/>
        </a:p>
      </dgm:t>
    </dgm:pt>
    <dgm:pt modelId="{705C0C26-13D6-40FD-ACF0-AC0F5C1D1397}" type="parTrans" cxnId="{DF14ECED-38D7-4125-8F66-6DA1800BA817}">
      <dgm:prSet/>
      <dgm:spPr/>
      <dgm:t>
        <a:bodyPr/>
        <a:lstStyle/>
        <a:p>
          <a:endParaRPr lang="en-US"/>
        </a:p>
      </dgm:t>
    </dgm:pt>
    <dgm:pt modelId="{64F78683-FFF8-434D-85CB-01A536E859E7}" type="sibTrans" cxnId="{DF14ECED-38D7-4125-8F66-6DA1800BA817}">
      <dgm:prSet/>
      <dgm:spPr/>
      <dgm:t>
        <a:bodyPr/>
        <a:lstStyle/>
        <a:p>
          <a:endParaRPr lang="en-US"/>
        </a:p>
      </dgm:t>
    </dgm:pt>
    <dgm:pt modelId="{CC555FEC-CE7F-48F4-AB5E-9A2BCC24F5CD}">
      <dgm:prSet/>
      <dgm:spPr/>
      <dgm:t>
        <a:bodyPr/>
        <a:lstStyle/>
        <a:p>
          <a:r>
            <a:rPr lang="en-GB" dirty="0"/>
            <a:t>Suggested reading:</a:t>
          </a:r>
          <a:endParaRPr lang="en-US" dirty="0"/>
        </a:p>
      </dgm:t>
    </dgm:pt>
    <dgm:pt modelId="{2B72ADDE-4122-4747-BAF0-8C2345BFD89E}" type="parTrans" cxnId="{AA87286B-5DDC-44B2-A3AB-116E0EBF6BAB}">
      <dgm:prSet/>
      <dgm:spPr/>
      <dgm:t>
        <a:bodyPr/>
        <a:lstStyle/>
        <a:p>
          <a:endParaRPr lang="en-US"/>
        </a:p>
      </dgm:t>
    </dgm:pt>
    <dgm:pt modelId="{769B876D-E7A0-4FAB-BAB4-9AE162E7D3FC}" type="sibTrans" cxnId="{AA87286B-5DDC-44B2-A3AB-116E0EBF6BAB}">
      <dgm:prSet/>
      <dgm:spPr/>
      <dgm:t>
        <a:bodyPr/>
        <a:lstStyle/>
        <a:p>
          <a:endParaRPr lang="en-US"/>
        </a:p>
      </dgm:t>
    </dgm:pt>
    <dgm:pt modelId="{F8A61BBB-91E4-47C1-95D8-ACE1AF0956CF}">
      <dgm:prSet/>
      <dgm:spPr/>
      <dgm:t>
        <a:bodyPr/>
        <a:lstStyle/>
        <a:p>
          <a:r>
            <a:rPr lang="en-GB" dirty="0">
              <a:hlinkClick xmlns:r="http://schemas.openxmlformats.org/officeDocument/2006/relationships" r:id="rId2"/>
            </a:rPr>
            <a:t>‘Applied Theory for Game Design’ </a:t>
          </a:r>
          <a:endParaRPr lang="en-GB" dirty="0"/>
        </a:p>
        <a:p>
          <a:r>
            <a:rPr lang="en-GB" dirty="0"/>
            <a:t>by Joris Dormans. PhD Thesis.</a:t>
          </a:r>
          <a:endParaRPr lang="en-US" dirty="0"/>
        </a:p>
      </dgm:t>
    </dgm:pt>
    <dgm:pt modelId="{03DC5E25-E2B7-4D26-8FE4-700C331B24A2}" type="parTrans" cxnId="{277CFC16-C918-4A3A-816B-153B89418B8E}">
      <dgm:prSet/>
      <dgm:spPr/>
      <dgm:t>
        <a:bodyPr/>
        <a:lstStyle/>
        <a:p>
          <a:endParaRPr lang="en-US"/>
        </a:p>
      </dgm:t>
    </dgm:pt>
    <dgm:pt modelId="{B5226875-6011-44FE-8D64-355B8E9C942A}" type="sibTrans" cxnId="{277CFC16-C918-4A3A-816B-153B89418B8E}">
      <dgm:prSet/>
      <dgm:spPr/>
      <dgm:t>
        <a:bodyPr/>
        <a:lstStyle/>
        <a:p>
          <a:endParaRPr lang="en-US"/>
        </a:p>
      </dgm:t>
    </dgm:pt>
    <dgm:pt modelId="{AB496F39-9CB0-402C-B14A-F5A0B0BA026C}">
      <dgm:prSet/>
      <dgm:spPr/>
      <dgm:t>
        <a:bodyPr/>
        <a:lstStyle/>
        <a:p>
          <a:r>
            <a:rPr lang="en-GB" dirty="0">
              <a:hlinkClick xmlns:r="http://schemas.openxmlformats.org/officeDocument/2006/relationships" r:id="rId3"/>
            </a:rPr>
            <a:t>‘Defining Game Mechanics’ </a:t>
          </a:r>
          <a:endParaRPr lang="en-GB" dirty="0"/>
        </a:p>
        <a:p>
          <a:r>
            <a:rPr lang="en-GB" dirty="0"/>
            <a:t>Miguel </a:t>
          </a:r>
          <a:r>
            <a:rPr lang="en-GB" dirty="0" err="1"/>
            <a:t>Sicart</a:t>
          </a:r>
          <a:r>
            <a:rPr lang="en-GB" dirty="0"/>
            <a:t>, International Journal of Computer Games Research, Vol 8, Issue 2, Dec. 2008. </a:t>
          </a:r>
          <a:endParaRPr lang="en-US" dirty="0"/>
        </a:p>
      </dgm:t>
    </dgm:pt>
    <dgm:pt modelId="{A31A7ADA-BA16-4931-AEA9-16E66C92BC1C}" type="parTrans" cxnId="{17F4C305-49BF-4CC7-86EC-B2D6B5E8EAE6}">
      <dgm:prSet/>
      <dgm:spPr/>
      <dgm:t>
        <a:bodyPr/>
        <a:lstStyle/>
        <a:p>
          <a:endParaRPr lang="en-US"/>
        </a:p>
      </dgm:t>
    </dgm:pt>
    <dgm:pt modelId="{F6FCDC61-039B-472C-AD75-60CE2D3C0DB3}" type="sibTrans" cxnId="{17F4C305-49BF-4CC7-86EC-B2D6B5E8EAE6}">
      <dgm:prSet/>
      <dgm:spPr/>
      <dgm:t>
        <a:bodyPr/>
        <a:lstStyle/>
        <a:p>
          <a:endParaRPr lang="en-US"/>
        </a:p>
      </dgm:t>
    </dgm:pt>
    <dgm:pt modelId="{080F3AF4-E554-44F1-8F1C-66E7D9D2C872}" type="pres">
      <dgm:prSet presAssocID="{294FD16B-D66E-4394-A831-B9D00AF8BC63}" presName="root" presStyleCnt="0">
        <dgm:presLayoutVars>
          <dgm:dir/>
          <dgm:resizeHandles val="exact"/>
        </dgm:presLayoutVars>
      </dgm:prSet>
      <dgm:spPr/>
    </dgm:pt>
    <dgm:pt modelId="{BBB21A91-5D7B-4A37-9574-0E83F8B99485}" type="pres">
      <dgm:prSet presAssocID="{063CEC15-70BD-4966-88DD-536B299322F9}" presName="compNode" presStyleCnt="0"/>
      <dgm:spPr/>
    </dgm:pt>
    <dgm:pt modelId="{2AEAEB59-F5AC-4B27-948E-CD4DC9F75AF7}" type="pres">
      <dgm:prSet presAssocID="{063CEC15-70BD-4966-88DD-536B299322F9}" presName="bgRect" presStyleLbl="bgShp" presStyleIdx="0" presStyleCnt="4"/>
      <dgm:spPr/>
    </dgm:pt>
    <dgm:pt modelId="{276B1D37-9ACD-4E38-A12E-6CEE3065D5C2}" type="pres">
      <dgm:prSet presAssocID="{063CEC15-70BD-4966-88DD-536B299322F9}" presName="iconRect" presStyleLbl="node1" presStyleIdx="0" presStyleCnt="4"/>
      <dgm:spPr>
        <a:blipFill>
          <a:blip xmlns:r="http://schemas.openxmlformats.org/officeDocument/2006/relationships"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a:noFill/>
        </a:ln>
      </dgm:spPr>
      <dgm:extLst>
        <a:ext uri="{E40237B7-FDA0-4F09-8148-C483321AD2D9}">
          <dgm14:cNvPr xmlns:dgm14="http://schemas.microsoft.com/office/drawing/2010/diagram" id="0" name="" descr="Classroom"/>
        </a:ext>
      </dgm:extLst>
    </dgm:pt>
    <dgm:pt modelId="{731F06F8-92E1-47CE-AFD1-F05E2B84FCD0}" type="pres">
      <dgm:prSet presAssocID="{063CEC15-70BD-4966-88DD-536B299322F9}" presName="spaceRect" presStyleCnt="0"/>
      <dgm:spPr/>
    </dgm:pt>
    <dgm:pt modelId="{D315312F-7ACF-4AE1-8041-87E6C0D627C4}" type="pres">
      <dgm:prSet presAssocID="{063CEC15-70BD-4966-88DD-536B299322F9}" presName="parTx" presStyleLbl="revTx" presStyleIdx="0" presStyleCnt="5">
        <dgm:presLayoutVars>
          <dgm:chMax val="0"/>
          <dgm:chPref val="0"/>
        </dgm:presLayoutVars>
      </dgm:prSet>
      <dgm:spPr/>
    </dgm:pt>
    <dgm:pt modelId="{22BDDB7B-D2C3-44AA-8A4B-7FF0AAC34C03}" type="pres">
      <dgm:prSet presAssocID="{063CEC15-70BD-4966-88DD-536B299322F9}" presName="desTx" presStyleLbl="revTx" presStyleIdx="1" presStyleCnt="5" custScaleX="106474">
        <dgm:presLayoutVars/>
      </dgm:prSet>
      <dgm:spPr/>
    </dgm:pt>
    <dgm:pt modelId="{4F3CB966-1378-4995-806F-076EE8991EF9}" type="pres">
      <dgm:prSet presAssocID="{C326373A-FBF6-4D31-8F52-0E29E4C6C45D}" presName="sibTrans" presStyleCnt="0"/>
      <dgm:spPr/>
    </dgm:pt>
    <dgm:pt modelId="{B48E3A42-941D-4341-A2D3-105DFAD63660}" type="pres">
      <dgm:prSet presAssocID="{CC555FEC-CE7F-48F4-AB5E-9A2BCC24F5CD}" presName="compNode" presStyleCnt="0"/>
      <dgm:spPr/>
    </dgm:pt>
    <dgm:pt modelId="{538C370F-105C-4DCD-9AEB-DFF6A0EBBB66}" type="pres">
      <dgm:prSet presAssocID="{CC555FEC-CE7F-48F4-AB5E-9A2BCC24F5CD}" presName="bgRect" presStyleLbl="bgShp" presStyleIdx="1" presStyleCnt="4"/>
      <dgm:spPr>
        <a:solidFill>
          <a:schemeClr val="tx2">
            <a:lumMod val="60000"/>
            <a:lumOff val="40000"/>
          </a:schemeClr>
        </a:solidFill>
      </dgm:spPr>
    </dgm:pt>
    <dgm:pt modelId="{992FD21A-E971-4CF3-971C-EBF3868AFE07}" type="pres">
      <dgm:prSet presAssocID="{CC555FEC-CE7F-48F4-AB5E-9A2BCC24F5CD}" presName="iconRect" presStyleLbl="node1" presStyleIdx="1" presStyleCnt="4"/>
      <dgm:spPr>
        <a:blipFill>
          <a:blip xmlns:r="http://schemas.openxmlformats.org/officeDocument/2006/relationships"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a:blipFill>
        <a:ln>
          <a:noFill/>
        </a:ln>
      </dgm:spPr>
      <dgm:extLst>
        <a:ext uri="{E40237B7-FDA0-4F09-8148-C483321AD2D9}">
          <dgm14:cNvPr xmlns:dgm14="http://schemas.microsoft.com/office/drawing/2010/diagram" id="0" name="" descr="Open Book"/>
        </a:ext>
      </dgm:extLst>
    </dgm:pt>
    <dgm:pt modelId="{65B4ED85-AF55-48ED-91B0-061724B1B230}" type="pres">
      <dgm:prSet presAssocID="{CC555FEC-CE7F-48F4-AB5E-9A2BCC24F5CD}" presName="spaceRect" presStyleCnt="0"/>
      <dgm:spPr/>
    </dgm:pt>
    <dgm:pt modelId="{E1C078F1-0BE1-48C7-A094-D42D4F3D8730}" type="pres">
      <dgm:prSet presAssocID="{CC555FEC-CE7F-48F4-AB5E-9A2BCC24F5CD}" presName="parTx" presStyleLbl="revTx" presStyleIdx="2" presStyleCnt="5">
        <dgm:presLayoutVars>
          <dgm:chMax val="0"/>
          <dgm:chPref val="0"/>
        </dgm:presLayoutVars>
      </dgm:prSet>
      <dgm:spPr/>
    </dgm:pt>
    <dgm:pt modelId="{A4B913E1-422D-4757-86AE-2B711CD3FB71}" type="pres">
      <dgm:prSet presAssocID="{769B876D-E7A0-4FAB-BAB4-9AE162E7D3FC}" presName="sibTrans" presStyleCnt="0"/>
      <dgm:spPr/>
    </dgm:pt>
    <dgm:pt modelId="{F8F5B737-2DFD-4B95-A370-B3F7F0E1EB71}" type="pres">
      <dgm:prSet presAssocID="{F8A61BBB-91E4-47C1-95D8-ACE1AF0956CF}" presName="compNode" presStyleCnt="0"/>
      <dgm:spPr/>
    </dgm:pt>
    <dgm:pt modelId="{ACA4ED53-6C08-4DA8-B624-5C6A1C88A714}" type="pres">
      <dgm:prSet presAssocID="{F8A61BBB-91E4-47C1-95D8-ACE1AF0956CF}" presName="bgRect" presStyleLbl="bgShp" presStyleIdx="2" presStyleCnt="4"/>
      <dgm:spPr/>
    </dgm:pt>
    <dgm:pt modelId="{84DB4EF5-0CC2-4C5C-9ABC-21807521FEE8}" type="pres">
      <dgm:prSet presAssocID="{F8A61BBB-91E4-47C1-95D8-ACE1AF0956CF}" presName="iconRect" presStyleLbl="node1" presStyleIdx="2" presStyleCnt="4"/>
      <dgm:spPr>
        <a:blipFill>
          <a:blip xmlns:r="http://schemas.openxmlformats.org/officeDocument/2006/relationships"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a:blipFill>
        <a:ln>
          <a:noFill/>
        </a:ln>
      </dgm:spPr>
      <dgm:extLst>
        <a:ext uri="{E40237B7-FDA0-4F09-8148-C483321AD2D9}">
          <dgm14:cNvPr xmlns:dgm14="http://schemas.microsoft.com/office/drawing/2010/diagram" id="0" name="" descr="Maze"/>
        </a:ext>
      </dgm:extLst>
    </dgm:pt>
    <dgm:pt modelId="{69C603EA-9B68-454B-A384-8209CDC4E4DE}" type="pres">
      <dgm:prSet presAssocID="{F8A61BBB-91E4-47C1-95D8-ACE1AF0956CF}" presName="spaceRect" presStyleCnt="0"/>
      <dgm:spPr/>
    </dgm:pt>
    <dgm:pt modelId="{FCAEA17B-6007-4606-9DE1-865B5DEF3397}" type="pres">
      <dgm:prSet presAssocID="{F8A61BBB-91E4-47C1-95D8-ACE1AF0956CF}" presName="parTx" presStyleLbl="revTx" presStyleIdx="3" presStyleCnt="5">
        <dgm:presLayoutVars>
          <dgm:chMax val="0"/>
          <dgm:chPref val="0"/>
        </dgm:presLayoutVars>
      </dgm:prSet>
      <dgm:spPr/>
    </dgm:pt>
    <dgm:pt modelId="{58618ADF-F5D9-411F-84A4-C1045AF5DBA3}" type="pres">
      <dgm:prSet presAssocID="{B5226875-6011-44FE-8D64-355B8E9C942A}" presName="sibTrans" presStyleCnt="0"/>
      <dgm:spPr/>
    </dgm:pt>
    <dgm:pt modelId="{A70E0579-921A-4C00-95E9-D1394863697D}" type="pres">
      <dgm:prSet presAssocID="{AB496F39-9CB0-402C-B14A-F5A0B0BA026C}" presName="compNode" presStyleCnt="0"/>
      <dgm:spPr/>
    </dgm:pt>
    <dgm:pt modelId="{22F2ACD7-535F-40D0-8278-E3AF6532A829}" type="pres">
      <dgm:prSet presAssocID="{AB496F39-9CB0-402C-B14A-F5A0B0BA026C}" presName="bgRect" presStyleLbl="bgShp" presStyleIdx="3" presStyleCnt="4"/>
      <dgm:spPr/>
    </dgm:pt>
    <dgm:pt modelId="{66C347B5-6D6C-482A-A55B-09555C4E48BB}" type="pres">
      <dgm:prSet presAssocID="{AB496F39-9CB0-402C-B14A-F5A0B0BA026C}" presName="iconRect" presStyleLbl="node1" presStyleIdx="3" presStyleCnt="4"/>
      <dgm:spPr>
        <a:blipFill>
          <a:blip xmlns:r="http://schemas.openxmlformats.org/officeDocument/2006/relationships"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a:blipFill>
        <a:ln>
          <a:noFill/>
        </a:ln>
      </dgm:spPr>
      <dgm:extLst>
        <a:ext uri="{E40237B7-FDA0-4F09-8148-C483321AD2D9}">
          <dgm14:cNvPr xmlns:dgm14="http://schemas.microsoft.com/office/drawing/2010/diagram" id="0" name="" descr="Game controller"/>
        </a:ext>
      </dgm:extLst>
    </dgm:pt>
    <dgm:pt modelId="{24E1F8FB-C606-4B81-96C7-2786EE119981}" type="pres">
      <dgm:prSet presAssocID="{AB496F39-9CB0-402C-B14A-F5A0B0BA026C}" presName="spaceRect" presStyleCnt="0"/>
      <dgm:spPr/>
    </dgm:pt>
    <dgm:pt modelId="{EC8DC397-BC69-49F6-9E43-D8298E600984}" type="pres">
      <dgm:prSet presAssocID="{AB496F39-9CB0-402C-B14A-F5A0B0BA026C}" presName="parTx" presStyleLbl="revTx" presStyleIdx="4" presStyleCnt="5">
        <dgm:presLayoutVars>
          <dgm:chMax val="0"/>
          <dgm:chPref val="0"/>
        </dgm:presLayoutVars>
      </dgm:prSet>
      <dgm:spPr/>
    </dgm:pt>
  </dgm:ptLst>
  <dgm:cxnLst>
    <dgm:cxn modelId="{17F4C305-49BF-4CC7-86EC-B2D6B5E8EAE6}" srcId="{294FD16B-D66E-4394-A831-B9D00AF8BC63}" destId="{AB496F39-9CB0-402C-B14A-F5A0B0BA026C}" srcOrd="3" destOrd="0" parTransId="{A31A7ADA-BA16-4931-AEA9-16E66C92BC1C}" sibTransId="{F6FCDC61-039B-472C-AD75-60CE2D3C0DB3}"/>
    <dgm:cxn modelId="{9D33780F-859E-4AB7-90B8-339C94E5F9E3}" srcId="{294FD16B-D66E-4394-A831-B9D00AF8BC63}" destId="{063CEC15-70BD-4966-88DD-536B299322F9}" srcOrd="0" destOrd="0" parTransId="{95718319-0669-493D-BA33-DEE683EC481F}" sibTransId="{C326373A-FBF6-4D31-8F52-0E29E4C6C45D}"/>
    <dgm:cxn modelId="{277CFC16-C918-4A3A-816B-153B89418B8E}" srcId="{294FD16B-D66E-4394-A831-B9D00AF8BC63}" destId="{F8A61BBB-91E4-47C1-95D8-ACE1AF0956CF}" srcOrd="2" destOrd="0" parTransId="{03DC5E25-E2B7-4D26-8FE4-700C331B24A2}" sibTransId="{B5226875-6011-44FE-8D64-355B8E9C942A}"/>
    <dgm:cxn modelId="{AA87286B-5DDC-44B2-A3AB-116E0EBF6BAB}" srcId="{294FD16B-D66E-4394-A831-B9D00AF8BC63}" destId="{CC555FEC-CE7F-48F4-AB5E-9A2BCC24F5CD}" srcOrd="1" destOrd="0" parTransId="{2B72ADDE-4122-4747-BAF0-8C2345BFD89E}" sibTransId="{769B876D-E7A0-4FAB-BAB4-9AE162E7D3FC}"/>
    <dgm:cxn modelId="{A396D26E-5D06-423E-A13B-46FDA8EE6794}" type="presOf" srcId="{F8A61BBB-91E4-47C1-95D8-ACE1AF0956CF}" destId="{FCAEA17B-6007-4606-9DE1-865B5DEF3397}" srcOrd="0" destOrd="0" presId="urn:microsoft.com/office/officeart/2018/2/layout/IconVerticalSolidList"/>
    <dgm:cxn modelId="{AFF0BA71-A2C7-450A-9E75-1D6620AA6F3A}" type="presOf" srcId="{AB496F39-9CB0-402C-B14A-F5A0B0BA026C}" destId="{EC8DC397-BC69-49F6-9E43-D8298E600984}" srcOrd="0" destOrd="0" presId="urn:microsoft.com/office/officeart/2018/2/layout/IconVerticalSolidList"/>
    <dgm:cxn modelId="{18B4079C-86FF-42CC-AE9B-9F12CCF7853B}" type="presOf" srcId="{A5C49D89-B94E-43D6-B1BF-5734A0C06AC6}" destId="{22BDDB7B-D2C3-44AA-8A4B-7FF0AAC34C03}" srcOrd="0" destOrd="0" presId="urn:microsoft.com/office/officeart/2018/2/layout/IconVerticalSolidList"/>
    <dgm:cxn modelId="{9FF9AFCC-D072-45F9-96A4-79976A092A47}" type="presOf" srcId="{294FD16B-D66E-4394-A831-B9D00AF8BC63}" destId="{080F3AF4-E554-44F1-8F1C-66E7D9D2C872}" srcOrd="0" destOrd="0" presId="urn:microsoft.com/office/officeart/2018/2/layout/IconVerticalSolidList"/>
    <dgm:cxn modelId="{550AAFD1-5885-480D-919C-B71C8CDA71A8}" type="presOf" srcId="{CC555FEC-CE7F-48F4-AB5E-9A2BCC24F5CD}" destId="{E1C078F1-0BE1-48C7-A094-D42D4F3D8730}" srcOrd="0" destOrd="0" presId="urn:microsoft.com/office/officeart/2018/2/layout/IconVerticalSolidList"/>
    <dgm:cxn modelId="{3498B4E4-ADC7-47CF-920C-D5F7BCD3B3BB}" type="presOf" srcId="{063CEC15-70BD-4966-88DD-536B299322F9}" destId="{D315312F-7ACF-4AE1-8041-87E6C0D627C4}" srcOrd="0" destOrd="0" presId="urn:microsoft.com/office/officeart/2018/2/layout/IconVerticalSolidList"/>
    <dgm:cxn modelId="{DF14ECED-38D7-4125-8F66-6DA1800BA817}" srcId="{063CEC15-70BD-4966-88DD-536B299322F9}" destId="{A5C49D89-B94E-43D6-B1BF-5734A0C06AC6}" srcOrd="0" destOrd="0" parTransId="{705C0C26-13D6-40FD-ACF0-AC0F5C1D1397}" sibTransId="{64F78683-FFF8-434D-85CB-01A536E859E7}"/>
    <dgm:cxn modelId="{56BC0DD5-0565-487F-BD32-B4394A61A918}" type="presParOf" srcId="{080F3AF4-E554-44F1-8F1C-66E7D9D2C872}" destId="{BBB21A91-5D7B-4A37-9574-0E83F8B99485}" srcOrd="0" destOrd="0" presId="urn:microsoft.com/office/officeart/2018/2/layout/IconVerticalSolidList"/>
    <dgm:cxn modelId="{90E426B6-8780-4E4A-AAE4-7687C21658CF}" type="presParOf" srcId="{BBB21A91-5D7B-4A37-9574-0E83F8B99485}" destId="{2AEAEB59-F5AC-4B27-948E-CD4DC9F75AF7}" srcOrd="0" destOrd="0" presId="urn:microsoft.com/office/officeart/2018/2/layout/IconVerticalSolidList"/>
    <dgm:cxn modelId="{F06A5CAF-0F24-42C0-80D8-7CCFEDF08ECA}" type="presParOf" srcId="{BBB21A91-5D7B-4A37-9574-0E83F8B99485}" destId="{276B1D37-9ACD-4E38-A12E-6CEE3065D5C2}" srcOrd="1" destOrd="0" presId="urn:microsoft.com/office/officeart/2018/2/layout/IconVerticalSolidList"/>
    <dgm:cxn modelId="{A59D8A06-ECAC-47F3-BC68-33526A277012}" type="presParOf" srcId="{BBB21A91-5D7B-4A37-9574-0E83F8B99485}" destId="{731F06F8-92E1-47CE-AFD1-F05E2B84FCD0}" srcOrd="2" destOrd="0" presId="urn:microsoft.com/office/officeart/2018/2/layout/IconVerticalSolidList"/>
    <dgm:cxn modelId="{1E39E76E-9F8E-4549-995B-EFCF4542D83E}" type="presParOf" srcId="{BBB21A91-5D7B-4A37-9574-0E83F8B99485}" destId="{D315312F-7ACF-4AE1-8041-87E6C0D627C4}" srcOrd="3" destOrd="0" presId="urn:microsoft.com/office/officeart/2018/2/layout/IconVerticalSolidList"/>
    <dgm:cxn modelId="{08EF0E66-9E99-4E11-B1E5-822478D3BE2F}" type="presParOf" srcId="{BBB21A91-5D7B-4A37-9574-0E83F8B99485}" destId="{22BDDB7B-D2C3-44AA-8A4B-7FF0AAC34C03}" srcOrd="4" destOrd="0" presId="urn:microsoft.com/office/officeart/2018/2/layout/IconVerticalSolidList"/>
    <dgm:cxn modelId="{BFB10AF1-CAB9-43CC-8F9E-0DF50B527AD7}" type="presParOf" srcId="{080F3AF4-E554-44F1-8F1C-66E7D9D2C872}" destId="{4F3CB966-1378-4995-806F-076EE8991EF9}" srcOrd="1" destOrd="0" presId="urn:microsoft.com/office/officeart/2018/2/layout/IconVerticalSolidList"/>
    <dgm:cxn modelId="{3CE0A9BA-3AAB-41DA-945C-85599E477B1C}" type="presParOf" srcId="{080F3AF4-E554-44F1-8F1C-66E7D9D2C872}" destId="{B48E3A42-941D-4341-A2D3-105DFAD63660}" srcOrd="2" destOrd="0" presId="urn:microsoft.com/office/officeart/2018/2/layout/IconVerticalSolidList"/>
    <dgm:cxn modelId="{4737ED35-7821-467D-83F0-B7B59DF4D475}" type="presParOf" srcId="{B48E3A42-941D-4341-A2D3-105DFAD63660}" destId="{538C370F-105C-4DCD-9AEB-DFF6A0EBBB66}" srcOrd="0" destOrd="0" presId="urn:microsoft.com/office/officeart/2018/2/layout/IconVerticalSolidList"/>
    <dgm:cxn modelId="{4FC6B6F7-C79B-4EC3-809A-CEDE09DDBEAC}" type="presParOf" srcId="{B48E3A42-941D-4341-A2D3-105DFAD63660}" destId="{992FD21A-E971-4CF3-971C-EBF3868AFE07}" srcOrd="1" destOrd="0" presId="urn:microsoft.com/office/officeart/2018/2/layout/IconVerticalSolidList"/>
    <dgm:cxn modelId="{FF6C9041-7D22-4661-8AC1-4F2EC852D752}" type="presParOf" srcId="{B48E3A42-941D-4341-A2D3-105DFAD63660}" destId="{65B4ED85-AF55-48ED-91B0-061724B1B230}" srcOrd="2" destOrd="0" presId="urn:microsoft.com/office/officeart/2018/2/layout/IconVerticalSolidList"/>
    <dgm:cxn modelId="{FC5B1A7C-572D-4830-84BA-EEE571C948AB}" type="presParOf" srcId="{B48E3A42-941D-4341-A2D3-105DFAD63660}" destId="{E1C078F1-0BE1-48C7-A094-D42D4F3D8730}" srcOrd="3" destOrd="0" presId="urn:microsoft.com/office/officeart/2018/2/layout/IconVerticalSolidList"/>
    <dgm:cxn modelId="{70F9B7D3-C28D-423B-B64B-288765427CB1}" type="presParOf" srcId="{080F3AF4-E554-44F1-8F1C-66E7D9D2C872}" destId="{A4B913E1-422D-4757-86AE-2B711CD3FB71}" srcOrd="3" destOrd="0" presId="urn:microsoft.com/office/officeart/2018/2/layout/IconVerticalSolidList"/>
    <dgm:cxn modelId="{621D56C7-7BEF-4293-984C-AB0963B2EB5E}" type="presParOf" srcId="{080F3AF4-E554-44F1-8F1C-66E7D9D2C872}" destId="{F8F5B737-2DFD-4B95-A370-B3F7F0E1EB71}" srcOrd="4" destOrd="0" presId="urn:microsoft.com/office/officeart/2018/2/layout/IconVerticalSolidList"/>
    <dgm:cxn modelId="{A229D8C9-A943-4256-9AEE-F95C7FDF69BF}" type="presParOf" srcId="{F8F5B737-2DFD-4B95-A370-B3F7F0E1EB71}" destId="{ACA4ED53-6C08-4DA8-B624-5C6A1C88A714}" srcOrd="0" destOrd="0" presId="urn:microsoft.com/office/officeart/2018/2/layout/IconVerticalSolidList"/>
    <dgm:cxn modelId="{F7553BCD-26B3-4F68-A702-724ED2162999}" type="presParOf" srcId="{F8F5B737-2DFD-4B95-A370-B3F7F0E1EB71}" destId="{84DB4EF5-0CC2-4C5C-9ABC-21807521FEE8}" srcOrd="1" destOrd="0" presId="urn:microsoft.com/office/officeart/2018/2/layout/IconVerticalSolidList"/>
    <dgm:cxn modelId="{A49B0023-C9CA-4080-9C12-C2F78F488E57}" type="presParOf" srcId="{F8F5B737-2DFD-4B95-A370-B3F7F0E1EB71}" destId="{69C603EA-9B68-454B-A384-8209CDC4E4DE}" srcOrd="2" destOrd="0" presId="urn:microsoft.com/office/officeart/2018/2/layout/IconVerticalSolidList"/>
    <dgm:cxn modelId="{B0A59761-E1A4-4F19-8F2E-D96391EC8963}" type="presParOf" srcId="{F8F5B737-2DFD-4B95-A370-B3F7F0E1EB71}" destId="{FCAEA17B-6007-4606-9DE1-865B5DEF3397}" srcOrd="3" destOrd="0" presId="urn:microsoft.com/office/officeart/2018/2/layout/IconVerticalSolidList"/>
    <dgm:cxn modelId="{5CAA58BC-3FC9-454F-8351-5E857E8FEEA1}" type="presParOf" srcId="{080F3AF4-E554-44F1-8F1C-66E7D9D2C872}" destId="{58618ADF-F5D9-411F-84A4-C1045AF5DBA3}" srcOrd="5" destOrd="0" presId="urn:microsoft.com/office/officeart/2018/2/layout/IconVerticalSolidList"/>
    <dgm:cxn modelId="{4A412713-7D43-4AF2-B8CE-FC60D95F53D0}" type="presParOf" srcId="{080F3AF4-E554-44F1-8F1C-66E7D9D2C872}" destId="{A70E0579-921A-4C00-95E9-D1394863697D}" srcOrd="6" destOrd="0" presId="urn:microsoft.com/office/officeart/2018/2/layout/IconVerticalSolidList"/>
    <dgm:cxn modelId="{61F875A7-FE3D-42B0-9C46-E912741DA23A}" type="presParOf" srcId="{A70E0579-921A-4C00-95E9-D1394863697D}" destId="{22F2ACD7-535F-40D0-8278-E3AF6532A829}" srcOrd="0" destOrd="0" presId="urn:microsoft.com/office/officeart/2018/2/layout/IconVerticalSolidList"/>
    <dgm:cxn modelId="{1195D245-2E30-4D04-8DE8-3A4F3003B819}" type="presParOf" srcId="{A70E0579-921A-4C00-95E9-D1394863697D}" destId="{66C347B5-6D6C-482A-A55B-09555C4E48BB}" srcOrd="1" destOrd="0" presId="urn:microsoft.com/office/officeart/2018/2/layout/IconVerticalSolidList"/>
    <dgm:cxn modelId="{459371F6-4308-404B-A235-162A63C0C422}" type="presParOf" srcId="{A70E0579-921A-4C00-95E9-D1394863697D}" destId="{24E1F8FB-C606-4B81-96C7-2786EE119981}" srcOrd="2" destOrd="0" presId="urn:microsoft.com/office/officeart/2018/2/layout/IconVerticalSolidList"/>
    <dgm:cxn modelId="{DEB6E8E6-C272-4DA2-B9A9-79FED19D1FF5}" type="presParOf" srcId="{A70E0579-921A-4C00-95E9-D1394863697D}" destId="{EC8DC397-BC69-49F6-9E43-D8298E600984}"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5313E4D-47FA-4B3B-9337-983D7DCC1A16}"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8B2A4A57-048E-4A04-B37F-7A8C195E993B}">
      <dgm:prSet/>
      <dgm:spPr/>
      <dgm:t>
        <a:bodyPr/>
        <a:lstStyle/>
        <a:p>
          <a:pPr>
            <a:lnSpc>
              <a:spcPct val="100000"/>
            </a:lnSpc>
          </a:pPr>
          <a:r>
            <a:rPr lang="en-GB" dirty="0"/>
            <a:t>Game Industry and Design Methods and Practical Tasks – Workgroups</a:t>
          </a:r>
          <a:endParaRPr lang="en-US" dirty="0"/>
        </a:p>
      </dgm:t>
    </dgm:pt>
    <dgm:pt modelId="{5A490D53-FA42-4F58-BEF0-88B27F7302F8}" type="parTrans" cxnId="{24201491-9977-4B0B-B518-5C06A02D09C7}">
      <dgm:prSet/>
      <dgm:spPr/>
      <dgm:t>
        <a:bodyPr/>
        <a:lstStyle/>
        <a:p>
          <a:endParaRPr lang="en-US"/>
        </a:p>
      </dgm:t>
    </dgm:pt>
    <dgm:pt modelId="{FCE18EF7-6393-44EF-AB6B-16E5E9B27F36}" type="sibTrans" cxnId="{24201491-9977-4B0B-B518-5C06A02D09C7}">
      <dgm:prSet/>
      <dgm:spPr/>
      <dgm:t>
        <a:bodyPr/>
        <a:lstStyle/>
        <a:p>
          <a:endParaRPr lang="en-US"/>
        </a:p>
      </dgm:t>
    </dgm:pt>
    <dgm:pt modelId="{F592186E-7369-4A3C-BF25-93B78BA6A17F}">
      <dgm:prSet/>
      <dgm:spPr/>
      <dgm:t>
        <a:bodyPr/>
        <a:lstStyle/>
        <a:p>
          <a:pPr>
            <a:lnSpc>
              <a:spcPct val="100000"/>
            </a:lnSpc>
          </a:pPr>
          <a:r>
            <a:rPr lang="en-GB"/>
            <a:t>Assessment Plan</a:t>
          </a:r>
          <a:endParaRPr lang="en-US"/>
        </a:p>
      </dgm:t>
    </dgm:pt>
    <dgm:pt modelId="{72FB9996-3CE3-40DE-BE98-AA9F2D081E42}" type="parTrans" cxnId="{5BB00D0B-BCAC-4343-81BE-74FB4EA32B96}">
      <dgm:prSet/>
      <dgm:spPr/>
      <dgm:t>
        <a:bodyPr/>
        <a:lstStyle/>
        <a:p>
          <a:endParaRPr lang="en-US"/>
        </a:p>
      </dgm:t>
    </dgm:pt>
    <dgm:pt modelId="{A2D6B2F6-FCA8-4888-9603-F2145ADAB3DD}" type="sibTrans" cxnId="{5BB00D0B-BCAC-4343-81BE-74FB4EA32B96}">
      <dgm:prSet/>
      <dgm:spPr/>
      <dgm:t>
        <a:bodyPr/>
        <a:lstStyle/>
        <a:p>
          <a:endParaRPr lang="en-US"/>
        </a:p>
      </dgm:t>
    </dgm:pt>
    <dgm:pt modelId="{D2512462-5DCE-4930-8110-9EF546693180}">
      <dgm:prSet/>
      <dgm:spPr/>
      <dgm:t>
        <a:bodyPr/>
        <a:lstStyle/>
        <a:p>
          <a:pPr>
            <a:lnSpc>
              <a:spcPct val="100000"/>
            </a:lnSpc>
          </a:pPr>
          <a:r>
            <a:rPr lang="en-GB"/>
            <a:t>Moodle Resources</a:t>
          </a:r>
          <a:endParaRPr lang="en-US"/>
        </a:p>
      </dgm:t>
    </dgm:pt>
    <dgm:pt modelId="{F3AA5056-3830-409F-876D-7DED933235C6}" type="parTrans" cxnId="{FB730F43-6D9A-42F4-AFF6-861F41AD6F1F}">
      <dgm:prSet/>
      <dgm:spPr/>
      <dgm:t>
        <a:bodyPr/>
        <a:lstStyle/>
        <a:p>
          <a:endParaRPr lang="en-US"/>
        </a:p>
      </dgm:t>
    </dgm:pt>
    <dgm:pt modelId="{DDD24933-F717-4B78-ABD7-A424A1D2D663}" type="sibTrans" cxnId="{FB730F43-6D9A-42F4-AFF6-861F41AD6F1F}">
      <dgm:prSet/>
      <dgm:spPr/>
      <dgm:t>
        <a:bodyPr/>
        <a:lstStyle/>
        <a:p>
          <a:endParaRPr lang="en-US"/>
        </a:p>
      </dgm:t>
    </dgm:pt>
    <dgm:pt modelId="{5C29155E-93B2-46C1-B3C9-9FD8B44AE69E}">
      <dgm:prSet/>
      <dgm:spPr/>
      <dgm:t>
        <a:bodyPr/>
        <a:lstStyle/>
        <a:p>
          <a:pPr>
            <a:lnSpc>
              <a:spcPct val="100000"/>
            </a:lnSpc>
          </a:pPr>
          <a:r>
            <a:rPr lang="en-GB"/>
            <a:t>Questions?</a:t>
          </a:r>
          <a:endParaRPr lang="en-US"/>
        </a:p>
      </dgm:t>
    </dgm:pt>
    <dgm:pt modelId="{44052E6B-C23D-4A5F-9785-3B2D41636EFE}" type="parTrans" cxnId="{232E6C06-1A85-4097-945E-EA56F4201012}">
      <dgm:prSet/>
      <dgm:spPr/>
      <dgm:t>
        <a:bodyPr/>
        <a:lstStyle/>
        <a:p>
          <a:endParaRPr lang="en-US"/>
        </a:p>
      </dgm:t>
    </dgm:pt>
    <dgm:pt modelId="{380DCD81-D7A4-4B83-B340-1D28A9E68508}" type="sibTrans" cxnId="{232E6C06-1A85-4097-945E-EA56F4201012}">
      <dgm:prSet/>
      <dgm:spPr/>
      <dgm:t>
        <a:bodyPr/>
        <a:lstStyle/>
        <a:p>
          <a:endParaRPr lang="en-US"/>
        </a:p>
      </dgm:t>
    </dgm:pt>
    <dgm:pt modelId="{C03D9F05-7ED2-4A13-B7DD-9A1B87929F4A}" type="pres">
      <dgm:prSet presAssocID="{95313E4D-47FA-4B3B-9337-983D7DCC1A16}" presName="root" presStyleCnt="0">
        <dgm:presLayoutVars>
          <dgm:dir/>
          <dgm:resizeHandles val="exact"/>
        </dgm:presLayoutVars>
      </dgm:prSet>
      <dgm:spPr/>
    </dgm:pt>
    <dgm:pt modelId="{BEE2E86B-3095-4B19-8C1A-EB69FA55DE8B}" type="pres">
      <dgm:prSet presAssocID="{8B2A4A57-048E-4A04-B37F-7A8C195E993B}" presName="compNode" presStyleCnt="0"/>
      <dgm:spPr/>
    </dgm:pt>
    <dgm:pt modelId="{BD1108B8-3260-49F5-9114-90D44D499D3A}" type="pres">
      <dgm:prSet presAssocID="{8B2A4A57-048E-4A04-B37F-7A8C195E993B}" presName="bgRect" presStyleLbl="bgShp" presStyleIdx="0" presStyleCnt="4"/>
      <dgm:spPr/>
    </dgm:pt>
    <dgm:pt modelId="{CCF64C70-88E9-4412-BF3C-551E985D7405}" type="pres">
      <dgm:prSet presAssocID="{8B2A4A57-048E-4A04-B37F-7A8C195E993B}"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Game controller"/>
        </a:ext>
      </dgm:extLst>
    </dgm:pt>
    <dgm:pt modelId="{08DBFAAA-9A5E-4E1F-8FAC-369294871B39}" type="pres">
      <dgm:prSet presAssocID="{8B2A4A57-048E-4A04-B37F-7A8C195E993B}" presName="spaceRect" presStyleCnt="0"/>
      <dgm:spPr/>
    </dgm:pt>
    <dgm:pt modelId="{F2B443B2-8423-4E9C-A6CA-471C11BD7169}" type="pres">
      <dgm:prSet presAssocID="{8B2A4A57-048E-4A04-B37F-7A8C195E993B}" presName="parTx" presStyleLbl="revTx" presStyleIdx="0" presStyleCnt="4">
        <dgm:presLayoutVars>
          <dgm:chMax val="0"/>
          <dgm:chPref val="0"/>
        </dgm:presLayoutVars>
      </dgm:prSet>
      <dgm:spPr/>
    </dgm:pt>
    <dgm:pt modelId="{997E4611-3918-45C7-A4C9-33789ADED233}" type="pres">
      <dgm:prSet presAssocID="{FCE18EF7-6393-44EF-AB6B-16E5E9B27F36}" presName="sibTrans" presStyleCnt="0"/>
      <dgm:spPr/>
    </dgm:pt>
    <dgm:pt modelId="{9E4FD846-8109-40F0-BE77-F050B83FBE15}" type="pres">
      <dgm:prSet presAssocID="{F592186E-7369-4A3C-BF25-93B78BA6A17F}" presName="compNode" presStyleCnt="0"/>
      <dgm:spPr/>
    </dgm:pt>
    <dgm:pt modelId="{609D832B-BFC4-4DF4-A2CC-D6A35A3A568D}" type="pres">
      <dgm:prSet presAssocID="{F592186E-7369-4A3C-BF25-93B78BA6A17F}" presName="bgRect" presStyleLbl="bgShp" presStyleIdx="1" presStyleCnt="4"/>
      <dgm:spPr/>
    </dgm:pt>
    <dgm:pt modelId="{E79B768D-2B7C-49AF-B250-E5B5C35980A2}" type="pres">
      <dgm:prSet presAssocID="{F592186E-7369-4A3C-BF25-93B78BA6A17F}"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Check List"/>
        </a:ext>
      </dgm:extLst>
    </dgm:pt>
    <dgm:pt modelId="{EA96A7B5-9E8F-4231-8097-6C962D4396B6}" type="pres">
      <dgm:prSet presAssocID="{F592186E-7369-4A3C-BF25-93B78BA6A17F}" presName="spaceRect" presStyleCnt="0"/>
      <dgm:spPr/>
    </dgm:pt>
    <dgm:pt modelId="{D6DAA513-0ADF-40A9-9B74-F7DE699B2688}" type="pres">
      <dgm:prSet presAssocID="{F592186E-7369-4A3C-BF25-93B78BA6A17F}" presName="parTx" presStyleLbl="revTx" presStyleIdx="1" presStyleCnt="4">
        <dgm:presLayoutVars>
          <dgm:chMax val="0"/>
          <dgm:chPref val="0"/>
        </dgm:presLayoutVars>
      </dgm:prSet>
      <dgm:spPr/>
    </dgm:pt>
    <dgm:pt modelId="{0FA4D682-84CD-4608-9B44-A1665644437A}" type="pres">
      <dgm:prSet presAssocID="{A2D6B2F6-FCA8-4888-9603-F2145ADAB3DD}" presName="sibTrans" presStyleCnt="0"/>
      <dgm:spPr/>
    </dgm:pt>
    <dgm:pt modelId="{9903D2F0-6295-4A4A-8D0F-07FE2ED662E8}" type="pres">
      <dgm:prSet presAssocID="{D2512462-5DCE-4930-8110-9EF546693180}" presName="compNode" presStyleCnt="0"/>
      <dgm:spPr/>
    </dgm:pt>
    <dgm:pt modelId="{343BFE94-722B-4825-BEA4-823F580DBA20}" type="pres">
      <dgm:prSet presAssocID="{D2512462-5DCE-4930-8110-9EF546693180}" presName="bgRect" presStyleLbl="bgShp" presStyleIdx="2" presStyleCnt="4"/>
      <dgm:spPr/>
    </dgm:pt>
    <dgm:pt modelId="{13F874AA-EFA6-4BEE-A363-613321CE7EE4}" type="pres">
      <dgm:prSet presAssocID="{D2512462-5DCE-4930-8110-9EF546693180}"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Books"/>
        </a:ext>
      </dgm:extLst>
    </dgm:pt>
    <dgm:pt modelId="{CF46C473-13D6-4637-809A-56FE7F9269D2}" type="pres">
      <dgm:prSet presAssocID="{D2512462-5DCE-4930-8110-9EF546693180}" presName="spaceRect" presStyleCnt="0"/>
      <dgm:spPr/>
    </dgm:pt>
    <dgm:pt modelId="{26279188-6856-4A85-A938-DABBE1C2CE68}" type="pres">
      <dgm:prSet presAssocID="{D2512462-5DCE-4930-8110-9EF546693180}" presName="parTx" presStyleLbl="revTx" presStyleIdx="2" presStyleCnt="4">
        <dgm:presLayoutVars>
          <dgm:chMax val="0"/>
          <dgm:chPref val="0"/>
        </dgm:presLayoutVars>
      </dgm:prSet>
      <dgm:spPr/>
    </dgm:pt>
    <dgm:pt modelId="{9EAD7730-0AE2-45F3-96C6-F434F2A5AFD7}" type="pres">
      <dgm:prSet presAssocID="{DDD24933-F717-4B78-ABD7-A424A1D2D663}" presName="sibTrans" presStyleCnt="0"/>
      <dgm:spPr/>
    </dgm:pt>
    <dgm:pt modelId="{19A48058-BBFE-4D52-ACA3-7BC8F9186BBF}" type="pres">
      <dgm:prSet presAssocID="{5C29155E-93B2-46C1-B3C9-9FD8B44AE69E}" presName="compNode" presStyleCnt="0"/>
      <dgm:spPr/>
    </dgm:pt>
    <dgm:pt modelId="{088DBAA7-B7E0-476F-B061-481A3DA76E8B}" type="pres">
      <dgm:prSet presAssocID="{5C29155E-93B2-46C1-B3C9-9FD8B44AE69E}" presName="bgRect" presStyleLbl="bgShp" presStyleIdx="3" presStyleCnt="4"/>
      <dgm:spPr/>
    </dgm:pt>
    <dgm:pt modelId="{A3D1A0E8-2856-432D-B114-B5F76D99555B}" type="pres">
      <dgm:prSet presAssocID="{5C29155E-93B2-46C1-B3C9-9FD8B44AE69E}"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Question mark"/>
        </a:ext>
      </dgm:extLst>
    </dgm:pt>
    <dgm:pt modelId="{64600704-A48E-4086-961B-F2BD77A327AE}" type="pres">
      <dgm:prSet presAssocID="{5C29155E-93B2-46C1-B3C9-9FD8B44AE69E}" presName="spaceRect" presStyleCnt="0"/>
      <dgm:spPr/>
    </dgm:pt>
    <dgm:pt modelId="{50D517AC-4560-4622-8F4D-AA750E560FB2}" type="pres">
      <dgm:prSet presAssocID="{5C29155E-93B2-46C1-B3C9-9FD8B44AE69E}" presName="parTx" presStyleLbl="revTx" presStyleIdx="3" presStyleCnt="4">
        <dgm:presLayoutVars>
          <dgm:chMax val="0"/>
          <dgm:chPref val="0"/>
        </dgm:presLayoutVars>
      </dgm:prSet>
      <dgm:spPr/>
    </dgm:pt>
  </dgm:ptLst>
  <dgm:cxnLst>
    <dgm:cxn modelId="{232E6C06-1A85-4097-945E-EA56F4201012}" srcId="{95313E4D-47FA-4B3B-9337-983D7DCC1A16}" destId="{5C29155E-93B2-46C1-B3C9-9FD8B44AE69E}" srcOrd="3" destOrd="0" parTransId="{44052E6B-C23D-4A5F-9785-3B2D41636EFE}" sibTransId="{380DCD81-D7A4-4B83-B340-1D28A9E68508}"/>
    <dgm:cxn modelId="{5BB00D0B-BCAC-4343-81BE-74FB4EA32B96}" srcId="{95313E4D-47FA-4B3B-9337-983D7DCC1A16}" destId="{F592186E-7369-4A3C-BF25-93B78BA6A17F}" srcOrd="1" destOrd="0" parTransId="{72FB9996-3CE3-40DE-BE98-AA9F2D081E42}" sibTransId="{A2D6B2F6-FCA8-4888-9603-F2145ADAB3DD}"/>
    <dgm:cxn modelId="{7B42C511-CA0C-4AAE-98FD-A63ADE35365B}" type="presOf" srcId="{5C29155E-93B2-46C1-B3C9-9FD8B44AE69E}" destId="{50D517AC-4560-4622-8F4D-AA750E560FB2}" srcOrd="0" destOrd="0" presId="urn:microsoft.com/office/officeart/2018/2/layout/IconVerticalSolidList"/>
    <dgm:cxn modelId="{FB730F43-6D9A-42F4-AFF6-861F41AD6F1F}" srcId="{95313E4D-47FA-4B3B-9337-983D7DCC1A16}" destId="{D2512462-5DCE-4930-8110-9EF546693180}" srcOrd="2" destOrd="0" parTransId="{F3AA5056-3830-409F-876D-7DED933235C6}" sibTransId="{DDD24933-F717-4B78-ABD7-A424A1D2D663}"/>
    <dgm:cxn modelId="{8094794E-235A-4A79-A3A6-8C6A0BABB5B2}" type="presOf" srcId="{D2512462-5DCE-4930-8110-9EF546693180}" destId="{26279188-6856-4A85-A938-DABBE1C2CE68}" srcOrd="0" destOrd="0" presId="urn:microsoft.com/office/officeart/2018/2/layout/IconVerticalSolidList"/>
    <dgm:cxn modelId="{24201491-9977-4B0B-B518-5C06A02D09C7}" srcId="{95313E4D-47FA-4B3B-9337-983D7DCC1A16}" destId="{8B2A4A57-048E-4A04-B37F-7A8C195E993B}" srcOrd="0" destOrd="0" parTransId="{5A490D53-FA42-4F58-BEF0-88B27F7302F8}" sibTransId="{FCE18EF7-6393-44EF-AB6B-16E5E9B27F36}"/>
    <dgm:cxn modelId="{F28C28AF-ACE9-4840-A586-0EB4F437DA54}" type="presOf" srcId="{8B2A4A57-048E-4A04-B37F-7A8C195E993B}" destId="{F2B443B2-8423-4E9C-A6CA-471C11BD7169}" srcOrd="0" destOrd="0" presId="urn:microsoft.com/office/officeart/2018/2/layout/IconVerticalSolidList"/>
    <dgm:cxn modelId="{B41A80D7-90E4-4DD9-8584-2A4E52E404DE}" type="presOf" srcId="{95313E4D-47FA-4B3B-9337-983D7DCC1A16}" destId="{C03D9F05-7ED2-4A13-B7DD-9A1B87929F4A}" srcOrd="0" destOrd="0" presId="urn:microsoft.com/office/officeart/2018/2/layout/IconVerticalSolidList"/>
    <dgm:cxn modelId="{2DAD20F2-2E3F-49DA-AEE7-6960A2B03E09}" type="presOf" srcId="{F592186E-7369-4A3C-BF25-93B78BA6A17F}" destId="{D6DAA513-0ADF-40A9-9B74-F7DE699B2688}" srcOrd="0" destOrd="0" presId="urn:microsoft.com/office/officeart/2018/2/layout/IconVerticalSolidList"/>
    <dgm:cxn modelId="{D5E37678-95EC-49F5-A9CC-24B3C4080125}" type="presParOf" srcId="{C03D9F05-7ED2-4A13-B7DD-9A1B87929F4A}" destId="{BEE2E86B-3095-4B19-8C1A-EB69FA55DE8B}" srcOrd="0" destOrd="0" presId="urn:microsoft.com/office/officeart/2018/2/layout/IconVerticalSolidList"/>
    <dgm:cxn modelId="{19B1648E-D8EB-45D2-BEE4-3529EDDD3DDB}" type="presParOf" srcId="{BEE2E86B-3095-4B19-8C1A-EB69FA55DE8B}" destId="{BD1108B8-3260-49F5-9114-90D44D499D3A}" srcOrd="0" destOrd="0" presId="urn:microsoft.com/office/officeart/2018/2/layout/IconVerticalSolidList"/>
    <dgm:cxn modelId="{3D2F5459-6CD8-4ADD-B3C7-B4A3E0218044}" type="presParOf" srcId="{BEE2E86B-3095-4B19-8C1A-EB69FA55DE8B}" destId="{CCF64C70-88E9-4412-BF3C-551E985D7405}" srcOrd="1" destOrd="0" presId="urn:microsoft.com/office/officeart/2018/2/layout/IconVerticalSolidList"/>
    <dgm:cxn modelId="{0BA50FC4-890E-4E1B-B770-3F892F57AEAC}" type="presParOf" srcId="{BEE2E86B-3095-4B19-8C1A-EB69FA55DE8B}" destId="{08DBFAAA-9A5E-4E1F-8FAC-369294871B39}" srcOrd="2" destOrd="0" presId="urn:microsoft.com/office/officeart/2018/2/layout/IconVerticalSolidList"/>
    <dgm:cxn modelId="{A936B011-67DF-4EC8-89E0-EEAAEC6FAC1F}" type="presParOf" srcId="{BEE2E86B-3095-4B19-8C1A-EB69FA55DE8B}" destId="{F2B443B2-8423-4E9C-A6CA-471C11BD7169}" srcOrd="3" destOrd="0" presId="urn:microsoft.com/office/officeart/2018/2/layout/IconVerticalSolidList"/>
    <dgm:cxn modelId="{29918900-0DD0-4102-A139-B7B9D59F95FE}" type="presParOf" srcId="{C03D9F05-7ED2-4A13-B7DD-9A1B87929F4A}" destId="{997E4611-3918-45C7-A4C9-33789ADED233}" srcOrd="1" destOrd="0" presId="urn:microsoft.com/office/officeart/2018/2/layout/IconVerticalSolidList"/>
    <dgm:cxn modelId="{C6359FE3-522D-4902-8C58-1AD047B78EAE}" type="presParOf" srcId="{C03D9F05-7ED2-4A13-B7DD-9A1B87929F4A}" destId="{9E4FD846-8109-40F0-BE77-F050B83FBE15}" srcOrd="2" destOrd="0" presId="urn:microsoft.com/office/officeart/2018/2/layout/IconVerticalSolidList"/>
    <dgm:cxn modelId="{8FC1E3DB-093B-45D6-B348-0FA3475E90EA}" type="presParOf" srcId="{9E4FD846-8109-40F0-BE77-F050B83FBE15}" destId="{609D832B-BFC4-4DF4-A2CC-D6A35A3A568D}" srcOrd="0" destOrd="0" presId="urn:microsoft.com/office/officeart/2018/2/layout/IconVerticalSolidList"/>
    <dgm:cxn modelId="{755805BB-2129-4065-97BC-5F68C78EC86F}" type="presParOf" srcId="{9E4FD846-8109-40F0-BE77-F050B83FBE15}" destId="{E79B768D-2B7C-49AF-B250-E5B5C35980A2}" srcOrd="1" destOrd="0" presId="urn:microsoft.com/office/officeart/2018/2/layout/IconVerticalSolidList"/>
    <dgm:cxn modelId="{3F42D021-E120-4275-AE51-2D6DB32EFA1E}" type="presParOf" srcId="{9E4FD846-8109-40F0-BE77-F050B83FBE15}" destId="{EA96A7B5-9E8F-4231-8097-6C962D4396B6}" srcOrd="2" destOrd="0" presId="urn:microsoft.com/office/officeart/2018/2/layout/IconVerticalSolidList"/>
    <dgm:cxn modelId="{9CA3C178-B089-41CC-8485-5EFF9B5BE2C7}" type="presParOf" srcId="{9E4FD846-8109-40F0-BE77-F050B83FBE15}" destId="{D6DAA513-0ADF-40A9-9B74-F7DE699B2688}" srcOrd="3" destOrd="0" presId="urn:microsoft.com/office/officeart/2018/2/layout/IconVerticalSolidList"/>
    <dgm:cxn modelId="{22AFB57B-23D6-4DF5-9133-7B1A17C18535}" type="presParOf" srcId="{C03D9F05-7ED2-4A13-B7DD-9A1B87929F4A}" destId="{0FA4D682-84CD-4608-9B44-A1665644437A}" srcOrd="3" destOrd="0" presId="urn:microsoft.com/office/officeart/2018/2/layout/IconVerticalSolidList"/>
    <dgm:cxn modelId="{0C3C6EBD-9495-4BD6-925B-40FC6A3E43FD}" type="presParOf" srcId="{C03D9F05-7ED2-4A13-B7DD-9A1B87929F4A}" destId="{9903D2F0-6295-4A4A-8D0F-07FE2ED662E8}" srcOrd="4" destOrd="0" presId="urn:microsoft.com/office/officeart/2018/2/layout/IconVerticalSolidList"/>
    <dgm:cxn modelId="{05A811FE-A3F2-4966-8D7E-DF931673842F}" type="presParOf" srcId="{9903D2F0-6295-4A4A-8D0F-07FE2ED662E8}" destId="{343BFE94-722B-4825-BEA4-823F580DBA20}" srcOrd="0" destOrd="0" presId="urn:microsoft.com/office/officeart/2018/2/layout/IconVerticalSolidList"/>
    <dgm:cxn modelId="{CF2C9266-927B-4E21-89B0-D8047C9A37D6}" type="presParOf" srcId="{9903D2F0-6295-4A4A-8D0F-07FE2ED662E8}" destId="{13F874AA-EFA6-4BEE-A363-613321CE7EE4}" srcOrd="1" destOrd="0" presId="urn:microsoft.com/office/officeart/2018/2/layout/IconVerticalSolidList"/>
    <dgm:cxn modelId="{99DC065A-6AF0-425A-A1A4-27EDB62D9475}" type="presParOf" srcId="{9903D2F0-6295-4A4A-8D0F-07FE2ED662E8}" destId="{CF46C473-13D6-4637-809A-56FE7F9269D2}" srcOrd="2" destOrd="0" presId="urn:microsoft.com/office/officeart/2018/2/layout/IconVerticalSolidList"/>
    <dgm:cxn modelId="{C0E3BEE0-52A7-4F23-AC00-80FE3B7A78FE}" type="presParOf" srcId="{9903D2F0-6295-4A4A-8D0F-07FE2ED662E8}" destId="{26279188-6856-4A85-A938-DABBE1C2CE68}" srcOrd="3" destOrd="0" presId="urn:microsoft.com/office/officeart/2018/2/layout/IconVerticalSolidList"/>
    <dgm:cxn modelId="{5CDC1D97-1106-4DA1-9A32-A7BB479F5D45}" type="presParOf" srcId="{C03D9F05-7ED2-4A13-B7DD-9A1B87929F4A}" destId="{9EAD7730-0AE2-45F3-96C6-F434F2A5AFD7}" srcOrd="5" destOrd="0" presId="urn:microsoft.com/office/officeart/2018/2/layout/IconVerticalSolidList"/>
    <dgm:cxn modelId="{B33322D5-6940-4A49-90B4-9209C9129E58}" type="presParOf" srcId="{C03D9F05-7ED2-4A13-B7DD-9A1B87929F4A}" destId="{19A48058-BBFE-4D52-ACA3-7BC8F9186BBF}" srcOrd="6" destOrd="0" presId="urn:microsoft.com/office/officeart/2018/2/layout/IconVerticalSolidList"/>
    <dgm:cxn modelId="{D09B3C86-4035-47F1-AC03-D7CC5AA971AE}" type="presParOf" srcId="{19A48058-BBFE-4D52-ACA3-7BC8F9186BBF}" destId="{088DBAA7-B7E0-476F-B061-481A3DA76E8B}" srcOrd="0" destOrd="0" presId="urn:microsoft.com/office/officeart/2018/2/layout/IconVerticalSolidList"/>
    <dgm:cxn modelId="{9F0D62C4-A302-461E-8FC1-0EE59CE30473}" type="presParOf" srcId="{19A48058-BBFE-4D52-ACA3-7BC8F9186BBF}" destId="{A3D1A0E8-2856-432D-B114-B5F76D99555B}" srcOrd="1" destOrd="0" presId="urn:microsoft.com/office/officeart/2018/2/layout/IconVerticalSolidList"/>
    <dgm:cxn modelId="{B4934DE3-8265-455D-9F73-734D3AEFAE8E}" type="presParOf" srcId="{19A48058-BBFE-4D52-ACA3-7BC8F9186BBF}" destId="{64600704-A48E-4086-961B-F2BD77A327AE}" srcOrd="2" destOrd="0" presId="urn:microsoft.com/office/officeart/2018/2/layout/IconVerticalSolidList"/>
    <dgm:cxn modelId="{ADE4ACE0-0DD4-4F09-975E-78DCC6B6D117}" type="presParOf" srcId="{19A48058-BBFE-4D52-ACA3-7BC8F9186BBF}" destId="{50D517AC-4560-4622-8F4D-AA750E560FB2}"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AEAEB59-F5AC-4B27-948E-CD4DC9F75AF7}">
      <dsp:nvSpPr>
        <dsp:cNvPr id="0" name=""/>
        <dsp:cNvSpPr/>
      </dsp:nvSpPr>
      <dsp:spPr>
        <a:xfrm>
          <a:off x="-35302" y="10846"/>
          <a:ext cx="6669431" cy="1211854"/>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76B1D37-9ACD-4E38-A12E-6CEE3065D5C2}">
      <dsp:nvSpPr>
        <dsp:cNvPr id="0" name=""/>
        <dsp:cNvSpPr/>
      </dsp:nvSpPr>
      <dsp:spPr>
        <a:xfrm>
          <a:off x="331283" y="283513"/>
          <a:ext cx="666519" cy="666519"/>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D315312F-7ACF-4AE1-8041-87E6C0D627C4}">
      <dsp:nvSpPr>
        <dsp:cNvPr id="0" name=""/>
        <dsp:cNvSpPr/>
      </dsp:nvSpPr>
      <dsp:spPr>
        <a:xfrm>
          <a:off x="1364389" y="10846"/>
          <a:ext cx="3001243" cy="12118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255" tIns="128255" rIns="128255" bIns="128255" numCol="1" spcCol="1270" anchor="ctr" anchorCtr="0">
          <a:noAutofit/>
        </a:bodyPr>
        <a:lstStyle/>
        <a:p>
          <a:pPr marL="0" lvl="0" indent="0" algn="l" defTabSz="800100">
            <a:lnSpc>
              <a:spcPct val="90000"/>
            </a:lnSpc>
            <a:spcBef>
              <a:spcPct val="0"/>
            </a:spcBef>
            <a:spcAft>
              <a:spcPct val="35000"/>
            </a:spcAft>
            <a:buNone/>
          </a:pPr>
          <a:r>
            <a:rPr lang="en-GB" sz="1800" kern="1200" dirty="0"/>
            <a:t>‘Game Mechanics: Advanced Games Design’ by Ernest Adams and Joris Dorman.</a:t>
          </a:r>
          <a:endParaRPr lang="en-US" sz="1800" kern="1200" dirty="0"/>
        </a:p>
      </dsp:txBody>
      <dsp:txXfrm>
        <a:off x="1364389" y="10846"/>
        <a:ext cx="3001243" cy="1211854"/>
      </dsp:txXfrm>
    </dsp:sp>
    <dsp:sp modelId="{22BDDB7B-D2C3-44AA-8A4B-7FF0AAC34C03}">
      <dsp:nvSpPr>
        <dsp:cNvPr id="0" name=""/>
        <dsp:cNvSpPr/>
      </dsp:nvSpPr>
      <dsp:spPr>
        <a:xfrm>
          <a:off x="4292290" y="10846"/>
          <a:ext cx="2412443" cy="12118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255" tIns="128255" rIns="128255" bIns="128255" numCol="1" spcCol="1270" anchor="ctr" anchorCtr="0">
          <a:noAutofit/>
        </a:bodyPr>
        <a:lstStyle/>
        <a:p>
          <a:pPr marL="0" lvl="0" indent="0" algn="l" defTabSz="488950">
            <a:lnSpc>
              <a:spcPct val="90000"/>
            </a:lnSpc>
            <a:spcBef>
              <a:spcPct val="0"/>
            </a:spcBef>
            <a:spcAft>
              <a:spcPct val="35000"/>
            </a:spcAft>
            <a:buNone/>
          </a:pPr>
          <a:r>
            <a:rPr lang="en-GB" sz="1100" kern="1200" dirty="0"/>
            <a:t>Limited physical copies in Llandaff Campus library. eBook available via MetSearch - </a:t>
          </a:r>
          <a:r>
            <a:rPr lang="en-GB" sz="1100" kern="1200" dirty="0">
              <a:hlinkClick xmlns:r="http://schemas.openxmlformats.org/officeDocument/2006/relationships" r:id="rId3"/>
            </a:rPr>
            <a:t>https://library.cardiffmet.ac.uk/home</a:t>
          </a:r>
          <a:endParaRPr lang="en-US" sz="1100" kern="1200" dirty="0"/>
        </a:p>
      </dsp:txBody>
      <dsp:txXfrm>
        <a:off x="4292290" y="10846"/>
        <a:ext cx="2412443" cy="1211854"/>
      </dsp:txXfrm>
    </dsp:sp>
    <dsp:sp modelId="{538C370F-105C-4DCD-9AEB-DFF6A0EBBB66}">
      <dsp:nvSpPr>
        <dsp:cNvPr id="0" name=""/>
        <dsp:cNvSpPr/>
      </dsp:nvSpPr>
      <dsp:spPr>
        <a:xfrm>
          <a:off x="-35302" y="1525664"/>
          <a:ext cx="6669431" cy="1211854"/>
        </a:xfrm>
        <a:prstGeom prst="roundRect">
          <a:avLst>
            <a:gd name="adj" fmla="val 10000"/>
          </a:avLst>
        </a:prstGeom>
        <a:solidFill>
          <a:schemeClr val="tx2">
            <a:lumMod val="60000"/>
            <a:lumOff val="40000"/>
          </a:schemeClr>
        </a:solidFill>
        <a:ln>
          <a:noFill/>
        </a:ln>
        <a:effectLst/>
      </dsp:spPr>
      <dsp:style>
        <a:lnRef idx="0">
          <a:scrgbClr r="0" g="0" b="0"/>
        </a:lnRef>
        <a:fillRef idx="1">
          <a:scrgbClr r="0" g="0" b="0"/>
        </a:fillRef>
        <a:effectRef idx="0">
          <a:scrgbClr r="0" g="0" b="0"/>
        </a:effectRef>
        <a:fontRef idx="minor"/>
      </dsp:style>
    </dsp:sp>
    <dsp:sp modelId="{992FD21A-E971-4CF3-971C-EBF3868AFE07}">
      <dsp:nvSpPr>
        <dsp:cNvPr id="0" name=""/>
        <dsp:cNvSpPr/>
      </dsp:nvSpPr>
      <dsp:spPr>
        <a:xfrm>
          <a:off x="331283" y="1798331"/>
          <a:ext cx="666519" cy="666519"/>
        </a:xfrm>
        <a:prstGeom prst="rect">
          <a:avLst/>
        </a:prstGeom>
        <a:blipFill>
          <a:blip xmlns:r="http://schemas.openxmlformats.org/officeDocument/2006/relationships"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E1C078F1-0BE1-48C7-A094-D42D4F3D8730}">
      <dsp:nvSpPr>
        <dsp:cNvPr id="0" name=""/>
        <dsp:cNvSpPr/>
      </dsp:nvSpPr>
      <dsp:spPr>
        <a:xfrm>
          <a:off x="1364389" y="1525664"/>
          <a:ext cx="5267001" cy="12118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255" tIns="128255" rIns="128255" bIns="128255" numCol="1" spcCol="1270" anchor="ctr" anchorCtr="0">
          <a:noAutofit/>
        </a:bodyPr>
        <a:lstStyle/>
        <a:p>
          <a:pPr marL="0" lvl="0" indent="0" algn="l" defTabSz="800100">
            <a:lnSpc>
              <a:spcPct val="90000"/>
            </a:lnSpc>
            <a:spcBef>
              <a:spcPct val="0"/>
            </a:spcBef>
            <a:spcAft>
              <a:spcPct val="35000"/>
            </a:spcAft>
            <a:buNone/>
          </a:pPr>
          <a:r>
            <a:rPr lang="en-GB" sz="1800" kern="1200" dirty="0"/>
            <a:t>Suggested reading:</a:t>
          </a:r>
          <a:endParaRPr lang="en-US" sz="1800" kern="1200" dirty="0"/>
        </a:p>
      </dsp:txBody>
      <dsp:txXfrm>
        <a:off x="1364389" y="1525664"/>
        <a:ext cx="5267001" cy="1211854"/>
      </dsp:txXfrm>
    </dsp:sp>
    <dsp:sp modelId="{ACA4ED53-6C08-4DA8-B624-5C6A1C88A714}">
      <dsp:nvSpPr>
        <dsp:cNvPr id="0" name=""/>
        <dsp:cNvSpPr/>
      </dsp:nvSpPr>
      <dsp:spPr>
        <a:xfrm>
          <a:off x="-35302" y="3040481"/>
          <a:ext cx="6669431" cy="1211854"/>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4DB4EF5-0CC2-4C5C-9ABC-21807521FEE8}">
      <dsp:nvSpPr>
        <dsp:cNvPr id="0" name=""/>
        <dsp:cNvSpPr/>
      </dsp:nvSpPr>
      <dsp:spPr>
        <a:xfrm>
          <a:off x="331283" y="3313148"/>
          <a:ext cx="666519" cy="666519"/>
        </a:xfrm>
        <a:prstGeom prst="rect">
          <a:avLst/>
        </a:prstGeom>
        <a:blipFill>
          <a:blip xmlns:r="http://schemas.openxmlformats.org/officeDocument/2006/relationships"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FCAEA17B-6007-4606-9DE1-865B5DEF3397}">
      <dsp:nvSpPr>
        <dsp:cNvPr id="0" name=""/>
        <dsp:cNvSpPr/>
      </dsp:nvSpPr>
      <dsp:spPr>
        <a:xfrm>
          <a:off x="1364389" y="3040481"/>
          <a:ext cx="5267001" cy="12118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255" tIns="128255" rIns="128255" bIns="128255" numCol="1" spcCol="1270" anchor="ctr" anchorCtr="0">
          <a:noAutofit/>
        </a:bodyPr>
        <a:lstStyle/>
        <a:p>
          <a:pPr marL="0" lvl="0" indent="0" algn="l" defTabSz="800100">
            <a:lnSpc>
              <a:spcPct val="90000"/>
            </a:lnSpc>
            <a:spcBef>
              <a:spcPct val="0"/>
            </a:spcBef>
            <a:spcAft>
              <a:spcPct val="35000"/>
            </a:spcAft>
            <a:buNone/>
          </a:pPr>
          <a:r>
            <a:rPr lang="en-GB" sz="1800" kern="1200" dirty="0">
              <a:hlinkClick xmlns:r="http://schemas.openxmlformats.org/officeDocument/2006/relationships" r:id="rId8"/>
            </a:rPr>
            <a:t>‘Applied Theory for Game Design’ </a:t>
          </a:r>
          <a:endParaRPr lang="en-GB" sz="1800" kern="1200" dirty="0"/>
        </a:p>
        <a:p>
          <a:pPr marL="0" lvl="0" indent="0" algn="l" defTabSz="800100">
            <a:lnSpc>
              <a:spcPct val="90000"/>
            </a:lnSpc>
            <a:spcBef>
              <a:spcPct val="0"/>
            </a:spcBef>
            <a:spcAft>
              <a:spcPct val="35000"/>
            </a:spcAft>
            <a:buNone/>
          </a:pPr>
          <a:r>
            <a:rPr lang="en-GB" sz="1800" kern="1200" dirty="0"/>
            <a:t>by Joris Dormans. PhD Thesis.</a:t>
          </a:r>
          <a:endParaRPr lang="en-US" sz="1800" kern="1200" dirty="0"/>
        </a:p>
      </dsp:txBody>
      <dsp:txXfrm>
        <a:off x="1364389" y="3040481"/>
        <a:ext cx="5267001" cy="1211854"/>
      </dsp:txXfrm>
    </dsp:sp>
    <dsp:sp modelId="{22F2ACD7-535F-40D0-8278-E3AF6532A829}">
      <dsp:nvSpPr>
        <dsp:cNvPr id="0" name=""/>
        <dsp:cNvSpPr/>
      </dsp:nvSpPr>
      <dsp:spPr>
        <a:xfrm>
          <a:off x="-35302" y="4555299"/>
          <a:ext cx="6669431" cy="1211854"/>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6C347B5-6D6C-482A-A55B-09555C4E48BB}">
      <dsp:nvSpPr>
        <dsp:cNvPr id="0" name=""/>
        <dsp:cNvSpPr/>
      </dsp:nvSpPr>
      <dsp:spPr>
        <a:xfrm>
          <a:off x="331283" y="4827966"/>
          <a:ext cx="666519" cy="666519"/>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EC8DC397-BC69-49F6-9E43-D8298E600984}">
      <dsp:nvSpPr>
        <dsp:cNvPr id="0" name=""/>
        <dsp:cNvSpPr/>
      </dsp:nvSpPr>
      <dsp:spPr>
        <a:xfrm>
          <a:off x="1364389" y="4555299"/>
          <a:ext cx="5267001" cy="12118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255" tIns="128255" rIns="128255" bIns="128255" numCol="1" spcCol="1270" anchor="ctr" anchorCtr="0">
          <a:noAutofit/>
        </a:bodyPr>
        <a:lstStyle/>
        <a:p>
          <a:pPr marL="0" lvl="0" indent="0" algn="l" defTabSz="800100">
            <a:lnSpc>
              <a:spcPct val="90000"/>
            </a:lnSpc>
            <a:spcBef>
              <a:spcPct val="0"/>
            </a:spcBef>
            <a:spcAft>
              <a:spcPct val="35000"/>
            </a:spcAft>
            <a:buNone/>
          </a:pPr>
          <a:r>
            <a:rPr lang="en-GB" sz="1800" kern="1200" dirty="0">
              <a:hlinkClick xmlns:r="http://schemas.openxmlformats.org/officeDocument/2006/relationships" r:id="rId11"/>
            </a:rPr>
            <a:t>‘Defining Game Mechanics’ </a:t>
          </a:r>
          <a:endParaRPr lang="en-GB" sz="1800" kern="1200" dirty="0"/>
        </a:p>
        <a:p>
          <a:pPr marL="0" lvl="0" indent="0" algn="l" defTabSz="800100">
            <a:lnSpc>
              <a:spcPct val="90000"/>
            </a:lnSpc>
            <a:spcBef>
              <a:spcPct val="0"/>
            </a:spcBef>
            <a:spcAft>
              <a:spcPct val="35000"/>
            </a:spcAft>
            <a:buNone/>
          </a:pPr>
          <a:r>
            <a:rPr lang="en-GB" sz="1800" kern="1200" dirty="0"/>
            <a:t>Miguel </a:t>
          </a:r>
          <a:r>
            <a:rPr lang="en-GB" sz="1800" kern="1200" dirty="0" err="1"/>
            <a:t>Sicart</a:t>
          </a:r>
          <a:r>
            <a:rPr lang="en-GB" sz="1800" kern="1200" dirty="0"/>
            <a:t>, International Journal of Computer Games Research, Vol 8, Issue 2, Dec. 2008. </a:t>
          </a:r>
          <a:endParaRPr lang="en-US" sz="1800" kern="1200" dirty="0"/>
        </a:p>
      </dsp:txBody>
      <dsp:txXfrm>
        <a:off x="1364389" y="4555299"/>
        <a:ext cx="5267001" cy="121185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D1108B8-3260-49F5-9114-90D44D499D3A}">
      <dsp:nvSpPr>
        <dsp:cNvPr id="0" name=""/>
        <dsp:cNvSpPr/>
      </dsp:nvSpPr>
      <dsp:spPr>
        <a:xfrm>
          <a:off x="0" y="1106"/>
          <a:ext cx="9872871" cy="56100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CF64C70-88E9-4412-BF3C-551E985D7405}">
      <dsp:nvSpPr>
        <dsp:cNvPr id="0" name=""/>
        <dsp:cNvSpPr/>
      </dsp:nvSpPr>
      <dsp:spPr>
        <a:xfrm>
          <a:off x="169704" y="127333"/>
          <a:ext cx="308554" cy="30855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F2B443B2-8423-4E9C-A6CA-471C11BD7169}">
      <dsp:nvSpPr>
        <dsp:cNvPr id="0" name=""/>
        <dsp:cNvSpPr/>
      </dsp:nvSpPr>
      <dsp:spPr>
        <a:xfrm>
          <a:off x="647963" y="1106"/>
          <a:ext cx="9224907" cy="56100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9373" tIns="59373" rIns="59373" bIns="59373" numCol="1" spcCol="1270" anchor="ctr" anchorCtr="0">
          <a:noAutofit/>
        </a:bodyPr>
        <a:lstStyle/>
        <a:p>
          <a:pPr marL="0" lvl="0" indent="0" algn="l" defTabSz="977900">
            <a:lnSpc>
              <a:spcPct val="100000"/>
            </a:lnSpc>
            <a:spcBef>
              <a:spcPct val="0"/>
            </a:spcBef>
            <a:spcAft>
              <a:spcPct val="35000"/>
            </a:spcAft>
            <a:buNone/>
          </a:pPr>
          <a:r>
            <a:rPr lang="en-GB" sz="2200" kern="1200" dirty="0"/>
            <a:t>Game Industry and Design Methods and Practical Tasks – Workgroups</a:t>
          </a:r>
          <a:endParaRPr lang="en-US" sz="2200" kern="1200" dirty="0"/>
        </a:p>
      </dsp:txBody>
      <dsp:txXfrm>
        <a:off x="647963" y="1106"/>
        <a:ext cx="9224907" cy="561007"/>
      </dsp:txXfrm>
    </dsp:sp>
    <dsp:sp modelId="{609D832B-BFC4-4DF4-A2CC-D6A35A3A568D}">
      <dsp:nvSpPr>
        <dsp:cNvPr id="0" name=""/>
        <dsp:cNvSpPr/>
      </dsp:nvSpPr>
      <dsp:spPr>
        <a:xfrm>
          <a:off x="0" y="702366"/>
          <a:ext cx="9872871" cy="56100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79B768D-2B7C-49AF-B250-E5B5C35980A2}">
      <dsp:nvSpPr>
        <dsp:cNvPr id="0" name=""/>
        <dsp:cNvSpPr/>
      </dsp:nvSpPr>
      <dsp:spPr>
        <a:xfrm>
          <a:off x="169704" y="828593"/>
          <a:ext cx="308554" cy="30855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D6DAA513-0ADF-40A9-9B74-F7DE699B2688}">
      <dsp:nvSpPr>
        <dsp:cNvPr id="0" name=""/>
        <dsp:cNvSpPr/>
      </dsp:nvSpPr>
      <dsp:spPr>
        <a:xfrm>
          <a:off x="647963" y="702366"/>
          <a:ext cx="9224907" cy="56100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9373" tIns="59373" rIns="59373" bIns="59373" numCol="1" spcCol="1270" anchor="ctr" anchorCtr="0">
          <a:noAutofit/>
        </a:bodyPr>
        <a:lstStyle/>
        <a:p>
          <a:pPr marL="0" lvl="0" indent="0" algn="l" defTabSz="977900">
            <a:lnSpc>
              <a:spcPct val="100000"/>
            </a:lnSpc>
            <a:spcBef>
              <a:spcPct val="0"/>
            </a:spcBef>
            <a:spcAft>
              <a:spcPct val="35000"/>
            </a:spcAft>
            <a:buNone/>
          </a:pPr>
          <a:r>
            <a:rPr lang="en-GB" sz="2200" kern="1200"/>
            <a:t>Assessment Plan</a:t>
          </a:r>
          <a:endParaRPr lang="en-US" sz="2200" kern="1200"/>
        </a:p>
      </dsp:txBody>
      <dsp:txXfrm>
        <a:off x="647963" y="702366"/>
        <a:ext cx="9224907" cy="561007"/>
      </dsp:txXfrm>
    </dsp:sp>
    <dsp:sp modelId="{343BFE94-722B-4825-BEA4-823F580DBA20}">
      <dsp:nvSpPr>
        <dsp:cNvPr id="0" name=""/>
        <dsp:cNvSpPr/>
      </dsp:nvSpPr>
      <dsp:spPr>
        <a:xfrm>
          <a:off x="0" y="1403625"/>
          <a:ext cx="9872871" cy="56100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3F874AA-EFA6-4BEE-A363-613321CE7EE4}">
      <dsp:nvSpPr>
        <dsp:cNvPr id="0" name=""/>
        <dsp:cNvSpPr/>
      </dsp:nvSpPr>
      <dsp:spPr>
        <a:xfrm>
          <a:off x="169704" y="1529852"/>
          <a:ext cx="308554" cy="30855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6279188-6856-4A85-A938-DABBE1C2CE68}">
      <dsp:nvSpPr>
        <dsp:cNvPr id="0" name=""/>
        <dsp:cNvSpPr/>
      </dsp:nvSpPr>
      <dsp:spPr>
        <a:xfrm>
          <a:off x="647963" y="1403625"/>
          <a:ext cx="9224907" cy="56100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9373" tIns="59373" rIns="59373" bIns="59373" numCol="1" spcCol="1270" anchor="ctr" anchorCtr="0">
          <a:noAutofit/>
        </a:bodyPr>
        <a:lstStyle/>
        <a:p>
          <a:pPr marL="0" lvl="0" indent="0" algn="l" defTabSz="977900">
            <a:lnSpc>
              <a:spcPct val="100000"/>
            </a:lnSpc>
            <a:spcBef>
              <a:spcPct val="0"/>
            </a:spcBef>
            <a:spcAft>
              <a:spcPct val="35000"/>
            </a:spcAft>
            <a:buNone/>
          </a:pPr>
          <a:r>
            <a:rPr lang="en-GB" sz="2200" kern="1200"/>
            <a:t>Moodle Resources</a:t>
          </a:r>
          <a:endParaRPr lang="en-US" sz="2200" kern="1200"/>
        </a:p>
      </dsp:txBody>
      <dsp:txXfrm>
        <a:off x="647963" y="1403625"/>
        <a:ext cx="9224907" cy="561007"/>
      </dsp:txXfrm>
    </dsp:sp>
    <dsp:sp modelId="{088DBAA7-B7E0-476F-B061-481A3DA76E8B}">
      <dsp:nvSpPr>
        <dsp:cNvPr id="0" name=""/>
        <dsp:cNvSpPr/>
      </dsp:nvSpPr>
      <dsp:spPr>
        <a:xfrm>
          <a:off x="0" y="2104885"/>
          <a:ext cx="9872871" cy="56100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3D1A0E8-2856-432D-B114-B5F76D99555B}">
      <dsp:nvSpPr>
        <dsp:cNvPr id="0" name=""/>
        <dsp:cNvSpPr/>
      </dsp:nvSpPr>
      <dsp:spPr>
        <a:xfrm>
          <a:off x="169704" y="2231112"/>
          <a:ext cx="308554" cy="30855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50D517AC-4560-4622-8F4D-AA750E560FB2}">
      <dsp:nvSpPr>
        <dsp:cNvPr id="0" name=""/>
        <dsp:cNvSpPr/>
      </dsp:nvSpPr>
      <dsp:spPr>
        <a:xfrm>
          <a:off x="647963" y="2104885"/>
          <a:ext cx="9224907" cy="56100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9373" tIns="59373" rIns="59373" bIns="59373" numCol="1" spcCol="1270" anchor="ctr" anchorCtr="0">
          <a:noAutofit/>
        </a:bodyPr>
        <a:lstStyle/>
        <a:p>
          <a:pPr marL="0" lvl="0" indent="0" algn="l" defTabSz="977900">
            <a:lnSpc>
              <a:spcPct val="100000"/>
            </a:lnSpc>
            <a:spcBef>
              <a:spcPct val="0"/>
            </a:spcBef>
            <a:spcAft>
              <a:spcPct val="35000"/>
            </a:spcAft>
            <a:buNone/>
          </a:pPr>
          <a:r>
            <a:rPr lang="en-GB" sz="2200" kern="1200"/>
            <a:t>Questions?</a:t>
          </a:r>
          <a:endParaRPr lang="en-US" sz="2200" kern="1200"/>
        </a:p>
      </dsp:txBody>
      <dsp:txXfrm>
        <a:off x="647963" y="2104885"/>
        <a:ext cx="9224907" cy="561007"/>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AB8E736-4E9A-4B94-BC0D-FD085EC8070B}" type="datetimeFigureOut">
              <a:rPr lang="en-GB" smtClean="0"/>
              <a:t>19/01/2026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0082877-787E-4C27-B45E-53FEEE3D6948}" type="slidenum">
              <a:rPr lang="en-GB" smtClean="0"/>
              <a:t>‹#›</a:t>
            </a:fld>
            <a:endParaRPr lang="en-GB"/>
          </a:p>
        </p:txBody>
      </p:sp>
    </p:spTree>
    <p:extLst>
      <p:ext uri="{BB962C8B-B14F-4D97-AF65-F5344CB8AC3E}">
        <p14:creationId xmlns:p14="http://schemas.microsoft.com/office/powerpoint/2010/main" val="2506430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10082877-787E-4C27-B45E-53FEEE3D6948}" type="slidenum">
              <a:rPr lang="en-GB" smtClean="0"/>
              <a:t>4</a:t>
            </a:fld>
            <a:endParaRPr lang="en-GB"/>
          </a:p>
        </p:txBody>
      </p:sp>
    </p:spTree>
    <p:extLst>
      <p:ext uri="{BB962C8B-B14F-4D97-AF65-F5344CB8AC3E}">
        <p14:creationId xmlns:p14="http://schemas.microsoft.com/office/powerpoint/2010/main" val="2237594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43E3663-BFF0-4983-97CD-40CB90C0F28F}" type="datetimeFigureOut">
              <a:rPr lang="en-GB" smtClean="0"/>
              <a:t>19/01/2026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6946184-0516-4130-8C43-972C3C9A0733}" type="slidenum">
              <a:rPr lang="en-GB" smtClean="0"/>
              <a:t>‹#›</a:t>
            </a:fld>
            <a:endParaRPr lang="en-GB"/>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276766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43E3663-BFF0-4983-97CD-40CB90C0F28F}" type="datetimeFigureOut">
              <a:rPr lang="en-GB" smtClean="0"/>
              <a:t>19/01/2026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6946184-0516-4130-8C43-972C3C9A0733}" type="slidenum">
              <a:rPr lang="en-GB" smtClean="0"/>
              <a:t>‹#›</a:t>
            </a:fld>
            <a:endParaRPr lang="en-GB"/>
          </a:p>
        </p:txBody>
      </p:sp>
    </p:spTree>
    <p:extLst>
      <p:ext uri="{BB962C8B-B14F-4D97-AF65-F5344CB8AC3E}">
        <p14:creationId xmlns:p14="http://schemas.microsoft.com/office/powerpoint/2010/main" val="14579380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43E3663-BFF0-4983-97CD-40CB90C0F28F}" type="datetimeFigureOut">
              <a:rPr lang="en-GB" smtClean="0"/>
              <a:t>19/01/2026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6946184-0516-4130-8C43-972C3C9A0733}" type="slidenum">
              <a:rPr lang="en-GB" smtClean="0"/>
              <a:t>‹#›</a:t>
            </a:fld>
            <a:endParaRPr lang="en-GB"/>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230769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43E3663-BFF0-4983-97CD-40CB90C0F28F}" type="datetimeFigureOut">
              <a:rPr lang="en-GB" smtClean="0"/>
              <a:t>19/01/2026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6946184-0516-4130-8C43-972C3C9A0733}" type="slidenum">
              <a:rPr lang="en-GB" smtClean="0"/>
              <a:t>‹#›</a:t>
            </a:fld>
            <a:endParaRPr lang="en-GB"/>
          </a:p>
        </p:txBody>
      </p:sp>
    </p:spTree>
    <p:extLst>
      <p:ext uri="{BB962C8B-B14F-4D97-AF65-F5344CB8AC3E}">
        <p14:creationId xmlns:p14="http://schemas.microsoft.com/office/powerpoint/2010/main" val="28953473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43E3663-BFF0-4983-97CD-40CB90C0F28F}" type="datetimeFigureOut">
              <a:rPr lang="en-GB" smtClean="0"/>
              <a:t>19/01/2026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6946184-0516-4130-8C43-972C3C9A0733}" type="slidenum">
              <a:rPr lang="en-GB" smtClean="0"/>
              <a:t>‹#›</a:t>
            </a:fld>
            <a:endParaRPr lang="en-GB"/>
          </a:p>
        </p:txBody>
      </p:sp>
    </p:spTree>
    <p:extLst>
      <p:ext uri="{BB962C8B-B14F-4D97-AF65-F5344CB8AC3E}">
        <p14:creationId xmlns:p14="http://schemas.microsoft.com/office/powerpoint/2010/main" val="42659480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43E3663-BFF0-4983-97CD-40CB90C0F28F}" type="datetimeFigureOut">
              <a:rPr lang="en-GB" smtClean="0"/>
              <a:t>19/01/2026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6946184-0516-4130-8C43-972C3C9A0733}" type="slidenum">
              <a:rPr lang="en-GB" smtClean="0"/>
              <a:t>‹#›</a:t>
            </a:fld>
            <a:endParaRPr lang="en-GB"/>
          </a:p>
        </p:txBody>
      </p:sp>
    </p:spTree>
    <p:extLst>
      <p:ext uri="{BB962C8B-B14F-4D97-AF65-F5344CB8AC3E}">
        <p14:creationId xmlns:p14="http://schemas.microsoft.com/office/powerpoint/2010/main" val="16929275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C43E3663-BFF0-4983-97CD-40CB90C0F28F}" type="datetimeFigureOut">
              <a:rPr lang="en-GB" smtClean="0"/>
              <a:t>19/01/2026</a:t>
            </a:fld>
            <a:endParaRPr lang="en-GB"/>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GB"/>
          </a:p>
        </p:txBody>
      </p:sp>
      <p:sp>
        <p:nvSpPr>
          <p:cNvPr id="9" name="Slide Number Placeholder 8"/>
          <p:cNvSpPr>
            <a:spLocks noGrp="1"/>
          </p:cNvSpPr>
          <p:nvPr>
            <p:ph type="sldNum" sz="quarter" idx="12"/>
          </p:nvPr>
        </p:nvSpPr>
        <p:spPr/>
        <p:txBody>
          <a:bodyPr/>
          <a:lstStyle/>
          <a:p>
            <a:fld id="{76946184-0516-4130-8C43-972C3C9A0733}" type="slidenum">
              <a:rPr lang="en-GB" smtClean="0"/>
              <a:t>‹#›</a:t>
            </a:fld>
            <a:endParaRPr lang="en-GB"/>
          </a:p>
        </p:txBody>
      </p:sp>
    </p:spTree>
    <p:extLst>
      <p:ext uri="{BB962C8B-B14F-4D97-AF65-F5344CB8AC3E}">
        <p14:creationId xmlns:p14="http://schemas.microsoft.com/office/powerpoint/2010/main" val="39147925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C43E3663-BFF0-4983-97CD-40CB90C0F28F}" type="datetimeFigureOut">
              <a:rPr lang="en-GB" smtClean="0"/>
              <a:t>19/01/2026</a:t>
            </a:fld>
            <a:endParaRPr lang="en-GB"/>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GB"/>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76946184-0516-4130-8C43-972C3C9A0733}" type="slidenum">
              <a:rPr lang="en-GB" smtClean="0"/>
              <a:t>‹#›</a:t>
            </a:fld>
            <a:endParaRPr lang="en-GB"/>
          </a:p>
        </p:txBody>
      </p:sp>
    </p:spTree>
    <p:extLst>
      <p:ext uri="{BB962C8B-B14F-4D97-AF65-F5344CB8AC3E}">
        <p14:creationId xmlns:p14="http://schemas.microsoft.com/office/powerpoint/2010/main" val="7074176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43E3663-BFF0-4983-97CD-40CB90C0F28F}" type="datetimeFigureOut">
              <a:rPr lang="en-GB" smtClean="0"/>
              <a:t>19/01/2026</a:t>
            </a:fld>
            <a:endParaRPr lang="en-GB"/>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76946184-0516-4130-8C43-972C3C9A0733}" type="slidenum">
              <a:rPr lang="en-GB" smtClean="0"/>
              <a:t>‹#›</a:t>
            </a:fld>
            <a:endParaRPr lang="en-GB"/>
          </a:p>
        </p:txBody>
      </p:sp>
    </p:spTree>
    <p:extLst>
      <p:ext uri="{BB962C8B-B14F-4D97-AF65-F5344CB8AC3E}">
        <p14:creationId xmlns:p14="http://schemas.microsoft.com/office/powerpoint/2010/main" val="32995423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43E3663-BFF0-4983-97CD-40CB90C0F28F}" type="datetimeFigureOut">
              <a:rPr lang="en-GB" smtClean="0"/>
              <a:t>19/01/2026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6946184-0516-4130-8C43-972C3C9A0733}" type="slidenum">
              <a:rPr lang="en-GB" smtClean="0"/>
              <a:t>‹#›</a:t>
            </a:fld>
            <a:endParaRPr lang="en-GB"/>
          </a:p>
        </p:txBody>
      </p:sp>
    </p:spTree>
    <p:extLst>
      <p:ext uri="{BB962C8B-B14F-4D97-AF65-F5344CB8AC3E}">
        <p14:creationId xmlns:p14="http://schemas.microsoft.com/office/powerpoint/2010/main" val="31923545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43E3663-BFF0-4983-97CD-40CB90C0F28F}" type="datetimeFigureOut">
              <a:rPr lang="en-GB" smtClean="0"/>
              <a:t>19/01/2026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6946184-0516-4130-8C43-972C3C9A0733}" type="slidenum">
              <a:rPr lang="en-GB" smtClean="0"/>
              <a:t>‹#›</a:t>
            </a:fld>
            <a:endParaRPr lang="en-GB"/>
          </a:p>
        </p:txBody>
      </p:sp>
    </p:spTree>
    <p:extLst>
      <p:ext uri="{BB962C8B-B14F-4D97-AF65-F5344CB8AC3E}">
        <p14:creationId xmlns:p14="http://schemas.microsoft.com/office/powerpoint/2010/main" val="15653632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C43E3663-BFF0-4983-97CD-40CB90C0F28F}" type="datetimeFigureOut">
              <a:rPr lang="en-GB" smtClean="0"/>
              <a:t>19/01/2026</a:t>
            </a:fld>
            <a:endParaRPr lang="en-GB"/>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GB"/>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76946184-0516-4130-8C43-972C3C9A0733}" type="slidenum">
              <a:rPr lang="en-GB" smtClean="0"/>
              <a:t>‹#›</a:t>
            </a:fld>
            <a:endParaRPr lang="en-GB"/>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61288286"/>
      </p:ext>
    </p:extLst>
  </p:cSld>
  <p:clrMap bg1="lt1" tx1="dk1" bg2="lt2" tx2="dk2" accent1="accent1" accent2="accent2" accent3="accent3" accent4="accent4" accent5="accent5" accent6="accent6" hlink="hlink" folHlink="folHlink"/>
  <p:sldLayoutIdLst>
    <p:sldLayoutId id="2147483727"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 id="2147483736" r:id="rId10"/>
    <p:sldLayoutId id="2147483737"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0.jp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jpeg"/><Relationship Id="rId1" Type="http://schemas.openxmlformats.org/officeDocument/2006/relationships/slideLayout" Target="../slideLayouts/slideLayout2.xml"/><Relationship Id="rId4" Type="http://schemas.openxmlformats.org/officeDocument/2006/relationships/image" Target="../media/image23.svg"/></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jpeg"/><Relationship Id="rId1" Type="http://schemas.openxmlformats.org/officeDocument/2006/relationships/slideLayout" Target="../slideLayouts/slideLayout2.xml"/><Relationship Id="rId4" Type="http://schemas.openxmlformats.org/officeDocument/2006/relationships/image" Target="../media/image23.svg"/></Relationships>
</file>

<file path=ppt/slides/_rels/slide10.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50000">
              <a:srgbClr val="ABC0E4"/>
            </a:gs>
            <a:gs pos="25000">
              <a:schemeClr val="accent1">
                <a:lumMod val="45000"/>
                <a:lumOff val="55000"/>
              </a:schemeClr>
            </a:gs>
            <a:gs pos="75000">
              <a:schemeClr val="accent1">
                <a:lumMod val="45000"/>
                <a:lumOff val="55000"/>
              </a:schemeClr>
            </a:gs>
            <a:gs pos="100000">
              <a:schemeClr val="accent1"/>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DBE16960-02FD-7EA2-7C2A-3F2312C90037}"/>
              </a:ext>
            </a:extLst>
          </p:cNvPr>
          <p:cNvSpPr>
            <a:spLocks noGrp="1"/>
          </p:cNvSpPr>
          <p:nvPr>
            <p:ph type="subTitle" idx="1"/>
          </p:nvPr>
        </p:nvSpPr>
        <p:spPr>
          <a:xfrm>
            <a:off x="242684" y="2678195"/>
            <a:ext cx="11700853" cy="3681965"/>
          </a:xfrm>
        </p:spPr>
        <p:txBody>
          <a:bodyPr>
            <a:normAutofit/>
          </a:bodyPr>
          <a:lstStyle/>
          <a:p>
            <a:r>
              <a:rPr lang="en-GB" sz="4000" dirty="0">
                <a:solidFill>
                  <a:schemeClr val="accent2"/>
                </a:solidFill>
                <a:effectLst>
                  <a:outerShdw blurRad="38100" dist="38100" dir="2700000" algn="tl">
                    <a:srgbClr val="000000">
                      <a:alpha val="43137"/>
                    </a:srgbClr>
                  </a:outerShdw>
                </a:effectLst>
              </a:rPr>
              <a:t>GDV4000</a:t>
            </a:r>
            <a:endParaRPr lang="en-GB" sz="4800" dirty="0">
              <a:solidFill>
                <a:schemeClr val="accent2"/>
              </a:solidFill>
              <a:effectLst>
                <a:outerShdw blurRad="38100" dist="38100" dir="2700000" algn="tl">
                  <a:srgbClr val="000000">
                    <a:alpha val="43137"/>
                  </a:srgbClr>
                </a:outerShdw>
              </a:effectLst>
            </a:endParaRPr>
          </a:p>
          <a:p>
            <a:pPr algn="l"/>
            <a:r>
              <a:rPr lang="en-GB" dirty="0"/>
              <a:t>Module Leader: Ian Smith: </a:t>
            </a:r>
            <a:r>
              <a:rPr lang="en-GB" dirty="0">
                <a:solidFill>
                  <a:schemeClr val="accent2"/>
                </a:solidFill>
                <a:effectLst>
                  <a:outerShdw blurRad="38100" dist="38100" dir="2700000" algn="tl">
                    <a:srgbClr val="000000">
                      <a:alpha val="43137"/>
                    </a:srgbClr>
                  </a:outerShdw>
                </a:effectLst>
              </a:rPr>
              <a:t>ismith@cardiffmet.ac.uk</a:t>
            </a:r>
          </a:p>
        </p:txBody>
      </p:sp>
      <p:sp>
        <p:nvSpPr>
          <p:cNvPr id="4" name="Title 1">
            <a:extLst>
              <a:ext uri="{FF2B5EF4-FFF2-40B4-BE49-F238E27FC236}">
                <a16:creationId xmlns:a16="http://schemas.microsoft.com/office/drawing/2014/main" id="{798E4790-8DC1-D47A-0AE3-B377731EC9CB}"/>
              </a:ext>
            </a:extLst>
          </p:cNvPr>
          <p:cNvSpPr txBox="1">
            <a:spLocks/>
          </p:cNvSpPr>
          <p:nvPr/>
        </p:nvSpPr>
        <p:spPr>
          <a:xfrm>
            <a:off x="0" y="839046"/>
            <a:ext cx="12192002" cy="843979"/>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GB" sz="3200" dirty="0">
                <a:ln w="3175">
                  <a:solidFill>
                    <a:schemeClr val="bg1"/>
                  </a:solidFill>
                </a:ln>
              </a:rPr>
              <a:t>BSc Hons Computer Games Design and Development</a:t>
            </a:r>
          </a:p>
        </p:txBody>
      </p:sp>
      <p:sp>
        <p:nvSpPr>
          <p:cNvPr id="5" name="Rectangle 4">
            <a:extLst>
              <a:ext uri="{FF2B5EF4-FFF2-40B4-BE49-F238E27FC236}">
                <a16:creationId xmlns:a16="http://schemas.microsoft.com/office/drawing/2014/main" id="{B4EA9912-97FC-FD95-9B7A-5874CF8DF3E9}"/>
              </a:ext>
            </a:extLst>
          </p:cNvPr>
          <p:cNvSpPr/>
          <p:nvPr/>
        </p:nvSpPr>
        <p:spPr>
          <a:xfrm>
            <a:off x="242684" y="1563232"/>
            <a:ext cx="11700853" cy="923330"/>
          </a:xfrm>
          <a:prstGeom prst="rect">
            <a:avLst/>
          </a:prstGeom>
          <a:noFill/>
        </p:spPr>
        <p:txBody>
          <a:bodyPr wrap="square" lIns="91440" tIns="45720" rIns="91440" bIns="45720">
            <a:spAutoFit/>
          </a:bodyPr>
          <a:lstStyle/>
          <a:p>
            <a:pPr algn="ctr"/>
            <a:r>
              <a:rPr lang="en-GB" sz="5400" dirty="0">
                <a:ln w="0">
                  <a:solidFill>
                    <a:schemeClr val="bg1"/>
                  </a:solidFill>
                </a:ln>
                <a:effectLst>
                  <a:outerShdw blurRad="50800" dist="38100" dir="5400000" algn="t" rotWithShape="0">
                    <a:prstClr val="black">
                      <a:alpha val="40000"/>
                    </a:prstClr>
                  </a:outerShdw>
                </a:effectLst>
              </a:rPr>
              <a:t>Introduction to Games Industry Practice</a:t>
            </a:r>
          </a:p>
        </p:txBody>
      </p:sp>
      <p:sp>
        <p:nvSpPr>
          <p:cNvPr id="2" name="TextBox 1">
            <a:extLst>
              <a:ext uri="{FF2B5EF4-FFF2-40B4-BE49-F238E27FC236}">
                <a16:creationId xmlns:a16="http://schemas.microsoft.com/office/drawing/2014/main" id="{54875412-B630-1CE7-EF34-86D5C6377869}"/>
              </a:ext>
            </a:extLst>
          </p:cNvPr>
          <p:cNvSpPr txBox="1"/>
          <p:nvPr/>
        </p:nvSpPr>
        <p:spPr>
          <a:xfrm>
            <a:off x="242685" y="6368288"/>
            <a:ext cx="4808868" cy="246221"/>
          </a:xfrm>
          <a:prstGeom prst="rect">
            <a:avLst/>
          </a:prstGeom>
          <a:noFill/>
        </p:spPr>
        <p:txBody>
          <a:bodyPr wrap="square" rtlCol="0">
            <a:spAutoFit/>
          </a:bodyPr>
          <a:lstStyle/>
          <a:p>
            <a:r>
              <a:rPr lang="en-GB" sz="1000" dirty="0"/>
              <a:t>Slides by Ian Smith and Dr Simon Scarle. Adapted from original work by Dr Paul Angel.</a:t>
            </a:r>
          </a:p>
        </p:txBody>
      </p:sp>
    </p:spTree>
    <p:extLst>
      <p:ext uri="{BB962C8B-B14F-4D97-AF65-F5344CB8AC3E}">
        <p14:creationId xmlns:p14="http://schemas.microsoft.com/office/powerpoint/2010/main" val="11301678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091056-FA77-39AE-C53F-6F15608A7FCF}"/>
              </a:ext>
            </a:extLst>
          </p:cNvPr>
          <p:cNvSpPr>
            <a:spLocks noGrp="1"/>
          </p:cNvSpPr>
          <p:nvPr>
            <p:ph type="title"/>
          </p:nvPr>
        </p:nvSpPr>
        <p:spPr>
          <a:xfrm>
            <a:off x="541338" y="1079500"/>
            <a:ext cx="3322637" cy="4689475"/>
          </a:xfrm>
        </p:spPr>
        <p:txBody>
          <a:bodyPr anchor="ctr">
            <a:normAutofit/>
          </a:bodyPr>
          <a:lstStyle/>
          <a:p>
            <a:pPr algn="ctr"/>
            <a:r>
              <a:rPr lang="en-GB" dirty="0"/>
              <a:t>USEFUL COURSE</a:t>
            </a:r>
            <a:br>
              <a:rPr lang="en-GB" dirty="0"/>
            </a:br>
            <a:r>
              <a:rPr lang="en-GB" dirty="0"/>
              <a:t>TEXTS</a:t>
            </a:r>
          </a:p>
        </p:txBody>
      </p:sp>
      <p:graphicFrame>
        <p:nvGraphicFramePr>
          <p:cNvPr id="15" name="Content Placeholder 2">
            <a:extLst>
              <a:ext uri="{FF2B5EF4-FFF2-40B4-BE49-F238E27FC236}">
                <a16:creationId xmlns:a16="http://schemas.microsoft.com/office/drawing/2014/main" id="{9E55B988-38DC-3FF9-0640-4FA4C07EA730}"/>
              </a:ext>
            </a:extLst>
          </p:cNvPr>
          <p:cNvGraphicFramePr>
            <a:graphicFrameLocks noGrp="1"/>
          </p:cNvGraphicFramePr>
          <p:nvPr>
            <p:ph idx="1"/>
            <p:extLst>
              <p:ext uri="{D42A27DB-BD31-4B8C-83A1-F6EECF244321}">
                <p14:modId xmlns:p14="http://schemas.microsoft.com/office/powerpoint/2010/main" val="1345045647"/>
              </p:ext>
            </p:extLst>
          </p:nvPr>
        </p:nvGraphicFramePr>
        <p:xfrm>
          <a:off x="4981231" y="540000"/>
          <a:ext cx="6669431" cy="5778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891646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A5D24-9739-AE04-132F-346D38DFB87A}"/>
              </a:ext>
            </a:extLst>
          </p:cNvPr>
          <p:cNvSpPr>
            <a:spLocks noGrp="1"/>
          </p:cNvSpPr>
          <p:nvPr>
            <p:ph type="title"/>
          </p:nvPr>
        </p:nvSpPr>
        <p:spPr>
          <a:xfrm>
            <a:off x="234669" y="609600"/>
            <a:ext cx="11713221" cy="617728"/>
          </a:xfrm>
        </p:spPr>
        <p:txBody>
          <a:bodyPr>
            <a:normAutofit/>
          </a:bodyPr>
          <a:lstStyle/>
          <a:p>
            <a:pPr algn="ctr"/>
            <a:r>
              <a:rPr lang="en-GB" sz="4000" dirty="0"/>
              <a:t>Studio 1: Introduction </a:t>
            </a:r>
          </a:p>
        </p:txBody>
      </p:sp>
      <p:graphicFrame>
        <p:nvGraphicFramePr>
          <p:cNvPr id="5" name="Content Placeholder 2">
            <a:extLst>
              <a:ext uri="{FF2B5EF4-FFF2-40B4-BE49-F238E27FC236}">
                <a16:creationId xmlns:a16="http://schemas.microsoft.com/office/drawing/2014/main" id="{77457435-C756-DF7E-A84E-74C3406B7A8F}"/>
              </a:ext>
            </a:extLst>
          </p:cNvPr>
          <p:cNvGraphicFramePr>
            <a:graphicFrameLocks noGrp="1"/>
          </p:cNvGraphicFramePr>
          <p:nvPr>
            <p:ph idx="1"/>
            <p:extLst>
              <p:ext uri="{D42A27DB-BD31-4B8C-83A1-F6EECF244321}">
                <p14:modId xmlns:p14="http://schemas.microsoft.com/office/powerpoint/2010/main" val="2152060324"/>
              </p:ext>
            </p:extLst>
          </p:nvPr>
        </p:nvGraphicFramePr>
        <p:xfrm>
          <a:off x="1145649" y="2324437"/>
          <a:ext cx="9872871" cy="2667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7522110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A5D24-9739-AE04-132F-346D38DFB87A}"/>
              </a:ext>
            </a:extLst>
          </p:cNvPr>
          <p:cNvSpPr>
            <a:spLocks noGrp="1"/>
          </p:cNvSpPr>
          <p:nvPr>
            <p:ph type="title"/>
          </p:nvPr>
        </p:nvSpPr>
        <p:spPr>
          <a:xfrm>
            <a:off x="432620" y="1888525"/>
            <a:ext cx="3273042" cy="1987189"/>
          </a:xfrm>
        </p:spPr>
        <p:txBody>
          <a:bodyPr>
            <a:normAutofit/>
          </a:bodyPr>
          <a:lstStyle/>
          <a:p>
            <a:r>
              <a:rPr lang="en-GB" sz="2800" dirty="0">
                <a:solidFill>
                  <a:schemeClr val="tx1"/>
                </a:solidFill>
              </a:rPr>
              <a:t>Game Industry and Design Methods – </a:t>
            </a:r>
            <a:br>
              <a:rPr lang="en-GB" sz="2800" dirty="0">
                <a:solidFill>
                  <a:schemeClr val="tx1"/>
                </a:solidFill>
              </a:rPr>
            </a:br>
            <a:r>
              <a:rPr lang="en-GB" sz="2800" dirty="0">
                <a:solidFill>
                  <a:schemeClr val="tx1"/>
                </a:solidFill>
              </a:rPr>
              <a:t>Some indicative content we will be covering: </a:t>
            </a:r>
          </a:p>
        </p:txBody>
      </p:sp>
      <p:sp>
        <p:nvSpPr>
          <p:cNvPr id="3" name="Content Placeholder 2">
            <a:extLst>
              <a:ext uri="{FF2B5EF4-FFF2-40B4-BE49-F238E27FC236}">
                <a16:creationId xmlns:a16="http://schemas.microsoft.com/office/drawing/2014/main" id="{C73AD8F9-D7DD-4E14-4ED5-1762B1132503}"/>
              </a:ext>
            </a:extLst>
          </p:cNvPr>
          <p:cNvSpPr>
            <a:spLocks noGrp="1"/>
          </p:cNvSpPr>
          <p:nvPr>
            <p:ph idx="1"/>
          </p:nvPr>
        </p:nvSpPr>
        <p:spPr>
          <a:xfrm>
            <a:off x="4995081" y="1761688"/>
            <a:ext cx="6020790" cy="4334312"/>
          </a:xfrm>
        </p:spPr>
        <p:txBody>
          <a:bodyPr anchor="ctr">
            <a:normAutofit/>
          </a:bodyPr>
          <a:lstStyle/>
          <a:p>
            <a:r>
              <a:rPr lang="en-GB" sz="2000" dirty="0">
                <a:solidFill>
                  <a:schemeClr val="tx1"/>
                </a:solidFill>
              </a:rPr>
              <a:t>Game Design Principles</a:t>
            </a:r>
          </a:p>
          <a:p>
            <a:r>
              <a:rPr lang="en-GB" sz="2000" dirty="0">
                <a:solidFill>
                  <a:schemeClr val="tx1"/>
                </a:solidFill>
              </a:rPr>
              <a:t>Introduction to the Games Industry – History and Development</a:t>
            </a:r>
          </a:p>
          <a:p>
            <a:r>
              <a:rPr lang="en-GB" sz="2000" dirty="0">
                <a:solidFill>
                  <a:schemeClr val="tx1"/>
                </a:solidFill>
              </a:rPr>
              <a:t>Game Development Methodologies; Design Documentation; Ethical Considerations in Design.</a:t>
            </a:r>
          </a:p>
          <a:p>
            <a:r>
              <a:rPr lang="en-GB" sz="2000" dirty="0">
                <a:solidFill>
                  <a:schemeClr val="tx1"/>
                </a:solidFill>
              </a:rPr>
              <a:t>Introduction to Game Mechanics</a:t>
            </a:r>
          </a:p>
          <a:p>
            <a:r>
              <a:rPr lang="en-GB" sz="2000" dirty="0">
                <a:solidFill>
                  <a:schemeClr val="tx1"/>
                </a:solidFill>
              </a:rPr>
              <a:t>Emergence &amp; Progression; Basic Considerations for Level Design</a:t>
            </a:r>
          </a:p>
          <a:p>
            <a:r>
              <a:rPr lang="en-GB" sz="2000" dirty="0">
                <a:solidFill>
                  <a:schemeClr val="tx1"/>
                </a:solidFill>
              </a:rPr>
              <a:t>Basic Internal Economies</a:t>
            </a:r>
          </a:p>
          <a:p>
            <a:r>
              <a:rPr lang="en-GB" sz="2000" dirty="0">
                <a:solidFill>
                  <a:schemeClr val="tx1"/>
                </a:solidFill>
              </a:rPr>
              <a:t>Conveying information – Menu Systems and Interface Design</a:t>
            </a:r>
          </a:p>
        </p:txBody>
      </p:sp>
    </p:spTree>
    <p:extLst>
      <p:ext uri="{BB962C8B-B14F-4D97-AF65-F5344CB8AC3E}">
        <p14:creationId xmlns:p14="http://schemas.microsoft.com/office/powerpoint/2010/main" val="4134305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A5D24-9739-AE04-132F-346D38DFB87A}"/>
              </a:ext>
            </a:extLst>
          </p:cNvPr>
          <p:cNvSpPr>
            <a:spLocks noGrp="1"/>
          </p:cNvSpPr>
          <p:nvPr>
            <p:ph type="title"/>
          </p:nvPr>
        </p:nvSpPr>
        <p:spPr>
          <a:xfrm>
            <a:off x="6106703" y="491869"/>
            <a:ext cx="5364444" cy="1356360"/>
          </a:xfrm>
        </p:spPr>
        <p:txBody>
          <a:bodyPr>
            <a:normAutofit/>
          </a:bodyPr>
          <a:lstStyle/>
          <a:p>
            <a:r>
              <a:rPr lang="en-GB" dirty="0">
                <a:solidFill>
                  <a:schemeClr val="bg1"/>
                </a:solidFill>
              </a:rPr>
              <a:t>Game Industry and Design Methods </a:t>
            </a:r>
          </a:p>
        </p:txBody>
      </p:sp>
      <p:sp>
        <p:nvSpPr>
          <p:cNvPr id="3" name="Content Placeholder 2">
            <a:extLst>
              <a:ext uri="{FF2B5EF4-FFF2-40B4-BE49-F238E27FC236}">
                <a16:creationId xmlns:a16="http://schemas.microsoft.com/office/drawing/2014/main" id="{C73AD8F9-D7DD-4E14-4ED5-1762B1132503}"/>
              </a:ext>
            </a:extLst>
          </p:cNvPr>
          <p:cNvSpPr>
            <a:spLocks noGrp="1"/>
          </p:cNvSpPr>
          <p:nvPr>
            <p:ph idx="1"/>
          </p:nvPr>
        </p:nvSpPr>
        <p:spPr>
          <a:xfrm>
            <a:off x="6106703" y="2057400"/>
            <a:ext cx="5364444" cy="4308731"/>
          </a:xfrm>
        </p:spPr>
        <p:txBody>
          <a:bodyPr>
            <a:normAutofit/>
          </a:bodyPr>
          <a:lstStyle/>
          <a:p>
            <a:r>
              <a:rPr lang="en-GB" dirty="0">
                <a:solidFill>
                  <a:schemeClr val="bg1"/>
                </a:solidFill>
              </a:rPr>
              <a:t>Game Design Principles</a:t>
            </a:r>
          </a:p>
          <a:p>
            <a:pPr marL="45720" indent="0">
              <a:buNone/>
            </a:pPr>
            <a:endParaRPr lang="en-GB" dirty="0">
              <a:solidFill>
                <a:schemeClr val="bg1"/>
              </a:solidFill>
            </a:endParaRPr>
          </a:p>
          <a:p>
            <a:pPr lvl="1"/>
            <a:r>
              <a:rPr lang="en-GB" dirty="0">
                <a:solidFill>
                  <a:schemeClr val="bg1"/>
                </a:solidFill>
              </a:rPr>
              <a:t>We will teach the underlying principles, but </a:t>
            </a:r>
            <a:r>
              <a:rPr lang="en-GB" b="1" dirty="0">
                <a:solidFill>
                  <a:schemeClr val="bg1"/>
                </a:solidFill>
              </a:rPr>
              <a:t>not</a:t>
            </a:r>
            <a:r>
              <a:rPr lang="en-GB" dirty="0">
                <a:solidFill>
                  <a:schemeClr val="bg1"/>
                </a:solidFill>
              </a:rPr>
              <a:t> how to do it in ‘X’ Game Engine.</a:t>
            </a:r>
          </a:p>
          <a:p>
            <a:pPr lvl="1"/>
            <a:r>
              <a:rPr lang="en-GB" dirty="0">
                <a:solidFill>
                  <a:schemeClr val="bg1"/>
                </a:solidFill>
              </a:rPr>
              <a:t>Part of being a student is research – You need to be comfortable with finding your own solutions and talking about them (and citing and referencing them where appropriate!).</a:t>
            </a:r>
          </a:p>
          <a:p>
            <a:pPr lvl="1"/>
            <a:r>
              <a:rPr lang="en-GB" dirty="0">
                <a:solidFill>
                  <a:schemeClr val="bg1"/>
                </a:solidFill>
              </a:rPr>
              <a:t>You may have some guidance and examples provided, but you will be expected to consult relevant documentation to expand upon it. </a:t>
            </a:r>
          </a:p>
          <a:p>
            <a:pPr lvl="1"/>
            <a:endParaRPr lang="en-GB" dirty="0"/>
          </a:p>
        </p:txBody>
      </p:sp>
      <p:pic>
        <p:nvPicPr>
          <p:cNvPr id="7" name="Graphic 6" descr="Game controller">
            <a:extLst>
              <a:ext uri="{FF2B5EF4-FFF2-40B4-BE49-F238E27FC236}">
                <a16:creationId xmlns:a16="http://schemas.microsoft.com/office/drawing/2014/main" id="{AC93AAFC-2E96-E5AD-FFF7-89CE75501EC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72064" y="1131152"/>
            <a:ext cx="4593715" cy="4593715"/>
          </a:xfrm>
          <a:prstGeom prst="rect">
            <a:avLst/>
          </a:prstGeom>
        </p:spPr>
      </p:pic>
    </p:spTree>
    <p:extLst>
      <p:ext uri="{BB962C8B-B14F-4D97-AF65-F5344CB8AC3E}">
        <p14:creationId xmlns:p14="http://schemas.microsoft.com/office/powerpoint/2010/main" val="6009566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715BC3B-B36B-54A8-AA20-B615C54E4363}"/>
              </a:ext>
            </a:extLst>
          </p:cNvPr>
          <p:cNvSpPr/>
          <p:nvPr/>
        </p:nvSpPr>
        <p:spPr>
          <a:xfrm>
            <a:off x="7909965" y="1185483"/>
            <a:ext cx="3422605" cy="4839037"/>
          </a:xfrm>
          <a:prstGeom prst="rect">
            <a:avLst/>
          </a:prstGeom>
          <a:ln>
            <a:solidFill>
              <a:schemeClr val="accent2">
                <a:lumMod val="75000"/>
              </a:schemeClr>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E00A5D24-9739-AE04-132F-346D38DFB87A}"/>
              </a:ext>
            </a:extLst>
          </p:cNvPr>
          <p:cNvSpPr>
            <a:spLocks noGrp="1"/>
          </p:cNvSpPr>
          <p:nvPr>
            <p:ph type="title"/>
          </p:nvPr>
        </p:nvSpPr>
        <p:spPr>
          <a:xfrm>
            <a:off x="707064" y="609600"/>
            <a:ext cx="6993914" cy="799750"/>
          </a:xfrm>
        </p:spPr>
        <p:txBody>
          <a:bodyPr>
            <a:normAutofit/>
          </a:bodyPr>
          <a:lstStyle/>
          <a:p>
            <a:r>
              <a:rPr lang="en-US" dirty="0">
                <a:solidFill>
                  <a:schemeClr val="bg1"/>
                </a:solidFill>
              </a:rPr>
              <a:t>W</a:t>
            </a:r>
            <a:r>
              <a:rPr lang="en-GB" dirty="0">
                <a:solidFill>
                  <a:schemeClr val="bg1"/>
                </a:solidFill>
              </a:rPr>
              <a:t>orkgroups.</a:t>
            </a:r>
          </a:p>
        </p:txBody>
      </p:sp>
      <p:pic>
        <p:nvPicPr>
          <p:cNvPr id="5" name="Picture 4" descr="A person smiling for a picture&#10;&#10;Description automatically generated">
            <a:extLst>
              <a:ext uri="{FF2B5EF4-FFF2-40B4-BE49-F238E27FC236}">
                <a16:creationId xmlns:a16="http://schemas.microsoft.com/office/drawing/2014/main" id="{612086B6-833B-6966-8D47-38871F84039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027451" y="1296065"/>
            <a:ext cx="3175972" cy="4321050"/>
          </a:xfrm>
          <a:prstGeom prst="rect">
            <a:avLst/>
          </a:prstGeom>
        </p:spPr>
      </p:pic>
      <p:sp>
        <p:nvSpPr>
          <p:cNvPr id="6" name="TextBox 5">
            <a:extLst>
              <a:ext uri="{FF2B5EF4-FFF2-40B4-BE49-F238E27FC236}">
                <a16:creationId xmlns:a16="http://schemas.microsoft.com/office/drawing/2014/main" id="{59DC1A01-B62A-8E21-604F-E81FCD066F2B}"/>
              </a:ext>
            </a:extLst>
          </p:cNvPr>
          <p:cNvSpPr txBox="1"/>
          <p:nvPr/>
        </p:nvSpPr>
        <p:spPr>
          <a:xfrm>
            <a:off x="8027451" y="5646927"/>
            <a:ext cx="3242743" cy="338554"/>
          </a:xfrm>
          <a:prstGeom prst="rect">
            <a:avLst/>
          </a:prstGeom>
          <a:noFill/>
        </p:spPr>
        <p:txBody>
          <a:bodyPr wrap="square" rtlCol="0">
            <a:spAutoFit/>
          </a:bodyPr>
          <a:lstStyle/>
          <a:p>
            <a:r>
              <a:rPr lang="en-GB" sz="800" dirty="0"/>
              <a:t>Ian Smith – Lecturer in Game Design and Development. Mostly Harmless. Do </a:t>
            </a:r>
            <a:r>
              <a:rPr lang="en-GB" sz="800" b="1" dirty="0"/>
              <a:t>not </a:t>
            </a:r>
            <a:r>
              <a:rPr lang="en-GB" sz="800" dirty="0"/>
              <a:t>address as ‘Sir’ unless awarding a Knighthood.</a:t>
            </a:r>
          </a:p>
        </p:txBody>
      </p:sp>
      <p:sp>
        <p:nvSpPr>
          <p:cNvPr id="7" name="Title 1">
            <a:extLst>
              <a:ext uri="{FF2B5EF4-FFF2-40B4-BE49-F238E27FC236}">
                <a16:creationId xmlns:a16="http://schemas.microsoft.com/office/drawing/2014/main" id="{5EDF5DCB-CB4A-1628-CE16-44209F6BF72B}"/>
              </a:ext>
            </a:extLst>
          </p:cNvPr>
          <p:cNvSpPr txBox="1">
            <a:spLocks/>
          </p:cNvSpPr>
          <p:nvPr/>
        </p:nvSpPr>
        <p:spPr>
          <a:xfrm>
            <a:off x="707064" y="1510121"/>
            <a:ext cx="7320387" cy="426626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r>
              <a:rPr lang="en-GB" sz="2000" dirty="0">
                <a:solidFill>
                  <a:schemeClr val="bg1"/>
                </a:solidFill>
              </a:rPr>
              <a:t>Rather than follow a more traditional Lecture/Seminar model, this module will be conducted in a 4-hour block on a Monday morning.</a:t>
            </a:r>
          </a:p>
          <a:p>
            <a:endParaRPr lang="en-GB" sz="2000" dirty="0">
              <a:solidFill>
                <a:schemeClr val="bg1"/>
              </a:solidFill>
            </a:endParaRPr>
          </a:p>
          <a:p>
            <a:r>
              <a:rPr lang="en-GB" sz="2000" dirty="0">
                <a:solidFill>
                  <a:schemeClr val="bg1"/>
                </a:solidFill>
              </a:rPr>
              <a:t>In the more traditional arrangement, the theory would be introduced in the lecture, and work based on the theory would be discussed in the seminar.</a:t>
            </a:r>
          </a:p>
          <a:p>
            <a:endParaRPr lang="en-GB" sz="2000" dirty="0">
              <a:solidFill>
                <a:schemeClr val="bg1"/>
              </a:solidFill>
            </a:endParaRPr>
          </a:p>
          <a:p>
            <a:r>
              <a:rPr lang="en-GB" sz="2000" dirty="0">
                <a:solidFill>
                  <a:schemeClr val="bg1"/>
                </a:solidFill>
              </a:rPr>
              <a:t>The Workgroup model allows us to break things up more freely and intersperse the theory and practical elements.</a:t>
            </a:r>
          </a:p>
        </p:txBody>
      </p:sp>
      <p:cxnSp>
        <p:nvCxnSpPr>
          <p:cNvPr id="9" name="Straight Arrow Connector 8">
            <a:extLst>
              <a:ext uri="{FF2B5EF4-FFF2-40B4-BE49-F238E27FC236}">
                <a16:creationId xmlns:a16="http://schemas.microsoft.com/office/drawing/2014/main" id="{F467CB79-5CE4-D2EF-6A87-B63607FF9579}"/>
              </a:ext>
            </a:extLst>
          </p:cNvPr>
          <p:cNvCxnSpPr>
            <a:cxnSpLocks/>
          </p:cNvCxnSpPr>
          <p:nvPr/>
        </p:nvCxnSpPr>
        <p:spPr>
          <a:xfrm>
            <a:off x="7530592" y="1328928"/>
            <a:ext cx="1144070" cy="758817"/>
          </a:xfrm>
          <a:prstGeom prst="straightConnector1">
            <a:avLst/>
          </a:prstGeom>
          <a:ln>
            <a:solidFill>
              <a:schemeClr val="bg1"/>
            </a:solidFill>
            <a:tailEnd type="triangle"/>
          </a:ln>
        </p:spPr>
        <p:style>
          <a:lnRef idx="3">
            <a:schemeClr val="accent5"/>
          </a:lnRef>
          <a:fillRef idx="0">
            <a:schemeClr val="accent5"/>
          </a:fillRef>
          <a:effectRef idx="2">
            <a:schemeClr val="accent5"/>
          </a:effectRef>
          <a:fontRef idx="minor">
            <a:schemeClr val="tx1"/>
          </a:fontRef>
        </p:style>
      </p:cxnSp>
      <p:sp>
        <p:nvSpPr>
          <p:cNvPr id="4" name="Explosion: 8 Points 3">
            <a:extLst>
              <a:ext uri="{FF2B5EF4-FFF2-40B4-BE49-F238E27FC236}">
                <a16:creationId xmlns:a16="http://schemas.microsoft.com/office/drawing/2014/main" id="{10045730-5CBA-10E4-404F-8BE7EBAD9838}"/>
              </a:ext>
            </a:extLst>
          </p:cNvPr>
          <p:cNvSpPr/>
          <p:nvPr/>
        </p:nvSpPr>
        <p:spPr>
          <a:xfrm rot="20369496">
            <a:off x="6171512" y="149222"/>
            <a:ext cx="1982852" cy="1962318"/>
          </a:xfrm>
          <a:prstGeom prst="irregularSeal1">
            <a:avLst/>
          </a:prstGeom>
        </p:spPr>
        <p:style>
          <a:lnRef idx="3">
            <a:schemeClr val="lt1"/>
          </a:lnRef>
          <a:fillRef idx="1">
            <a:schemeClr val="accent5"/>
          </a:fillRef>
          <a:effectRef idx="1">
            <a:schemeClr val="accent5"/>
          </a:effectRef>
          <a:fontRef idx="minor">
            <a:schemeClr val="lt1"/>
          </a:fontRef>
        </p:style>
        <p:txBody>
          <a:bodyPr rtlCol="0" anchor="ctr"/>
          <a:lstStyle/>
          <a:p>
            <a:pPr algn="ctr"/>
            <a:r>
              <a:rPr lang="en-GB" sz="2800" dirty="0"/>
              <a:t>ME!!!</a:t>
            </a:r>
          </a:p>
        </p:txBody>
      </p:sp>
    </p:spTree>
    <p:extLst>
      <p:ext uri="{BB962C8B-B14F-4D97-AF65-F5344CB8AC3E}">
        <p14:creationId xmlns:p14="http://schemas.microsoft.com/office/powerpoint/2010/main" val="2385630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pic>
        <p:nvPicPr>
          <p:cNvPr id="5" name="Picture 4" descr="A person reaching for a paper on a table full of paper and sticky notes">
            <a:extLst>
              <a:ext uri="{FF2B5EF4-FFF2-40B4-BE49-F238E27FC236}">
                <a16:creationId xmlns:a16="http://schemas.microsoft.com/office/drawing/2014/main" id="{F966B351-FD18-72C0-923F-2B81708F1216}"/>
              </a:ext>
            </a:extLst>
          </p:cNvPr>
          <p:cNvPicPr>
            <a:picLocks noChangeAspect="1"/>
          </p:cNvPicPr>
          <p:nvPr/>
        </p:nvPicPr>
        <p:blipFill>
          <a:blip r:embed="rId2">
            <a:duotone>
              <a:schemeClr val="accent1">
                <a:shade val="45000"/>
                <a:satMod val="135000"/>
              </a:schemeClr>
              <a:prstClr val="white"/>
            </a:duotone>
            <a:alphaModFix amt="15000"/>
          </a:blip>
          <a:srcRect t="8913" b="6817"/>
          <a:stretch/>
        </p:blipFill>
        <p:spPr>
          <a:xfrm>
            <a:off x="20" y="3808"/>
            <a:ext cx="12191980" cy="6858001"/>
          </a:xfrm>
          <a:prstGeom prst="rect">
            <a:avLst/>
          </a:prstGeom>
        </p:spPr>
      </p:pic>
      <p:sp>
        <p:nvSpPr>
          <p:cNvPr id="3" name="Content Placeholder 2">
            <a:extLst>
              <a:ext uri="{FF2B5EF4-FFF2-40B4-BE49-F238E27FC236}">
                <a16:creationId xmlns:a16="http://schemas.microsoft.com/office/drawing/2014/main" id="{C73AD8F9-D7DD-4E14-4ED5-1762B1132503}"/>
              </a:ext>
            </a:extLst>
          </p:cNvPr>
          <p:cNvSpPr>
            <a:spLocks noGrp="1"/>
          </p:cNvSpPr>
          <p:nvPr>
            <p:ph idx="1"/>
          </p:nvPr>
        </p:nvSpPr>
        <p:spPr>
          <a:xfrm>
            <a:off x="1143000" y="2057399"/>
            <a:ext cx="10715878" cy="4468827"/>
          </a:xfrm>
        </p:spPr>
        <p:txBody>
          <a:bodyPr>
            <a:normAutofit/>
          </a:bodyPr>
          <a:lstStyle/>
          <a:p>
            <a:r>
              <a:rPr lang="en-GB" dirty="0">
                <a:solidFill>
                  <a:schemeClr val="bg1"/>
                </a:solidFill>
              </a:rPr>
              <a:t>Two-part assessment, 100% course work - WRIT1 and a PRAC1</a:t>
            </a:r>
          </a:p>
          <a:p>
            <a:pPr marL="45720" indent="0">
              <a:buNone/>
            </a:pPr>
            <a:endParaRPr lang="en-GB" dirty="0">
              <a:solidFill>
                <a:schemeClr val="bg1"/>
              </a:solidFill>
            </a:endParaRPr>
          </a:p>
          <a:p>
            <a:pPr lvl="1"/>
            <a:r>
              <a:rPr lang="en-GB" dirty="0">
                <a:solidFill>
                  <a:schemeClr val="bg1"/>
                </a:solidFill>
              </a:rPr>
              <a:t>The WRIT1 will be a Game Design Document (GDD)</a:t>
            </a:r>
          </a:p>
          <a:p>
            <a:pPr marL="274320" lvl="1" indent="0">
              <a:buNone/>
            </a:pPr>
            <a:endParaRPr lang="en-GB" dirty="0">
              <a:solidFill>
                <a:schemeClr val="bg1"/>
              </a:solidFill>
            </a:endParaRPr>
          </a:p>
          <a:p>
            <a:pPr lvl="1"/>
            <a:r>
              <a:rPr lang="en-GB" dirty="0">
                <a:solidFill>
                  <a:schemeClr val="bg1"/>
                </a:solidFill>
              </a:rPr>
              <a:t>PRAC1 will be a prototype, based on your WRIT1, including a further Technical Design Documentation (TDD), and a Closing Kit (CK). </a:t>
            </a:r>
          </a:p>
          <a:p>
            <a:pPr lvl="1"/>
            <a:endParaRPr lang="en-GB" dirty="0">
              <a:solidFill>
                <a:schemeClr val="bg1"/>
              </a:solidFill>
            </a:endParaRPr>
          </a:p>
          <a:p>
            <a:pPr lvl="1"/>
            <a:r>
              <a:rPr lang="en-GB" dirty="0">
                <a:solidFill>
                  <a:schemeClr val="bg1"/>
                </a:solidFill>
              </a:rPr>
              <a:t>The WRIT1 will be a live document and there is an expectation that it will evolve as you work on your PRAC1. </a:t>
            </a:r>
          </a:p>
        </p:txBody>
      </p:sp>
      <p:sp>
        <p:nvSpPr>
          <p:cNvPr id="4" name="Rectangle 3">
            <a:extLst>
              <a:ext uri="{FF2B5EF4-FFF2-40B4-BE49-F238E27FC236}">
                <a16:creationId xmlns:a16="http://schemas.microsoft.com/office/drawing/2014/main" id="{0DB39B1C-5CE2-1A8E-3F47-3EA241AB075B}"/>
              </a:ext>
            </a:extLst>
          </p:cNvPr>
          <p:cNvSpPr/>
          <p:nvPr/>
        </p:nvSpPr>
        <p:spPr>
          <a:xfrm>
            <a:off x="1143000" y="690479"/>
            <a:ext cx="3759363" cy="923330"/>
          </a:xfrm>
          <a:prstGeom prst="rect">
            <a:avLst/>
          </a:prstGeom>
          <a:noFill/>
        </p:spPr>
        <p:txBody>
          <a:bodyPr wrap="none" lIns="91440" tIns="45720" rIns="91440" bIns="45720">
            <a:spAutoFit/>
          </a:bodyPr>
          <a:lstStyle/>
          <a:p>
            <a:pPr algn="ctr"/>
            <a:r>
              <a:rPr lang="en-GB" sz="5400" b="1" cap="none" spc="0" dirty="0">
                <a:ln w="10160">
                  <a:solidFill>
                    <a:schemeClr val="accent5"/>
                  </a:solidFill>
                  <a:prstDash val="solid"/>
                </a:ln>
                <a:solidFill>
                  <a:srgbClr val="FFFFFF"/>
                </a:solidFill>
                <a:effectLst>
                  <a:outerShdw blurRad="38100" dist="22860" dir="5400000" algn="tl" rotWithShape="0">
                    <a:srgbClr val="000000">
                      <a:alpha val="30000"/>
                    </a:srgbClr>
                  </a:outerShdw>
                </a:effectLst>
              </a:rPr>
              <a:t>Assessment</a:t>
            </a:r>
          </a:p>
        </p:txBody>
      </p:sp>
    </p:spTree>
    <p:extLst>
      <p:ext uri="{BB962C8B-B14F-4D97-AF65-F5344CB8AC3E}">
        <p14:creationId xmlns:p14="http://schemas.microsoft.com/office/powerpoint/2010/main" val="21182911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pic>
        <p:nvPicPr>
          <p:cNvPr id="5" name="Picture 4" descr="A person reaching for a paper on a table full of paper and sticky notes">
            <a:extLst>
              <a:ext uri="{FF2B5EF4-FFF2-40B4-BE49-F238E27FC236}">
                <a16:creationId xmlns:a16="http://schemas.microsoft.com/office/drawing/2014/main" id="{F966B351-FD18-72C0-923F-2B81708F1216}"/>
              </a:ext>
            </a:extLst>
          </p:cNvPr>
          <p:cNvPicPr>
            <a:picLocks noChangeAspect="1"/>
          </p:cNvPicPr>
          <p:nvPr/>
        </p:nvPicPr>
        <p:blipFill>
          <a:blip r:embed="rId2">
            <a:duotone>
              <a:schemeClr val="accent1">
                <a:shade val="45000"/>
                <a:satMod val="135000"/>
              </a:schemeClr>
              <a:prstClr val="white"/>
            </a:duotone>
            <a:alphaModFix amt="15000"/>
          </a:blip>
          <a:srcRect t="8913" b="6817"/>
          <a:stretch/>
        </p:blipFill>
        <p:spPr>
          <a:xfrm>
            <a:off x="20" y="3808"/>
            <a:ext cx="12191980" cy="6858001"/>
          </a:xfrm>
          <a:prstGeom prst="rect">
            <a:avLst/>
          </a:prstGeom>
        </p:spPr>
      </p:pic>
      <p:sp>
        <p:nvSpPr>
          <p:cNvPr id="3" name="Content Placeholder 2">
            <a:extLst>
              <a:ext uri="{FF2B5EF4-FFF2-40B4-BE49-F238E27FC236}">
                <a16:creationId xmlns:a16="http://schemas.microsoft.com/office/drawing/2014/main" id="{C73AD8F9-D7DD-4E14-4ED5-1762B1132503}"/>
              </a:ext>
            </a:extLst>
          </p:cNvPr>
          <p:cNvSpPr>
            <a:spLocks noGrp="1"/>
          </p:cNvSpPr>
          <p:nvPr>
            <p:ph idx="1"/>
          </p:nvPr>
        </p:nvSpPr>
        <p:spPr>
          <a:xfrm>
            <a:off x="1143000" y="2267326"/>
            <a:ext cx="10663280" cy="3254248"/>
          </a:xfrm>
          <a:solidFill>
            <a:schemeClr val="accent3"/>
          </a:solidFill>
          <a:ln>
            <a:noFill/>
          </a:ln>
        </p:spPr>
        <p:style>
          <a:lnRef idx="0">
            <a:scrgbClr r="0" g="0" b="0"/>
          </a:lnRef>
          <a:fillRef idx="0">
            <a:scrgbClr r="0" g="0" b="0"/>
          </a:fillRef>
          <a:effectRef idx="0">
            <a:scrgbClr r="0" g="0" b="0"/>
          </a:effectRef>
          <a:fontRef idx="minor">
            <a:schemeClr val="lt1"/>
          </a:fontRef>
        </p:style>
        <p:txBody>
          <a:bodyPr>
            <a:normAutofit/>
          </a:bodyPr>
          <a:lstStyle/>
          <a:p>
            <a:r>
              <a:rPr lang="en-GB" dirty="0">
                <a:solidFill>
                  <a:schemeClr val="bg1"/>
                </a:solidFill>
              </a:rPr>
              <a:t>Group Work – Our Expectations of you:</a:t>
            </a:r>
          </a:p>
          <a:p>
            <a:endParaRPr lang="en-GB" dirty="0">
              <a:solidFill>
                <a:schemeClr val="bg1"/>
              </a:solidFill>
            </a:endParaRPr>
          </a:p>
          <a:p>
            <a:pPr lvl="1">
              <a:buFont typeface="Wingdings" panose="05000000000000000000" pitchFamily="2" charset="2"/>
              <a:buChar char="v"/>
            </a:pPr>
            <a:r>
              <a:rPr lang="en-GB" dirty="0">
                <a:solidFill>
                  <a:schemeClr val="bg1"/>
                </a:solidFill>
              </a:rPr>
              <a:t>Proactive attitude and engagement.</a:t>
            </a:r>
          </a:p>
          <a:p>
            <a:pPr lvl="1">
              <a:buFont typeface="Wingdings" panose="05000000000000000000" pitchFamily="2" charset="2"/>
              <a:buChar char="v"/>
            </a:pPr>
            <a:r>
              <a:rPr lang="en-GB" dirty="0">
                <a:solidFill>
                  <a:schemeClr val="bg1"/>
                </a:solidFill>
              </a:rPr>
              <a:t>Individual responsibility and accountability.</a:t>
            </a:r>
          </a:p>
          <a:p>
            <a:pPr lvl="1">
              <a:buFont typeface="Wingdings" panose="05000000000000000000" pitchFamily="2" charset="2"/>
              <a:buChar char="v"/>
            </a:pPr>
            <a:r>
              <a:rPr lang="en-GB" dirty="0">
                <a:solidFill>
                  <a:schemeClr val="bg1"/>
                </a:solidFill>
              </a:rPr>
              <a:t>Time management and organisation.</a:t>
            </a:r>
          </a:p>
          <a:p>
            <a:pPr lvl="1">
              <a:buFont typeface="Wingdings" panose="05000000000000000000" pitchFamily="2" charset="2"/>
              <a:buChar char="v"/>
            </a:pPr>
            <a:r>
              <a:rPr lang="en-GB" dirty="0">
                <a:solidFill>
                  <a:schemeClr val="bg1"/>
                </a:solidFill>
              </a:rPr>
              <a:t>Strong communication skills.</a:t>
            </a:r>
          </a:p>
          <a:p>
            <a:pPr lvl="1">
              <a:buFont typeface="Wingdings" panose="05000000000000000000" pitchFamily="2" charset="2"/>
              <a:buChar char="v"/>
            </a:pPr>
            <a:r>
              <a:rPr lang="en-GB" dirty="0">
                <a:solidFill>
                  <a:schemeClr val="bg1"/>
                </a:solidFill>
              </a:rPr>
              <a:t>Awareness of your role(s).</a:t>
            </a:r>
          </a:p>
          <a:p>
            <a:pPr lvl="1">
              <a:buFont typeface="Wingdings" panose="05000000000000000000" pitchFamily="2" charset="2"/>
              <a:buChar char="v"/>
            </a:pPr>
            <a:r>
              <a:rPr lang="en-GB" dirty="0">
                <a:solidFill>
                  <a:schemeClr val="bg1"/>
                </a:solidFill>
              </a:rPr>
              <a:t>An awareness of the overall project – You should understand how all the systems work, even if you didn’t work on them.</a:t>
            </a:r>
          </a:p>
          <a:p>
            <a:pPr marL="45720" indent="0">
              <a:buNone/>
            </a:pPr>
            <a:endParaRPr lang="en-GB" dirty="0">
              <a:solidFill>
                <a:schemeClr val="bg1"/>
              </a:solidFill>
            </a:endParaRPr>
          </a:p>
        </p:txBody>
      </p:sp>
      <p:pic>
        <p:nvPicPr>
          <p:cNvPr id="6" name="Graphic 5" descr="Group brainstorm outline">
            <a:extLst>
              <a:ext uri="{FF2B5EF4-FFF2-40B4-BE49-F238E27FC236}">
                <a16:creationId xmlns:a16="http://schemas.microsoft.com/office/drawing/2014/main" id="{23AFCACF-4FA3-94B7-A7E3-E06F69A79FC5}"/>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938510" y="356050"/>
            <a:ext cx="914400" cy="914400"/>
          </a:xfrm>
          <a:prstGeom prst="rect">
            <a:avLst/>
          </a:prstGeom>
        </p:spPr>
      </p:pic>
      <p:sp>
        <p:nvSpPr>
          <p:cNvPr id="10" name="Rectangle 9">
            <a:extLst>
              <a:ext uri="{FF2B5EF4-FFF2-40B4-BE49-F238E27FC236}">
                <a16:creationId xmlns:a16="http://schemas.microsoft.com/office/drawing/2014/main" id="{ADB8EAC5-628D-57CB-EE13-8D096C1CBD2D}"/>
              </a:ext>
            </a:extLst>
          </p:cNvPr>
          <p:cNvSpPr/>
          <p:nvPr/>
        </p:nvSpPr>
        <p:spPr>
          <a:xfrm>
            <a:off x="1143000" y="690479"/>
            <a:ext cx="3759363" cy="923330"/>
          </a:xfrm>
          <a:prstGeom prst="rect">
            <a:avLst/>
          </a:prstGeom>
          <a:noFill/>
        </p:spPr>
        <p:txBody>
          <a:bodyPr wrap="none" lIns="91440" tIns="45720" rIns="91440" bIns="45720">
            <a:spAutoFit/>
          </a:bodyPr>
          <a:lstStyle/>
          <a:p>
            <a:pPr algn="ctr"/>
            <a:r>
              <a:rPr lang="en-GB" sz="5400" b="1" cap="none" spc="0" dirty="0">
                <a:ln w="10160">
                  <a:solidFill>
                    <a:schemeClr val="accent5"/>
                  </a:solidFill>
                  <a:prstDash val="solid"/>
                </a:ln>
                <a:solidFill>
                  <a:srgbClr val="FFFFFF"/>
                </a:solidFill>
                <a:effectLst>
                  <a:outerShdw blurRad="38100" dist="22860" dir="5400000" algn="tl" rotWithShape="0">
                    <a:srgbClr val="000000">
                      <a:alpha val="30000"/>
                    </a:srgbClr>
                  </a:outerShdw>
                </a:effectLst>
              </a:rPr>
              <a:t>Assessment</a:t>
            </a:r>
          </a:p>
        </p:txBody>
      </p:sp>
    </p:spTree>
    <p:extLst>
      <p:ext uri="{BB962C8B-B14F-4D97-AF65-F5344CB8AC3E}">
        <p14:creationId xmlns:p14="http://schemas.microsoft.com/office/powerpoint/2010/main" val="5887715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pic>
        <p:nvPicPr>
          <p:cNvPr id="5" name="Picture 4" descr="A person reaching for a paper on a table full of paper and sticky notes">
            <a:extLst>
              <a:ext uri="{FF2B5EF4-FFF2-40B4-BE49-F238E27FC236}">
                <a16:creationId xmlns:a16="http://schemas.microsoft.com/office/drawing/2014/main" id="{F966B351-FD18-72C0-923F-2B81708F1216}"/>
              </a:ext>
            </a:extLst>
          </p:cNvPr>
          <p:cNvPicPr>
            <a:picLocks noChangeAspect="1"/>
          </p:cNvPicPr>
          <p:nvPr/>
        </p:nvPicPr>
        <p:blipFill>
          <a:blip r:embed="rId2">
            <a:duotone>
              <a:schemeClr val="accent1">
                <a:shade val="45000"/>
                <a:satMod val="135000"/>
              </a:schemeClr>
              <a:prstClr val="white"/>
            </a:duotone>
            <a:alphaModFix amt="15000"/>
          </a:blip>
          <a:srcRect t="8913" b="6817"/>
          <a:stretch/>
        </p:blipFill>
        <p:spPr>
          <a:xfrm>
            <a:off x="20" y="3808"/>
            <a:ext cx="12191980" cy="6858001"/>
          </a:xfrm>
          <a:prstGeom prst="rect">
            <a:avLst/>
          </a:prstGeom>
        </p:spPr>
      </p:pic>
      <p:sp>
        <p:nvSpPr>
          <p:cNvPr id="3" name="Content Placeholder 2">
            <a:extLst>
              <a:ext uri="{FF2B5EF4-FFF2-40B4-BE49-F238E27FC236}">
                <a16:creationId xmlns:a16="http://schemas.microsoft.com/office/drawing/2014/main" id="{C73AD8F9-D7DD-4E14-4ED5-1762B1132503}"/>
              </a:ext>
            </a:extLst>
          </p:cNvPr>
          <p:cNvSpPr>
            <a:spLocks noGrp="1"/>
          </p:cNvSpPr>
          <p:nvPr>
            <p:ph idx="1"/>
          </p:nvPr>
        </p:nvSpPr>
        <p:spPr>
          <a:xfrm>
            <a:off x="1143000" y="2583277"/>
            <a:ext cx="10663280" cy="2965704"/>
          </a:xfrm>
        </p:spPr>
        <p:style>
          <a:lnRef idx="3">
            <a:schemeClr val="lt1"/>
          </a:lnRef>
          <a:fillRef idx="1">
            <a:schemeClr val="accent2"/>
          </a:fillRef>
          <a:effectRef idx="1">
            <a:schemeClr val="accent2"/>
          </a:effectRef>
          <a:fontRef idx="minor">
            <a:schemeClr val="lt1"/>
          </a:fontRef>
        </p:style>
        <p:txBody>
          <a:bodyPr>
            <a:normAutofit/>
          </a:bodyPr>
          <a:lstStyle/>
          <a:p>
            <a:r>
              <a:rPr lang="en-GB" dirty="0">
                <a:solidFill>
                  <a:schemeClr val="bg1"/>
                </a:solidFill>
              </a:rPr>
              <a:t>Group Work – Requirements:</a:t>
            </a:r>
          </a:p>
          <a:p>
            <a:pPr marL="45720" indent="0">
              <a:buNone/>
            </a:pPr>
            <a:endParaRPr lang="en-GB" dirty="0">
              <a:solidFill>
                <a:schemeClr val="bg1"/>
              </a:solidFill>
            </a:endParaRPr>
          </a:p>
          <a:p>
            <a:pPr lvl="1">
              <a:buFont typeface="Wingdings" panose="05000000000000000000" pitchFamily="2" charset="2"/>
              <a:buChar char="ü"/>
            </a:pPr>
            <a:r>
              <a:rPr lang="en-GB" dirty="0">
                <a:solidFill>
                  <a:schemeClr val="bg1"/>
                </a:solidFill>
              </a:rPr>
              <a:t>All members of the group should contribute equally.</a:t>
            </a:r>
          </a:p>
          <a:p>
            <a:pPr lvl="1">
              <a:buFont typeface="Wingdings" panose="05000000000000000000" pitchFamily="2" charset="2"/>
              <a:buChar char="ü"/>
            </a:pPr>
            <a:r>
              <a:rPr lang="en-GB" dirty="0">
                <a:solidFill>
                  <a:schemeClr val="bg1"/>
                </a:solidFill>
              </a:rPr>
              <a:t>Roles within the group will be flexible – Ensure everyone knows what they are responsible for.</a:t>
            </a:r>
          </a:p>
          <a:p>
            <a:pPr lvl="1">
              <a:buFont typeface="Wingdings" panose="05000000000000000000" pitchFamily="2" charset="2"/>
              <a:buChar char="ü"/>
            </a:pPr>
            <a:r>
              <a:rPr lang="en-GB" dirty="0">
                <a:solidFill>
                  <a:schemeClr val="bg1"/>
                </a:solidFill>
              </a:rPr>
              <a:t>Don’t wait to be on campus or with group members – You are expected to work on this in your own time.</a:t>
            </a:r>
          </a:p>
          <a:p>
            <a:pPr lvl="1">
              <a:buFont typeface="Wingdings" panose="05000000000000000000" pitchFamily="2" charset="2"/>
              <a:buChar char="ü"/>
            </a:pPr>
            <a:r>
              <a:rPr lang="en-GB" dirty="0">
                <a:solidFill>
                  <a:schemeClr val="bg1"/>
                </a:solidFill>
              </a:rPr>
              <a:t>Communication is essential! Meet and communicate with your group regularly. Take notes and minutes of meetings.</a:t>
            </a:r>
          </a:p>
          <a:p>
            <a:pPr lvl="1">
              <a:buFont typeface="Wingdings" panose="05000000000000000000" pitchFamily="2" charset="2"/>
              <a:buChar char="ü"/>
            </a:pPr>
            <a:r>
              <a:rPr lang="en-GB" dirty="0">
                <a:solidFill>
                  <a:schemeClr val="bg1"/>
                </a:solidFill>
              </a:rPr>
              <a:t>Keep documentation updated, particularly if you are working on a specific element.</a:t>
            </a:r>
          </a:p>
          <a:p>
            <a:pPr marL="274320" lvl="1" indent="0">
              <a:buNone/>
            </a:pPr>
            <a:endParaRPr lang="en-GB" dirty="0">
              <a:solidFill>
                <a:schemeClr val="bg1"/>
              </a:solidFill>
            </a:endParaRPr>
          </a:p>
          <a:p>
            <a:pPr marL="45720" indent="0">
              <a:buNone/>
            </a:pPr>
            <a:endParaRPr lang="en-GB" dirty="0">
              <a:solidFill>
                <a:schemeClr val="bg1"/>
              </a:solidFill>
            </a:endParaRPr>
          </a:p>
        </p:txBody>
      </p:sp>
      <p:pic>
        <p:nvPicPr>
          <p:cNvPr id="6" name="Graphic 5" descr="Group brainstorm outline">
            <a:extLst>
              <a:ext uri="{FF2B5EF4-FFF2-40B4-BE49-F238E27FC236}">
                <a16:creationId xmlns:a16="http://schemas.microsoft.com/office/drawing/2014/main" id="{23AFCACF-4FA3-94B7-A7E3-E06F69A79FC5}"/>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938510" y="356050"/>
            <a:ext cx="914400" cy="914400"/>
          </a:xfrm>
          <a:prstGeom prst="rect">
            <a:avLst/>
          </a:prstGeom>
        </p:spPr>
      </p:pic>
      <p:sp>
        <p:nvSpPr>
          <p:cNvPr id="10" name="Rectangle 9">
            <a:extLst>
              <a:ext uri="{FF2B5EF4-FFF2-40B4-BE49-F238E27FC236}">
                <a16:creationId xmlns:a16="http://schemas.microsoft.com/office/drawing/2014/main" id="{ADB8EAC5-628D-57CB-EE13-8D096C1CBD2D}"/>
              </a:ext>
            </a:extLst>
          </p:cNvPr>
          <p:cNvSpPr/>
          <p:nvPr/>
        </p:nvSpPr>
        <p:spPr>
          <a:xfrm>
            <a:off x="1143000" y="690479"/>
            <a:ext cx="3759363" cy="923330"/>
          </a:xfrm>
          <a:prstGeom prst="rect">
            <a:avLst/>
          </a:prstGeom>
          <a:noFill/>
        </p:spPr>
        <p:txBody>
          <a:bodyPr wrap="none" lIns="91440" tIns="45720" rIns="91440" bIns="45720">
            <a:spAutoFit/>
          </a:bodyPr>
          <a:lstStyle/>
          <a:p>
            <a:pPr algn="ctr"/>
            <a:r>
              <a:rPr lang="en-GB" sz="5400" b="1" cap="none" spc="0" dirty="0">
                <a:ln w="10160">
                  <a:solidFill>
                    <a:schemeClr val="accent5"/>
                  </a:solidFill>
                  <a:prstDash val="solid"/>
                </a:ln>
                <a:solidFill>
                  <a:srgbClr val="FFFFFF"/>
                </a:solidFill>
                <a:effectLst>
                  <a:outerShdw blurRad="38100" dist="22860" dir="5400000" algn="tl" rotWithShape="0">
                    <a:srgbClr val="000000">
                      <a:alpha val="30000"/>
                    </a:srgbClr>
                  </a:outerShdw>
                </a:effectLst>
              </a:rPr>
              <a:t>Assessment</a:t>
            </a:r>
          </a:p>
        </p:txBody>
      </p:sp>
    </p:spTree>
    <p:extLst>
      <p:ext uri="{BB962C8B-B14F-4D97-AF65-F5344CB8AC3E}">
        <p14:creationId xmlns:p14="http://schemas.microsoft.com/office/powerpoint/2010/main" val="18818523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pic>
        <p:nvPicPr>
          <p:cNvPr id="11" name="Picture 10" descr="Steel gears">
            <a:extLst>
              <a:ext uri="{FF2B5EF4-FFF2-40B4-BE49-F238E27FC236}">
                <a16:creationId xmlns:a16="http://schemas.microsoft.com/office/drawing/2014/main" id="{C648644F-04F6-FAA4-54BB-6FDF280C2551}"/>
              </a:ext>
            </a:extLst>
          </p:cNvPr>
          <p:cNvPicPr>
            <a:picLocks noChangeAspect="1"/>
          </p:cNvPicPr>
          <p:nvPr/>
        </p:nvPicPr>
        <p:blipFill>
          <a:blip r:embed="rId2">
            <a:duotone>
              <a:prstClr val="black"/>
              <a:schemeClr val="tx2">
                <a:tint val="45000"/>
                <a:satMod val="400000"/>
              </a:schemeClr>
            </a:duotone>
            <a:alphaModFix amt="35000"/>
          </a:blip>
          <a:srcRect b="15730"/>
          <a:stretch/>
        </p:blipFill>
        <p:spPr>
          <a:xfrm>
            <a:off x="20" y="10"/>
            <a:ext cx="12191980" cy="6857990"/>
          </a:xfrm>
          <a:prstGeom prst="rect">
            <a:avLst/>
          </a:prstGeom>
        </p:spPr>
      </p:pic>
      <p:sp>
        <p:nvSpPr>
          <p:cNvPr id="2" name="Title 1">
            <a:extLst>
              <a:ext uri="{FF2B5EF4-FFF2-40B4-BE49-F238E27FC236}">
                <a16:creationId xmlns:a16="http://schemas.microsoft.com/office/drawing/2014/main" id="{7F326B78-449B-511D-45F2-78CDA3B15E6F}"/>
              </a:ext>
            </a:extLst>
          </p:cNvPr>
          <p:cNvSpPr>
            <a:spLocks noGrp="1"/>
          </p:cNvSpPr>
          <p:nvPr>
            <p:ph type="title"/>
          </p:nvPr>
        </p:nvSpPr>
        <p:spPr>
          <a:xfrm>
            <a:off x="1143000" y="609600"/>
            <a:ext cx="9875520" cy="543151"/>
          </a:xfrm>
        </p:spPr>
        <p:style>
          <a:lnRef idx="2">
            <a:schemeClr val="accent2">
              <a:shade val="15000"/>
            </a:schemeClr>
          </a:lnRef>
          <a:fillRef idx="1">
            <a:schemeClr val="accent2"/>
          </a:fillRef>
          <a:effectRef idx="0">
            <a:schemeClr val="accent2"/>
          </a:effectRef>
          <a:fontRef idx="minor">
            <a:schemeClr val="lt1"/>
          </a:fontRef>
        </p:style>
        <p:txBody>
          <a:bodyPr vert="horz" lIns="91440" tIns="45720" rIns="91440" bIns="45720" rtlCol="0" anchor="ctr">
            <a:normAutofit fontScale="90000"/>
          </a:bodyPr>
          <a:lstStyle/>
          <a:p>
            <a:r>
              <a:rPr lang="en-US" sz="3600" dirty="0">
                <a:solidFill>
                  <a:schemeClr val="bg1"/>
                </a:solidFill>
              </a:rPr>
              <a:t>Some things to consider with Group Work:</a:t>
            </a:r>
          </a:p>
        </p:txBody>
      </p:sp>
      <p:sp>
        <p:nvSpPr>
          <p:cNvPr id="5" name="Rectangle 4">
            <a:extLst>
              <a:ext uri="{FF2B5EF4-FFF2-40B4-BE49-F238E27FC236}">
                <a16:creationId xmlns:a16="http://schemas.microsoft.com/office/drawing/2014/main" id="{84F65E66-29F0-B05E-9BF9-237B30593ACB}"/>
              </a:ext>
            </a:extLst>
          </p:cNvPr>
          <p:cNvSpPr/>
          <p:nvPr/>
        </p:nvSpPr>
        <p:spPr>
          <a:xfrm>
            <a:off x="4452102" y="1763001"/>
            <a:ext cx="2916546" cy="166600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spcAft>
                <a:spcPts val="600"/>
              </a:spcAft>
            </a:pPr>
            <a:r>
              <a:rPr lang="en-GB" sz="1600" dirty="0">
                <a:effectLst>
                  <a:outerShdw blurRad="38100" dist="38100" dir="2700000" algn="tl">
                    <a:srgbClr val="000000">
                      <a:alpha val="43137"/>
                    </a:srgbClr>
                  </a:outerShdw>
                </a:effectLst>
              </a:rPr>
              <a:t>Deal with problems early on, it decreases the chance of more serious issues later.</a:t>
            </a:r>
          </a:p>
          <a:p>
            <a:pPr algn="ctr">
              <a:spcAft>
                <a:spcPts val="600"/>
              </a:spcAft>
            </a:pPr>
            <a:r>
              <a:rPr lang="en-GB" sz="1200" dirty="0">
                <a:effectLst>
                  <a:outerShdw blurRad="38100" dist="38100" dir="2700000" algn="tl">
                    <a:srgbClr val="000000">
                      <a:alpha val="43137"/>
                    </a:srgbClr>
                  </a:outerShdw>
                </a:effectLst>
              </a:rPr>
              <a:t>(For severe issues, speak to the Module Leader)</a:t>
            </a:r>
          </a:p>
        </p:txBody>
      </p:sp>
      <p:sp>
        <p:nvSpPr>
          <p:cNvPr id="6" name="Rectangle 5">
            <a:extLst>
              <a:ext uri="{FF2B5EF4-FFF2-40B4-BE49-F238E27FC236}">
                <a16:creationId xmlns:a16="http://schemas.microsoft.com/office/drawing/2014/main" id="{2BEBFEA9-E4D6-287E-88B5-4A83719D8C3B}"/>
              </a:ext>
            </a:extLst>
          </p:cNvPr>
          <p:cNvSpPr/>
          <p:nvPr/>
        </p:nvSpPr>
        <p:spPr>
          <a:xfrm>
            <a:off x="7673448" y="1763000"/>
            <a:ext cx="2916546" cy="166600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spcAft>
                <a:spcPts val="600"/>
              </a:spcAft>
            </a:pPr>
            <a:r>
              <a:rPr lang="en-GB" sz="1600" dirty="0">
                <a:effectLst>
                  <a:outerShdw blurRad="38100" dist="38100" dir="2700000" algn="tl">
                    <a:srgbClr val="000000">
                      <a:alpha val="43137"/>
                    </a:srgbClr>
                  </a:outerShdw>
                </a:effectLst>
              </a:rPr>
              <a:t>Communicate with your team!</a:t>
            </a:r>
            <a:endParaRPr lang="en-GB" sz="1600">
              <a:effectLst>
                <a:outerShdw blurRad="38100" dist="38100" dir="2700000" algn="tl">
                  <a:srgbClr val="000000">
                    <a:alpha val="43137"/>
                  </a:srgbClr>
                </a:outerShdw>
              </a:effectLst>
            </a:endParaRPr>
          </a:p>
          <a:p>
            <a:pPr algn="ctr">
              <a:spcAft>
                <a:spcPts val="600"/>
              </a:spcAft>
            </a:pPr>
            <a:r>
              <a:rPr lang="en-GB" sz="1600" dirty="0">
                <a:effectLst>
                  <a:outerShdw blurRad="38100" dist="38100" dir="2700000" algn="tl">
                    <a:srgbClr val="000000">
                      <a:alpha val="43137"/>
                    </a:srgbClr>
                  </a:outerShdw>
                </a:effectLst>
              </a:rPr>
              <a:t>If you are having difficulties, don’t hide it. </a:t>
            </a:r>
            <a:endParaRPr lang="en-GB" sz="1600">
              <a:effectLst>
                <a:outerShdw blurRad="38100" dist="38100" dir="2700000" algn="tl">
                  <a:srgbClr val="000000">
                    <a:alpha val="43137"/>
                  </a:srgbClr>
                </a:outerShdw>
              </a:effectLst>
            </a:endParaRPr>
          </a:p>
          <a:p>
            <a:pPr algn="ctr">
              <a:spcAft>
                <a:spcPts val="600"/>
              </a:spcAft>
            </a:pPr>
            <a:endParaRPr lang="en-GB">
              <a:effectLst>
                <a:outerShdw blurRad="38100" dist="38100" dir="2700000" algn="tl">
                  <a:srgbClr val="000000">
                    <a:alpha val="43137"/>
                  </a:srgbClr>
                </a:outerShdw>
              </a:effectLst>
            </a:endParaRPr>
          </a:p>
        </p:txBody>
      </p:sp>
      <p:sp>
        <p:nvSpPr>
          <p:cNvPr id="7" name="Rectangle 6">
            <a:extLst>
              <a:ext uri="{FF2B5EF4-FFF2-40B4-BE49-F238E27FC236}">
                <a16:creationId xmlns:a16="http://schemas.microsoft.com/office/drawing/2014/main" id="{6102F924-2083-96F8-EC77-482304474087}"/>
              </a:ext>
            </a:extLst>
          </p:cNvPr>
          <p:cNvSpPr/>
          <p:nvPr/>
        </p:nvSpPr>
        <p:spPr>
          <a:xfrm>
            <a:off x="1230756" y="3750992"/>
            <a:ext cx="2916546" cy="166600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spcAft>
                <a:spcPts val="600"/>
              </a:spcAft>
            </a:pPr>
            <a:r>
              <a:rPr lang="en-GB" sz="1600" dirty="0">
                <a:effectLst>
                  <a:outerShdw blurRad="38100" dist="38100" dir="2700000" algn="tl">
                    <a:srgbClr val="000000">
                      <a:alpha val="43137"/>
                    </a:srgbClr>
                  </a:outerShdw>
                </a:effectLst>
              </a:rPr>
              <a:t>Check in with your team. Has someone missed some deadlines or been quiet for a while? If so, try to find out why.</a:t>
            </a:r>
            <a:endParaRPr lang="en-GB" sz="1600">
              <a:effectLst>
                <a:outerShdw blurRad="38100" dist="38100" dir="2700000" algn="tl">
                  <a:srgbClr val="000000">
                    <a:alpha val="43137"/>
                  </a:srgbClr>
                </a:outerShdw>
              </a:effectLst>
            </a:endParaRPr>
          </a:p>
        </p:txBody>
      </p:sp>
      <p:sp>
        <p:nvSpPr>
          <p:cNvPr id="8" name="Rectangle 7">
            <a:extLst>
              <a:ext uri="{FF2B5EF4-FFF2-40B4-BE49-F238E27FC236}">
                <a16:creationId xmlns:a16="http://schemas.microsoft.com/office/drawing/2014/main" id="{435530B1-786C-A386-C062-EA146D9398F9}"/>
              </a:ext>
            </a:extLst>
          </p:cNvPr>
          <p:cNvSpPr/>
          <p:nvPr/>
        </p:nvSpPr>
        <p:spPr>
          <a:xfrm>
            <a:off x="4452102" y="3750992"/>
            <a:ext cx="2916546" cy="166600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spcAft>
                <a:spcPts val="600"/>
              </a:spcAft>
            </a:pPr>
            <a:r>
              <a:rPr lang="en-GB" sz="1600" dirty="0">
                <a:effectLst>
                  <a:outerShdw blurRad="38100" dist="38100" dir="2700000" algn="tl">
                    <a:srgbClr val="000000">
                      <a:alpha val="43137"/>
                    </a:srgbClr>
                  </a:outerShdw>
                </a:effectLst>
              </a:rPr>
              <a:t>Working with friends is not always the best recipe for effective teamwork.</a:t>
            </a:r>
            <a:endParaRPr lang="en-GB" sz="1600">
              <a:effectLst>
                <a:outerShdw blurRad="38100" dist="38100" dir="2700000" algn="tl">
                  <a:srgbClr val="000000">
                    <a:alpha val="43137"/>
                  </a:srgbClr>
                </a:outerShdw>
              </a:effectLst>
            </a:endParaRPr>
          </a:p>
        </p:txBody>
      </p:sp>
      <p:sp>
        <p:nvSpPr>
          <p:cNvPr id="9" name="Rectangle 8">
            <a:extLst>
              <a:ext uri="{FF2B5EF4-FFF2-40B4-BE49-F238E27FC236}">
                <a16:creationId xmlns:a16="http://schemas.microsoft.com/office/drawing/2014/main" id="{80E425B6-F8E5-02C7-4E38-E1F563AED258}"/>
              </a:ext>
            </a:extLst>
          </p:cNvPr>
          <p:cNvSpPr/>
          <p:nvPr/>
        </p:nvSpPr>
        <p:spPr>
          <a:xfrm>
            <a:off x="7673448" y="3749400"/>
            <a:ext cx="2916546" cy="166600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spcAft>
                <a:spcPts val="600"/>
              </a:spcAft>
            </a:pPr>
            <a:r>
              <a:rPr lang="en-GB" sz="1600" dirty="0">
                <a:effectLst>
                  <a:outerShdw blurRad="38100" dist="38100" dir="2700000" algn="tl">
                    <a:srgbClr val="000000">
                      <a:alpha val="43137"/>
                    </a:srgbClr>
                  </a:outerShdw>
                </a:effectLst>
              </a:rPr>
              <a:t>If you spot plagiarism, address it immediately. If it remains uncorrected it could impact the work of the whole team.</a:t>
            </a:r>
            <a:endParaRPr lang="en-GB" sz="1600">
              <a:effectLst>
                <a:outerShdw blurRad="38100" dist="38100" dir="2700000" algn="tl">
                  <a:srgbClr val="000000">
                    <a:alpha val="43137"/>
                  </a:srgbClr>
                </a:outerShdw>
              </a:effectLst>
            </a:endParaRPr>
          </a:p>
        </p:txBody>
      </p:sp>
      <p:sp>
        <p:nvSpPr>
          <p:cNvPr id="10" name="Rectangle 9">
            <a:extLst>
              <a:ext uri="{FF2B5EF4-FFF2-40B4-BE49-F238E27FC236}">
                <a16:creationId xmlns:a16="http://schemas.microsoft.com/office/drawing/2014/main" id="{93CACC0C-18BD-81B8-420F-BB9CA8279DD8}"/>
              </a:ext>
            </a:extLst>
          </p:cNvPr>
          <p:cNvSpPr/>
          <p:nvPr/>
        </p:nvSpPr>
        <p:spPr>
          <a:xfrm>
            <a:off x="1230756" y="1763000"/>
            <a:ext cx="2916546" cy="166600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spcAft>
                <a:spcPts val="600"/>
              </a:spcAft>
            </a:pPr>
            <a:r>
              <a:rPr lang="en-GB" sz="1600" dirty="0">
                <a:effectLst>
                  <a:outerShdw blurRad="38100" dist="38100" dir="2700000" algn="tl">
                    <a:srgbClr val="000000">
                      <a:alpha val="43137"/>
                    </a:srgbClr>
                  </a:outerShdw>
                </a:effectLst>
              </a:rPr>
              <a:t>Make sure large elements are shared – leaving them up to one member can be an issue if they fall behind and cannot deliver.</a:t>
            </a:r>
            <a:endParaRPr lang="en-GB" sz="1200"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7149847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E1B1DC2C-DF1F-661D-CEAD-3AA4B22A14A7}"/>
              </a:ext>
            </a:extLst>
          </p:cNvPr>
          <p:cNvSpPr txBox="1">
            <a:spLocks/>
          </p:cNvSpPr>
          <p:nvPr/>
        </p:nvSpPr>
        <p:spPr>
          <a:xfrm>
            <a:off x="1143000" y="609600"/>
            <a:ext cx="6693061" cy="135636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a:spcAft>
                <a:spcPts val="600"/>
              </a:spcAft>
            </a:pPr>
            <a:r>
              <a:rPr lang="en-US" b="1" dirty="0">
                <a:ln w="25400">
                  <a:solidFill>
                    <a:schemeClr val="accent1"/>
                  </a:solidFill>
                </a:ln>
                <a:solidFill>
                  <a:schemeClr val="tx1"/>
                </a:solidFill>
              </a:rPr>
              <a:t>Moodle.</a:t>
            </a:r>
          </a:p>
        </p:txBody>
      </p:sp>
      <p:sp>
        <p:nvSpPr>
          <p:cNvPr id="4" name="Content Placeholder 2">
            <a:extLst>
              <a:ext uri="{FF2B5EF4-FFF2-40B4-BE49-F238E27FC236}">
                <a16:creationId xmlns:a16="http://schemas.microsoft.com/office/drawing/2014/main" id="{ECF41989-7803-2627-11AF-E99237F5140D}"/>
              </a:ext>
            </a:extLst>
          </p:cNvPr>
          <p:cNvSpPr txBox="1">
            <a:spLocks/>
          </p:cNvSpPr>
          <p:nvPr/>
        </p:nvSpPr>
        <p:spPr>
          <a:xfrm>
            <a:off x="1143000" y="2057400"/>
            <a:ext cx="6693061" cy="4038600"/>
          </a:xfrm>
          <a:prstGeom prst="rect">
            <a:avLst/>
          </a:prstGeom>
        </p:spPr>
        <p:txBody>
          <a:bodyPr vert="horz" lIns="91440" tIns="45720" rIns="91440" bIns="45720" rtlCol="0">
            <a:normAutofit/>
          </a:bodyPr>
          <a:lstStyle>
            <a:lvl1pPr marL="228600" indent="-182880" algn="l" defTabSz="914400" rtl="0" eaLnBrk="1" latinLnBrk="0" hangingPunct="1">
              <a:lnSpc>
                <a:spcPct val="90000"/>
              </a:lnSpc>
              <a:spcBef>
                <a:spcPts val="1400"/>
              </a:spcBef>
              <a:buClr>
                <a:schemeClr val="accent1"/>
              </a:buClr>
              <a:buSzPct val="80000"/>
              <a:buFont typeface="Corbel" pitchFamily="34" charset="0"/>
              <a:buChar char="•"/>
              <a:defRPr sz="2200" kern="1200">
                <a:solidFill>
                  <a:schemeClr val="accent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2000" kern="1200">
                <a:solidFill>
                  <a:schemeClr val="accent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800" kern="1200">
                <a:solidFill>
                  <a:schemeClr val="accent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9pPr>
          </a:lstStyle>
          <a:p>
            <a:r>
              <a:rPr lang="en-US" sz="1500" dirty="0"/>
              <a:t>All content and resources will be available on the GDV4000 Moodle page.</a:t>
            </a:r>
          </a:p>
          <a:p>
            <a:pPr marL="45720"/>
            <a:endParaRPr lang="en-US" sz="1500" dirty="0"/>
          </a:p>
          <a:p>
            <a:pPr lvl="1"/>
            <a:r>
              <a:rPr lang="en-US" sz="1500" b="1" dirty="0">
                <a:solidFill>
                  <a:schemeClr val="accent2">
                    <a:lumMod val="75000"/>
                  </a:schemeClr>
                </a:solidFill>
              </a:rPr>
              <a:t>Module Essentials </a:t>
            </a:r>
            <a:r>
              <a:rPr lang="en-US" sz="1500" dirty="0">
                <a:solidFill>
                  <a:schemeClr val="bg1"/>
                </a:solidFill>
              </a:rPr>
              <a:t>will contain the Module Descriptor and Essential Reading list. Please pay attention to the Essential Reading list as it will specifically indicate core texts and papers that will help you immensely over the next three years. Many will be available as a free online resource, or in eBook format from our Library.</a:t>
            </a:r>
          </a:p>
          <a:p>
            <a:pPr lvl="1"/>
            <a:r>
              <a:rPr lang="en-US" sz="1500" b="1" dirty="0">
                <a:solidFill>
                  <a:schemeClr val="accent2">
                    <a:lumMod val="75000"/>
                  </a:schemeClr>
                </a:solidFill>
              </a:rPr>
              <a:t>Assessment and Feedback </a:t>
            </a:r>
            <a:r>
              <a:rPr lang="en-US" sz="1500" dirty="0"/>
              <a:t>will be where you will find your Assessment </a:t>
            </a:r>
            <a:r>
              <a:rPr lang="en-US" sz="1500" dirty="0">
                <a:solidFill>
                  <a:schemeClr val="bg1"/>
                </a:solidFill>
              </a:rPr>
              <a:t>Brief(s) and the submission point(s) for your assessments.</a:t>
            </a:r>
          </a:p>
          <a:p>
            <a:pPr lvl="1"/>
            <a:r>
              <a:rPr lang="en-US" sz="1500" dirty="0">
                <a:solidFill>
                  <a:schemeClr val="bg1"/>
                </a:solidFill>
              </a:rPr>
              <a:t>There is a general weekly structure in place where you will find slides and resources that pertain to that weeks’ topics. This can change from module to module, depending on the Module Leader. Some may prefer to </a:t>
            </a:r>
            <a:r>
              <a:rPr lang="en-US" sz="1500" dirty="0" err="1">
                <a:solidFill>
                  <a:schemeClr val="bg1"/>
                </a:solidFill>
              </a:rPr>
              <a:t>organise</a:t>
            </a:r>
            <a:r>
              <a:rPr lang="en-US" sz="1500" dirty="0">
                <a:solidFill>
                  <a:schemeClr val="bg1"/>
                </a:solidFill>
              </a:rPr>
              <a:t> by topic area.</a:t>
            </a:r>
          </a:p>
        </p:txBody>
      </p:sp>
      <p:pic>
        <p:nvPicPr>
          <p:cNvPr id="7" name="Picture 6" descr="A screenshot of a computer&#10;&#10;Description automatically generated">
            <a:extLst>
              <a:ext uri="{FF2B5EF4-FFF2-40B4-BE49-F238E27FC236}">
                <a16:creationId xmlns:a16="http://schemas.microsoft.com/office/drawing/2014/main" id="{ABDB378D-A001-E021-9A52-ACB9580945A9}"/>
              </a:ext>
            </a:extLst>
          </p:cNvPr>
          <p:cNvPicPr>
            <a:picLocks noChangeAspect="1"/>
          </p:cNvPicPr>
          <p:nvPr/>
        </p:nvPicPr>
        <p:blipFill>
          <a:blip r:embed="rId2"/>
          <a:srcRect l="15039" r="22979" b="1"/>
          <a:stretch/>
        </p:blipFill>
        <p:spPr>
          <a:xfrm>
            <a:off x="8310622" y="243840"/>
            <a:ext cx="3646837" cy="6377939"/>
          </a:xfrm>
          <a:prstGeom prst="rect">
            <a:avLst/>
          </a:prstGeom>
        </p:spPr>
      </p:pic>
    </p:spTree>
    <p:extLst>
      <p:ext uri="{BB962C8B-B14F-4D97-AF65-F5344CB8AC3E}">
        <p14:creationId xmlns:p14="http://schemas.microsoft.com/office/powerpoint/2010/main" val="39253679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pic>
        <p:nvPicPr>
          <p:cNvPr id="31" name="Picture 30" descr="Question marks in a line and one question mark is lit">
            <a:extLst>
              <a:ext uri="{FF2B5EF4-FFF2-40B4-BE49-F238E27FC236}">
                <a16:creationId xmlns:a16="http://schemas.microsoft.com/office/drawing/2014/main" id="{98420FA8-2B14-0FBF-D7D7-226FC25B850E}"/>
              </a:ext>
            </a:extLst>
          </p:cNvPr>
          <p:cNvPicPr>
            <a:picLocks noChangeAspect="1"/>
          </p:cNvPicPr>
          <p:nvPr/>
        </p:nvPicPr>
        <p:blipFill>
          <a:blip r:embed="rId2">
            <a:duotone>
              <a:schemeClr val="accent1">
                <a:shade val="45000"/>
                <a:satMod val="135000"/>
              </a:schemeClr>
              <a:prstClr val="white"/>
            </a:duotone>
            <a:alphaModFix amt="60000"/>
          </a:blip>
          <a:srcRect t="2056" b="13674"/>
          <a:stretch/>
        </p:blipFill>
        <p:spPr>
          <a:xfrm>
            <a:off x="20" y="-1"/>
            <a:ext cx="12191980" cy="6858001"/>
          </a:xfrm>
          <a:prstGeom prst="rect">
            <a:avLst/>
          </a:prstGeom>
        </p:spPr>
      </p:pic>
      <p:sp>
        <p:nvSpPr>
          <p:cNvPr id="2" name="Title 1">
            <a:extLst>
              <a:ext uri="{FF2B5EF4-FFF2-40B4-BE49-F238E27FC236}">
                <a16:creationId xmlns:a16="http://schemas.microsoft.com/office/drawing/2014/main" id="{00E54865-CC4E-420F-94DC-C28F1D89DFD4}"/>
              </a:ext>
            </a:extLst>
          </p:cNvPr>
          <p:cNvSpPr txBox="1">
            <a:spLocks/>
          </p:cNvSpPr>
          <p:nvPr/>
        </p:nvSpPr>
        <p:spPr>
          <a:xfrm>
            <a:off x="1109980" y="882376"/>
            <a:ext cx="9966960" cy="292608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algn="ctr">
              <a:lnSpc>
                <a:spcPct val="85000"/>
              </a:lnSpc>
              <a:spcAft>
                <a:spcPts val="600"/>
              </a:spcAft>
            </a:pPr>
            <a:r>
              <a:rPr lang="en-US" sz="7200" b="1" cap="all">
                <a:solidFill>
                  <a:srgbClr val="FFFFFF"/>
                </a:solidFill>
              </a:rPr>
              <a:t>Questions..?</a:t>
            </a:r>
          </a:p>
        </p:txBody>
      </p:sp>
    </p:spTree>
    <p:extLst>
      <p:ext uri="{BB962C8B-B14F-4D97-AF65-F5344CB8AC3E}">
        <p14:creationId xmlns:p14="http://schemas.microsoft.com/office/powerpoint/2010/main" val="1402306060"/>
      </p:ext>
    </p:extLst>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Retrospect</Template>
  <TotalTime>690</TotalTime>
  <Words>903</Words>
  <Application>Microsoft Office PowerPoint</Application>
  <PresentationFormat>Widescreen</PresentationFormat>
  <Paragraphs>82</Paragraphs>
  <Slides>12</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Aptos</vt:lpstr>
      <vt:lpstr>Calibri</vt:lpstr>
      <vt:lpstr>Calibri Light</vt:lpstr>
      <vt:lpstr>Wingdings</vt:lpstr>
      <vt:lpstr>Retrospect</vt:lpstr>
      <vt:lpstr>PowerPoint Presentation</vt:lpstr>
      <vt:lpstr>USEFUL COURSE TEXTS</vt:lpstr>
      <vt:lpstr>Studio 1: Introduction </vt:lpstr>
      <vt:lpstr>Game Industry and Design Methods –  Some indicative content we will be covering: </vt:lpstr>
      <vt:lpstr>Game Industry and Design Methods </vt:lpstr>
      <vt:lpstr>Workgroups.</vt:lpstr>
      <vt:lpstr>PowerPoint Presentation</vt:lpstr>
      <vt:lpstr>PowerPoint Presentation</vt:lpstr>
      <vt:lpstr>PowerPoint Presentation</vt:lpstr>
      <vt:lpstr>Some things to consider with Group Work:</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Smith, Ian</dc:creator>
  <cp:lastModifiedBy>Smith, Ian</cp:lastModifiedBy>
  <cp:revision>6</cp:revision>
  <dcterms:created xsi:type="dcterms:W3CDTF">2024-07-26T12:41:45Z</dcterms:created>
  <dcterms:modified xsi:type="dcterms:W3CDTF">2026-01-19T16:07:06Z</dcterms:modified>
</cp:coreProperties>
</file>