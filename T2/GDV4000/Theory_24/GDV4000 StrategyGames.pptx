
<file path=[Content_Types].xml><?xml version="1.0" encoding="utf-8"?>
<Types xmlns="http://schemas.openxmlformats.org/package/2006/content-types">
  <Default Extension="gif" ContentType="image/gif"/>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sldIdLst>
    <p:sldId id="256" r:id="rId5"/>
    <p:sldId id="257" r:id="rId6"/>
    <p:sldId id="258" r:id="rId7"/>
    <p:sldId id="259" r:id="rId8"/>
    <p:sldId id="260" r:id="rId9"/>
    <p:sldId id="261" r:id="rId10"/>
    <p:sldId id="262" r:id="rId11"/>
    <p:sldId id="263" r:id="rId12"/>
    <p:sldId id="270" r:id="rId13"/>
    <p:sldId id="264" r:id="rId14"/>
    <p:sldId id="265" r:id="rId15"/>
    <p:sldId id="266" r:id="rId16"/>
    <p:sldId id="267" r:id="rId17"/>
    <p:sldId id="268" r:id="rId18"/>
    <p:sldId id="269"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C07EBA-2DE1-49C7-AD7A-37854B7AD9DC}" v="19" dt="2024-12-06T12:28:34.3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9" autoAdjust="0"/>
    <p:restoredTop sz="94660"/>
  </p:normalViewPr>
  <p:slideViewPr>
    <p:cSldViewPr snapToGrid="0">
      <p:cViewPr varScale="1">
        <p:scale>
          <a:sx n="196" d="100"/>
          <a:sy n="196" d="100"/>
        </p:scale>
        <p:origin x="158" y="19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82F739-8D04-466E-8286-9A12662CC993}" type="datetimeFigureOut">
              <a:rPr lang="en-GB" smtClean="0"/>
              <a:t>06/12/2024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5983906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82F739-8D04-466E-8286-9A12662CC993}" type="datetimeFigureOut">
              <a:rPr lang="en-GB" smtClean="0"/>
              <a:t>06/12/2024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26170720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82F739-8D04-466E-8286-9A12662CC993}" type="datetimeFigureOut">
              <a:rPr lang="en-GB" smtClean="0"/>
              <a:t>06/12/2024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12957041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182F739-8D04-466E-8286-9A12662CC993}" type="datetimeFigureOut">
              <a:rPr lang="en-GB" smtClean="0"/>
              <a:t>06/12/2024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12398495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182F739-8D04-466E-8286-9A12662CC993}" type="datetimeFigureOut">
              <a:rPr lang="en-GB" smtClean="0"/>
              <a:t>06/12/2024</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31598210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182F739-8D04-466E-8286-9A12662CC993}" type="datetimeFigureOut">
              <a:rPr lang="en-GB" smtClean="0"/>
              <a:t>06/12/2024</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10072314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82F739-8D04-466E-8286-9A12662CC993}" type="datetimeFigureOut">
              <a:rPr lang="en-GB" smtClean="0"/>
              <a:t>06/12/2024</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2232087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182F739-8D04-466E-8286-9A12662CC993}" type="datetimeFigureOut">
              <a:rPr lang="en-GB" smtClean="0"/>
              <a:t>06/12/2024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2467885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182F739-8D04-466E-8286-9A12662CC993}" type="datetimeFigureOut">
              <a:rPr lang="en-GB" smtClean="0"/>
              <a:t>06/12/2024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588498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82F739-8D04-466E-8286-9A12662CC993}" type="datetimeFigureOut">
              <a:rPr lang="en-GB" smtClean="0"/>
              <a:t>06/12/2024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33213860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82F739-8D04-466E-8286-9A12662CC993}" type="datetimeFigureOut">
              <a:rPr lang="en-GB" smtClean="0"/>
              <a:t>06/12/2024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F11E0E-9A3F-483F-9C4A-9A59F120C484}" type="slidenum">
              <a:rPr lang="en-GB" smtClean="0"/>
              <a:t>‹#›</a:t>
            </a:fld>
            <a:endParaRPr lang="en-GB"/>
          </a:p>
        </p:txBody>
      </p:sp>
    </p:spTree>
    <p:extLst>
      <p:ext uri="{BB962C8B-B14F-4D97-AF65-F5344CB8AC3E}">
        <p14:creationId xmlns:p14="http://schemas.microsoft.com/office/powerpoint/2010/main" val="37039348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182F739-8D04-466E-8286-9A12662CC993}" type="datetimeFigureOut">
              <a:rPr lang="en-GB" smtClean="0"/>
              <a:t>06/12/2024</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9F11E0E-9A3F-483F-9C4A-9A59F120C484}" type="slidenum">
              <a:rPr lang="en-GB" smtClean="0"/>
              <a:t>‹#›</a:t>
            </a:fld>
            <a:endParaRPr lang="en-GB"/>
          </a:p>
        </p:txBody>
      </p:sp>
    </p:spTree>
    <p:extLst>
      <p:ext uri="{BB962C8B-B14F-4D97-AF65-F5344CB8AC3E}">
        <p14:creationId xmlns:p14="http://schemas.microsoft.com/office/powerpoint/2010/main" val="285969798"/>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image" Target="../media/image6.jpeg"/><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1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E70D05-2E29-4BBE-9653-24C5FB7E20BF}"/>
              </a:ext>
            </a:extLst>
          </p:cNvPr>
          <p:cNvSpPr>
            <a:spLocks noGrp="1"/>
          </p:cNvSpPr>
          <p:nvPr>
            <p:ph type="ctrTitle"/>
          </p:nvPr>
        </p:nvSpPr>
        <p:spPr>
          <a:xfrm>
            <a:off x="1524000" y="1122363"/>
            <a:ext cx="9144000" cy="618514"/>
          </a:xfrm>
        </p:spPr>
        <p:txBody>
          <a:bodyPr>
            <a:normAutofit fontScale="90000"/>
          </a:bodyPr>
          <a:lstStyle/>
          <a:p>
            <a:r>
              <a:rPr lang="en-GB" sz="4000" dirty="0">
                <a:latin typeface="+mn-lt"/>
              </a:rPr>
              <a:t>BSc Hons Game Design and Development</a:t>
            </a:r>
          </a:p>
        </p:txBody>
      </p:sp>
      <p:sp>
        <p:nvSpPr>
          <p:cNvPr id="3" name="Subtitle 2">
            <a:extLst>
              <a:ext uri="{FF2B5EF4-FFF2-40B4-BE49-F238E27FC236}">
                <a16:creationId xmlns:a16="http://schemas.microsoft.com/office/drawing/2014/main" id="{5C4C3D56-90A3-499E-BC1D-2D294FA42A6F}"/>
              </a:ext>
            </a:extLst>
          </p:cNvPr>
          <p:cNvSpPr>
            <a:spLocks noGrp="1"/>
          </p:cNvSpPr>
          <p:nvPr>
            <p:ph type="subTitle" idx="1"/>
          </p:nvPr>
        </p:nvSpPr>
        <p:spPr>
          <a:xfrm>
            <a:off x="1524000" y="2883877"/>
            <a:ext cx="9144000" cy="1699998"/>
          </a:xfrm>
        </p:spPr>
        <p:txBody>
          <a:bodyPr>
            <a:normAutofit fontScale="85000" lnSpcReduction="20000"/>
          </a:bodyPr>
          <a:lstStyle/>
          <a:p>
            <a:r>
              <a:rPr lang="en-GB" sz="4800" dirty="0"/>
              <a:t>GDV4000</a:t>
            </a:r>
          </a:p>
          <a:p>
            <a:r>
              <a:rPr lang="en-GB" sz="4800" dirty="0"/>
              <a:t>Introduction to Games Industry Practice</a:t>
            </a:r>
          </a:p>
          <a:p>
            <a:r>
              <a:rPr lang="en-GB" sz="4800" dirty="0"/>
              <a:t>Game Genres: Strategy Games</a:t>
            </a:r>
          </a:p>
        </p:txBody>
      </p:sp>
    </p:spTree>
    <p:extLst>
      <p:ext uri="{BB962C8B-B14F-4D97-AF65-F5344CB8AC3E}">
        <p14:creationId xmlns:p14="http://schemas.microsoft.com/office/powerpoint/2010/main" val="3620721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92916-0F00-4AD9-A197-ABB4A3193DB0}"/>
              </a:ext>
            </a:extLst>
          </p:cNvPr>
          <p:cNvSpPr>
            <a:spLocks noGrp="1"/>
          </p:cNvSpPr>
          <p:nvPr>
            <p:ph type="title"/>
          </p:nvPr>
        </p:nvSpPr>
        <p:spPr>
          <a:xfrm>
            <a:off x="838200" y="365126"/>
            <a:ext cx="10515600" cy="902536"/>
          </a:xfrm>
        </p:spPr>
        <p:txBody>
          <a:bodyPr/>
          <a:lstStyle/>
          <a:p>
            <a:r>
              <a:rPr lang="en-GB" dirty="0"/>
              <a:t>Strategy Games – Overview:</a:t>
            </a:r>
          </a:p>
        </p:txBody>
      </p:sp>
      <p:sp>
        <p:nvSpPr>
          <p:cNvPr id="4" name="Oval 3">
            <a:extLst>
              <a:ext uri="{FF2B5EF4-FFF2-40B4-BE49-F238E27FC236}">
                <a16:creationId xmlns:a16="http://schemas.microsoft.com/office/drawing/2014/main" id="{8EEBB42C-376B-4903-9241-26786B710988}"/>
              </a:ext>
            </a:extLst>
          </p:cNvPr>
          <p:cNvSpPr/>
          <p:nvPr/>
        </p:nvSpPr>
        <p:spPr>
          <a:xfrm>
            <a:off x="4937282" y="3288127"/>
            <a:ext cx="1517374" cy="9740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t>Strategy</a:t>
            </a:r>
          </a:p>
        </p:txBody>
      </p:sp>
      <p:sp>
        <p:nvSpPr>
          <p:cNvPr id="5" name="Oval 4">
            <a:extLst>
              <a:ext uri="{FF2B5EF4-FFF2-40B4-BE49-F238E27FC236}">
                <a16:creationId xmlns:a16="http://schemas.microsoft.com/office/drawing/2014/main" id="{1CB093CF-FFA1-4EB0-BB90-D9907B5559DF}"/>
              </a:ext>
            </a:extLst>
          </p:cNvPr>
          <p:cNvSpPr/>
          <p:nvPr/>
        </p:nvSpPr>
        <p:spPr>
          <a:xfrm>
            <a:off x="9546519" y="4072130"/>
            <a:ext cx="1517374" cy="974034"/>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Tactical Role-Playing Game</a:t>
            </a:r>
          </a:p>
        </p:txBody>
      </p:sp>
      <p:sp>
        <p:nvSpPr>
          <p:cNvPr id="6" name="Oval 5">
            <a:extLst>
              <a:ext uri="{FF2B5EF4-FFF2-40B4-BE49-F238E27FC236}">
                <a16:creationId xmlns:a16="http://schemas.microsoft.com/office/drawing/2014/main" id="{E4FAE307-7581-4B4E-B6DA-D5AC4D91EB4E}"/>
              </a:ext>
            </a:extLst>
          </p:cNvPr>
          <p:cNvSpPr/>
          <p:nvPr/>
        </p:nvSpPr>
        <p:spPr>
          <a:xfrm>
            <a:off x="6466125" y="5645702"/>
            <a:ext cx="1517374" cy="974034"/>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RTT</a:t>
            </a:r>
          </a:p>
          <a:p>
            <a:pPr algn="ctr"/>
            <a:r>
              <a:rPr lang="en-GB" sz="1400" dirty="0">
                <a:solidFill>
                  <a:schemeClr val="tx1"/>
                </a:solidFill>
              </a:rPr>
              <a:t>(Real-Time Tactics)</a:t>
            </a:r>
          </a:p>
        </p:txBody>
      </p:sp>
      <p:sp>
        <p:nvSpPr>
          <p:cNvPr id="7" name="Oval 6">
            <a:extLst>
              <a:ext uri="{FF2B5EF4-FFF2-40B4-BE49-F238E27FC236}">
                <a16:creationId xmlns:a16="http://schemas.microsoft.com/office/drawing/2014/main" id="{30F58231-8336-415C-B65D-F5228D95FC62}"/>
              </a:ext>
            </a:extLst>
          </p:cNvPr>
          <p:cNvSpPr/>
          <p:nvPr/>
        </p:nvSpPr>
        <p:spPr>
          <a:xfrm>
            <a:off x="1699979" y="2397435"/>
            <a:ext cx="1363824" cy="747209"/>
          </a:xfrm>
          <a:prstGeom prst="ellipse">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bg1"/>
                </a:solidFill>
              </a:rPr>
              <a:t>Abstract</a:t>
            </a:r>
          </a:p>
        </p:txBody>
      </p:sp>
      <p:sp>
        <p:nvSpPr>
          <p:cNvPr id="8" name="Oval 7">
            <a:extLst>
              <a:ext uri="{FF2B5EF4-FFF2-40B4-BE49-F238E27FC236}">
                <a16:creationId xmlns:a16="http://schemas.microsoft.com/office/drawing/2014/main" id="{6E3B9E29-375D-40A5-9A3F-B33E24FD9D36}"/>
              </a:ext>
            </a:extLst>
          </p:cNvPr>
          <p:cNvSpPr/>
          <p:nvPr/>
        </p:nvSpPr>
        <p:spPr>
          <a:xfrm>
            <a:off x="4948751" y="1327803"/>
            <a:ext cx="1517374" cy="974034"/>
          </a:xfrm>
          <a:prstGeom prst="ellipse">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bg1"/>
                </a:solidFill>
              </a:rPr>
              <a:t>Turn-based</a:t>
            </a:r>
          </a:p>
        </p:txBody>
      </p:sp>
      <p:sp>
        <p:nvSpPr>
          <p:cNvPr id="9" name="Oval 8">
            <a:extLst>
              <a:ext uri="{FF2B5EF4-FFF2-40B4-BE49-F238E27FC236}">
                <a16:creationId xmlns:a16="http://schemas.microsoft.com/office/drawing/2014/main" id="{E053F28B-C8A9-4ABD-824C-DBBAEDD47204}"/>
              </a:ext>
            </a:extLst>
          </p:cNvPr>
          <p:cNvSpPr/>
          <p:nvPr/>
        </p:nvSpPr>
        <p:spPr>
          <a:xfrm>
            <a:off x="7224812" y="2253952"/>
            <a:ext cx="1517374" cy="974034"/>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Grand Strategy Wargame/ Wargame</a:t>
            </a:r>
          </a:p>
        </p:txBody>
      </p:sp>
      <p:sp>
        <p:nvSpPr>
          <p:cNvPr id="10" name="Oval 9">
            <a:extLst>
              <a:ext uri="{FF2B5EF4-FFF2-40B4-BE49-F238E27FC236}">
                <a16:creationId xmlns:a16="http://schemas.microsoft.com/office/drawing/2014/main" id="{32C2358C-6E73-4C68-A53F-9A470B202857}"/>
              </a:ext>
            </a:extLst>
          </p:cNvPr>
          <p:cNvSpPr/>
          <p:nvPr/>
        </p:nvSpPr>
        <p:spPr>
          <a:xfrm>
            <a:off x="1086732" y="4072130"/>
            <a:ext cx="1517374" cy="9740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t>RTS</a:t>
            </a:r>
          </a:p>
        </p:txBody>
      </p:sp>
      <p:cxnSp>
        <p:nvCxnSpPr>
          <p:cNvPr id="11" name="Connector: Curved 10">
            <a:extLst>
              <a:ext uri="{FF2B5EF4-FFF2-40B4-BE49-F238E27FC236}">
                <a16:creationId xmlns:a16="http://schemas.microsoft.com/office/drawing/2014/main" id="{DF383E8B-AB6E-4381-8039-C51042FE497B}"/>
              </a:ext>
            </a:extLst>
          </p:cNvPr>
          <p:cNvCxnSpPr>
            <a:cxnSpLocks/>
            <a:stCxn id="4" idx="5"/>
            <a:endCxn id="3" idx="2"/>
          </p:cNvCxnSpPr>
          <p:nvPr/>
        </p:nvCxnSpPr>
        <p:spPr>
          <a:xfrm rot="16200000" flipH="1">
            <a:off x="6263399" y="4088560"/>
            <a:ext cx="439630" cy="501544"/>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Connector: Curved 11">
            <a:extLst>
              <a:ext uri="{FF2B5EF4-FFF2-40B4-BE49-F238E27FC236}">
                <a16:creationId xmlns:a16="http://schemas.microsoft.com/office/drawing/2014/main" id="{57FCD249-6365-42E6-9293-1BE07DD6CE8E}"/>
              </a:ext>
            </a:extLst>
          </p:cNvPr>
          <p:cNvCxnSpPr>
            <a:cxnSpLocks/>
            <a:stCxn id="8" idx="3"/>
            <a:endCxn id="7" idx="4"/>
          </p:cNvCxnSpPr>
          <p:nvPr/>
        </p:nvCxnSpPr>
        <p:spPr>
          <a:xfrm rot="5400000">
            <a:off x="3283703" y="1257381"/>
            <a:ext cx="985451" cy="2789074"/>
          </a:xfrm>
          <a:prstGeom prst="curvedConnector3">
            <a:avLst>
              <a:gd name="adj1" fmla="val 12319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or: Curved 12">
            <a:extLst>
              <a:ext uri="{FF2B5EF4-FFF2-40B4-BE49-F238E27FC236}">
                <a16:creationId xmlns:a16="http://schemas.microsoft.com/office/drawing/2014/main" id="{99135E06-E12A-4C98-A583-6DCEED191683}"/>
              </a:ext>
            </a:extLst>
          </p:cNvPr>
          <p:cNvCxnSpPr>
            <a:cxnSpLocks/>
            <a:stCxn id="4" idx="2"/>
            <a:endCxn id="10" idx="7"/>
          </p:cNvCxnSpPr>
          <p:nvPr/>
        </p:nvCxnSpPr>
        <p:spPr>
          <a:xfrm rot="10800000" flipV="1">
            <a:off x="2381892" y="3775144"/>
            <a:ext cx="2555390" cy="43963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nector: Curved 13">
            <a:extLst>
              <a:ext uri="{FF2B5EF4-FFF2-40B4-BE49-F238E27FC236}">
                <a16:creationId xmlns:a16="http://schemas.microsoft.com/office/drawing/2014/main" id="{37CA29C4-49D9-4DB8-8867-F4CDB39BEC4C}"/>
              </a:ext>
            </a:extLst>
          </p:cNvPr>
          <p:cNvCxnSpPr>
            <a:cxnSpLocks/>
            <a:stCxn id="5" idx="4"/>
            <a:endCxn id="6" idx="6"/>
          </p:cNvCxnSpPr>
          <p:nvPr/>
        </p:nvCxnSpPr>
        <p:spPr>
          <a:xfrm rot="5400000">
            <a:off x="8601076" y="4428588"/>
            <a:ext cx="1086555" cy="2321707"/>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CECEDAF9-554E-422D-B809-5C0F6BEAEC28}"/>
              </a:ext>
            </a:extLst>
          </p:cNvPr>
          <p:cNvCxnSpPr>
            <a:cxnSpLocks/>
            <a:stCxn id="9" idx="6"/>
            <a:endCxn id="5" idx="0"/>
          </p:cNvCxnSpPr>
          <p:nvPr/>
        </p:nvCxnSpPr>
        <p:spPr>
          <a:xfrm>
            <a:off x="8742186" y="2740969"/>
            <a:ext cx="1563020" cy="133116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22070401-E9DF-4DD8-9012-2CC686AAC1AC}"/>
              </a:ext>
            </a:extLst>
          </p:cNvPr>
          <p:cNvSpPr/>
          <p:nvPr/>
        </p:nvSpPr>
        <p:spPr>
          <a:xfrm>
            <a:off x="3333724" y="5589441"/>
            <a:ext cx="1517374" cy="9740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t>MOBA</a:t>
            </a:r>
          </a:p>
        </p:txBody>
      </p:sp>
      <p:cxnSp>
        <p:nvCxnSpPr>
          <p:cNvPr id="17" name="Connector: Curved 16">
            <a:extLst>
              <a:ext uri="{FF2B5EF4-FFF2-40B4-BE49-F238E27FC236}">
                <a16:creationId xmlns:a16="http://schemas.microsoft.com/office/drawing/2014/main" id="{3CD77D50-659E-416C-B708-5D0AF4150734}"/>
              </a:ext>
            </a:extLst>
          </p:cNvPr>
          <p:cNvCxnSpPr>
            <a:cxnSpLocks/>
            <a:stCxn id="10" idx="3"/>
            <a:endCxn id="16" idx="2"/>
          </p:cNvCxnSpPr>
          <p:nvPr/>
        </p:nvCxnSpPr>
        <p:spPr>
          <a:xfrm rot="16200000" flipH="1">
            <a:off x="1734866" y="4477600"/>
            <a:ext cx="1172938" cy="202477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nector: Curved 17">
            <a:extLst>
              <a:ext uri="{FF2B5EF4-FFF2-40B4-BE49-F238E27FC236}">
                <a16:creationId xmlns:a16="http://schemas.microsoft.com/office/drawing/2014/main" id="{D20E383C-CD30-4713-82E8-5937FC52B3BD}"/>
              </a:ext>
            </a:extLst>
          </p:cNvPr>
          <p:cNvCxnSpPr>
            <a:cxnSpLocks/>
            <a:stCxn id="4" idx="6"/>
            <a:endCxn id="9" idx="2"/>
          </p:cNvCxnSpPr>
          <p:nvPr/>
        </p:nvCxnSpPr>
        <p:spPr>
          <a:xfrm flipV="1">
            <a:off x="6454656" y="2740969"/>
            <a:ext cx="770156" cy="1034175"/>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3" name="Oval 2">
            <a:extLst>
              <a:ext uri="{FF2B5EF4-FFF2-40B4-BE49-F238E27FC236}">
                <a16:creationId xmlns:a16="http://schemas.microsoft.com/office/drawing/2014/main" id="{C87B20CB-FA3C-3AAE-A278-F996CF754DF9}"/>
              </a:ext>
            </a:extLst>
          </p:cNvPr>
          <p:cNvSpPr/>
          <p:nvPr/>
        </p:nvSpPr>
        <p:spPr>
          <a:xfrm>
            <a:off x="6733986" y="4072130"/>
            <a:ext cx="1517374" cy="97403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t>4x</a:t>
            </a:r>
          </a:p>
        </p:txBody>
      </p:sp>
      <p:cxnSp>
        <p:nvCxnSpPr>
          <p:cNvPr id="22" name="Connector: Curved 21">
            <a:extLst>
              <a:ext uri="{FF2B5EF4-FFF2-40B4-BE49-F238E27FC236}">
                <a16:creationId xmlns:a16="http://schemas.microsoft.com/office/drawing/2014/main" id="{D61FC409-25C3-9CC4-3746-C8950E6ACEA1}"/>
              </a:ext>
            </a:extLst>
          </p:cNvPr>
          <p:cNvCxnSpPr>
            <a:cxnSpLocks/>
            <a:stCxn id="4" idx="0"/>
            <a:endCxn id="8" idx="4"/>
          </p:cNvCxnSpPr>
          <p:nvPr/>
        </p:nvCxnSpPr>
        <p:spPr>
          <a:xfrm rot="5400000" flipH="1" flipV="1">
            <a:off x="5208558" y="2789248"/>
            <a:ext cx="986290" cy="1146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2582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4EE5FF-6D4D-4DCD-B03C-76729D8453CD}"/>
              </a:ext>
            </a:extLst>
          </p:cNvPr>
          <p:cNvSpPr>
            <a:spLocks noGrp="1"/>
          </p:cNvSpPr>
          <p:nvPr>
            <p:ph type="title"/>
          </p:nvPr>
        </p:nvSpPr>
        <p:spPr>
          <a:xfrm>
            <a:off x="838200" y="365126"/>
            <a:ext cx="10515600" cy="912690"/>
          </a:xfrm>
        </p:spPr>
        <p:txBody>
          <a:bodyPr/>
          <a:lstStyle/>
          <a:p>
            <a:r>
              <a:rPr lang="en-GB" dirty="0"/>
              <a:t>Strategy Games: History</a:t>
            </a:r>
          </a:p>
        </p:txBody>
      </p:sp>
      <p:sp>
        <p:nvSpPr>
          <p:cNvPr id="3" name="Content Placeholder 2">
            <a:extLst>
              <a:ext uri="{FF2B5EF4-FFF2-40B4-BE49-F238E27FC236}">
                <a16:creationId xmlns:a16="http://schemas.microsoft.com/office/drawing/2014/main" id="{D39C2560-F67D-4DAC-A305-24D9C56111FC}"/>
              </a:ext>
            </a:extLst>
          </p:cNvPr>
          <p:cNvSpPr>
            <a:spLocks noGrp="1"/>
          </p:cNvSpPr>
          <p:nvPr>
            <p:ph idx="1"/>
          </p:nvPr>
        </p:nvSpPr>
        <p:spPr>
          <a:xfrm>
            <a:off x="838200" y="1804737"/>
            <a:ext cx="10515600" cy="4372226"/>
          </a:xfrm>
        </p:spPr>
        <p:txBody>
          <a:bodyPr/>
          <a:lstStyle/>
          <a:p>
            <a:r>
              <a:rPr lang="en-GB" sz="1800" dirty="0"/>
              <a:t>Lots of sub-genres: Early games were physical board games which were turn based and abstract (Chess, Go, Backgammon)</a:t>
            </a:r>
          </a:p>
          <a:p>
            <a:pPr lvl="1"/>
            <a:r>
              <a:rPr lang="en-GB" sz="1800" dirty="0"/>
              <a:t>Chess is a good example of this abstraction – Two opposing armies in conflict, but the board is not designed to resemble a battlefield.</a:t>
            </a:r>
          </a:p>
          <a:p>
            <a:pPr marL="457200" lvl="1" indent="0">
              <a:buNone/>
            </a:pPr>
            <a:endParaRPr lang="en-GB" sz="1800" dirty="0"/>
          </a:p>
          <a:p>
            <a:r>
              <a:rPr lang="en-GB" sz="1800" dirty="0"/>
              <a:t>Turn-based strategy still underpins many modern titles, such as Sid Meier’s Civilisation series, and XCOM.</a:t>
            </a:r>
          </a:p>
          <a:p>
            <a:pPr marL="0" indent="0">
              <a:buNone/>
            </a:pPr>
            <a:endParaRPr lang="en-GB" sz="1800" dirty="0"/>
          </a:p>
          <a:p>
            <a:r>
              <a:rPr lang="en-GB" sz="1800" dirty="0"/>
              <a:t>Real-Time strategy evolved from the larger strategy genre, which tested the player’s dexterity and powers of observation as well as their tactical prowess.</a:t>
            </a:r>
          </a:p>
          <a:p>
            <a:r>
              <a:rPr lang="en-GB" sz="1800" dirty="0"/>
              <a:t>Wargaming (to simulate warfare) is an aspect that many strategy and RTS games have in common. Tactical wargaming focuses on tactical combat – Units, vehicles, resources…). It can mix elements of Turn-Based and Real-Time strategy games, as tactical decisions are Turn-Based but battles happen in Real-Time.</a:t>
            </a:r>
          </a:p>
          <a:p>
            <a:r>
              <a:rPr lang="en-GB" sz="1800" dirty="0"/>
              <a:t>RTT (Real-Time-Tactics) focus more on military tactics and not micromanaging resources. </a:t>
            </a:r>
            <a:endParaRPr lang="en-GB" dirty="0"/>
          </a:p>
        </p:txBody>
      </p:sp>
    </p:spTree>
    <p:extLst>
      <p:ext uri="{BB962C8B-B14F-4D97-AF65-F5344CB8AC3E}">
        <p14:creationId xmlns:p14="http://schemas.microsoft.com/office/powerpoint/2010/main" val="32128851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52465-F06C-41D1-85D1-7BE882522198}"/>
              </a:ext>
            </a:extLst>
          </p:cNvPr>
          <p:cNvSpPr>
            <a:spLocks noGrp="1"/>
          </p:cNvSpPr>
          <p:nvPr>
            <p:ph type="title"/>
          </p:nvPr>
        </p:nvSpPr>
        <p:spPr>
          <a:xfrm>
            <a:off x="838200" y="365126"/>
            <a:ext cx="10515600" cy="753812"/>
          </a:xfrm>
        </p:spPr>
        <p:txBody>
          <a:bodyPr/>
          <a:lstStyle/>
          <a:p>
            <a:r>
              <a:rPr lang="en-GB" dirty="0"/>
              <a:t>General Properties of Strategy Games</a:t>
            </a:r>
          </a:p>
        </p:txBody>
      </p:sp>
      <p:sp>
        <p:nvSpPr>
          <p:cNvPr id="3" name="Content Placeholder 2">
            <a:extLst>
              <a:ext uri="{FF2B5EF4-FFF2-40B4-BE49-F238E27FC236}">
                <a16:creationId xmlns:a16="http://schemas.microsoft.com/office/drawing/2014/main" id="{DC49684C-4911-47B4-985E-5710A170C3A1}"/>
              </a:ext>
            </a:extLst>
          </p:cNvPr>
          <p:cNvSpPr>
            <a:spLocks noGrp="1"/>
          </p:cNvSpPr>
          <p:nvPr>
            <p:ph idx="1"/>
          </p:nvPr>
        </p:nvSpPr>
        <p:spPr>
          <a:xfrm>
            <a:off x="266700" y="1411872"/>
            <a:ext cx="11658600" cy="4535905"/>
          </a:xfrm>
        </p:spPr>
        <p:txBody>
          <a:bodyPr>
            <a:normAutofit/>
          </a:bodyPr>
          <a:lstStyle/>
          <a:p>
            <a:r>
              <a:rPr lang="en-GB" sz="1800" dirty="0"/>
              <a:t>Strategy vs Tactics</a:t>
            </a:r>
          </a:p>
          <a:p>
            <a:pPr lvl="1"/>
            <a:r>
              <a:rPr lang="en-GB" sz="1800" dirty="0"/>
              <a:t>Strategy: The overall goal and a plan of how to achieve it.</a:t>
            </a:r>
          </a:p>
          <a:p>
            <a:pPr lvl="1"/>
            <a:r>
              <a:rPr lang="en-GB" sz="1800" dirty="0"/>
              <a:t>Tactics: The smaller steps that need to be accomplished in order to works towards the strategy.</a:t>
            </a:r>
          </a:p>
          <a:p>
            <a:pPr lvl="1"/>
            <a:endParaRPr lang="en-GB" dirty="0"/>
          </a:p>
          <a:p>
            <a:r>
              <a:rPr lang="en-GB" sz="1800" dirty="0"/>
              <a:t>The player is uncoerced.</a:t>
            </a:r>
          </a:p>
          <a:p>
            <a:pPr lvl="1"/>
            <a:r>
              <a:rPr lang="en-GB" sz="1800" dirty="0"/>
              <a:t>The decisions made by the player form a significant role in determining the outcome. Allow the player to find areas where they can set up defences and stage attacks – Tactical thinking is key to this genre, so allow the players scope to develop strategies around what is in place without being too obvious. Allow them to discover these features for themselves.</a:t>
            </a:r>
          </a:p>
          <a:p>
            <a:pPr lvl="1"/>
            <a:endParaRPr lang="en-GB" dirty="0"/>
          </a:p>
          <a:p>
            <a:r>
              <a:rPr lang="en-GB" sz="1800" dirty="0"/>
              <a:t>NPCs also play a significant role: AI is crucial in this kind of game.</a:t>
            </a:r>
          </a:p>
          <a:p>
            <a:pPr lvl="1"/>
            <a:r>
              <a:rPr lang="en-GB" sz="1800" dirty="0"/>
              <a:t>The AI will handle the strategy and tactics of a ‘side’ – directing armies, harvesting resources etc. It will also handle the more mundane actions (such as individual character actions while the player may control more high-level actions)</a:t>
            </a:r>
          </a:p>
        </p:txBody>
      </p:sp>
    </p:spTree>
    <p:extLst>
      <p:ext uri="{BB962C8B-B14F-4D97-AF65-F5344CB8AC3E}">
        <p14:creationId xmlns:p14="http://schemas.microsoft.com/office/powerpoint/2010/main" val="33413869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907B8-D622-49B1-9C9E-B45F34C2D3E7}"/>
              </a:ext>
            </a:extLst>
          </p:cNvPr>
          <p:cNvSpPr>
            <a:spLocks noGrp="1"/>
          </p:cNvSpPr>
          <p:nvPr>
            <p:ph type="title"/>
          </p:nvPr>
        </p:nvSpPr>
        <p:spPr>
          <a:xfrm>
            <a:off x="838200" y="365126"/>
            <a:ext cx="10515600" cy="741780"/>
          </a:xfrm>
        </p:spPr>
        <p:txBody>
          <a:bodyPr/>
          <a:lstStyle/>
          <a:p>
            <a:r>
              <a:rPr lang="en-GB" dirty="0"/>
              <a:t>Turn-Based Strategy</a:t>
            </a:r>
          </a:p>
        </p:txBody>
      </p:sp>
      <p:sp>
        <p:nvSpPr>
          <p:cNvPr id="3" name="Content Placeholder 2">
            <a:extLst>
              <a:ext uri="{FF2B5EF4-FFF2-40B4-BE49-F238E27FC236}">
                <a16:creationId xmlns:a16="http://schemas.microsoft.com/office/drawing/2014/main" id="{C4E41180-C6B9-457F-9F0F-7628334FFDE8}"/>
              </a:ext>
            </a:extLst>
          </p:cNvPr>
          <p:cNvSpPr>
            <a:spLocks noGrp="1"/>
          </p:cNvSpPr>
          <p:nvPr>
            <p:ph idx="1"/>
          </p:nvPr>
        </p:nvSpPr>
        <p:spPr>
          <a:xfrm>
            <a:off x="838199" y="1239253"/>
            <a:ext cx="5923547" cy="4937710"/>
          </a:xfrm>
        </p:spPr>
        <p:txBody>
          <a:bodyPr>
            <a:normAutofit/>
          </a:bodyPr>
          <a:lstStyle/>
          <a:p>
            <a:r>
              <a:rPr lang="en-GB" sz="1800" dirty="0"/>
              <a:t>In turn-based strategy games, play happens in discrete phases.</a:t>
            </a:r>
          </a:p>
          <a:p>
            <a:pPr marL="0" indent="0">
              <a:buNone/>
            </a:pPr>
            <a:endParaRPr lang="en-GB" sz="1800" dirty="0"/>
          </a:p>
          <a:p>
            <a:r>
              <a:rPr lang="en-GB" sz="1800" dirty="0"/>
              <a:t>Abstract strategy: Chess - “Capture” the King by using a combination of different pieces with different abilities.</a:t>
            </a:r>
          </a:p>
          <a:p>
            <a:pPr marL="0" indent="0">
              <a:buNone/>
            </a:pPr>
            <a:endParaRPr lang="en-GB" sz="1800" dirty="0"/>
          </a:p>
          <a:p>
            <a:r>
              <a:rPr lang="en-GB" sz="1800" dirty="0"/>
              <a:t>Employs Tree-Style thinking (Minimax -&gt; Cost per move)</a:t>
            </a:r>
          </a:p>
          <a:p>
            <a:pPr lvl="1"/>
            <a:r>
              <a:rPr lang="en-GB" sz="1400" dirty="0"/>
              <a:t>This idea falls under a number of disciplines, such as Game Theory and AI. </a:t>
            </a:r>
          </a:p>
          <a:p>
            <a:pPr lvl="1"/>
            <a:r>
              <a:rPr lang="en-GB" sz="1400" dirty="0"/>
              <a:t>A decision rule for minimising the loss in a given worst-case scenario.</a:t>
            </a:r>
          </a:p>
          <a:p>
            <a:pPr lvl="1"/>
            <a:r>
              <a:rPr lang="en-GB" sz="1400" dirty="0"/>
              <a:t>The opposite is ‘</a:t>
            </a:r>
            <a:r>
              <a:rPr lang="en-GB" sz="1400" dirty="0" err="1"/>
              <a:t>maxmin</a:t>
            </a:r>
            <a:r>
              <a:rPr lang="en-GB" sz="1400" dirty="0"/>
              <a:t>’ – Maximising the minimum gain.</a:t>
            </a:r>
          </a:p>
          <a:p>
            <a:endParaRPr lang="en-GB" sz="1800" dirty="0"/>
          </a:p>
          <a:p>
            <a:r>
              <a:rPr lang="en-GB" sz="1800" dirty="0"/>
              <a:t>The best upper bound found for the number of chess positions is 7728772977965919677164873487685453137329736522, or about 7.7*10</a:t>
            </a:r>
            <a:r>
              <a:rPr lang="en-GB" sz="1800" baseline="30000" dirty="0"/>
              <a:t>45 </a:t>
            </a:r>
            <a:r>
              <a:rPr lang="en-GB" sz="1800" dirty="0"/>
              <a:t>(Quattuordecillion)</a:t>
            </a:r>
          </a:p>
          <a:p>
            <a:endParaRPr lang="en-GB" sz="1800" dirty="0"/>
          </a:p>
        </p:txBody>
      </p:sp>
      <p:pic>
        <p:nvPicPr>
          <p:cNvPr id="6" name="Picture 2" descr="Image result for chess">
            <a:extLst>
              <a:ext uri="{FF2B5EF4-FFF2-40B4-BE49-F238E27FC236}">
                <a16:creationId xmlns:a16="http://schemas.microsoft.com/office/drawing/2014/main" id="{D44AE9B5-B449-4696-94DE-745020BEA8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50919" y="1546017"/>
            <a:ext cx="4174671" cy="41746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16982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37F3DD-156D-AEAC-9F6B-B64C443FE21A}"/>
              </a:ext>
            </a:extLst>
          </p:cNvPr>
          <p:cNvSpPr>
            <a:spLocks noGrp="1"/>
          </p:cNvSpPr>
          <p:nvPr>
            <p:ph type="title"/>
          </p:nvPr>
        </p:nvSpPr>
        <p:spPr>
          <a:xfrm>
            <a:off x="589560" y="856180"/>
            <a:ext cx="4560584" cy="1128068"/>
          </a:xfrm>
        </p:spPr>
        <p:txBody>
          <a:bodyPr anchor="ctr">
            <a:normAutofit/>
          </a:bodyPr>
          <a:lstStyle/>
          <a:p>
            <a:r>
              <a:rPr lang="en-GB" sz="4000"/>
              <a:t>Turn-Based Strategy</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270AD35-77EC-27A5-6061-4224B869D144}"/>
              </a:ext>
            </a:extLst>
          </p:cNvPr>
          <p:cNvSpPr>
            <a:spLocks noGrp="1"/>
          </p:cNvSpPr>
          <p:nvPr>
            <p:ph idx="1"/>
          </p:nvPr>
        </p:nvSpPr>
        <p:spPr>
          <a:xfrm>
            <a:off x="590719" y="2330505"/>
            <a:ext cx="4559425" cy="3979585"/>
          </a:xfrm>
        </p:spPr>
        <p:txBody>
          <a:bodyPr anchor="ctr">
            <a:normAutofit/>
          </a:bodyPr>
          <a:lstStyle/>
          <a:p>
            <a:r>
              <a:rPr lang="en-GB" sz="1900" dirty="0"/>
              <a:t>Go:</a:t>
            </a:r>
          </a:p>
          <a:p>
            <a:pPr lvl="1"/>
            <a:r>
              <a:rPr lang="en-GB" sz="1900" dirty="0"/>
              <a:t>Go involves claiming ‘territory’ by placing black or white pieces to surround regions/ opponent’s pieces.</a:t>
            </a:r>
          </a:p>
          <a:p>
            <a:pPr lvl="1"/>
            <a:endParaRPr lang="en-GB" sz="1900" dirty="0"/>
          </a:p>
          <a:p>
            <a:pPr lvl="1"/>
            <a:r>
              <a:rPr lang="en-GB" sz="1900" dirty="0"/>
              <a:t>Go is a much more complex game than Chess, with states numbering approximately 10</a:t>
            </a:r>
            <a:r>
              <a:rPr lang="en-GB" sz="1900" baseline="30000" dirty="0"/>
              <a:t>170 </a:t>
            </a:r>
          </a:p>
          <a:p>
            <a:pPr lvl="1"/>
            <a:endParaRPr lang="en-GB" sz="1900" baseline="30000" dirty="0"/>
          </a:p>
          <a:p>
            <a:pPr lvl="1"/>
            <a:r>
              <a:rPr lang="en-GB" sz="1900" dirty="0"/>
              <a:t>AI would have to rely on pattern-based thinking since tree complexity is an issue – expert players spot patterns on the board and respond accordingly.</a:t>
            </a:r>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Image result for go board game">
            <a:extLst>
              <a:ext uri="{FF2B5EF4-FFF2-40B4-BE49-F238E27FC236}">
                <a16:creationId xmlns:a16="http://schemas.microsoft.com/office/drawing/2014/main" id="{59ECE7DC-EBAE-92F8-C63B-6D2DF3FB6A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0115" r="11028" b="1"/>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59913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Image result for xcom enemy unknown">
            <a:extLst>
              <a:ext uri="{FF2B5EF4-FFF2-40B4-BE49-F238E27FC236}">
                <a16:creationId xmlns:a16="http://schemas.microsoft.com/office/drawing/2014/main" id="{A9D65D71-2444-8DB3-1473-A49298CB50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9835" r="10853"/>
          <a:stretch/>
        </p:blipFill>
        <p:spPr bwMode="auto">
          <a:xfrm>
            <a:off x="2522356"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EA47935-1665-9AFC-798F-2FEC250C1C03}"/>
              </a:ext>
            </a:extLst>
          </p:cNvPr>
          <p:cNvSpPr>
            <a:spLocks noGrp="1"/>
          </p:cNvSpPr>
          <p:nvPr>
            <p:ph type="title"/>
          </p:nvPr>
        </p:nvSpPr>
        <p:spPr>
          <a:xfrm>
            <a:off x="838200" y="365125"/>
            <a:ext cx="5081789" cy="1899912"/>
          </a:xfrm>
        </p:spPr>
        <p:txBody>
          <a:bodyPr>
            <a:normAutofit/>
          </a:bodyPr>
          <a:lstStyle/>
          <a:p>
            <a:r>
              <a:rPr lang="en-GB" sz="4000" dirty="0"/>
              <a:t>Turn-Based Strategy</a:t>
            </a:r>
          </a:p>
        </p:txBody>
      </p:sp>
      <p:sp>
        <p:nvSpPr>
          <p:cNvPr id="3" name="Content Placeholder 2">
            <a:extLst>
              <a:ext uri="{FF2B5EF4-FFF2-40B4-BE49-F238E27FC236}">
                <a16:creationId xmlns:a16="http://schemas.microsoft.com/office/drawing/2014/main" id="{9B5E1F62-0DA8-01A3-908F-E3B0A44E4F1F}"/>
              </a:ext>
            </a:extLst>
          </p:cNvPr>
          <p:cNvSpPr>
            <a:spLocks noGrp="1"/>
          </p:cNvSpPr>
          <p:nvPr>
            <p:ph idx="1"/>
          </p:nvPr>
        </p:nvSpPr>
        <p:spPr>
          <a:xfrm>
            <a:off x="838200" y="1772992"/>
            <a:ext cx="4600977" cy="4932608"/>
          </a:xfrm>
        </p:spPr>
        <p:txBody>
          <a:bodyPr>
            <a:normAutofit/>
          </a:bodyPr>
          <a:lstStyle/>
          <a:p>
            <a:r>
              <a:rPr lang="en-GB" sz="1800" dirty="0"/>
              <a:t>XCOM – Enemy Unknown and XCOM2 Commander repelling alien invasion.</a:t>
            </a:r>
          </a:p>
          <a:p>
            <a:endParaRPr lang="en-GB" sz="1800" dirty="0"/>
          </a:p>
          <a:p>
            <a:r>
              <a:rPr lang="en-GB" sz="1800" dirty="0"/>
              <a:t>Teams of 4-6 with soldiers of different classes (Chess?)</a:t>
            </a:r>
          </a:p>
          <a:p>
            <a:endParaRPr lang="en-GB" sz="1800" dirty="0"/>
          </a:p>
          <a:p>
            <a:r>
              <a:rPr lang="en-GB" sz="1800" dirty="0"/>
              <a:t>The key to a winning outcome is the player’s ability to utilise each class effectively.</a:t>
            </a:r>
          </a:p>
          <a:p>
            <a:endParaRPr lang="en-GB" sz="1800" dirty="0"/>
          </a:p>
          <a:p>
            <a:r>
              <a:rPr lang="en-GB" sz="1800" dirty="0"/>
              <a:t>This is also a factor in Sid Meier’s Civilisation series, with added modifiers (archers are more effective when placed on hills, less so on plains or marsh)</a:t>
            </a:r>
          </a:p>
        </p:txBody>
      </p:sp>
    </p:spTree>
    <p:extLst>
      <p:ext uri="{BB962C8B-B14F-4D97-AF65-F5344CB8AC3E}">
        <p14:creationId xmlns:p14="http://schemas.microsoft.com/office/powerpoint/2010/main" val="32883304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4" name="Rectangle 13">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4C5CB0-94BB-EEAA-CC2B-E48A09583FA0}"/>
              </a:ext>
            </a:extLst>
          </p:cNvPr>
          <p:cNvSpPr>
            <a:spLocks noGrp="1"/>
          </p:cNvSpPr>
          <p:nvPr>
            <p:ph type="title"/>
          </p:nvPr>
        </p:nvSpPr>
        <p:spPr>
          <a:xfrm>
            <a:off x="761803" y="350196"/>
            <a:ext cx="4646904" cy="650690"/>
          </a:xfrm>
        </p:spPr>
        <p:txBody>
          <a:bodyPr anchor="ctr">
            <a:normAutofit/>
          </a:bodyPr>
          <a:lstStyle/>
          <a:p>
            <a:r>
              <a:rPr lang="en-GB" sz="4000" dirty="0"/>
              <a:t>Turn-Based Strategy</a:t>
            </a:r>
          </a:p>
        </p:txBody>
      </p:sp>
      <p:sp>
        <p:nvSpPr>
          <p:cNvPr id="3" name="Content Placeholder 2">
            <a:extLst>
              <a:ext uri="{FF2B5EF4-FFF2-40B4-BE49-F238E27FC236}">
                <a16:creationId xmlns:a16="http://schemas.microsoft.com/office/drawing/2014/main" id="{6EDE9281-2624-1AFD-DF2D-BC05BAA2F7E6}"/>
              </a:ext>
            </a:extLst>
          </p:cNvPr>
          <p:cNvSpPr>
            <a:spLocks noGrp="1"/>
          </p:cNvSpPr>
          <p:nvPr>
            <p:ph idx="1"/>
          </p:nvPr>
        </p:nvSpPr>
        <p:spPr>
          <a:xfrm>
            <a:off x="761802" y="1000886"/>
            <a:ext cx="4866266" cy="5355464"/>
          </a:xfrm>
        </p:spPr>
        <p:txBody>
          <a:bodyPr anchor="ctr">
            <a:normAutofit/>
          </a:bodyPr>
          <a:lstStyle/>
          <a:p>
            <a:r>
              <a:rPr lang="en-GB" sz="1800" dirty="0"/>
              <a:t>Sid Meier’s Civilisation</a:t>
            </a:r>
          </a:p>
          <a:p>
            <a:pPr lvl="1"/>
            <a:r>
              <a:rPr lang="en-GB" sz="1800" dirty="0"/>
              <a:t>Take control of an historic world leader and start to build up cities – Science, Culture, Religion, agriculture etc.</a:t>
            </a:r>
          </a:p>
          <a:p>
            <a:pPr lvl="1"/>
            <a:endParaRPr lang="en-GB" sz="1800" dirty="0"/>
          </a:p>
          <a:p>
            <a:pPr lvl="1"/>
            <a:r>
              <a:rPr lang="en-GB" sz="1800" dirty="0"/>
              <a:t>Employ different tactics: Diplomacy, trading, conflict, spies, build relationships with allies.</a:t>
            </a:r>
          </a:p>
          <a:p>
            <a:pPr lvl="1"/>
            <a:endParaRPr lang="en-GB" sz="1800" dirty="0"/>
          </a:p>
          <a:p>
            <a:pPr lvl="1"/>
            <a:r>
              <a:rPr lang="en-GB" sz="1800" dirty="0"/>
              <a:t>Core mechanics support the ability to create ‘resources’ or conditions based on player decisions that affect later game outcomes.</a:t>
            </a:r>
          </a:p>
          <a:p>
            <a:pPr lvl="1"/>
            <a:endParaRPr lang="en-GB" sz="1800" dirty="0"/>
          </a:p>
          <a:p>
            <a:pPr lvl="1"/>
            <a:r>
              <a:rPr lang="en-GB" sz="1800" dirty="0"/>
              <a:t>Strategies may need to change depending on evolving game conditions – Being the target of a war-hungry neighbour can mean a rapid switch in strategy.</a:t>
            </a:r>
          </a:p>
        </p:txBody>
      </p:sp>
      <p:pic>
        <p:nvPicPr>
          <p:cNvPr id="4" name="Picture 2" descr="Image result for civilisation game">
            <a:extLst>
              <a:ext uri="{FF2B5EF4-FFF2-40B4-BE49-F238E27FC236}">
                <a16:creationId xmlns:a16="http://schemas.microsoft.com/office/drawing/2014/main" id="{29C810C6-DF40-5496-E417-41722798C1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5602" r="24119"/>
          <a:stretch/>
        </p:blipFill>
        <p:spPr bwMode="auto">
          <a:xfrm>
            <a:off x="6096000" y="1"/>
            <a:ext cx="610282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2736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C2DE2B-3D52-65B7-035E-E48C331C8EE3}"/>
              </a:ext>
            </a:extLst>
          </p:cNvPr>
          <p:cNvSpPr>
            <a:spLocks noGrp="1"/>
          </p:cNvSpPr>
          <p:nvPr>
            <p:ph type="title"/>
          </p:nvPr>
        </p:nvSpPr>
        <p:spPr>
          <a:xfrm>
            <a:off x="838200" y="0"/>
            <a:ext cx="10515600" cy="1325563"/>
          </a:xfrm>
        </p:spPr>
        <p:txBody>
          <a:bodyPr>
            <a:normAutofit/>
          </a:bodyPr>
          <a:lstStyle/>
          <a:p>
            <a:r>
              <a:rPr lang="en-GB" sz="3200" dirty="0"/>
              <a:t>A note Sid Meier’s Civilisation… Just one more turn.</a:t>
            </a:r>
          </a:p>
        </p:txBody>
      </p:sp>
      <p:sp>
        <p:nvSpPr>
          <p:cNvPr id="3" name="Content Placeholder 2">
            <a:extLst>
              <a:ext uri="{FF2B5EF4-FFF2-40B4-BE49-F238E27FC236}">
                <a16:creationId xmlns:a16="http://schemas.microsoft.com/office/drawing/2014/main" id="{F4D163D1-865D-0F2D-8737-94139453F5D2}"/>
              </a:ext>
            </a:extLst>
          </p:cNvPr>
          <p:cNvSpPr>
            <a:spLocks noGrp="1"/>
          </p:cNvSpPr>
          <p:nvPr>
            <p:ph idx="1"/>
          </p:nvPr>
        </p:nvSpPr>
        <p:spPr>
          <a:xfrm>
            <a:off x="231194" y="1134245"/>
            <a:ext cx="7192956" cy="5435817"/>
          </a:xfrm>
        </p:spPr>
        <p:txBody>
          <a:bodyPr>
            <a:normAutofit fontScale="92500" lnSpcReduction="20000"/>
          </a:bodyPr>
          <a:lstStyle/>
          <a:p>
            <a:r>
              <a:rPr lang="en-GB" sz="1800" dirty="0"/>
              <a:t>In 1990, when Sid Meier had the idea for Civilisation, he was initially thinking of making it a Real-Time strategy game – the excitement of everything happening at once, the player being required to act quickly. But then he considered how this would play out if it were a game of Chess… </a:t>
            </a:r>
          </a:p>
          <a:p>
            <a:pPr marL="0" indent="0">
              <a:buNone/>
            </a:pPr>
            <a:endParaRPr lang="en-GB" sz="1800" dirty="0"/>
          </a:p>
          <a:p>
            <a:r>
              <a:rPr lang="en-GB" sz="1800" dirty="0"/>
              <a:t>The decision to make it Turn-Based would lead to the player actively making decisions every turn, rather than passively watching events unfold around them and then having to react to them before it was too late. In the next turn they would see the results of their decisions play out, the AI/other Player’s response.</a:t>
            </a:r>
          </a:p>
          <a:p>
            <a:pPr marL="0" indent="0">
              <a:buNone/>
            </a:pPr>
            <a:endParaRPr lang="en-GB" sz="1800" dirty="0"/>
          </a:p>
          <a:p>
            <a:r>
              <a:rPr lang="en-GB" sz="1800" dirty="0"/>
              <a:t>Another key decision was not to have the players start in an established city. They had to choose where on the map to settle their first city. Also having a ‘fog of war’ added the impetus to explore the map – there could be treasure or danger just one tile away…</a:t>
            </a:r>
          </a:p>
          <a:p>
            <a:endParaRPr lang="en-GB" sz="1800" dirty="0"/>
          </a:p>
          <a:p>
            <a:r>
              <a:rPr lang="en-GB" sz="1800" dirty="0"/>
              <a:t>Putting choices into the hands of the players creates emergent gameplay and a feeling of empowerment. Players can really feel that they are impacting the game world.</a:t>
            </a:r>
          </a:p>
          <a:p>
            <a:pPr marL="0" indent="0">
              <a:buNone/>
            </a:pPr>
            <a:endParaRPr lang="en-GB" sz="1800" dirty="0"/>
          </a:p>
          <a:p>
            <a:r>
              <a:rPr lang="en-GB" sz="1800" dirty="0"/>
              <a:t> Simple + Simple = Complex. Like Chess, the rules for how each unit/piece behaves are simple, but combined with other simple variables can lead to complex gameplay (Archer + Hill = Greater damage dealt).</a:t>
            </a:r>
          </a:p>
          <a:p>
            <a:endParaRPr lang="en-GB" sz="1800" dirty="0"/>
          </a:p>
          <a:p>
            <a:endParaRPr lang="en-GB" sz="1800" dirty="0"/>
          </a:p>
        </p:txBody>
      </p:sp>
      <p:pic>
        <p:nvPicPr>
          <p:cNvPr id="5" name="Picture 4" descr="A person wearing a crown and a crown&#10;&#10;Description automatically generated">
            <a:extLst>
              <a:ext uri="{FF2B5EF4-FFF2-40B4-BE49-F238E27FC236}">
                <a16:creationId xmlns:a16="http://schemas.microsoft.com/office/drawing/2014/main" id="{3F5AA2AF-3564-6CC4-A1F9-1BB1A6DD19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57190" y="1325564"/>
            <a:ext cx="4574706" cy="2526590"/>
          </a:xfrm>
          <a:prstGeom prst="rect">
            <a:avLst/>
          </a:prstGeom>
        </p:spPr>
      </p:pic>
      <p:sp>
        <p:nvSpPr>
          <p:cNvPr id="6" name="Rectangle 5">
            <a:extLst>
              <a:ext uri="{FF2B5EF4-FFF2-40B4-BE49-F238E27FC236}">
                <a16:creationId xmlns:a16="http://schemas.microsoft.com/office/drawing/2014/main" id="{CE3AAB39-40B4-20C0-FB3D-9A4F0D5C50E5}"/>
              </a:ext>
            </a:extLst>
          </p:cNvPr>
          <p:cNvSpPr/>
          <p:nvPr/>
        </p:nvSpPr>
        <p:spPr>
          <a:xfrm>
            <a:off x="7557190" y="4077836"/>
            <a:ext cx="4574706" cy="216343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600" dirty="0"/>
              <a:t>Sid Meier’s Civilisation VI – Eleanor of Aquitaine.</a:t>
            </a:r>
          </a:p>
          <a:p>
            <a:r>
              <a:rPr lang="en-GB" sz="1400" dirty="0"/>
              <a:t>Eleanor of England and France, has a fun ability in </a:t>
            </a:r>
            <a:r>
              <a:rPr lang="en-GB" sz="1400" dirty="0" err="1"/>
              <a:t>Civ</a:t>
            </a:r>
            <a:r>
              <a:rPr lang="en-GB" sz="1400" dirty="0"/>
              <a:t> VI, ‘The Court of Love’ which plays with the loyalty mechanic in the game. Loyalty is tied to the happiness of your citizens-  you fail to keep them happy then they will rebel and cede from your Empire. However, if you’re near Eleanor and she has accumulated a great number of works of art, she can start to affect the loyalty of nearby happy cities until they just flip over to her without rebelling. Eleanor can conquer the World without ever going to war!</a:t>
            </a:r>
          </a:p>
        </p:txBody>
      </p:sp>
    </p:spTree>
    <p:extLst>
      <p:ext uri="{BB962C8B-B14F-4D97-AF65-F5344CB8AC3E}">
        <p14:creationId xmlns:p14="http://schemas.microsoft.com/office/powerpoint/2010/main" val="38361677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A30F4-A72A-811F-F677-6A82EC447384}"/>
              </a:ext>
            </a:extLst>
          </p:cNvPr>
          <p:cNvSpPr>
            <a:spLocks noGrp="1"/>
          </p:cNvSpPr>
          <p:nvPr>
            <p:ph type="title"/>
          </p:nvPr>
        </p:nvSpPr>
        <p:spPr>
          <a:xfrm>
            <a:off x="838200" y="365125"/>
            <a:ext cx="10515600" cy="811145"/>
          </a:xfrm>
        </p:spPr>
        <p:txBody>
          <a:bodyPr/>
          <a:lstStyle/>
          <a:p>
            <a:r>
              <a:rPr lang="en-GB" dirty="0"/>
              <a:t>Real-Time Strategy (RTS)</a:t>
            </a:r>
          </a:p>
        </p:txBody>
      </p:sp>
      <p:sp>
        <p:nvSpPr>
          <p:cNvPr id="3" name="Content Placeholder 2">
            <a:extLst>
              <a:ext uri="{FF2B5EF4-FFF2-40B4-BE49-F238E27FC236}">
                <a16:creationId xmlns:a16="http://schemas.microsoft.com/office/drawing/2014/main" id="{87F98EA1-6429-9DE4-CD31-05001706ED91}"/>
              </a:ext>
            </a:extLst>
          </p:cNvPr>
          <p:cNvSpPr>
            <a:spLocks noGrp="1"/>
          </p:cNvSpPr>
          <p:nvPr>
            <p:ph idx="1"/>
          </p:nvPr>
        </p:nvSpPr>
        <p:spPr>
          <a:xfrm>
            <a:off x="838200" y="1893194"/>
            <a:ext cx="10782837" cy="3816440"/>
          </a:xfrm>
        </p:spPr>
        <p:txBody>
          <a:bodyPr>
            <a:normAutofit/>
          </a:bodyPr>
          <a:lstStyle/>
          <a:p>
            <a:r>
              <a:rPr lang="en-GB" sz="1800" dirty="0"/>
              <a:t>Real-Time Strategy: Continuous gameplay.</a:t>
            </a:r>
          </a:p>
          <a:p>
            <a:endParaRPr lang="en-GB" sz="1800" dirty="0"/>
          </a:p>
          <a:p>
            <a:r>
              <a:rPr lang="en-GB" sz="1800" dirty="0"/>
              <a:t>Typically, an RTS involves the player manipulating units, creating/destroying structures, accumulating resources.</a:t>
            </a:r>
          </a:p>
          <a:p>
            <a:endParaRPr lang="en-GB" sz="1800" dirty="0"/>
          </a:p>
          <a:p>
            <a:r>
              <a:rPr lang="en-GB" sz="1800" dirty="0"/>
              <a:t>Resources are acquired by securing and keeping key points on a map with specialised until types.</a:t>
            </a:r>
          </a:p>
          <a:p>
            <a:endParaRPr lang="en-GB" sz="1800" dirty="0"/>
          </a:p>
          <a:p>
            <a:r>
              <a:rPr lang="en-GB" sz="1800" dirty="0"/>
              <a:t>A key difference is that an RTS are usually more intensive in comparison to Turn-Based Strategy. RTS games test dexterity and perception as well as strategic thinking to plan and execute actions to achieve goals.</a:t>
            </a:r>
          </a:p>
          <a:p>
            <a:endParaRPr lang="en-GB" sz="1800" dirty="0"/>
          </a:p>
          <a:p>
            <a:r>
              <a:rPr lang="en-GB" sz="1800" dirty="0"/>
              <a:t>Sub-genre has evolved over many years into what we would consider RTS today…</a:t>
            </a:r>
          </a:p>
        </p:txBody>
      </p:sp>
    </p:spTree>
    <p:extLst>
      <p:ext uri="{BB962C8B-B14F-4D97-AF65-F5344CB8AC3E}">
        <p14:creationId xmlns:p14="http://schemas.microsoft.com/office/powerpoint/2010/main" val="22124135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FF0F3-2598-7C29-C0A6-80A193ED795A}"/>
              </a:ext>
            </a:extLst>
          </p:cNvPr>
          <p:cNvSpPr>
            <a:spLocks noGrp="1"/>
          </p:cNvSpPr>
          <p:nvPr>
            <p:ph type="title"/>
          </p:nvPr>
        </p:nvSpPr>
        <p:spPr>
          <a:xfrm>
            <a:off x="838200" y="178801"/>
            <a:ext cx="10515600" cy="866954"/>
          </a:xfrm>
        </p:spPr>
        <p:txBody>
          <a:bodyPr/>
          <a:lstStyle/>
          <a:p>
            <a:r>
              <a:rPr lang="en-GB" dirty="0"/>
              <a:t>Real-Time Strategy (RTS)</a:t>
            </a:r>
          </a:p>
        </p:txBody>
      </p:sp>
      <p:sp>
        <p:nvSpPr>
          <p:cNvPr id="3" name="Content Placeholder 2">
            <a:extLst>
              <a:ext uri="{FF2B5EF4-FFF2-40B4-BE49-F238E27FC236}">
                <a16:creationId xmlns:a16="http://schemas.microsoft.com/office/drawing/2014/main" id="{42AF952E-A57A-3630-CA32-262CD3AD88CE}"/>
              </a:ext>
            </a:extLst>
          </p:cNvPr>
          <p:cNvSpPr>
            <a:spLocks noGrp="1"/>
          </p:cNvSpPr>
          <p:nvPr>
            <p:ph idx="1"/>
          </p:nvPr>
        </p:nvSpPr>
        <p:spPr>
          <a:xfrm>
            <a:off x="838200" y="1086776"/>
            <a:ext cx="5734318" cy="5447119"/>
          </a:xfrm>
        </p:spPr>
        <p:txBody>
          <a:bodyPr/>
          <a:lstStyle/>
          <a:p>
            <a:r>
              <a:rPr lang="en-GB" sz="2000" b="1" dirty="0"/>
              <a:t>Evolution of RTS</a:t>
            </a:r>
          </a:p>
          <a:p>
            <a:pPr marL="0" indent="0">
              <a:buNone/>
            </a:pPr>
            <a:endParaRPr lang="en-GB" sz="2000" b="1" dirty="0"/>
          </a:p>
          <a:p>
            <a:pPr lvl="1"/>
            <a:r>
              <a:rPr lang="en-GB" sz="1800" dirty="0"/>
              <a:t>“Utopia” (1981) – Considered as the first city building game and potentially the first RTS. Developed by Don </a:t>
            </a:r>
            <a:r>
              <a:rPr lang="en-GB" sz="1800" dirty="0" err="1"/>
              <a:t>Daglow</a:t>
            </a:r>
            <a:r>
              <a:rPr lang="en-GB" sz="1800" dirty="0"/>
              <a:t>.</a:t>
            </a:r>
          </a:p>
          <a:p>
            <a:pPr marL="457200" lvl="1" indent="0">
              <a:buNone/>
            </a:pPr>
            <a:endParaRPr lang="en-GB" sz="1800" dirty="0"/>
          </a:p>
          <a:p>
            <a:pPr lvl="1"/>
            <a:r>
              <a:rPr lang="en-GB" sz="1800" dirty="0"/>
              <a:t>“Stonkers” (1983) by John Gibson for the ZX Spectrum. The player takes control of infantry, tanks, artillery and supply truck units. Combat units consume supplies over time and the player must use supply units to replenish them.</a:t>
            </a:r>
          </a:p>
          <a:p>
            <a:pPr lvl="1"/>
            <a:endParaRPr lang="en-GB" sz="1800" dirty="0"/>
          </a:p>
          <a:p>
            <a:pPr lvl="1"/>
            <a:r>
              <a:rPr lang="en-GB" sz="1800" dirty="0"/>
              <a:t>“Supremacy: Your Will be Done” (released as “Overlord” in USA)” (1990) – Released on Atari ST and Amiga, later MS-DOS, Commodore 64, and became one of the last titles for the NES. The player must build up and protect several planetary colonies through resources and economic systems.</a:t>
            </a:r>
          </a:p>
        </p:txBody>
      </p:sp>
      <p:pic>
        <p:nvPicPr>
          <p:cNvPr id="4" name="Picture 2" descr="Image result for utopia game 1981">
            <a:extLst>
              <a:ext uri="{FF2B5EF4-FFF2-40B4-BE49-F238E27FC236}">
                <a16:creationId xmlns:a16="http://schemas.microsoft.com/office/drawing/2014/main" id="{FF3839A0-589B-F5B7-6002-6E9F9F0DEF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90093" y="1086776"/>
            <a:ext cx="3437675" cy="257825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Image result for zx spectrum stonkers">
            <a:extLst>
              <a:ext uri="{FF2B5EF4-FFF2-40B4-BE49-F238E27FC236}">
                <a16:creationId xmlns:a16="http://schemas.microsoft.com/office/drawing/2014/main" id="{B72A82B2-F7EC-9422-E43D-69D7C81D4A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96899" y="3262026"/>
            <a:ext cx="3461737" cy="259630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Image result for overlord 1990 game">
            <a:extLst>
              <a:ext uri="{FF2B5EF4-FFF2-40B4-BE49-F238E27FC236}">
                <a16:creationId xmlns:a16="http://schemas.microsoft.com/office/drawing/2014/main" id="{D044E35D-A0AF-01B6-2580-056C1B4A74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90093" y="4560178"/>
            <a:ext cx="3508831" cy="19737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9490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708C0-5EBD-CB74-6645-579C799D57A5}"/>
              </a:ext>
            </a:extLst>
          </p:cNvPr>
          <p:cNvSpPr>
            <a:spLocks noGrp="1"/>
          </p:cNvSpPr>
          <p:nvPr>
            <p:ph type="title"/>
          </p:nvPr>
        </p:nvSpPr>
        <p:spPr>
          <a:xfrm>
            <a:off x="838200" y="365126"/>
            <a:ext cx="10515600" cy="793974"/>
          </a:xfrm>
        </p:spPr>
        <p:txBody>
          <a:bodyPr/>
          <a:lstStyle/>
          <a:p>
            <a:r>
              <a:rPr lang="en-GB" dirty="0"/>
              <a:t>Real-Time Strategy (RTS)</a:t>
            </a:r>
          </a:p>
        </p:txBody>
      </p:sp>
      <p:sp>
        <p:nvSpPr>
          <p:cNvPr id="3" name="Content Placeholder 2">
            <a:extLst>
              <a:ext uri="{FF2B5EF4-FFF2-40B4-BE49-F238E27FC236}">
                <a16:creationId xmlns:a16="http://schemas.microsoft.com/office/drawing/2014/main" id="{1810C7A4-DA00-59FF-1E65-34444BE06E51}"/>
              </a:ext>
            </a:extLst>
          </p:cNvPr>
          <p:cNvSpPr>
            <a:spLocks noGrp="1"/>
          </p:cNvSpPr>
          <p:nvPr>
            <p:ph idx="1"/>
          </p:nvPr>
        </p:nvSpPr>
        <p:spPr>
          <a:xfrm>
            <a:off x="838200" y="1197735"/>
            <a:ext cx="6575738" cy="4979228"/>
          </a:xfrm>
        </p:spPr>
        <p:txBody>
          <a:bodyPr>
            <a:normAutofit/>
          </a:bodyPr>
          <a:lstStyle/>
          <a:p>
            <a:r>
              <a:rPr lang="en-GB" sz="2000" b="1" dirty="0"/>
              <a:t>Key genre-defining titles:</a:t>
            </a:r>
          </a:p>
          <a:p>
            <a:endParaRPr lang="en-GB" sz="2000" b="1" dirty="0"/>
          </a:p>
          <a:p>
            <a:r>
              <a:rPr lang="en-GB" sz="1800" b="1" dirty="0"/>
              <a:t>Dune II </a:t>
            </a:r>
            <a:r>
              <a:rPr lang="en-GB" sz="1800" dirty="0"/>
              <a:t>(1992) </a:t>
            </a:r>
            <a:r>
              <a:rPr lang="en-GB" sz="1800" b="1" dirty="0"/>
              <a:t>– </a:t>
            </a:r>
            <a:r>
              <a:rPr lang="en-GB" sz="1800" dirty="0"/>
              <a:t>First use of the term RTS in the marketing, and first RTS game to use the mouse to position units – now a key feature of the genre.</a:t>
            </a:r>
          </a:p>
          <a:p>
            <a:endParaRPr lang="en-GB" sz="1800" b="1" dirty="0"/>
          </a:p>
          <a:p>
            <a:r>
              <a:rPr lang="en-GB" sz="1800" b="1" dirty="0"/>
              <a:t>Warcraft: Orcs and Humans </a:t>
            </a:r>
            <a:r>
              <a:rPr lang="en-GB" sz="1800" dirty="0"/>
              <a:t>(1994) – Introduces mission types such as conquering rebels, rebuilding towns, and rescuing friendly forces.</a:t>
            </a:r>
          </a:p>
          <a:p>
            <a:endParaRPr lang="en-GB" sz="1800" b="1" dirty="0"/>
          </a:p>
          <a:p>
            <a:r>
              <a:rPr lang="en-GB" sz="1800" b="1" dirty="0"/>
              <a:t>Total Annihilation </a:t>
            </a:r>
            <a:r>
              <a:rPr lang="en-GB" sz="1800" dirty="0"/>
              <a:t>(1997) – Used 3D terrain systems, macro-scale unit management during battles.</a:t>
            </a:r>
            <a:endParaRPr lang="en-GB" sz="1800" b="1" dirty="0"/>
          </a:p>
        </p:txBody>
      </p:sp>
      <p:pic>
        <p:nvPicPr>
          <p:cNvPr id="4" name="Picture 2" descr="Image result for Dune II">
            <a:extLst>
              <a:ext uri="{FF2B5EF4-FFF2-40B4-BE49-F238E27FC236}">
                <a16:creationId xmlns:a16="http://schemas.microsoft.com/office/drawing/2014/main" id="{DA92304B-94B4-34A8-9325-8E5A8C79E3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63640" y="1125417"/>
            <a:ext cx="3710740" cy="232764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Image result for Warcraft: Orcs and Humans">
            <a:extLst>
              <a:ext uri="{FF2B5EF4-FFF2-40B4-BE49-F238E27FC236}">
                <a16:creationId xmlns:a16="http://schemas.microsoft.com/office/drawing/2014/main" id="{FFA96565-0EAF-64E7-37B3-144BF752C5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5727" y="3565358"/>
            <a:ext cx="4366566" cy="27291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19863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D11D75-4B3C-C3D0-D33B-9F22B6D73B9C}"/>
              </a:ext>
            </a:extLst>
          </p:cNvPr>
          <p:cNvSpPr>
            <a:spLocks noGrp="1"/>
          </p:cNvSpPr>
          <p:nvPr>
            <p:ph type="title"/>
          </p:nvPr>
        </p:nvSpPr>
        <p:spPr>
          <a:xfrm>
            <a:off x="761799" y="156519"/>
            <a:ext cx="5334197" cy="719069"/>
          </a:xfrm>
        </p:spPr>
        <p:txBody>
          <a:bodyPr anchor="ctr">
            <a:normAutofit/>
          </a:bodyPr>
          <a:lstStyle/>
          <a:p>
            <a:r>
              <a:rPr lang="en-GB" sz="4000" dirty="0"/>
              <a:t>Real-Time Strategy (RTS)</a:t>
            </a:r>
          </a:p>
        </p:txBody>
      </p:sp>
      <p:sp>
        <p:nvSpPr>
          <p:cNvPr id="3" name="Content Placeholder 2">
            <a:extLst>
              <a:ext uri="{FF2B5EF4-FFF2-40B4-BE49-F238E27FC236}">
                <a16:creationId xmlns:a16="http://schemas.microsoft.com/office/drawing/2014/main" id="{EDEDCDE5-4291-2B67-86CE-38A608655CEC}"/>
              </a:ext>
            </a:extLst>
          </p:cNvPr>
          <p:cNvSpPr>
            <a:spLocks noGrp="1"/>
          </p:cNvSpPr>
          <p:nvPr>
            <p:ph idx="1"/>
          </p:nvPr>
        </p:nvSpPr>
        <p:spPr>
          <a:xfrm>
            <a:off x="761800" y="940158"/>
            <a:ext cx="5334197" cy="5299921"/>
          </a:xfrm>
        </p:spPr>
        <p:txBody>
          <a:bodyPr anchor="ctr">
            <a:normAutofit/>
          </a:bodyPr>
          <a:lstStyle/>
          <a:p>
            <a:r>
              <a:rPr lang="en-GB" sz="1800" dirty="0"/>
              <a:t>Refinement/ transition to 3D…</a:t>
            </a:r>
          </a:p>
          <a:p>
            <a:endParaRPr lang="en-GB" sz="1800" dirty="0"/>
          </a:p>
          <a:p>
            <a:pPr lvl="1"/>
            <a:r>
              <a:rPr lang="en-GB" sz="1800" dirty="0"/>
              <a:t>Homeworld (1999) – Space-based rather than on a planet. Gather resources to build a fleet to destroy enemy ships and complete missions.</a:t>
            </a:r>
          </a:p>
          <a:p>
            <a:pPr lvl="1"/>
            <a:endParaRPr lang="en-GB" sz="1800" dirty="0"/>
          </a:p>
          <a:p>
            <a:pPr lvl="1"/>
            <a:r>
              <a:rPr lang="en-GB" sz="1800" dirty="0"/>
              <a:t>Homeworld: Cataclysm (2000) – Builds on the original by introducing the ability to speed up time (a feature still used in RTS games, such as “Crusader Kings 3”, as well as ship upgrades, and more advanced animations.</a:t>
            </a:r>
          </a:p>
          <a:p>
            <a:pPr lvl="1"/>
            <a:endParaRPr lang="en-GB" sz="1800" dirty="0"/>
          </a:p>
          <a:p>
            <a:pPr lvl="1"/>
            <a:r>
              <a:rPr lang="en-GB" sz="1800" dirty="0"/>
              <a:t>Around 2002, 3D became standard for RTS games – Warcraft III (2002) and Age of Mythology (2002) are key examples of this shift.</a:t>
            </a:r>
          </a:p>
          <a:p>
            <a:pPr lvl="1"/>
            <a:endParaRPr lang="en-GB" sz="1800" dirty="0"/>
          </a:p>
          <a:p>
            <a:pPr lvl="1"/>
            <a:r>
              <a:rPr lang="en-GB" sz="1800" dirty="0"/>
              <a:t>Other directions – MOBA. </a:t>
            </a:r>
          </a:p>
        </p:txBody>
      </p:sp>
      <p:pic>
        <p:nvPicPr>
          <p:cNvPr id="4" name="Picture 2" descr="Image result for homeworld 1999">
            <a:extLst>
              <a:ext uri="{FF2B5EF4-FFF2-40B4-BE49-F238E27FC236}">
                <a16:creationId xmlns:a16="http://schemas.microsoft.com/office/drawing/2014/main" id="{68AFE13A-E905-F203-EBE3-BCDD8FBB75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0730" r="21026" b="-1"/>
          <a:stretch/>
        </p:blipFill>
        <p:spPr bwMode="auto">
          <a:xfrm>
            <a:off x="6857797" y="-10886"/>
            <a:ext cx="5334204" cy="6868886"/>
          </a:xfrm>
          <a:prstGeom prst="rect">
            <a:avLst/>
          </a:prstGeom>
          <a:noFill/>
          <a:effectLst>
            <a:outerShdw blurRad="127000" dist="50800" dir="10800000" sx="99000" sy="99000" algn="r"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9550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C7FEF-B312-8AAA-A3C3-38BDF0DB8A71}"/>
              </a:ext>
            </a:extLst>
          </p:cNvPr>
          <p:cNvSpPr>
            <a:spLocks noGrp="1"/>
          </p:cNvSpPr>
          <p:nvPr>
            <p:ph type="title"/>
          </p:nvPr>
        </p:nvSpPr>
        <p:spPr>
          <a:xfrm>
            <a:off x="838200" y="365126"/>
            <a:ext cx="10515600" cy="776802"/>
          </a:xfrm>
        </p:spPr>
        <p:txBody>
          <a:bodyPr/>
          <a:lstStyle/>
          <a:p>
            <a:r>
              <a:rPr lang="en-GB" dirty="0"/>
              <a:t>RTS Gameplay</a:t>
            </a:r>
          </a:p>
        </p:txBody>
      </p:sp>
      <p:sp>
        <p:nvSpPr>
          <p:cNvPr id="3" name="Content Placeholder 2">
            <a:extLst>
              <a:ext uri="{FF2B5EF4-FFF2-40B4-BE49-F238E27FC236}">
                <a16:creationId xmlns:a16="http://schemas.microsoft.com/office/drawing/2014/main" id="{0A2604EF-9DA0-CAFB-A165-FD1228F3E043}"/>
              </a:ext>
            </a:extLst>
          </p:cNvPr>
          <p:cNvSpPr>
            <a:spLocks noGrp="1"/>
          </p:cNvSpPr>
          <p:nvPr>
            <p:ph idx="1"/>
          </p:nvPr>
        </p:nvSpPr>
        <p:spPr>
          <a:xfrm>
            <a:off x="838200" y="1270715"/>
            <a:ext cx="10515600" cy="4906248"/>
          </a:xfrm>
        </p:spPr>
        <p:txBody>
          <a:bodyPr/>
          <a:lstStyle/>
          <a:p>
            <a:r>
              <a:rPr lang="en-GB" sz="2000" dirty="0"/>
              <a:t>Gameplay…</a:t>
            </a:r>
          </a:p>
          <a:p>
            <a:pPr lvl="1"/>
            <a:endParaRPr lang="en-GB" dirty="0"/>
          </a:p>
          <a:p>
            <a:pPr lvl="1"/>
            <a:r>
              <a:rPr lang="en-GB" sz="1800" dirty="0"/>
              <a:t>Gameplay set-up generally consists of the player being positioned somewhere on the map with a few units or a building that can build other units/buildings (this can also be a feature of Turn-Based games)</a:t>
            </a:r>
          </a:p>
          <a:p>
            <a:pPr lvl="1"/>
            <a:endParaRPr lang="en-GB" sz="1800" dirty="0"/>
          </a:p>
          <a:p>
            <a:pPr lvl="1"/>
            <a:r>
              <a:rPr lang="en-GB" sz="1800" dirty="0"/>
              <a:t>The player may have to build certain structures to unlock more advanced unit types in the Tech Tree. RTS games also require the player to build up an army (can be small squads of two to hundreds of units) and use them to either defend themselves from enemies or go on the offensive and eliminate enemies with unit-producing facilities.</a:t>
            </a:r>
          </a:p>
          <a:p>
            <a:pPr lvl="1"/>
            <a:endParaRPr lang="en-GB" sz="1800" dirty="0"/>
          </a:p>
          <a:p>
            <a:pPr lvl="1"/>
            <a:r>
              <a:rPr lang="en-GB" sz="1800" dirty="0"/>
              <a:t>RTS games can feature a pre-set number of units that the player can control and not allow the building of additional ones. Some games can cap the number of units produced and used simultaneously, which can become an important consideration. </a:t>
            </a:r>
          </a:p>
          <a:p>
            <a:pPr lvl="1"/>
            <a:endParaRPr lang="en-GB" sz="1800" dirty="0"/>
          </a:p>
          <a:p>
            <a:pPr lvl="1"/>
            <a:r>
              <a:rPr lang="en-GB" sz="1800" dirty="0"/>
              <a:t>Resource gathering is a key focus of the RTS game, but other titles in the genre place greater gameplay significance on how units are used in combat, particularly those in the RTT sub-genre.</a:t>
            </a:r>
          </a:p>
        </p:txBody>
      </p:sp>
    </p:spTree>
    <p:extLst>
      <p:ext uri="{BB962C8B-B14F-4D97-AF65-F5344CB8AC3E}">
        <p14:creationId xmlns:p14="http://schemas.microsoft.com/office/powerpoint/2010/main" val="2683461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video game&#10;&#10;Description automatically generated">
            <a:extLst>
              <a:ext uri="{FF2B5EF4-FFF2-40B4-BE49-F238E27FC236}">
                <a16:creationId xmlns:a16="http://schemas.microsoft.com/office/drawing/2014/main" id="{9B93015C-A372-83AE-F443-0095E46EFE52}"/>
              </a:ext>
            </a:extLst>
          </p:cNvPr>
          <p:cNvPicPr>
            <a:picLocks noChangeAspect="1"/>
          </p:cNvPicPr>
          <p:nvPr/>
        </p:nvPicPr>
        <p:blipFill>
          <a:blip r:embed="rId2">
            <a:extLst>
              <a:ext uri="{28A0092B-C50C-407E-A947-70E740481C1C}">
                <a14:useLocalDpi xmlns:a14="http://schemas.microsoft.com/office/drawing/2010/main" val="0"/>
              </a:ext>
            </a:extLst>
          </a:blip>
          <a:srcRect l="4291" r="16398"/>
          <a:stretch/>
        </p:blipFill>
        <p:spPr>
          <a:xfrm>
            <a:off x="2522356" y="10"/>
            <a:ext cx="9669642" cy="6857990"/>
          </a:xfrm>
          <a:prstGeom prst="rect">
            <a:avLst/>
          </a:prstGeom>
        </p:spPr>
      </p:pic>
      <p:sp>
        <p:nvSpPr>
          <p:cNvPr id="12" name="Rectangle 11">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C1C7FEF-B312-8AAA-A3C3-38BDF0DB8A71}"/>
              </a:ext>
            </a:extLst>
          </p:cNvPr>
          <p:cNvSpPr>
            <a:spLocks noGrp="1"/>
          </p:cNvSpPr>
          <p:nvPr>
            <p:ph type="title"/>
          </p:nvPr>
        </p:nvSpPr>
        <p:spPr>
          <a:xfrm>
            <a:off x="838200" y="365125"/>
            <a:ext cx="3822189" cy="600790"/>
          </a:xfrm>
        </p:spPr>
        <p:txBody>
          <a:bodyPr>
            <a:normAutofit fontScale="90000"/>
          </a:bodyPr>
          <a:lstStyle/>
          <a:p>
            <a:r>
              <a:rPr lang="en-GB" sz="4000" dirty="0"/>
              <a:t>RTS Gameplay</a:t>
            </a:r>
          </a:p>
        </p:txBody>
      </p:sp>
      <p:sp>
        <p:nvSpPr>
          <p:cNvPr id="3" name="Content Placeholder 2">
            <a:extLst>
              <a:ext uri="{FF2B5EF4-FFF2-40B4-BE49-F238E27FC236}">
                <a16:creationId xmlns:a16="http://schemas.microsoft.com/office/drawing/2014/main" id="{0A2604EF-9DA0-CAFB-A165-FD1228F3E043}"/>
              </a:ext>
            </a:extLst>
          </p:cNvPr>
          <p:cNvSpPr>
            <a:spLocks noGrp="1"/>
          </p:cNvSpPr>
          <p:nvPr>
            <p:ph idx="1"/>
          </p:nvPr>
        </p:nvSpPr>
        <p:spPr>
          <a:xfrm>
            <a:off x="838200" y="1086118"/>
            <a:ext cx="4832797" cy="5559381"/>
          </a:xfrm>
        </p:spPr>
        <p:txBody>
          <a:bodyPr>
            <a:normAutofit/>
          </a:bodyPr>
          <a:lstStyle/>
          <a:p>
            <a:r>
              <a:rPr lang="en-GB" sz="1800" dirty="0"/>
              <a:t>Gameplay has evolved to be more focused on tactics. Early games were more focused on combat/action, while more recent games have placed a larger significance on resource management.</a:t>
            </a:r>
          </a:p>
          <a:p>
            <a:endParaRPr lang="en-GB" sz="1100" dirty="0"/>
          </a:p>
          <a:p>
            <a:r>
              <a:rPr lang="en-GB" sz="1800" dirty="0"/>
              <a:t>Real-Time Tactics (RTT)</a:t>
            </a:r>
          </a:p>
          <a:p>
            <a:pPr lvl="1"/>
            <a:endParaRPr lang="en-GB" sz="1100" dirty="0"/>
          </a:p>
          <a:p>
            <a:pPr lvl="1"/>
            <a:r>
              <a:rPr lang="en-GB" sz="1800" dirty="0"/>
              <a:t>Some games use the Real-Time Tactics model (RTT), shifting towards tactics over resource management. There is less emphasis on designating units to harvest resources necessary to build more units and buildings. “Warhammer 40,000: Dawn of War” (2004), “Star Wars: Empire at War” (2006), and “Company of Heroes” (2006) use strategic control points, rather than resource gathering. Having control over strategic points yields construction/ reinforcement points.</a:t>
            </a:r>
          </a:p>
        </p:txBody>
      </p:sp>
    </p:spTree>
    <p:extLst>
      <p:ext uri="{BB962C8B-B14F-4D97-AF65-F5344CB8AC3E}">
        <p14:creationId xmlns:p14="http://schemas.microsoft.com/office/powerpoint/2010/main" val="2943008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29AF8C"/>
      </a:accent1>
      <a:accent2>
        <a:srgbClr val="97BE49"/>
      </a:accent2>
      <a:accent3>
        <a:srgbClr val="3D9CCC"/>
      </a:accent3>
      <a:accent4>
        <a:srgbClr val="7C60C6"/>
      </a:accent4>
      <a:accent5>
        <a:srgbClr val="C9492C"/>
      </a:accent5>
      <a:accent6>
        <a:srgbClr val="D58C2E"/>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3E4F19A7-A959-40BB-972C-4880BAF8EB09}"/>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02D8284A6935C41B217E74C29BA72AC" ma:contentTypeVersion="17" ma:contentTypeDescription="Create a new document." ma:contentTypeScope="" ma:versionID="b506c8bf27691706ce5760f60f4c60b4">
  <xsd:schema xmlns:xsd="http://www.w3.org/2001/XMLSchema" xmlns:xs="http://www.w3.org/2001/XMLSchema" xmlns:p="http://schemas.microsoft.com/office/2006/metadata/properties" xmlns:ns3="678acae0-4037-4b06-82a7-90fe5953695e" xmlns:ns4="7f849e40-2902-4788-90b3-4bbd61327341" targetNamespace="http://schemas.microsoft.com/office/2006/metadata/properties" ma:root="true" ma:fieldsID="f9f61084aad5f60074d7225d5b339cb6" ns3:_="" ns4:_="">
    <xsd:import namespace="678acae0-4037-4b06-82a7-90fe5953695e"/>
    <xsd:import namespace="7f849e40-2902-4788-90b3-4bbd61327341"/>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GenerationTime" minOccurs="0"/>
                <xsd:element ref="ns4:MediaServiceEventHashCode" minOccurs="0"/>
                <xsd:element ref="ns4:MediaServiceAutoKeyPoints" minOccurs="0"/>
                <xsd:element ref="ns4:MediaServiceKeyPoints" minOccurs="0"/>
                <xsd:element ref="ns4:_activity" minOccurs="0"/>
                <xsd:element ref="ns4:MediaServiceDateTaken" minOccurs="0"/>
                <xsd:element ref="ns4:MediaLengthInSeconds" minOccurs="0"/>
                <xsd:element ref="ns4:MediaServiceObjectDetectorVersions" minOccurs="0"/>
                <xsd:element ref="ns4:MediaServiceSystemTags" minOccurs="0"/>
                <xsd:element ref="ns4: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8acae0-4037-4b06-82a7-90fe5953695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f849e40-2902-4788-90b3-4bbd61327341"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activity" ma:index="19" nillable="true" ma:displayName="_activity" ma:hidden="true" ma:internalName="_activity">
      <xsd:simpleType>
        <xsd:restriction base="dms:Note"/>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7f849e40-2902-4788-90b3-4bbd61327341" xsi:nil="true"/>
  </documentManagement>
</p:properties>
</file>

<file path=customXml/itemProps1.xml><?xml version="1.0" encoding="utf-8"?>
<ds:datastoreItem xmlns:ds="http://schemas.openxmlformats.org/officeDocument/2006/customXml" ds:itemID="{F65B0820-C4F0-4074-9491-D892C863E5A1}">
  <ds:schemaRefs>
    <ds:schemaRef ds:uri="http://schemas.microsoft.com/sharepoint/v3/contenttype/forms"/>
  </ds:schemaRefs>
</ds:datastoreItem>
</file>

<file path=customXml/itemProps2.xml><?xml version="1.0" encoding="utf-8"?>
<ds:datastoreItem xmlns:ds="http://schemas.openxmlformats.org/officeDocument/2006/customXml" ds:itemID="{2985C755-F11E-4770-918B-7AE7DBD7213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8acae0-4037-4b06-82a7-90fe5953695e"/>
    <ds:schemaRef ds:uri="7f849e40-2902-4788-90b3-4bbd613273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0800E8E-BC16-40AB-9815-56F68CE227D2}">
  <ds:schemaRefs>
    <ds:schemaRef ds:uri="http://purl.org/dc/terms/"/>
    <ds:schemaRef ds:uri="7f849e40-2902-4788-90b3-4bbd61327341"/>
    <ds:schemaRef ds:uri="http://www.w3.org/XML/1998/namespace"/>
    <ds:schemaRef ds:uri="http://schemas.microsoft.com/office/2006/metadata/properties"/>
    <ds:schemaRef ds:uri="http://schemas.microsoft.com/office/2006/documentManagement/types"/>
    <ds:schemaRef ds:uri="http://schemas.openxmlformats.org/package/2006/metadata/core-properties"/>
    <ds:schemaRef ds:uri="http://schemas.microsoft.com/office/infopath/2007/PartnerControls"/>
    <ds:schemaRef ds:uri="678acae0-4037-4b06-82a7-90fe5953695e"/>
    <ds:schemaRef ds:uri="http://purl.org/dc/dcmityp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Office Theme</Template>
  <TotalTime>283</TotalTime>
  <Words>1830</Words>
  <Application>Microsoft Office PowerPoint</Application>
  <PresentationFormat>Widescreen</PresentationFormat>
  <Paragraphs>133</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BSc Hons Game Design and Development</vt:lpstr>
      <vt:lpstr>Strategy Games – Overview:</vt:lpstr>
      <vt:lpstr>Strategy Games: History</vt:lpstr>
      <vt:lpstr>General Properties of Strategy Games</vt:lpstr>
      <vt:lpstr>Turn-Based Strategy</vt:lpstr>
      <vt:lpstr>Turn-Based Strategy</vt:lpstr>
      <vt:lpstr>Turn-Based Strategy</vt:lpstr>
      <vt:lpstr>Turn-Based Strategy</vt:lpstr>
      <vt:lpstr>A note Sid Meier’s Civilisation… Just one more turn.</vt:lpstr>
      <vt:lpstr>Real-Time Strategy (RTS)</vt:lpstr>
      <vt:lpstr>Real-Time Strategy (RTS)</vt:lpstr>
      <vt:lpstr>Real-Time Strategy (RTS)</vt:lpstr>
      <vt:lpstr>Real-Time Strategy (RTS)</vt:lpstr>
      <vt:lpstr>RTS Gameplay</vt:lpstr>
      <vt:lpstr>RTS Gameplay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BSc Hons Game Design and Development</dc:title>
  <dc:creator>Smith, Ian</dc:creator>
  <cp:lastModifiedBy>Smith, Ian</cp:lastModifiedBy>
  <cp:revision>10</cp:revision>
  <dcterms:created xsi:type="dcterms:W3CDTF">2024-12-02T13:33:01Z</dcterms:created>
  <dcterms:modified xsi:type="dcterms:W3CDTF">2024-12-06T12:57:18Z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0x010100102D8284A6935C41B217E74C29BA72AC</vt:lpwstr>
  </property>
</Properties>
</file>