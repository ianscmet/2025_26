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4"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6" r:id="rId20"/>
    <p:sldId id="274" r:id="rId21"/>
    <p:sldId id="27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76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D0FFF3-C207-468C-B3EE-481E000E0531}" type="datetimeFigureOut">
              <a:rPr lang="en-GB" smtClean="0"/>
              <a:t>28/11/2025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46468D-2D7F-40CC-B01D-7511E9FE4856}" type="slidenum">
              <a:rPr lang="en-GB" smtClean="0"/>
              <a:t>‹#›</a:t>
            </a:fld>
            <a:endParaRPr lang="en-GB"/>
          </a:p>
        </p:txBody>
      </p:sp>
    </p:spTree>
    <p:extLst>
      <p:ext uri="{BB962C8B-B14F-4D97-AF65-F5344CB8AC3E}">
        <p14:creationId xmlns:p14="http://schemas.microsoft.com/office/powerpoint/2010/main" val="42096101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F46468D-2D7F-40CC-B01D-7511E9FE4856}" type="slidenum">
              <a:rPr lang="en-GB" smtClean="0"/>
              <a:t>3</a:t>
            </a:fld>
            <a:endParaRPr lang="en-GB"/>
          </a:p>
        </p:txBody>
      </p:sp>
    </p:spTree>
    <p:extLst>
      <p:ext uri="{BB962C8B-B14F-4D97-AF65-F5344CB8AC3E}">
        <p14:creationId xmlns:p14="http://schemas.microsoft.com/office/powerpoint/2010/main" val="19756669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lvl="0"/>
            <a:fld id="{EAFE2FB8-DD12-400C-A561-D38A38ECA6DE}" type="datetime1">
              <a:rPr lang="en-US" smtClean="0"/>
              <a:pPr lvl="0"/>
              <a:t>11/28/2025</a:t>
            </a:fld>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5535B60C-39E5-41EA-9521-FCCCE688B76E}" type="slidenum">
              <a:rPr lang="en-US" smtClean="0"/>
              <a:t>‹#›</a:t>
            </a:fld>
            <a:endParaRPr lang="en-US"/>
          </a:p>
        </p:txBody>
      </p:sp>
    </p:spTree>
    <p:extLst>
      <p:ext uri="{BB962C8B-B14F-4D97-AF65-F5344CB8AC3E}">
        <p14:creationId xmlns:p14="http://schemas.microsoft.com/office/powerpoint/2010/main" val="383563616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pPr lvl="0"/>
            <a:fld id="{B07F3B79-6086-4816-A798-2696DAF9FB54}" type="datetime1">
              <a:rPr lang="en-US" smtClean="0"/>
              <a:pPr lvl="0"/>
              <a:t>11/28/2025</a:t>
            </a:fld>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272AFFAE-115E-4302-A3C4-29FD5B2F5B0E}" type="slidenum">
              <a:rPr lang="en-US" smtClean="0"/>
              <a:t>‹#›</a:t>
            </a:fld>
            <a:endParaRPr lang="en-US"/>
          </a:p>
        </p:txBody>
      </p:sp>
    </p:spTree>
    <p:extLst>
      <p:ext uri="{BB962C8B-B14F-4D97-AF65-F5344CB8AC3E}">
        <p14:creationId xmlns:p14="http://schemas.microsoft.com/office/powerpoint/2010/main" val="17687565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lvl="0"/>
            <a:fld id="{33FC3B05-F164-445D-BCFE-B80DD26E5FE4}" type="datetime1">
              <a:rPr lang="en-US" smtClean="0"/>
              <a:pPr lvl="0"/>
              <a:t>11/28/2025</a:t>
            </a:fld>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D77275C8-0A5D-4341-8F96-E97944C32720}" type="slidenum">
              <a:rPr lang="en-US" smtClean="0"/>
              <a:t>‹#›</a:t>
            </a:fld>
            <a:endParaRPr lang="en-US"/>
          </a:p>
        </p:txBody>
      </p:sp>
    </p:spTree>
    <p:extLst>
      <p:ext uri="{BB962C8B-B14F-4D97-AF65-F5344CB8AC3E}">
        <p14:creationId xmlns:p14="http://schemas.microsoft.com/office/powerpoint/2010/main" val="3527716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lvl="0"/>
            <a:fld id="{6B5462FA-E66C-4733-A43B-DAC92E7279F7}" type="datetime1">
              <a:rPr lang="en-US" smtClean="0"/>
              <a:pPr lvl="0"/>
              <a:t>11/28/2025</a:t>
            </a:fld>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AFE6DFD0-8012-49D0-8581-10401C9DE995}" type="slidenum">
              <a:rPr lang="en-US" smtClean="0"/>
              <a:t>‹#›</a:t>
            </a:fld>
            <a:endParaRPr lang="en-US"/>
          </a:p>
        </p:txBody>
      </p:sp>
    </p:spTree>
    <p:extLst>
      <p:ext uri="{BB962C8B-B14F-4D97-AF65-F5344CB8AC3E}">
        <p14:creationId xmlns:p14="http://schemas.microsoft.com/office/powerpoint/2010/main" val="38667907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lvl="0"/>
            <a:fld id="{6E5D2BB8-DB30-43CE-9824-AF5A006070C4}" type="datetime1">
              <a:rPr lang="en-US" smtClean="0"/>
              <a:pPr lvl="0"/>
              <a:t>11/28/2025</a:t>
            </a:fld>
            <a:endParaRPr lang="en-US"/>
          </a:p>
        </p:txBody>
      </p:sp>
      <p:sp>
        <p:nvSpPr>
          <p:cNvPr id="8" name="Footer Placeholder 7"/>
          <p:cNvSpPr>
            <a:spLocks noGrp="1"/>
          </p:cNvSpPr>
          <p:nvPr>
            <p:ph type="ftr" sz="quarter" idx="11"/>
          </p:nvPr>
        </p:nvSpPr>
        <p:spPr/>
        <p:txBody>
          <a:bodyPr/>
          <a:lstStyle/>
          <a:p>
            <a:pPr lvl="0"/>
            <a:endParaRPr lang="en-US"/>
          </a:p>
        </p:txBody>
      </p:sp>
      <p:sp>
        <p:nvSpPr>
          <p:cNvPr id="9" name="Slide Number Placeholder 8"/>
          <p:cNvSpPr>
            <a:spLocks noGrp="1"/>
          </p:cNvSpPr>
          <p:nvPr>
            <p:ph type="sldNum" sz="quarter" idx="12"/>
          </p:nvPr>
        </p:nvSpPr>
        <p:spPr/>
        <p:txBody>
          <a:bodyPr/>
          <a:lstStyle/>
          <a:p>
            <a:pPr lvl="0"/>
            <a:fld id="{4C94DE59-C1A6-4AAD-BC26-EF1729CE1070}" type="slidenum">
              <a:rPr lang="en-US" smtClean="0"/>
              <a:t>‹#›</a:t>
            </a:fld>
            <a:endParaRPr lang="en-US"/>
          </a:p>
        </p:txBody>
      </p:sp>
    </p:spTree>
    <p:extLst>
      <p:ext uri="{BB962C8B-B14F-4D97-AF65-F5344CB8AC3E}">
        <p14:creationId xmlns:p14="http://schemas.microsoft.com/office/powerpoint/2010/main" val="3036725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pPr lvl="0"/>
            <a:fld id="{884B0122-202A-4855-B3AC-25D9B6C38575}" type="datetime1">
              <a:rPr lang="en-US" smtClean="0"/>
              <a:pPr lvl="0"/>
              <a:t>11/28/2025</a:t>
            </a:fld>
            <a:endParaRPr lang="en-US"/>
          </a:p>
        </p:txBody>
      </p:sp>
      <p:sp>
        <p:nvSpPr>
          <p:cNvPr id="5" name="Footer Placeholder 3"/>
          <p:cNvSpPr>
            <a:spLocks noGrp="1"/>
          </p:cNvSpPr>
          <p:nvPr>
            <p:ph type="ftr" sz="quarter" idx="11"/>
          </p:nvPr>
        </p:nvSpPr>
        <p:spPr/>
        <p:txBody>
          <a:bodyPr/>
          <a:lstStyle/>
          <a:p>
            <a:pPr lvl="0"/>
            <a:endParaRPr lang="en-US"/>
          </a:p>
        </p:txBody>
      </p:sp>
      <p:sp>
        <p:nvSpPr>
          <p:cNvPr id="6" name="Slide Number Placeholder 4"/>
          <p:cNvSpPr>
            <a:spLocks noGrp="1"/>
          </p:cNvSpPr>
          <p:nvPr>
            <p:ph type="sldNum" sz="quarter" idx="12"/>
          </p:nvPr>
        </p:nvSpPr>
        <p:spPr/>
        <p:txBody>
          <a:bodyPr/>
          <a:lstStyle/>
          <a:p>
            <a:pPr lvl="0"/>
            <a:fld id="{D64CAE0F-37F8-47BC-BA81-B1EDB69A079A}" type="slidenum">
              <a:rPr lang="en-US" smtClean="0"/>
              <a:t>‹#›</a:t>
            </a:fld>
            <a:endParaRPr lang="en-US"/>
          </a:p>
        </p:txBody>
      </p:sp>
    </p:spTree>
    <p:extLst>
      <p:ext uri="{BB962C8B-B14F-4D97-AF65-F5344CB8AC3E}">
        <p14:creationId xmlns:p14="http://schemas.microsoft.com/office/powerpoint/2010/main" val="3279232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pPr lvl="0"/>
            <a:fld id="{1F00BFAD-9E00-4D91-B89C-AB2DE72DEC5A}" type="datetime1">
              <a:rPr lang="en-US" smtClean="0"/>
              <a:pPr lvl="0"/>
              <a:t>11/28/2025</a:t>
            </a:fld>
            <a:endParaRPr lang="en-US"/>
          </a:p>
        </p:txBody>
      </p:sp>
      <p:sp>
        <p:nvSpPr>
          <p:cNvPr id="5" name="Footer Placeholder 2"/>
          <p:cNvSpPr>
            <a:spLocks noGrp="1"/>
          </p:cNvSpPr>
          <p:nvPr>
            <p:ph type="ftr" sz="quarter" idx="11"/>
          </p:nvPr>
        </p:nvSpPr>
        <p:spPr/>
        <p:txBody>
          <a:bodyPr/>
          <a:lstStyle/>
          <a:p>
            <a:pPr lvl="0"/>
            <a:endParaRPr lang="en-US"/>
          </a:p>
        </p:txBody>
      </p:sp>
      <p:sp>
        <p:nvSpPr>
          <p:cNvPr id="6" name="Slide Number Placeholder 3"/>
          <p:cNvSpPr>
            <a:spLocks noGrp="1"/>
          </p:cNvSpPr>
          <p:nvPr>
            <p:ph type="sldNum" sz="quarter" idx="12"/>
          </p:nvPr>
        </p:nvSpPr>
        <p:spPr/>
        <p:txBody>
          <a:bodyPr/>
          <a:lstStyle/>
          <a:p>
            <a:pPr lvl="0"/>
            <a:fld id="{88BB7D56-5BEE-42A8-910D-5410C4EAB3D0}" type="slidenum">
              <a:rPr lang="en-US" smtClean="0"/>
              <a:t>‹#›</a:t>
            </a:fld>
            <a:endParaRPr lang="en-US"/>
          </a:p>
        </p:txBody>
      </p:sp>
    </p:spTree>
    <p:extLst>
      <p:ext uri="{BB962C8B-B14F-4D97-AF65-F5344CB8AC3E}">
        <p14:creationId xmlns:p14="http://schemas.microsoft.com/office/powerpoint/2010/main" val="190252933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pPr lvl="0"/>
            <a:fld id="{0788BB16-048E-4DFB-9ACE-D7AB6DDC7E0A}" type="datetime1">
              <a:rPr lang="en-US" smtClean="0"/>
              <a:pPr lvl="0"/>
              <a:t>11/28/2025</a:t>
            </a:fld>
            <a:endParaRPr lang="en-US"/>
          </a:p>
        </p:txBody>
      </p:sp>
      <p:sp>
        <p:nvSpPr>
          <p:cNvPr id="5" name="Footer Placeholder 5"/>
          <p:cNvSpPr>
            <a:spLocks noGrp="1"/>
          </p:cNvSpPr>
          <p:nvPr>
            <p:ph type="ftr" sz="quarter" idx="11"/>
          </p:nvPr>
        </p:nvSpPr>
        <p:spPr/>
        <p:txBody>
          <a:bodyPr/>
          <a:lstStyle/>
          <a:p>
            <a:pPr lvl="0"/>
            <a:endParaRPr lang="en-US"/>
          </a:p>
        </p:txBody>
      </p:sp>
      <p:sp>
        <p:nvSpPr>
          <p:cNvPr id="6" name="Slide Number Placeholder 6"/>
          <p:cNvSpPr>
            <a:spLocks noGrp="1"/>
          </p:cNvSpPr>
          <p:nvPr>
            <p:ph type="sldNum" sz="quarter" idx="12"/>
          </p:nvPr>
        </p:nvSpPr>
        <p:spPr/>
        <p:txBody>
          <a:bodyPr/>
          <a:lstStyle/>
          <a:p>
            <a:pPr lvl="0"/>
            <a:fld id="{4369304B-D3F6-465E-9ACE-EA48078D4E60}" type="slidenum">
              <a:rPr lang="en-US" smtClean="0"/>
              <a:t>‹#›</a:t>
            </a:fld>
            <a:endParaRPr lang="en-US"/>
          </a:p>
        </p:txBody>
      </p:sp>
    </p:spTree>
    <p:extLst>
      <p:ext uri="{BB962C8B-B14F-4D97-AF65-F5344CB8AC3E}">
        <p14:creationId xmlns:p14="http://schemas.microsoft.com/office/powerpoint/2010/main" val="1600517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lvl="0"/>
            <a:fld id="{E066C65E-7C4E-458B-9D43-D3C727831F24}" type="datetime1">
              <a:rPr lang="en-US" smtClean="0"/>
              <a:pPr lvl="0"/>
              <a:t>11/28/2025</a:t>
            </a:fld>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03F40CC4-2359-4D49-842B-95056C04D166}" type="slidenum">
              <a:rPr lang="en-US" smtClean="0"/>
              <a:t>‹#›</a:t>
            </a:fld>
            <a:endParaRPr lang="en-US"/>
          </a:p>
        </p:txBody>
      </p:sp>
    </p:spTree>
    <p:extLst>
      <p:ext uri="{BB962C8B-B14F-4D97-AF65-F5344CB8AC3E}">
        <p14:creationId xmlns:p14="http://schemas.microsoft.com/office/powerpoint/2010/main" val="2416278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lvl="0"/>
            <a:fld id="{0B450F42-1965-4EF2-9494-276F4A42E929}" type="datetime1">
              <a:rPr lang="en-US" smtClean="0"/>
              <a:pPr lvl="0"/>
              <a:t>11/28/2025</a:t>
            </a:fld>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C4E5BC05-A2DE-425F-8178-FD70952AB5AF}" type="slidenum">
              <a:rPr lang="en-US" smtClean="0"/>
              <a:t>‹#›</a:t>
            </a:fld>
            <a:endParaRPr lang="en-US"/>
          </a:p>
        </p:txBody>
      </p:sp>
    </p:spTree>
    <p:extLst>
      <p:ext uri="{BB962C8B-B14F-4D97-AF65-F5344CB8AC3E}">
        <p14:creationId xmlns:p14="http://schemas.microsoft.com/office/powerpoint/2010/main" val="233700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pPr lvl="0"/>
            <a:fld id="{0B450F42-1965-4EF2-9494-276F4A42E929}" type="datetime1">
              <a:rPr lang="en-US" smtClean="0"/>
              <a:pPr lvl="0"/>
              <a:t>11/28/2025</a:t>
            </a:fld>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C4E5BC05-A2DE-425F-8178-FD70952AB5AF}" type="slidenum">
              <a:rPr lang="en-US" smtClean="0"/>
              <a:t>‹#›</a:t>
            </a:fld>
            <a:endParaRPr lang="en-US"/>
          </a:p>
        </p:txBody>
      </p:sp>
    </p:spTree>
    <p:extLst>
      <p:ext uri="{BB962C8B-B14F-4D97-AF65-F5344CB8AC3E}">
        <p14:creationId xmlns:p14="http://schemas.microsoft.com/office/powerpoint/2010/main" val="5979835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pPr lvl="0"/>
            <a:fld id="{0B450F42-1965-4EF2-9494-276F4A42E929}" type="datetime1">
              <a:rPr lang="en-US" smtClean="0"/>
              <a:pPr lvl="0"/>
              <a:t>11/28/2025</a:t>
            </a:fld>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C4E5BC05-A2DE-425F-8178-FD70952AB5AF}"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663576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lvl="0"/>
            <a:fld id="{0B450F42-1965-4EF2-9494-276F4A42E929}" type="datetime1">
              <a:rPr lang="en-US" smtClean="0"/>
              <a:pPr lvl="0"/>
              <a:t>11/28/2025</a:t>
            </a:fld>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C4E5BC05-A2DE-425F-8178-FD70952AB5AF}" type="slidenum">
              <a:rPr lang="en-US" smtClean="0"/>
              <a:t>‹#›</a:t>
            </a:fld>
            <a:endParaRPr lang="en-US"/>
          </a:p>
        </p:txBody>
      </p:sp>
    </p:spTree>
    <p:extLst>
      <p:ext uri="{BB962C8B-B14F-4D97-AF65-F5344CB8AC3E}">
        <p14:creationId xmlns:p14="http://schemas.microsoft.com/office/powerpoint/2010/main" val="20092600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lvl="0"/>
            <a:fld id="{0B450F42-1965-4EF2-9494-276F4A42E929}" type="datetime1">
              <a:rPr lang="en-US" smtClean="0"/>
              <a:pPr lvl="0"/>
              <a:t>11/28/2025</a:t>
            </a:fld>
            <a:endParaRPr lang="en-US"/>
          </a:p>
        </p:txBody>
      </p:sp>
      <p:sp>
        <p:nvSpPr>
          <p:cNvPr id="4"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C4E5BC05-A2DE-425F-8178-FD70952AB5AF}" type="slidenum">
              <a:rPr lang="en-US" smtClean="0"/>
              <a:t>‹#›</a:t>
            </a:fld>
            <a:endParaRPr lang="en-US"/>
          </a:p>
        </p:txBody>
      </p:sp>
    </p:spTree>
    <p:extLst>
      <p:ext uri="{BB962C8B-B14F-4D97-AF65-F5344CB8AC3E}">
        <p14:creationId xmlns:p14="http://schemas.microsoft.com/office/powerpoint/2010/main" val="37462404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lvl="0"/>
            <a:fld id="{0B450F42-1965-4EF2-9494-276F4A42E929}" type="datetime1">
              <a:rPr lang="en-US" smtClean="0"/>
              <a:pPr lvl="0"/>
              <a:t>11/28/2025</a:t>
            </a:fld>
            <a:endParaRPr lang="en-US"/>
          </a:p>
        </p:txBody>
      </p:sp>
      <p:sp>
        <p:nvSpPr>
          <p:cNvPr id="4"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C4E5BC05-A2DE-425F-8178-FD70952AB5AF}" type="slidenum">
              <a:rPr lang="en-US" smtClean="0"/>
              <a:t>‹#›</a:t>
            </a:fld>
            <a:endParaRPr lang="en-US"/>
          </a:p>
        </p:txBody>
      </p:sp>
    </p:spTree>
    <p:extLst>
      <p:ext uri="{BB962C8B-B14F-4D97-AF65-F5344CB8AC3E}">
        <p14:creationId xmlns:p14="http://schemas.microsoft.com/office/powerpoint/2010/main" val="18640798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lvl="0"/>
            <a:fld id="{A8E3738A-D60E-40BF-92D6-AE3DE77B2A5C}" type="datetime1">
              <a:rPr lang="en-US" smtClean="0"/>
              <a:pPr lvl="0"/>
              <a:t>11/28/2025</a:t>
            </a:fld>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F3F6BA08-6381-4BA5-B9B5-1B002D7A8CFA}" type="slidenum">
              <a:rPr lang="en-US" smtClean="0"/>
              <a:t>‹#›</a:t>
            </a:fld>
            <a:endParaRPr lang="en-US"/>
          </a:p>
        </p:txBody>
      </p:sp>
    </p:spTree>
    <p:extLst>
      <p:ext uri="{BB962C8B-B14F-4D97-AF65-F5344CB8AC3E}">
        <p14:creationId xmlns:p14="http://schemas.microsoft.com/office/powerpoint/2010/main" val="24008183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lvl="0"/>
            <a:fld id="{1A5944E4-458D-4FE6-8A8A-1CD740BF6C1C}" type="datetime1">
              <a:rPr lang="en-US" smtClean="0"/>
              <a:pPr lvl="0"/>
              <a:t>11/28/2025</a:t>
            </a:fld>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7434CCA5-4DBA-4FB7-A27F-AD4DB617A3E9}" type="slidenum">
              <a:rPr lang="en-US" smtClean="0"/>
              <a:t>‹#›</a:t>
            </a:fld>
            <a:endParaRPr lang="en-US"/>
          </a:p>
        </p:txBody>
      </p:sp>
    </p:spTree>
    <p:extLst>
      <p:ext uri="{BB962C8B-B14F-4D97-AF65-F5344CB8AC3E}">
        <p14:creationId xmlns:p14="http://schemas.microsoft.com/office/powerpoint/2010/main" val="810317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pPr lvl="0"/>
            <a:fld id="{0B450F42-1965-4EF2-9494-276F4A42E929}" type="datetime1">
              <a:rPr lang="en-US" smtClean="0"/>
              <a:pPr lvl="0"/>
              <a:t>11/28/2025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pPr lvl="0"/>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pPr lvl="0"/>
            <a:fld id="{C4E5BC05-A2DE-425F-8178-FD70952AB5AF}" type="slidenum">
              <a:rPr lang="en-US" smtClean="0"/>
              <a:t>‹#›</a:t>
            </a:fld>
            <a:endParaRPr lang="en-US"/>
          </a:p>
        </p:txBody>
      </p:sp>
    </p:spTree>
    <p:extLst>
      <p:ext uri="{BB962C8B-B14F-4D97-AF65-F5344CB8AC3E}">
        <p14:creationId xmlns:p14="http://schemas.microsoft.com/office/powerpoint/2010/main" val="1169023036"/>
      </p:ext>
    </p:extLst>
  </p:cSld>
  <p:clrMap bg1="dk1" tx1="lt1" bg2="dk2" tx2="lt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 id="2147483796" r:id="rId12"/>
    <p:sldLayoutId id="2147483797" r:id="rId13"/>
    <p:sldLayoutId id="2147483798" r:id="rId14"/>
    <p:sldLayoutId id="2147483799" r:id="rId15"/>
    <p:sldLayoutId id="2147483800" r:id="rId16"/>
    <p:sldLayoutId id="2147483801"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en.wikipedia.org/wiki/Agile_software_development" TargetMode="External"/><Relationship Id="rId2" Type="http://schemas.openxmlformats.org/officeDocument/2006/relationships/hyperlink" Target="http://agilemanifesto.org/principles.html" TargetMode="External"/><Relationship Id="rId1" Type="http://schemas.openxmlformats.org/officeDocument/2006/relationships/slideLayout" Target="../slideLayouts/slideLayout7.xml"/><Relationship Id="rId4" Type="http://schemas.openxmlformats.org/officeDocument/2006/relationships/hyperlink" Target="https://msdn.microsoft.com/en-us/library/hh533841(v=vs.120).aspx"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1">
    <p:bg>
      <p:bgPr>
        <a:solidFill>
          <a:srgbClr val="FFFFFF"/>
        </a:solidFill>
        <a:effectLst/>
      </p:bgPr>
    </p:bg>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DE0F9599-7461-7217-361F-742CD5782E4D}"/>
              </a:ext>
              <a:ext uri="{C183D7F6-B498-43B3-948B-1728B52AA6E4}">
                <adec:decorative xmlns:adec="http://schemas.microsoft.com/office/drawing/2017/decorative" val="1"/>
              </a:ext>
            </a:extLst>
          </p:cNvPr>
          <p:cNvSpPr>
            <a:spLocks noMove="1" noResize="1"/>
          </p:cNvSpPr>
          <p:nvPr/>
        </p:nvSpPr>
        <p:spPr>
          <a:xfrm>
            <a:off x="0" y="0"/>
            <a:ext cx="12191996" cy="6858000"/>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Bembo"/>
            </a:endParaRPr>
          </a:p>
        </p:txBody>
      </p:sp>
      <p:pic>
        <p:nvPicPr>
          <p:cNvPr id="3" name="Picture 3">
            <a:extLst>
              <a:ext uri="{FF2B5EF4-FFF2-40B4-BE49-F238E27FC236}">
                <a16:creationId xmlns:a16="http://schemas.microsoft.com/office/drawing/2014/main" id="{8A7CD62E-19EB-2060-E6C6-E288F97EFD43}"/>
              </a:ext>
            </a:extLst>
          </p:cNvPr>
          <p:cNvPicPr>
            <a:picLocks noChangeAspect="1"/>
          </p:cNvPicPr>
          <p:nvPr/>
        </p:nvPicPr>
        <p:blipFill>
          <a:blip r:embed="rId2"/>
          <a:srcRect t="37920" b="5830"/>
          <a:stretch>
            <a:fillRect/>
          </a:stretch>
        </p:blipFill>
        <p:spPr>
          <a:xfrm>
            <a:off x="18" y="9"/>
            <a:ext cx="12191978" cy="6857990"/>
          </a:xfrm>
          <a:prstGeom prst="rect">
            <a:avLst/>
          </a:prstGeom>
          <a:noFill/>
          <a:ln cap="flat">
            <a:noFill/>
          </a:ln>
        </p:spPr>
      </p:pic>
      <p:sp>
        <p:nvSpPr>
          <p:cNvPr id="4" name="Rectangle 10">
            <a:extLst>
              <a:ext uri="{FF2B5EF4-FFF2-40B4-BE49-F238E27FC236}">
                <a16:creationId xmlns:a16="http://schemas.microsoft.com/office/drawing/2014/main" id="{F4C44FBE-D493-CE3A-7642-5504D3DA4327}"/>
              </a:ext>
              <a:ext uri="{C183D7F6-B498-43B3-948B-1728B52AA6E4}">
                <adec:decorative xmlns:adec="http://schemas.microsoft.com/office/drawing/2017/decorative" val="1"/>
              </a:ext>
            </a:extLst>
          </p:cNvPr>
          <p:cNvSpPr>
            <a:spLocks noMove="1" noResize="1"/>
          </p:cNvSpPr>
          <p:nvPr/>
        </p:nvSpPr>
        <p:spPr>
          <a:xfrm>
            <a:off x="1028700" y="1028700"/>
            <a:ext cx="10134596" cy="4800600"/>
          </a:xfrm>
          <a:prstGeom prst="rect">
            <a:avLst/>
          </a:prstGeom>
          <a:solidFill>
            <a:srgbClr val="E2E6E8">
              <a:alpha val="81000"/>
            </a:srgbClr>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dirty="0">
              <a:solidFill>
                <a:srgbClr val="FFFFFF"/>
              </a:solidFill>
              <a:uFillTx/>
              <a:latin typeface="Bembo"/>
            </a:endParaRPr>
          </a:p>
        </p:txBody>
      </p:sp>
      <p:sp>
        <p:nvSpPr>
          <p:cNvPr id="5" name="Title 1">
            <a:extLst>
              <a:ext uri="{FF2B5EF4-FFF2-40B4-BE49-F238E27FC236}">
                <a16:creationId xmlns:a16="http://schemas.microsoft.com/office/drawing/2014/main" id="{23D5CED1-A7C7-E7F0-D61F-8037139F4300}"/>
              </a:ext>
            </a:extLst>
          </p:cNvPr>
          <p:cNvSpPr txBox="1">
            <a:spLocks noGrp="1"/>
          </p:cNvSpPr>
          <p:nvPr>
            <p:ph type="ctrTitle"/>
          </p:nvPr>
        </p:nvSpPr>
        <p:spPr>
          <a:xfrm>
            <a:off x="2539252" y="1942386"/>
            <a:ext cx="7113492" cy="1843108"/>
          </a:xfrm>
        </p:spPr>
        <p:txBody>
          <a:bodyPr/>
          <a:lstStyle/>
          <a:p>
            <a:pPr lvl="0" algn="ctr"/>
            <a:r>
              <a:rPr lang="en-GB" sz="3200" dirty="0">
                <a:solidFill>
                  <a:schemeClr val="bg2"/>
                </a:solidFill>
              </a:rPr>
              <a:t>BSc Hons Computer Games Design and Development</a:t>
            </a:r>
          </a:p>
        </p:txBody>
      </p:sp>
      <p:sp>
        <p:nvSpPr>
          <p:cNvPr id="6" name="Subtitle 2">
            <a:extLst>
              <a:ext uri="{FF2B5EF4-FFF2-40B4-BE49-F238E27FC236}">
                <a16:creationId xmlns:a16="http://schemas.microsoft.com/office/drawing/2014/main" id="{FCD62E97-E865-ABAD-0466-13FB8D5EFFD6}"/>
              </a:ext>
            </a:extLst>
          </p:cNvPr>
          <p:cNvSpPr txBox="1">
            <a:spLocks noGrp="1"/>
          </p:cNvSpPr>
          <p:nvPr>
            <p:ph type="subTitle" idx="1"/>
          </p:nvPr>
        </p:nvSpPr>
        <p:spPr>
          <a:xfrm>
            <a:off x="1129792" y="4111959"/>
            <a:ext cx="9956800" cy="1284576"/>
          </a:xfrm>
        </p:spPr>
        <p:txBody>
          <a:bodyPr>
            <a:normAutofit/>
          </a:bodyPr>
          <a:lstStyle/>
          <a:p>
            <a:pPr lvl="0" algn="ctr">
              <a:lnSpc>
                <a:spcPct val="90000"/>
              </a:lnSpc>
            </a:pPr>
            <a:r>
              <a:rPr lang="en-GB" sz="2800" dirty="0">
                <a:solidFill>
                  <a:schemeClr val="bg2"/>
                </a:solidFill>
              </a:rPr>
              <a:t>GDV4000 Introduction to Games Industry Practice</a:t>
            </a:r>
          </a:p>
          <a:p>
            <a:pPr lvl="0" algn="ctr">
              <a:lnSpc>
                <a:spcPct val="90000"/>
              </a:lnSpc>
            </a:pPr>
            <a:r>
              <a:rPr lang="en-GB" sz="2800" dirty="0">
                <a:solidFill>
                  <a:schemeClr val="bg2"/>
                </a:solidFill>
              </a:rPr>
              <a:t>Game Development Process - Methodologies</a:t>
            </a:r>
          </a:p>
        </p:txBody>
      </p:sp>
      <p:grpSp>
        <p:nvGrpSpPr>
          <p:cNvPr id="7" name="Group 12">
            <a:extLst>
              <a:ext uri="{FF2B5EF4-FFF2-40B4-BE49-F238E27FC236}">
                <a16:creationId xmlns:a16="http://schemas.microsoft.com/office/drawing/2014/main" id="{E33F1A30-EE00-CB99-FB20-98611898D766}"/>
              </a:ext>
              <a:ext uri="{C183D7F6-B498-43B3-948B-1728B52AA6E4}">
                <adec:decorative xmlns:adec="http://schemas.microsoft.com/office/drawing/2017/decorative" val="1"/>
              </a:ext>
            </a:extLst>
          </p:cNvPr>
          <p:cNvGrpSpPr/>
          <p:nvPr/>
        </p:nvGrpSpPr>
        <p:grpSpPr>
          <a:xfrm>
            <a:off x="5662257" y="3891005"/>
            <a:ext cx="867482" cy="115443"/>
            <a:chOff x="5662257" y="3891005"/>
            <a:chExt cx="867482" cy="115443"/>
          </a:xfrm>
        </p:grpSpPr>
        <p:sp>
          <p:nvSpPr>
            <p:cNvPr id="8" name="Rectangle 13">
              <a:extLst>
                <a:ext uri="{FF2B5EF4-FFF2-40B4-BE49-F238E27FC236}">
                  <a16:creationId xmlns:a16="http://schemas.microsoft.com/office/drawing/2014/main" id="{A8366850-BAC0-B7D3-0353-FF69277F14A6}"/>
                </a:ext>
                <a:ext uri="{C183D7F6-B498-43B3-948B-1728B52AA6E4}">
                  <adec:decorative xmlns:adec="http://schemas.microsoft.com/office/drawing/2017/decorative" val="1"/>
                </a:ext>
              </a:extLst>
            </p:cNvPr>
            <p:cNvSpPr/>
            <p:nvPr/>
          </p:nvSpPr>
          <p:spPr>
            <a:xfrm rot="18964830" flipH="1">
              <a:off x="6038290" y="3891005"/>
              <a:ext cx="115443" cy="115443"/>
            </a:xfrm>
            <a:prstGeom prst="rect">
              <a:avLst/>
            </a:prstGeom>
            <a:noFill/>
            <a:ln w="15873" cap="flat">
              <a:solidFill>
                <a:srgbClr val="32382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effectLst>
                  <a:outerShdw dist="38096" dir="2700000">
                    <a:srgbClr val="000000"/>
                  </a:outerShdw>
                </a:effectLst>
                <a:uFillTx/>
                <a:latin typeface="Bembo"/>
              </a:endParaRPr>
            </a:p>
          </p:txBody>
        </p:sp>
        <p:cxnSp>
          <p:nvCxnSpPr>
            <p:cNvPr id="9" name="Straight Connector 14">
              <a:extLst>
                <a:ext uri="{FF2B5EF4-FFF2-40B4-BE49-F238E27FC236}">
                  <a16:creationId xmlns:a16="http://schemas.microsoft.com/office/drawing/2014/main" id="{A96CC2AE-390F-1E8E-91F9-24D5BD4F2D7D}"/>
                </a:ext>
                <a:ext uri="{C183D7F6-B498-43B3-948B-1728B52AA6E4}">
                  <adec:decorative xmlns:adec="http://schemas.microsoft.com/office/drawing/2017/decorative" val="1"/>
                </a:ext>
              </a:extLst>
            </p:cNvPr>
            <p:cNvCxnSpPr/>
            <p:nvPr/>
          </p:nvCxnSpPr>
          <p:spPr>
            <a:xfrm>
              <a:off x="6177613" y="3948726"/>
              <a:ext cx="352126" cy="0"/>
            </a:xfrm>
            <a:prstGeom prst="straightConnector1">
              <a:avLst/>
            </a:prstGeom>
            <a:noFill/>
            <a:ln w="15873" cap="flat">
              <a:solidFill>
                <a:srgbClr val="323820"/>
              </a:solidFill>
              <a:prstDash val="solid"/>
              <a:miter/>
            </a:ln>
          </p:spPr>
        </p:cxnSp>
        <p:cxnSp>
          <p:nvCxnSpPr>
            <p:cNvPr id="10" name="Straight Connector 15">
              <a:extLst>
                <a:ext uri="{FF2B5EF4-FFF2-40B4-BE49-F238E27FC236}">
                  <a16:creationId xmlns:a16="http://schemas.microsoft.com/office/drawing/2014/main" id="{5102A13F-1669-4E36-5AEF-798284CA433F}"/>
                </a:ext>
                <a:ext uri="{C183D7F6-B498-43B3-948B-1728B52AA6E4}">
                  <adec:decorative xmlns:adec="http://schemas.microsoft.com/office/drawing/2017/decorative" val="1"/>
                </a:ext>
              </a:extLst>
            </p:cNvPr>
            <p:cNvCxnSpPr/>
            <p:nvPr/>
          </p:nvCxnSpPr>
          <p:spPr>
            <a:xfrm>
              <a:off x="5662257" y="3948726"/>
              <a:ext cx="352126" cy="0"/>
            </a:xfrm>
            <a:prstGeom prst="straightConnector1">
              <a:avLst/>
            </a:prstGeom>
            <a:noFill/>
            <a:ln w="15873" cap="flat">
              <a:solidFill>
                <a:srgbClr val="323820"/>
              </a:solidFill>
              <a:prstDash val="solid"/>
              <a:miter/>
            </a:ln>
          </p:spPr>
        </p:cxn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0E158-15E6-E032-3C7E-92DA4D9FA977}"/>
              </a:ext>
            </a:extLst>
          </p:cNvPr>
          <p:cNvSpPr txBox="1">
            <a:spLocks noGrp="1"/>
          </p:cNvSpPr>
          <p:nvPr>
            <p:ph type="title"/>
          </p:nvPr>
        </p:nvSpPr>
        <p:spPr/>
        <p:txBody>
          <a:bodyPr/>
          <a:lstStyle/>
          <a:p>
            <a:pPr lvl="0"/>
            <a:r>
              <a:rPr lang="en-GB"/>
              <a:t>The Plan:</a:t>
            </a:r>
          </a:p>
        </p:txBody>
      </p:sp>
      <p:sp>
        <p:nvSpPr>
          <p:cNvPr id="3" name="Content Placeholder 2">
            <a:extLst>
              <a:ext uri="{FF2B5EF4-FFF2-40B4-BE49-F238E27FC236}">
                <a16:creationId xmlns:a16="http://schemas.microsoft.com/office/drawing/2014/main" id="{98756E3C-19E2-FE89-EE95-14116FB63216}"/>
              </a:ext>
            </a:extLst>
          </p:cNvPr>
          <p:cNvSpPr txBox="1">
            <a:spLocks noGrp="1"/>
          </p:cNvSpPr>
          <p:nvPr>
            <p:ph idx="1"/>
          </p:nvPr>
        </p:nvSpPr>
        <p:spPr/>
        <p:txBody>
          <a:bodyPr/>
          <a:lstStyle/>
          <a:p>
            <a:pPr marL="342900" lvl="0" indent="-342900">
              <a:buSzPct val="100000"/>
              <a:buFont typeface="Arial" pitchFamily="34"/>
              <a:buChar char="•"/>
            </a:pPr>
            <a:r>
              <a:rPr lang="en-GB"/>
              <a:t>Recap</a:t>
            </a:r>
          </a:p>
          <a:p>
            <a:pPr marL="342900" lvl="0" indent="-342900">
              <a:buSzPct val="100000"/>
              <a:buFont typeface="Arial" pitchFamily="34"/>
              <a:buChar char="•"/>
            </a:pPr>
            <a:r>
              <a:rPr lang="en-GB"/>
              <a:t>Development Phases</a:t>
            </a:r>
          </a:p>
          <a:p>
            <a:pPr marL="342900" lvl="0" indent="-342900">
              <a:buSzPct val="100000"/>
              <a:buFont typeface="Arial" pitchFamily="34"/>
              <a:buChar char="•"/>
            </a:pPr>
            <a:r>
              <a:rPr lang="en-GB"/>
              <a:t>Methodologies</a:t>
            </a:r>
          </a:p>
          <a:p>
            <a:pPr marL="342900" lvl="0" indent="-342900">
              <a:buSzPct val="100000"/>
              <a:buFont typeface="Arial" pitchFamily="34"/>
              <a:buChar char="•"/>
            </a:pPr>
            <a:r>
              <a:rPr lang="en-GB"/>
              <a:t>Prototyping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B981C-6F67-ECBD-788B-BB38DCC47F77}"/>
              </a:ext>
            </a:extLst>
          </p:cNvPr>
          <p:cNvSpPr txBox="1">
            <a:spLocks noGrp="1"/>
          </p:cNvSpPr>
          <p:nvPr>
            <p:ph type="title"/>
          </p:nvPr>
        </p:nvSpPr>
        <p:spPr>
          <a:xfrm>
            <a:off x="422656" y="349136"/>
            <a:ext cx="10740640" cy="632472"/>
          </a:xfrm>
        </p:spPr>
        <p:txBody>
          <a:bodyPr anchorCtr="1">
            <a:noAutofit/>
          </a:bodyPr>
          <a:lstStyle/>
          <a:p>
            <a:pPr lvl="0" algn="ctr"/>
            <a:r>
              <a:rPr lang="en-GB" sz="3200" dirty="0"/>
              <a:t>RECAP – Organisation of the Development Team</a:t>
            </a:r>
          </a:p>
        </p:txBody>
      </p:sp>
      <p:sp>
        <p:nvSpPr>
          <p:cNvPr id="3" name="Rectangle: Rounded Corners 3">
            <a:extLst>
              <a:ext uri="{FF2B5EF4-FFF2-40B4-BE49-F238E27FC236}">
                <a16:creationId xmlns:a16="http://schemas.microsoft.com/office/drawing/2014/main" id="{FA2DB2AB-03EB-0FD8-D08B-F54F31B61089}"/>
              </a:ext>
            </a:extLst>
          </p:cNvPr>
          <p:cNvSpPr/>
          <p:nvPr/>
        </p:nvSpPr>
        <p:spPr>
          <a:xfrm>
            <a:off x="3324383" y="1023908"/>
            <a:ext cx="4868393" cy="1545418"/>
          </a:xfrm>
          <a:custGeom>
            <a:avLst>
              <a:gd name="f0" fmla="val 2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ADCEBC">
              <a:alpha val="10000"/>
            </a:srgbClr>
          </a:solidFill>
          <a:ln w="12701" cap="flat">
            <a:solidFill>
              <a:srgbClr val="8B7061"/>
            </a:solidFill>
            <a:prstDash val="solid"/>
            <a:miter/>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200" b="1" i="0" u="none" strike="noStrike" kern="1200" cap="none" spc="0" baseline="0" dirty="0">
                <a:solidFill>
                  <a:srgbClr val="000000"/>
                </a:solidFill>
                <a:uFillTx/>
                <a:latin typeface="Aptos" panose="020B0004020202020204" pitchFamily="34" charset="0"/>
              </a:rPr>
              <a:t>Senior Management</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200" b="1" i="0" u="none" strike="noStrike" kern="1200" cap="none" spc="0" baseline="0" dirty="0">
                <a:solidFill>
                  <a:srgbClr val="000000"/>
                </a:solidFill>
                <a:uFillTx/>
                <a:latin typeface="Aptos" panose="020B0004020202020204" pitchFamily="34" charset="0"/>
              </a:rPr>
              <a:t>(</a:t>
            </a:r>
            <a:r>
              <a:rPr lang="en-GB" sz="1200" b="1" i="1" u="none" strike="noStrike" kern="1200" cap="none" spc="0" baseline="0" dirty="0">
                <a:solidFill>
                  <a:srgbClr val="000000"/>
                </a:solidFill>
                <a:uFillTx/>
                <a:latin typeface="Aptos" panose="020B0004020202020204" pitchFamily="34" charset="0"/>
              </a:rPr>
              <a:t>Strategy / Development</a:t>
            </a:r>
            <a:r>
              <a:rPr lang="en-GB" sz="1200" b="1" i="0" u="none" strike="noStrike" kern="1200" cap="none" spc="0" baseline="0" dirty="0">
                <a:solidFill>
                  <a:srgbClr val="000000"/>
                </a:solidFill>
                <a:uFillTx/>
                <a:latin typeface="Aptos" panose="020B0004020202020204" pitchFamily="34" charset="0"/>
              </a:rPr>
              <a:t>)</a:t>
            </a:r>
          </a:p>
        </p:txBody>
      </p:sp>
      <p:sp>
        <p:nvSpPr>
          <p:cNvPr id="4" name="Rectangle: Rounded Corners 4">
            <a:extLst>
              <a:ext uri="{FF2B5EF4-FFF2-40B4-BE49-F238E27FC236}">
                <a16:creationId xmlns:a16="http://schemas.microsoft.com/office/drawing/2014/main" id="{4C95C64F-D349-5444-8A4D-BB5B1DD900A7}"/>
              </a:ext>
            </a:extLst>
          </p:cNvPr>
          <p:cNvSpPr/>
          <p:nvPr/>
        </p:nvSpPr>
        <p:spPr>
          <a:xfrm>
            <a:off x="8756660" y="2701905"/>
            <a:ext cx="3162342" cy="3173690"/>
          </a:xfrm>
          <a:custGeom>
            <a:avLst>
              <a:gd name="f0" fmla="val 119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CEC7AD">
              <a:alpha val="8000"/>
            </a:srgbClr>
          </a:solidFill>
          <a:ln w="12701" cap="flat">
            <a:solidFill>
              <a:srgbClr val="8B7061"/>
            </a:solidFill>
            <a:prstDash val="solid"/>
            <a:miter/>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200" b="1" i="0" u="none" strike="noStrike" kern="1200" cap="none" spc="0" baseline="0" dirty="0">
                <a:solidFill>
                  <a:srgbClr val="000000"/>
                </a:solidFill>
                <a:uFillTx/>
                <a:latin typeface="Aptos" panose="020B0004020202020204" pitchFamily="34" charset="0"/>
              </a:rPr>
              <a:t>Support</a:t>
            </a:r>
          </a:p>
        </p:txBody>
      </p:sp>
      <p:sp>
        <p:nvSpPr>
          <p:cNvPr id="5" name="Rectangle: Rounded Corners 5">
            <a:extLst>
              <a:ext uri="{FF2B5EF4-FFF2-40B4-BE49-F238E27FC236}">
                <a16:creationId xmlns:a16="http://schemas.microsoft.com/office/drawing/2014/main" id="{97286C37-BDFF-F3EF-7099-4E956F8BF81B}"/>
              </a:ext>
            </a:extLst>
          </p:cNvPr>
          <p:cNvSpPr/>
          <p:nvPr/>
        </p:nvSpPr>
        <p:spPr>
          <a:xfrm>
            <a:off x="115735" y="2701896"/>
            <a:ext cx="8484040" cy="3991557"/>
          </a:xfrm>
          <a:custGeom>
            <a:avLst>
              <a:gd name="f0" fmla="val 1449"/>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BE9A86">
              <a:alpha val="8000"/>
            </a:srgbClr>
          </a:solidFill>
          <a:ln w="12701" cap="flat">
            <a:solidFill>
              <a:srgbClr val="8B7061"/>
            </a:solidFill>
            <a:prstDash val="solid"/>
            <a:miter/>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200" b="1" i="0" u="none" strike="noStrike" kern="1200" cap="none" spc="0" baseline="0" dirty="0">
                <a:solidFill>
                  <a:srgbClr val="000000"/>
                </a:solidFill>
                <a:uFillTx/>
                <a:latin typeface="Aptos" panose="020B0004020202020204" pitchFamily="34" charset="0"/>
              </a:rPr>
              <a:t>Project-Level Team</a:t>
            </a:r>
          </a:p>
        </p:txBody>
      </p:sp>
      <p:sp>
        <p:nvSpPr>
          <p:cNvPr id="6" name="Rectangle: Rounded Corners 6">
            <a:extLst>
              <a:ext uri="{FF2B5EF4-FFF2-40B4-BE49-F238E27FC236}">
                <a16:creationId xmlns:a16="http://schemas.microsoft.com/office/drawing/2014/main" id="{4965A141-77F1-CE8C-7F09-1B5D1450B81D}"/>
              </a:ext>
            </a:extLst>
          </p:cNvPr>
          <p:cNvSpPr/>
          <p:nvPr/>
        </p:nvSpPr>
        <p:spPr>
          <a:xfrm>
            <a:off x="9292032" y="1474515"/>
            <a:ext cx="2245309" cy="740636"/>
          </a:xfrm>
          <a:custGeom>
            <a:avLst>
              <a:gd name="f0" fmla="val 26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657780">
              <a:alpha val="10000"/>
            </a:srgbClr>
          </a:solidFill>
          <a:ln w="12701" cap="flat">
            <a:solidFill>
              <a:srgbClr val="8B706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800" b="1" i="0" u="none" strike="noStrike" kern="1200" cap="none" spc="0" baseline="0" dirty="0">
                <a:solidFill>
                  <a:schemeClr val="accent3">
                    <a:lumMod val="60000"/>
                    <a:lumOff val="40000"/>
                  </a:schemeClr>
                </a:solidFill>
                <a:uFillTx/>
                <a:latin typeface="Aptos" panose="020B0004020202020204" pitchFamily="34" charset="0"/>
              </a:rPr>
              <a:t>Publisher</a:t>
            </a:r>
          </a:p>
        </p:txBody>
      </p:sp>
      <p:sp>
        <p:nvSpPr>
          <p:cNvPr id="7" name="Arrow: Left-Right 7">
            <a:extLst>
              <a:ext uri="{FF2B5EF4-FFF2-40B4-BE49-F238E27FC236}">
                <a16:creationId xmlns:a16="http://schemas.microsoft.com/office/drawing/2014/main" id="{6EF7EA09-22B2-4E31-2EBA-8CB8B0445731}"/>
              </a:ext>
            </a:extLst>
          </p:cNvPr>
          <p:cNvSpPr/>
          <p:nvPr/>
        </p:nvSpPr>
        <p:spPr>
          <a:xfrm>
            <a:off x="8207032" y="1716319"/>
            <a:ext cx="1099264" cy="253599"/>
          </a:xfrm>
          <a:custGeom>
            <a:avLst>
              <a:gd name="f9" fmla="val 50000"/>
              <a:gd name="f10" fmla="val 50000"/>
            </a:avLst>
            <a:gdLst>
              <a:gd name="f2" fmla="val 10800000"/>
              <a:gd name="f3" fmla="val 5400000"/>
              <a:gd name="f4" fmla="val 180"/>
              <a:gd name="f5" fmla="val w"/>
              <a:gd name="f6" fmla="val h"/>
              <a:gd name="f7" fmla="val ss"/>
              <a:gd name="f8" fmla="val 0"/>
              <a:gd name="f9" fmla="val 50000"/>
              <a:gd name="f10" fmla="val 50000"/>
              <a:gd name="f11" fmla="+- 0 0 -360"/>
              <a:gd name="f12" fmla="+- 0 0 -180"/>
              <a:gd name="f13" fmla="abs f5"/>
              <a:gd name="f14" fmla="abs f6"/>
              <a:gd name="f15" fmla="abs f7"/>
              <a:gd name="f16" fmla="val f8"/>
              <a:gd name="f17" fmla="val f9"/>
              <a:gd name="f18" fmla="val f10"/>
              <a:gd name="f19" fmla="*/ f11 f2 1"/>
              <a:gd name="f20" fmla="*/ f12 f2 1"/>
              <a:gd name="f21" fmla="?: f13 f5 1"/>
              <a:gd name="f22" fmla="?: f14 f6 1"/>
              <a:gd name="f23" fmla="?: f15 f7 1"/>
              <a:gd name="f24" fmla="*/ f19 1 f4"/>
              <a:gd name="f25" fmla="*/ f20 1 f4"/>
              <a:gd name="f26" fmla="*/ f21 1 21600"/>
              <a:gd name="f27" fmla="*/ f22 1 21600"/>
              <a:gd name="f28" fmla="*/ 21600 f21 1"/>
              <a:gd name="f29" fmla="*/ 21600 f22 1"/>
              <a:gd name="f30" fmla="+- f24 0 f3"/>
              <a:gd name="f31" fmla="+- f25 0 f3"/>
              <a:gd name="f32" fmla="min f27 f26"/>
              <a:gd name="f33" fmla="*/ f28 1 f23"/>
              <a:gd name="f34" fmla="*/ f29 1 f23"/>
              <a:gd name="f35" fmla="val f33"/>
              <a:gd name="f36" fmla="val f34"/>
              <a:gd name="f37" fmla="*/ f16 f32 1"/>
              <a:gd name="f38" fmla="+- f36 0 f16"/>
              <a:gd name="f39" fmla="+- f35 0 f16"/>
              <a:gd name="f40" fmla="*/ f35 f32 1"/>
              <a:gd name="f41" fmla="*/ f36 f32 1"/>
              <a:gd name="f42" fmla="*/ f38 1 2"/>
              <a:gd name="f43" fmla="*/ f39 1 2"/>
              <a:gd name="f44" fmla="min f39 f38"/>
              <a:gd name="f45" fmla="*/ f38 f17 1"/>
              <a:gd name="f46" fmla="+- f16 f42 0"/>
              <a:gd name="f47" fmla="+- f16 f43 0"/>
              <a:gd name="f48" fmla="*/ f44 f18 1"/>
              <a:gd name="f49" fmla="*/ f45 1 200000"/>
              <a:gd name="f50" fmla="*/ f48 1 100000"/>
              <a:gd name="f51" fmla="+- f46 0 f49"/>
              <a:gd name="f52" fmla="+- f46 f49 0"/>
              <a:gd name="f53" fmla="*/ f46 f32 1"/>
              <a:gd name="f54" fmla="*/ f47 f32 1"/>
              <a:gd name="f55" fmla="+- f35 0 f50"/>
              <a:gd name="f56" fmla="*/ f51 f50 1"/>
              <a:gd name="f57" fmla="*/ f51 f32 1"/>
              <a:gd name="f58" fmla="*/ f52 f32 1"/>
              <a:gd name="f59" fmla="*/ f50 f32 1"/>
              <a:gd name="f60" fmla="*/ f56 1 f42"/>
              <a:gd name="f61" fmla="*/ f55 f32 1"/>
              <a:gd name="f62" fmla="+- f50 0 f60"/>
              <a:gd name="f63" fmla="+- f55 f60 0"/>
              <a:gd name="f64" fmla="*/ f62 f32 1"/>
              <a:gd name="f65" fmla="*/ f63 f32 1"/>
            </a:gdLst>
            <a:ahLst/>
            <a:cxnLst>
              <a:cxn ang="3cd4">
                <a:pos x="hc" y="t"/>
              </a:cxn>
              <a:cxn ang="0">
                <a:pos x="r" y="vc"/>
              </a:cxn>
              <a:cxn ang="cd4">
                <a:pos x="hc" y="b"/>
              </a:cxn>
              <a:cxn ang="cd2">
                <a:pos x="l" y="vc"/>
              </a:cxn>
              <a:cxn ang="f30">
                <a:pos x="f61" y="f37"/>
              </a:cxn>
              <a:cxn ang="f30">
                <a:pos x="f54" y="f57"/>
              </a:cxn>
              <a:cxn ang="f30">
                <a:pos x="f59" y="f37"/>
              </a:cxn>
              <a:cxn ang="f31">
                <a:pos x="f59" y="f41"/>
              </a:cxn>
              <a:cxn ang="f31">
                <a:pos x="f54" y="f58"/>
              </a:cxn>
              <a:cxn ang="f31">
                <a:pos x="f61" y="f41"/>
              </a:cxn>
            </a:cxnLst>
            <a:rect l="f64" t="f57" r="f65" b="f58"/>
            <a:pathLst>
              <a:path>
                <a:moveTo>
                  <a:pt x="f37" y="f53"/>
                </a:moveTo>
                <a:lnTo>
                  <a:pt x="f59" y="f37"/>
                </a:lnTo>
                <a:lnTo>
                  <a:pt x="f59" y="f57"/>
                </a:lnTo>
                <a:lnTo>
                  <a:pt x="f61" y="f57"/>
                </a:lnTo>
                <a:lnTo>
                  <a:pt x="f61" y="f37"/>
                </a:lnTo>
                <a:lnTo>
                  <a:pt x="f40" y="f53"/>
                </a:lnTo>
                <a:lnTo>
                  <a:pt x="f61" y="f41"/>
                </a:lnTo>
                <a:lnTo>
                  <a:pt x="f61" y="f58"/>
                </a:lnTo>
                <a:lnTo>
                  <a:pt x="f59" y="f58"/>
                </a:lnTo>
                <a:lnTo>
                  <a:pt x="f59" y="f41"/>
                </a:lnTo>
                <a:close/>
              </a:path>
            </a:pathLst>
          </a:custGeom>
          <a:solidFill>
            <a:srgbClr val="CDDECD"/>
          </a:solidFill>
          <a:ln w="12701" cap="flat">
            <a:solidFill>
              <a:srgbClr val="8B706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Bembo"/>
            </a:endParaRPr>
          </a:p>
        </p:txBody>
      </p:sp>
      <p:sp>
        <p:nvSpPr>
          <p:cNvPr id="8" name="Rectangle 8">
            <a:extLst>
              <a:ext uri="{FF2B5EF4-FFF2-40B4-BE49-F238E27FC236}">
                <a16:creationId xmlns:a16="http://schemas.microsoft.com/office/drawing/2014/main" id="{45ABD5ED-D11E-4AB9-9AEF-24E0CA46CB7F}"/>
              </a:ext>
            </a:extLst>
          </p:cNvPr>
          <p:cNvSpPr/>
          <p:nvPr/>
        </p:nvSpPr>
        <p:spPr>
          <a:xfrm>
            <a:off x="346356" y="3552416"/>
            <a:ext cx="1272991" cy="394444"/>
          </a:xfrm>
          <a:prstGeom prst="rect">
            <a:avLst/>
          </a:prstGeom>
          <a:solidFill>
            <a:srgbClr val="FFFFFF"/>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200" b="1" i="0" u="none" strike="noStrike" kern="1200" cap="none" spc="0" baseline="0" dirty="0">
                <a:solidFill>
                  <a:srgbClr val="000000"/>
                </a:solidFill>
                <a:uFillTx/>
                <a:latin typeface="Aptos" panose="020B0004020202020204" pitchFamily="34" charset="0"/>
              </a:rPr>
              <a:t>Lead (Senior) Programmer</a:t>
            </a:r>
          </a:p>
        </p:txBody>
      </p:sp>
      <p:sp>
        <p:nvSpPr>
          <p:cNvPr id="9" name="Rectangle 9">
            <a:extLst>
              <a:ext uri="{FF2B5EF4-FFF2-40B4-BE49-F238E27FC236}">
                <a16:creationId xmlns:a16="http://schemas.microsoft.com/office/drawing/2014/main" id="{AFAEFC57-980B-024D-D9D4-34FE159AF58B}"/>
              </a:ext>
            </a:extLst>
          </p:cNvPr>
          <p:cNvSpPr/>
          <p:nvPr/>
        </p:nvSpPr>
        <p:spPr>
          <a:xfrm>
            <a:off x="6124102" y="3556897"/>
            <a:ext cx="1272991" cy="394444"/>
          </a:xfrm>
          <a:prstGeom prst="rect">
            <a:avLst/>
          </a:prstGeom>
          <a:solidFill>
            <a:srgbClr val="FFFFFF"/>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200" b="1" i="0" u="none" strike="noStrike" kern="1200" cap="none" spc="0" baseline="0" dirty="0">
                <a:solidFill>
                  <a:srgbClr val="000000"/>
                </a:solidFill>
                <a:uFillTx/>
                <a:latin typeface="Aptos" panose="020B0004020202020204" pitchFamily="34" charset="0"/>
              </a:rPr>
              <a:t>Creative Lead</a:t>
            </a:r>
          </a:p>
        </p:txBody>
      </p:sp>
      <p:sp>
        <p:nvSpPr>
          <p:cNvPr id="10" name="Rectangle 10">
            <a:extLst>
              <a:ext uri="{FF2B5EF4-FFF2-40B4-BE49-F238E27FC236}">
                <a16:creationId xmlns:a16="http://schemas.microsoft.com/office/drawing/2014/main" id="{8AB16AE2-A4D6-6C60-09FB-F62F577938ED}"/>
              </a:ext>
            </a:extLst>
          </p:cNvPr>
          <p:cNvSpPr/>
          <p:nvPr/>
        </p:nvSpPr>
        <p:spPr>
          <a:xfrm>
            <a:off x="3616982" y="3546902"/>
            <a:ext cx="1272991" cy="394444"/>
          </a:xfrm>
          <a:prstGeom prst="rect">
            <a:avLst/>
          </a:prstGeom>
          <a:solidFill>
            <a:srgbClr val="FFFFFF"/>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200" b="1" i="0" u="none" strike="noStrike" kern="1200" cap="none" spc="0" baseline="0" dirty="0">
                <a:solidFill>
                  <a:srgbClr val="000000"/>
                </a:solidFill>
                <a:uFillTx/>
                <a:latin typeface="Aptos" panose="020B0004020202020204" pitchFamily="34" charset="0"/>
              </a:rPr>
              <a:t>Lead (Senior) Designer</a:t>
            </a:r>
          </a:p>
        </p:txBody>
      </p:sp>
      <p:sp>
        <p:nvSpPr>
          <p:cNvPr id="11" name="Rectangle 11">
            <a:extLst>
              <a:ext uri="{FF2B5EF4-FFF2-40B4-BE49-F238E27FC236}">
                <a16:creationId xmlns:a16="http://schemas.microsoft.com/office/drawing/2014/main" id="{D159F2BF-DAC2-CE22-BD38-3689A5BEABCB}"/>
              </a:ext>
            </a:extLst>
          </p:cNvPr>
          <p:cNvSpPr/>
          <p:nvPr/>
        </p:nvSpPr>
        <p:spPr>
          <a:xfrm>
            <a:off x="346356" y="3095911"/>
            <a:ext cx="8028642" cy="394444"/>
          </a:xfrm>
          <a:prstGeom prst="rect">
            <a:avLst/>
          </a:prstGeom>
          <a:solidFill>
            <a:srgbClr val="FFFFFF"/>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200" b="1" i="0" u="none" strike="noStrike" kern="1200" cap="none" spc="0" baseline="0" dirty="0">
                <a:solidFill>
                  <a:srgbClr val="000000"/>
                </a:solidFill>
                <a:uFillTx/>
                <a:latin typeface="Aptos" panose="020B0004020202020204" pitchFamily="34" charset="0"/>
              </a:rPr>
              <a:t>Project Director / Lead</a:t>
            </a:r>
          </a:p>
        </p:txBody>
      </p:sp>
      <p:sp>
        <p:nvSpPr>
          <p:cNvPr id="12" name="Rectangle 12">
            <a:extLst>
              <a:ext uri="{FF2B5EF4-FFF2-40B4-BE49-F238E27FC236}">
                <a16:creationId xmlns:a16="http://schemas.microsoft.com/office/drawing/2014/main" id="{9404A441-1FD6-580B-3839-BE923B55A85E}"/>
              </a:ext>
            </a:extLst>
          </p:cNvPr>
          <p:cNvSpPr/>
          <p:nvPr/>
        </p:nvSpPr>
        <p:spPr>
          <a:xfrm>
            <a:off x="1257766" y="4078342"/>
            <a:ext cx="1395502" cy="452353"/>
          </a:xfrm>
          <a:prstGeom prst="rect">
            <a:avLst/>
          </a:prstGeom>
          <a:solidFill>
            <a:srgbClr val="FFFFFF"/>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100" b="1" i="0" u="none" strike="noStrike" kern="1200" cap="none" spc="0" baseline="0" dirty="0">
                <a:solidFill>
                  <a:srgbClr val="000000"/>
                </a:solidFill>
                <a:uFillTx/>
                <a:latin typeface="Aptos" panose="020B0004020202020204" pitchFamily="34" charset="0"/>
              </a:rPr>
              <a:t>Engine Programmers</a:t>
            </a:r>
          </a:p>
        </p:txBody>
      </p:sp>
      <p:sp>
        <p:nvSpPr>
          <p:cNvPr id="13" name="Rectangle 13">
            <a:extLst>
              <a:ext uri="{FF2B5EF4-FFF2-40B4-BE49-F238E27FC236}">
                <a16:creationId xmlns:a16="http://schemas.microsoft.com/office/drawing/2014/main" id="{30BBD292-406E-B00B-9A3A-28C8093E3B7A}"/>
              </a:ext>
            </a:extLst>
          </p:cNvPr>
          <p:cNvSpPr/>
          <p:nvPr/>
        </p:nvSpPr>
        <p:spPr>
          <a:xfrm>
            <a:off x="1257766" y="5566675"/>
            <a:ext cx="1395502" cy="308920"/>
          </a:xfrm>
          <a:prstGeom prst="rect">
            <a:avLst/>
          </a:prstGeom>
          <a:solidFill>
            <a:srgbClr val="FFFFFF"/>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1200" cap="none" spc="0" baseline="0" dirty="0">
                <a:solidFill>
                  <a:srgbClr val="000000"/>
                </a:solidFill>
                <a:uFillTx/>
                <a:latin typeface="Aptos" panose="020B0004020202020204" pitchFamily="34" charset="0"/>
              </a:rPr>
              <a:t>Tools / Middleware Programmers</a:t>
            </a:r>
          </a:p>
        </p:txBody>
      </p:sp>
      <p:sp>
        <p:nvSpPr>
          <p:cNvPr id="14" name="Rectangle 14">
            <a:extLst>
              <a:ext uri="{FF2B5EF4-FFF2-40B4-BE49-F238E27FC236}">
                <a16:creationId xmlns:a16="http://schemas.microsoft.com/office/drawing/2014/main" id="{BAD5698A-E6EC-CE3E-7F38-7C9E74E50CF9}"/>
              </a:ext>
            </a:extLst>
          </p:cNvPr>
          <p:cNvSpPr/>
          <p:nvPr/>
        </p:nvSpPr>
        <p:spPr>
          <a:xfrm>
            <a:off x="1257766" y="5909163"/>
            <a:ext cx="1395502" cy="385044"/>
          </a:xfrm>
          <a:prstGeom prst="rect">
            <a:avLst/>
          </a:prstGeom>
          <a:solidFill>
            <a:srgbClr val="FFFFFF"/>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100" b="1" i="0" u="none" strike="noStrike" kern="1200" cap="none" spc="0" baseline="0" dirty="0">
                <a:solidFill>
                  <a:srgbClr val="000000"/>
                </a:solidFill>
                <a:uFillTx/>
                <a:latin typeface="Aptos" panose="020B0004020202020204" pitchFamily="34" charset="0"/>
              </a:rPr>
              <a:t>Gameplay Programmers</a:t>
            </a:r>
          </a:p>
        </p:txBody>
      </p:sp>
      <p:sp>
        <p:nvSpPr>
          <p:cNvPr id="15" name="Rectangle 15">
            <a:extLst>
              <a:ext uri="{FF2B5EF4-FFF2-40B4-BE49-F238E27FC236}">
                <a16:creationId xmlns:a16="http://schemas.microsoft.com/office/drawing/2014/main" id="{8A1EC690-70AA-6240-67F5-E19496C286B7}"/>
              </a:ext>
            </a:extLst>
          </p:cNvPr>
          <p:cNvSpPr/>
          <p:nvPr/>
        </p:nvSpPr>
        <p:spPr>
          <a:xfrm>
            <a:off x="2221470" y="4567053"/>
            <a:ext cx="1395502" cy="268979"/>
          </a:xfrm>
          <a:prstGeom prst="rect">
            <a:avLst/>
          </a:prstGeom>
          <a:solidFill>
            <a:srgbClr val="FFFFFF"/>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100" b="1" i="0" u="none" strike="noStrike" kern="1200" cap="none" spc="0" baseline="0" dirty="0">
                <a:solidFill>
                  <a:srgbClr val="000000"/>
                </a:solidFill>
                <a:uFillTx/>
                <a:latin typeface="Aptos" panose="020B0004020202020204" pitchFamily="34" charset="0"/>
              </a:rPr>
              <a:t>AI Programmers</a:t>
            </a:r>
          </a:p>
        </p:txBody>
      </p:sp>
      <p:sp>
        <p:nvSpPr>
          <p:cNvPr id="16" name="Rectangle 16">
            <a:extLst>
              <a:ext uri="{FF2B5EF4-FFF2-40B4-BE49-F238E27FC236}">
                <a16:creationId xmlns:a16="http://schemas.microsoft.com/office/drawing/2014/main" id="{74AD66C5-55CE-2BEE-7C47-97726ACBB078}"/>
              </a:ext>
            </a:extLst>
          </p:cNvPr>
          <p:cNvSpPr/>
          <p:nvPr/>
        </p:nvSpPr>
        <p:spPr>
          <a:xfrm>
            <a:off x="2221470" y="4834615"/>
            <a:ext cx="1395502" cy="417624"/>
          </a:xfrm>
          <a:prstGeom prst="rect">
            <a:avLst/>
          </a:prstGeom>
          <a:solidFill>
            <a:srgbClr val="FFFFFF"/>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100" b="1" i="0" u="none" strike="noStrike" kern="1200" cap="none" spc="0" baseline="0" dirty="0">
                <a:solidFill>
                  <a:srgbClr val="000000"/>
                </a:solidFill>
                <a:uFillTx/>
                <a:latin typeface="Aptos" panose="020B0004020202020204" pitchFamily="34" charset="0"/>
              </a:rPr>
              <a:t>Physics Programmers</a:t>
            </a:r>
          </a:p>
        </p:txBody>
      </p:sp>
      <p:sp>
        <p:nvSpPr>
          <p:cNvPr id="17" name="Rectangle 17">
            <a:extLst>
              <a:ext uri="{FF2B5EF4-FFF2-40B4-BE49-F238E27FC236}">
                <a16:creationId xmlns:a16="http://schemas.microsoft.com/office/drawing/2014/main" id="{081F9E54-BFDA-2B28-60CE-C4542801CA8D}"/>
              </a:ext>
            </a:extLst>
          </p:cNvPr>
          <p:cNvSpPr/>
          <p:nvPr/>
        </p:nvSpPr>
        <p:spPr>
          <a:xfrm>
            <a:off x="2221470" y="6343265"/>
            <a:ext cx="1395502" cy="280949"/>
          </a:xfrm>
          <a:prstGeom prst="rect">
            <a:avLst/>
          </a:prstGeom>
          <a:solidFill>
            <a:srgbClr val="FFFFFF"/>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100" b="1" i="0" u="none" strike="noStrike" kern="1200" cap="none" spc="0" baseline="0" dirty="0">
                <a:solidFill>
                  <a:srgbClr val="000000"/>
                </a:solidFill>
                <a:uFillTx/>
                <a:latin typeface="Aptos" panose="020B0004020202020204" pitchFamily="34" charset="0"/>
              </a:rPr>
              <a:t>Engine Scripting</a:t>
            </a:r>
          </a:p>
        </p:txBody>
      </p:sp>
      <p:sp>
        <p:nvSpPr>
          <p:cNvPr id="18" name="Rectangle 18">
            <a:extLst>
              <a:ext uri="{FF2B5EF4-FFF2-40B4-BE49-F238E27FC236}">
                <a16:creationId xmlns:a16="http://schemas.microsoft.com/office/drawing/2014/main" id="{E22B741F-5FE5-EA09-B593-877A533103CD}"/>
              </a:ext>
            </a:extLst>
          </p:cNvPr>
          <p:cNvSpPr/>
          <p:nvPr/>
        </p:nvSpPr>
        <p:spPr>
          <a:xfrm>
            <a:off x="2221470" y="5241816"/>
            <a:ext cx="1395502" cy="268979"/>
          </a:xfrm>
          <a:prstGeom prst="rect">
            <a:avLst/>
          </a:prstGeom>
          <a:solidFill>
            <a:srgbClr val="FFFFFF"/>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100" b="1" i="0" u="none" strike="noStrike" kern="1200" cap="none" spc="0" baseline="0" dirty="0">
                <a:solidFill>
                  <a:srgbClr val="000000"/>
                </a:solidFill>
                <a:uFillTx/>
                <a:latin typeface="Aptos" panose="020B0004020202020204" pitchFamily="34" charset="0"/>
              </a:rPr>
              <a:t>GPU Programmers</a:t>
            </a:r>
          </a:p>
        </p:txBody>
      </p:sp>
      <p:sp>
        <p:nvSpPr>
          <p:cNvPr id="19" name="Rectangle 19">
            <a:extLst>
              <a:ext uri="{FF2B5EF4-FFF2-40B4-BE49-F238E27FC236}">
                <a16:creationId xmlns:a16="http://schemas.microsoft.com/office/drawing/2014/main" id="{238A5FBA-AE20-5914-1186-284A22B37A25}"/>
              </a:ext>
            </a:extLst>
          </p:cNvPr>
          <p:cNvSpPr/>
          <p:nvPr/>
        </p:nvSpPr>
        <p:spPr>
          <a:xfrm>
            <a:off x="4410352" y="4121292"/>
            <a:ext cx="1395502" cy="354613"/>
          </a:xfrm>
          <a:prstGeom prst="rect">
            <a:avLst/>
          </a:prstGeom>
          <a:solidFill>
            <a:srgbClr val="FFFFFF"/>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100" b="1" i="0" u="none" strike="noStrike" kern="1200" cap="none" spc="0" baseline="0" dirty="0">
                <a:solidFill>
                  <a:srgbClr val="000000"/>
                </a:solidFill>
                <a:uFillTx/>
                <a:latin typeface="Aptos" panose="020B0004020202020204" pitchFamily="34" charset="0"/>
              </a:rPr>
              <a:t>Designers</a:t>
            </a:r>
          </a:p>
        </p:txBody>
      </p:sp>
      <p:sp>
        <p:nvSpPr>
          <p:cNvPr id="20" name="Rectangle 20">
            <a:extLst>
              <a:ext uri="{FF2B5EF4-FFF2-40B4-BE49-F238E27FC236}">
                <a16:creationId xmlns:a16="http://schemas.microsoft.com/office/drawing/2014/main" id="{8CF05EA7-8E54-1C2E-1916-BD6149637B83}"/>
              </a:ext>
            </a:extLst>
          </p:cNvPr>
          <p:cNvSpPr/>
          <p:nvPr/>
        </p:nvSpPr>
        <p:spPr>
          <a:xfrm>
            <a:off x="6979496" y="4080381"/>
            <a:ext cx="1395502" cy="251011"/>
          </a:xfrm>
          <a:prstGeom prst="rect">
            <a:avLst/>
          </a:prstGeom>
          <a:solidFill>
            <a:srgbClr val="FFFFFF"/>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100" b="1" i="0" u="none" strike="noStrike" kern="1200" cap="none" spc="0" baseline="0" dirty="0">
                <a:solidFill>
                  <a:srgbClr val="000000"/>
                </a:solidFill>
                <a:uFillTx/>
                <a:latin typeface="Aptos" panose="020B0004020202020204" pitchFamily="34" charset="0"/>
              </a:rPr>
              <a:t>Concept Artists</a:t>
            </a:r>
          </a:p>
        </p:txBody>
      </p:sp>
      <p:sp>
        <p:nvSpPr>
          <p:cNvPr id="21" name="Rectangle 21">
            <a:extLst>
              <a:ext uri="{FF2B5EF4-FFF2-40B4-BE49-F238E27FC236}">
                <a16:creationId xmlns:a16="http://schemas.microsoft.com/office/drawing/2014/main" id="{483CB6B5-999B-82D8-21DC-3D77F3D5D8E7}"/>
              </a:ext>
            </a:extLst>
          </p:cNvPr>
          <p:cNvSpPr/>
          <p:nvPr/>
        </p:nvSpPr>
        <p:spPr>
          <a:xfrm>
            <a:off x="6979496" y="4380222"/>
            <a:ext cx="1395502" cy="251011"/>
          </a:xfrm>
          <a:prstGeom prst="rect">
            <a:avLst/>
          </a:prstGeom>
          <a:solidFill>
            <a:srgbClr val="FFFFFF"/>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100" b="1" i="0" u="none" strike="noStrike" kern="1200" cap="none" spc="0" baseline="0" dirty="0">
                <a:solidFill>
                  <a:srgbClr val="000000"/>
                </a:solidFill>
                <a:uFillTx/>
                <a:latin typeface="Aptos" panose="020B0004020202020204" pitchFamily="34" charset="0"/>
              </a:rPr>
              <a:t>Texture Artists</a:t>
            </a:r>
          </a:p>
        </p:txBody>
      </p:sp>
      <p:sp>
        <p:nvSpPr>
          <p:cNvPr id="22" name="Rectangle 22">
            <a:extLst>
              <a:ext uri="{FF2B5EF4-FFF2-40B4-BE49-F238E27FC236}">
                <a16:creationId xmlns:a16="http://schemas.microsoft.com/office/drawing/2014/main" id="{3CCA10E4-1806-646C-1188-22AD704FBF21}"/>
              </a:ext>
            </a:extLst>
          </p:cNvPr>
          <p:cNvSpPr/>
          <p:nvPr/>
        </p:nvSpPr>
        <p:spPr>
          <a:xfrm>
            <a:off x="6979496" y="4683428"/>
            <a:ext cx="1395502" cy="251011"/>
          </a:xfrm>
          <a:prstGeom prst="rect">
            <a:avLst/>
          </a:prstGeom>
          <a:solidFill>
            <a:srgbClr val="FFFFFF"/>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100" b="1" i="0" u="none" strike="noStrike" kern="1200" cap="none" spc="0" baseline="0" dirty="0">
                <a:solidFill>
                  <a:srgbClr val="000000"/>
                </a:solidFill>
                <a:uFillTx/>
                <a:latin typeface="Aptos" panose="020B0004020202020204" pitchFamily="34" charset="0"/>
              </a:rPr>
              <a:t>2D Artists</a:t>
            </a:r>
          </a:p>
        </p:txBody>
      </p:sp>
      <p:sp>
        <p:nvSpPr>
          <p:cNvPr id="23" name="Rectangle 23">
            <a:extLst>
              <a:ext uri="{FF2B5EF4-FFF2-40B4-BE49-F238E27FC236}">
                <a16:creationId xmlns:a16="http://schemas.microsoft.com/office/drawing/2014/main" id="{0046C6D4-C6C7-6F6B-E731-C7C47748BFBD}"/>
              </a:ext>
            </a:extLst>
          </p:cNvPr>
          <p:cNvSpPr/>
          <p:nvPr/>
        </p:nvSpPr>
        <p:spPr>
          <a:xfrm>
            <a:off x="6979496" y="4986698"/>
            <a:ext cx="1395502" cy="251011"/>
          </a:xfrm>
          <a:prstGeom prst="rect">
            <a:avLst/>
          </a:prstGeom>
          <a:solidFill>
            <a:srgbClr val="FFFFFF"/>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100" b="1" i="0" u="none" strike="noStrike" kern="1200" cap="none" spc="0" baseline="0" dirty="0">
                <a:solidFill>
                  <a:srgbClr val="000000"/>
                </a:solidFill>
                <a:uFillTx/>
                <a:latin typeface="Aptos" panose="020B0004020202020204" pitchFamily="34" charset="0"/>
              </a:rPr>
              <a:t>3D Modellers</a:t>
            </a:r>
          </a:p>
        </p:txBody>
      </p:sp>
      <p:sp>
        <p:nvSpPr>
          <p:cNvPr id="24" name="Rectangle 24">
            <a:extLst>
              <a:ext uri="{FF2B5EF4-FFF2-40B4-BE49-F238E27FC236}">
                <a16:creationId xmlns:a16="http://schemas.microsoft.com/office/drawing/2014/main" id="{E5F1B316-25C7-7042-071B-77B731756342}"/>
              </a:ext>
            </a:extLst>
          </p:cNvPr>
          <p:cNvSpPr/>
          <p:nvPr/>
        </p:nvSpPr>
        <p:spPr>
          <a:xfrm>
            <a:off x="6979148" y="5285881"/>
            <a:ext cx="1395502" cy="251011"/>
          </a:xfrm>
          <a:prstGeom prst="rect">
            <a:avLst/>
          </a:prstGeom>
          <a:solidFill>
            <a:srgbClr val="FFFFFF"/>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100" b="1" i="0" u="none" strike="noStrike" kern="1200" cap="none" spc="0" baseline="0" dirty="0">
                <a:solidFill>
                  <a:srgbClr val="000000"/>
                </a:solidFill>
                <a:uFillTx/>
                <a:latin typeface="Aptos" panose="020B0004020202020204" pitchFamily="34" charset="0"/>
              </a:rPr>
              <a:t>Animators</a:t>
            </a:r>
          </a:p>
        </p:txBody>
      </p:sp>
      <p:sp>
        <p:nvSpPr>
          <p:cNvPr id="25" name="Rectangle 25">
            <a:extLst>
              <a:ext uri="{FF2B5EF4-FFF2-40B4-BE49-F238E27FC236}">
                <a16:creationId xmlns:a16="http://schemas.microsoft.com/office/drawing/2014/main" id="{C544B432-3D95-7DD0-9D0C-2966C9985100}"/>
              </a:ext>
            </a:extLst>
          </p:cNvPr>
          <p:cNvSpPr/>
          <p:nvPr/>
        </p:nvSpPr>
        <p:spPr>
          <a:xfrm>
            <a:off x="6979496" y="5694023"/>
            <a:ext cx="1395502" cy="200153"/>
          </a:xfrm>
          <a:prstGeom prst="rect">
            <a:avLst/>
          </a:prstGeom>
          <a:solidFill>
            <a:srgbClr val="FFFFFF"/>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100" b="1" i="0" u="none" strike="noStrike" kern="1200" cap="none" spc="0" baseline="0" dirty="0">
                <a:solidFill>
                  <a:srgbClr val="000000"/>
                </a:solidFill>
                <a:uFillTx/>
                <a:latin typeface="Aptos" panose="020B0004020202020204" pitchFamily="34" charset="0"/>
              </a:rPr>
              <a:t>Sound Engineers</a:t>
            </a:r>
          </a:p>
        </p:txBody>
      </p:sp>
      <p:sp>
        <p:nvSpPr>
          <p:cNvPr id="26" name="Rectangle 26">
            <a:extLst>
              <a:ext uri="{FF2B5EF4-FFF2-40B4-BE49-F238E27FC236}">
                <a16:creationId xmlns:a16="http://schemas.microsoft.com/office/drawing/2014/main" id="{6434A3A4-7F3D-BBD3-19D2-9446ABD7934F}"/>
              </a:ext>
            </a:extLst>
          </p:cNvPr>
          <p:cNvSpPr/>
          <p:nvPr/>
        </p:nvSpPr>
        <p:spPr>
          <a:xfrm>
            <a:off x="6979496" y="5935873"/>
            <a:ext cx="1395502" cy="200153"/>
          </a:xfrm>
          <a:prstGeom prst="rect">
            <a:avLst/>
          </a:prstGeom>
          <a:solidFill>
            <a:srgbClr val="FFFFFF"/>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100" b="1" i="0" u="none" strike="noStrike" kern="1200" cap="none" spc="0" baseline="0" dirty="0">
                <a:solidFill>
                  <a:srgbClr val="000000"/>
                </a:solidFill>
                <a:uFillTx/>
                <a:latin typeface="Aptos" panose="020B0004020202020204" pitchFamily="34" charset="0"/>
              </a:rPr>
              <a:t>Composers</a:t>
            </a:r>
          </a:p>
        </p:txBody>
      </p:sp>
      <p:sp>
        <p:nvSpPr>
          <p:cNvPr id="27" name="Rectangle 27">
            <a:extLst>
              <a:ext uri="{FF2B5EF4-FFF2-40B4-BE49-F238E27FC236}">
                <a16:creationId xmlns:a16="http://schemas.microsoft.com/office/drawing/2014/main" id="{A834E139-4A1F-0643-7BED-6527E88A2B02}"/>
              </a:ext>
            </a:extLst>
          </p:cNvPr>
          <p:cNvSpPr/>
          <p:nvPr/>
        </p:nvSpPr>
        <p:spPr>
          <a:xfrm>
            <a:off x="4410352" y="4593945"/>
            <a:ext cx="1395502" cy="354613"/>
          </a:xfrm>
          <a:prstGeom prst="rect">
            <a:avLst/>
          </a:prstGeom>
          <a:solidFill>
            <a:srgbClr val="FFFFFF"/>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100" b="1" i="0" u="none" strike="noStrike" kern="1200" cap="none" spc="0" baseline="0" dirty="0">
                <a:solidFill>
                  <a:srgbClr val="000000"/>
                </a:solidFill>
                <a:uFillTx/>
                <a:latin typeface="Aptos" panose="020B0004020202020204" pitchFamily="34" charset="0"/>
              </a:rPr>
              <a:t>Level</a:t>
            </a:r>
            <a:r>
              <a:rPr lang="en-GB" sz="1100" b="1" i="0" u="none" strike="noStrike" kern="1200" cap="none" spc="0" baseline="0" dirty="0">
                <a:solidFill>
                  <a:srgbClr val="000000"/>
                </a:solidFill>
                <a:uFillTx/>
                <a:latin typeface="Bembo"/>
              </a:rPr>
              <a:t> </a:t>
            </a:r>
            <a:r>
              <a:rPr lang="en-GB" sz="1100" b="1" i="0" u="none" strike="noStrike" kern="1200" cap="none" spc="0" baseline="0" dirty="0">
                <a:solidFill>
                  <a:srgbClr val="000000"/>
                </a:solidFill>
                <a:uFillTx/>
                <a:latin typeface="Aptos" panose="020B0004020202020204" pitchFamily="34" charset="0"/>
              </a:rPr>
              <a:t>designers</a:t>
            </a:r>
          </a:p>
        </p:txBody>
      </p:sp>
      <p:sp>
        <p:nvSpPr>
          <p:cNvPr id="28" name="Rectangle 28">
            <a:extLst>
              <a:ext uri="{FF2B5EF4-FFF2-40B4-BE49-F238E27FC236}">
                <a16:creationId xmlns:a16="http://schemas.microsoft.com/office/drawing/2014/main" id="{3EB6D6AF-8695-FB49-CA0C-0DA86992BCA4}"/>
              </a:ext>
            </a:extLst>
          </p:cNvPr>
          <p:cNvSpPr/>
          <p:nvPr/>
        </p:nvSpPr>
        <p:spPr>
          <a:xfrm>
            <a:off x="9243303" y="3440411"/>
            <a:ext cx="2258668" cy="394444"/>
          </a:xfrm>
          <a:prstGeom prst="rect">
            <a:avLst/>
          </a:prstGeom>
          <a:solidFill>
            <a:srgbClr val="FFFFFF"/>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200" b="1" i="0" u="none" strike="noStrike" kern="1200" cap="none" spc="0" baseline="0" dirty="0">
                <a:solidFill>
                  <a:srgbClr val="000000"/>
                </a:solidFill>
                <a:uFillTx/>
                <a:latin typeface="Aptos" panose="020B0004020202020204" pitchFamily="34" charset="0"/>
              </a:rPr>
              <a:t>QA and Testing</a:t>
            </a:r>
          </a:p>
        </p:txBody>
      </p:sp>
      <p:sp>
        <p:nvSpPr>
          <p:cNvPr id="29" name="Rectangle 29">
            <a:extLst>
              <a:ext uri="{FF2B5EF4-FFF2-40B4-BE49-F238E27FC236}">
                <a16:creationId xmlns:a16="http://schemas.microsoft.com/office/drawing/2014/main" id="{64165CD4-B5CA-7564-1570-028A368A28D8}"/>
              </a:ext>
            </a:extLst>
          </p:cNvPr>
          <p:cNvSpPr/>
          <p:nvPr/>
        </p:nvSpPr>
        <p:spPr>
          <a:xfrm>
            <a:off x="9243303" y="3970416"/>
            <a:ext cx="2258668" cy="394444"/>
          </a:xfrm>
          <a:prstGeom prst="rect">
            <a:avLst/>
          </a:prstGeom>
          <a:solidFill>
            <a:srgbClr val="FFFFFF"/>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200" b="1" i="0" u="none" strike="noStrike" kern="1200" cap="none" spc="0" baseline="0" dirty="0">
                <a:solidFill>
                  <a:srgbClr val="000000"/>
                </a:solidFill>
                <a:uFillTx/>
                <a:latin typeface="Aptos" panose="020B0004020202020204" pitchFamily="34" charset="0"/>
              </a:rPr>
              <a:t>Marketing</a:t>
            </a:r>
          </a:p>
        </p:txBody>
      </p:sp>
      <p:sp>
        <p:nvSpPr>
          <p:cNvPr id="30" name="Rectangle 30">
            <a:extLst>
              <a:ext uri="{FF2B5EF4-FFF2-40B4-BE49-F238E27FC236}">
                <a16:creationId xmlns:a16="http://schemas.microsoft.com/office/drawing/2014/main" id="{B5820C79-0EFA-9F66-6C52-022D4D02A30E}"/>
              </a:ext>
            </a:extLst>
          </p:cNvPr>
          <p:cNvSpPr/>
          <p:nvPr/>
        </p:nvSpPr>
        <p:spPr>
          <a:xfrm>
            <a:off x="9243303" y="4497302"/>
            <a:ext cx="2258668" cy="394444"/>
          </a:xfrm>
          <a:prstGeom prst="rect">
            <a:avLst/>
          </a:prstGeom>
          <a:solidFill>
            <a:srgbClr val="FFFFFF"/>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200" b="1" i="0" u="none" strike="noStrike" kern="1200" cap="none" spc="0" baseline="0" dirty="0">
                <a:solidFill>
                  <a:srgbClr val="000000"/>
                </a:solidFill>
                <a:uFillTx/>
                <a:latin typeface="Aptos" panose="020B0004020202020204" pitchFamily="34" charset="0"/>
              </a:rPr>
              <a:t>Legal</a:t>
            </a:r>
          </a:p>
        </p:txBody>
      </p:sp>
      <p:sp>
        <p:nvSpPr>
          <p:cNvPr id="31" name="Rectangle 31">
            <a:extLst>
              <a:ext uri="{FF2B5EF4-FFF2-40B4-BE49-F238E27FC236}">
                <a16:creationId xmlns:a16="http://schemas.microsoft.com/office/drawing/2014/main" id="{12007515-B729-07F6-0361-24C8FCB6E05B}"/>
              </a:ext>
            </a:extLst>
          </p:cNvPr>
          <p:cNvSpPr/>
          <p:nvPr/>
        </p:nvSpPr>
        <p:spPr>
          <a:xfrm>
            <a:off x="9243303" y="5025130"/>
            <a:ext cx="2258668" cy="394444"/>
          </a:xfrm>
          <a:prstGeom prst="rect">
            <a:avLst/>
          </a:prstGeom>
          <a:solidFill>
            <a:srgbClr val="FFFFFF"/>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200" b="1" i="0" u="none" strike="noStrike" kern="1200" cap="none" spc="0" baseline="0" dirty="0">
                <a:solidFill>
                  <a:srgbClr val="000000"/>
                </a:solidFill>
                <a:uFillTx/>
                <a:latin typeface="Aptos" panose="020B0004020202020204" pitchFamily="34" charset="0"/>
              </a:rPr>
              <a:t>Sub-contracting</a:t>
            </a:r>
          </a:p>
        </p:txBody>
      </p:sp>
      <p:sp>
        <p:nvSpPr>
          <p:cNvPr id="48" name="Rectangle 48">
            <a:extLst>
              <a:ext uri="{FF2B5EF4-FFF2-40B4-BE49-F238E27FC236}">
                <a16:creationId xmlns:a16="http://schemas.microsoft.com/office/drawing/2014/main" id="{ABA3F4E4-A652-C8E6-44B7-9B5E14E313E7}"/>
              </a:ext>
            </a:extLst>
          </p:cNvPr>
          <p:cNvSpPr/>
          <p:nvPr/>
        </p:nvSpPr>
        <p:spPr>
          <a:xfrm>
            <a:off x="5204581" y="1099154"/>
            <a:ext cx="1272991" cy="394444"/>
          </a:xfrm>
          <a:prstGeom prst="rect">
            <a:avLst/>
          </a:prstGeom>
          <a:solidFill>
            <a:srgbClr val="FFFFFF"/>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200" b="1" i="0" u="none" strike="noStrike" kern="1200" cap="none" spc="0" baseline="0" dirty="0">
                <a:solidFill>
                  <a:srgbClr val="000000"/>
                </a:solidFill>
                <a:uFillTx/>
                <a:latin typeface="Aptos" panose="020B0004020202020204" pitchFamily="34" charset="0"/>
              </a:rPr>
              <a:t>Managing Director</a:t>
            </a:r>
          </a:p>
        </p:txBody>
      </p:sp>
      <p:sp>
        <p:nvSpPr>
          <p:cNvPr id="49" name="Rectangle 49">
            <a:extLst>
              <a:ext uri="{FF2B5EF4-FFF2-40B4-BE49-F238E27FC236}">
                <a16:creationId xmlns:a16="http://schemas.microsoft.com/office/drawing/2014/main" id="{96E90641-C5BF-348E-5241-25DC16107000}"/>
              </a:ext>
            </a:extLst>
          </p:cNvPr>
          <p:cNvSpPr/>
          <p:nvPr/>
        </p:nvSpPr>
        <p:spPr>
          <a:xfrm>
            <a:off x="4242377" y="1948293"/>
            <a:ext cx="1272991" cy="394444"/>
          </a:xfrm>
          <a:prstGeom prst="rect">
            <a:avLst/>
          </a:prstGeom>
          <a:solidFill>
            <a:srgbClr val="FFFFFF"/>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200" b="1" i="0" u="none" strike="noStrike" kern="1200" cap="none" spc="0" baseline="0" dirty="0">
                <a:solidFill>
                  <a:srgbClr val="000000"/>
                </a:solidFill>
                <a:uFillTx/>
                <a:latin typeface="Aptos" panose="020B0004020202020204" pitchFamily="34" charset="0"/>
              </a:rPr>
              <a:t>Technical Director</a:t>
            </a:r>
          </a:p>
        </p:txBody>
      </p:sp>
      <p:sp>
        <p:nvSpPr>
          <p:cNvPr id="50" name="Rectangle 50">
            <a:extLst>
              <a:ext uri="{FF2B5EF4-FFF2-40B4-BE49-F238E27FC236}">
                <a16:creationId xmlns:a16="http://schemas.microsoft.com/office/drawing/2014/main" id="{B1E5F745-A080-F3E1-E82E-EBC9467A0F53}"/>
              </a:ext>
            </a:extLst>
          </p:cNvPr>
          <p:cNvSpPr/>
          <p:nvPr/>
        </p:nvSpPr>
        <p:spPr>
          <a:xfrm>
            <a:off x="6241502" y="1948293"/>
            <a:ext cx="1272991" cy="394444"/>
          </a:xfrm>
          <a:prstGeom prst="rect">
            <a:avLst/>
          </a:prstGeom>
          <a:solidFill>
            <a:srgbClr val="FFFFFF"/>
          </a:solidFill>
          <a:ln w="12701" cap="flat">
            <a:solidFill>
              <a:srgbClr val="000000"/>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200" b="1" i="0" u="none" strike="noStrike" kern="1200" cap="none" spc="0" baseline="0" dirty="0">
                <a:solidFill>
                  <a:srgbClr val="000000"/>
                </a:solidFill>
                <a:uFillTx/>
                <a:latin typeface="Aptos" panose="020B0004020202020204" pitchFamily="34" charset="0"/>
              </a:rPr>
              <a:t>Art Director</a:t>
            </a:r>
          </a:p>
        </p:txBody>
      </p:sp>
      <p:sp>
        <p:nvSpPr>
          <p:cNvPr id="51" name="Rectangle 51">
            <a:extLst>
              <a:ext uri="{FF2B5EF4-FFF2-40B4-BE49-F238E27FC236}">
                <a16:creationId xmlns:a16="http://schemas.microsoft.com/office/drawing/2014/main" id="{AE1115D5-0472-381B-6E35-0EC78D9CF438}"/>
              </a:ext>
            </a:extLst>
          </p:cNvPr>
          <p:cNvSpPr/>
          <p:nvPr/>
        </p:nvSpPr>
        <p:spPr>
          <a:xfrm>
            <a:off x="3840452" y="1613056"/>
            <a:ext cx="3913092" cy="852193"/>
          </a:xfrm>
          <a:prstGeom prst="rect">
            <a:avLst/>
          </a:prstGeom>
          <a:noFill/>
          <a:ln w="12701" cap="flat">
            <a:solidFill>
              <a:srgbClr val="000000"/>
            </a:solidFill>
            <a:custDash>
              <a:ds d="300000" sp="300000"/>
            </a:custDash>
            <a:miter/>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200" b="1" i="0" u="none" strike="noStrike" kern="1200" cap="none" spc="0" baseline="0" dirty="0">
                <a:solidFill>
                  <a:srgbClr val="000000"/>
                </a:solidFill>
                <a:uFillTx/>
                <a:latin typeface="Aptos" panose="020B0004020202020204" pitchFamily="34" charset="0"/>
              </a:rPr>
              <a:t>Director of Development</a:t>
            </a:r>
          </a:p>
        </p:txBody>
      </p:sp>
      <p:cxnSp>
        <p:nvCxnSpPr>
          <p:cNvPr id="85" name="Connector: Elbow 84">
            <a:extLst>
              <a:ext uri="{FF2B5EF4-FFF2-40B4-BE49-F238E27FC236}">
                <a16:creationId xmlns:a16="http://schemas.microsoft.com/office/drawing/2014/main" id="{E14D745C-D4C9-7EE1-8EE6-0175749037A6}"/>
              </a:ext>
            </a:extLst>
          </p:cNvPr>
          <p:cNvCxnSpPr/>
          <p:nvPr/>
        </p:nvCxnSpPr>
        <p:spPr>
          <a:xfrm rot="16200000" flipH="1">
            <a:off x="941476" y="3988230"/>
            <a:ext cx="357660" cy="27491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23B53838-4779-7B8A-9432-EED020F0F6C8}"/>
              </a:ext>
            </a:extLst>
          </p:cNvPr>
          <p:cNvCxnSpPr/>
          <p:nvPr/>
        </p:nvCxnSpPr>
        <p:spPr>
          <a:xfrm rot="16200000" flipH="1">
            <a:off x="233171" y="4696535"/>
            <a:ext cx="1774271" cy="27491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Connector: Elbow 86">
            <a:extLst>
              <a:ext uri="{FF2B5EF4-FFF2-40B4-BE49-F238E27FC236}">
                <a16:creationId xmlns:a16="http://schemas.microsoft.com/office/drawing/2014/main" id="{38E25A34-EAF9-A1A3-2510-E5908A7E0DB5}"/>
              </a:ext>
            </a:extLst>
          </p:cNvPr>
          <p:cNvCxnSpPr/>
          <p:nvPr/>
        </p:nvCxnSpPr>
        <p:spPr>
          <a:xfrm rot="16200000" flipH="1">
            <a:off x="-8817" y="4835106"/>
            <a:ext cx="2258247" cy="27491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Connector: Elbow 87">
            <a:extLst>
              <a:ext uri="{FF2B5EF4-FFF2-40B4-BE49-F238E27FC236}">
                <a16:creationId xmlns:a16="http://schemas.microsoft.com/office/drawing/2014/main" id="{D4565B11-9C72-3494-6346-8C33C9189269}"/>
              </a:ext>
            </a:extLst>
          </p:cNvPr>
          <p:cNvCxnSpPr>
            <a:cxnSpLocks/>
          </p:cNvCxnSpPr>
          <p:nvPr/>
        </p:nvCxnSpPr>
        <p:spPr>
          <a:xfrm rot="16200000" flipH="1">
            <a:off x="2003072" y="4483143"/>
            <a:ext cx="170848" cy="26595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Connector: Elbow 88">
            <a:extLst>
              <a:ext uri="{FF2B5EF4-FFF2-40B4-BE49-F238E27FC236}">
                <a16:creationId xmlns:a16="http://schemas.microsoft.com/office/drawing/2014/main" id="{26ECE89E-F77A-0DD3-73D3-12C1FAF20F1E}"/>
              </a:ext>
            </a:extLst>
          </p:cNvPr>
          <p:cNvCxnSpPr>
            <a:cxnSpLocks/>
          </p:cNvCxnSpPr>
          <p:nvPr/>
        </p:nvCxnSpPr>
        <p:spPr>
          <a:xfrm rot="16200000" flipH="1">
            <a:off x="1832129" y="4654086"/>
            <a:ext cx="512735" cy="26595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Connector: Elbow 89">
            <a:extLst>
              <a:ext uri="{FF2B5EF4-FFF2-40B4-BE49-F238E27FC236}">
                <a16:creationId xmlns:a16="http://schemas.microsoft.com/office/drawing/2014/main" id="{38EFC9AB-14DE-F878-E38D-A4B0CBEDDAF3}"/>
              </a:ext>
            </a:extLst>
          </p:cNvPr>
          <p:cNvCxnSpPr>
            <a:cxnSpLocks/>
          </p:cNvCxnSpPr>
          <p:nvPr/>
        </p:nvCxnSpPr>
        <p:spPr>
          <a:xfrm rot="16200000" flipH="1">
            <a:off x="1665692" y="4820523"/>
            <a:ext cx="845609" cy="26595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Connector: Elbow 90">
            <a:extLst>
              <a:ext uri="{FF2B5EF4-FFF2-40B4-BE49-F238E27FC236}">
                <a16:creationId xmlns:a16="http://schemas.microsoft.com/office/drawing/2014/main" id="{78000802-64F9-F307-A535-4A9D97053CE8}"/>
              </a:ext>
            </a:extLst>
          </p:cNvPr>
          <p:cNvCxnSpPr>
            <a:cxnSpLocks/>
          </p:cNvCxnSpPr>
          <p:nvPr/>
        </p:nvCxnSpPr>
        <p:spPr>
          <a:xfrm rot="16200000" flipH="1">
            <a:off x="1993734" y="6255999"/>
            <a:ext cx="189527" cy="26595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Connector: Elbow 91">
            <a:extLst>
              <a:ext uri="{FF2B5EF4-FFF2-40B4-BE49-F238E27FC236}">
                <a16:creationId xmlns:a16="http://schemas.microsoft.com/office/drawing/2014/main" id="{72F6CEA5-508F-9D0E-7736-C3D4CD9C23A6}"/>
              </a:ext>
            </a:extLst>
          </p:cNvPr>
          <p:cNvCxnSpPr>
            <a:cxnSpLocks/>
          </p:cNvCxnSpPr>
          <p:nvPr/>
        </p:nvCxnSpPr>
        <p:spPr>
          <a:xfrm rot="16200000" flipH="1">
            <a:off x="6742772" y="3969169"/>
            <a:ext cx="254547" cy="21889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D5EC271D-9994-D884-D9BA-9A7863116D65}"/>
              </a:ext>
            </a:extLst>
          </p:cNvPr>
          <p:cNvCxnSpPr>
            <a:cxnSpLocks/>
          </p:cNvCxnSpPr>
          <p:nvPr/>
        </p:nvCxnSpPr>
        <p:spPr>
          <a:xfrm rot="16200000" flipH="1">
            <a:off x="6592849" y="4119092"/>
            <a:ext cx="554392" cy="21889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23F1CA81-FE49-E3BF-FBAF-E1A09F7AA789}"/>
              </a:ext>
            </a:extLst>
          </p:cNvPr>
          <p:cNvCxnSpPr>
            <a:cxnSpLocks/>
          </p:cNvCxnSpPr>
          <p:nvPr/>
        </p:nvCxnSpPr>
        <p:spPr>
          <a:xfrm rot="16200000" flipH="1">
            <a:off x="6441247" y="4270694"/>
            <a:ext cx="857597" cy="21889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Connector: Elbow 94">
            <a:extLst>
              <a:ext uri="{FF2B5EF4-FFF2-40B4-BE49-F238E27FC236}">
                <a16:creationId xmlns:a16="http://schemas.microsoft.com/office/drawing/2014/main" id="{3DA5667D-1E21-05D0-9CAA-F875215EF012}"/>
              </a:ext>
            </a:extLst>
          </p:cNvPr>
          <p:cNvCxnSpPr>
            <a:cxnSpLocks/>
          </p:cNvCxnSpPr>
          <p:nvPr/>
        </p:nvCxnSpPr>
        <p:spPr>
          <a:xfrm rot="16200000" flipH="1">
            <a:off x="6289613" y="4422328"/>
            <a:ext cx="1160865" cy="21889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Connector: Elbow 95">
            <a:extLst>
              <a:ext uri="{FF2B5EF4-FFF2-40B4-BE49-F238E27FC236}">
                <a16:creationId xmlns:a16="http://schemas.microsoft.com/office/drawing/2014/main" id="{35757756-8EEC-653A-C154-5E1369D0088D}"/>
              </a:ext>
            </a:extLst>
          </p:cNvPr>
          <p:cNvCxnSpPr>
            <a:cxnSpLocks/>
          </p:cNvCxnSpPr>
          <p:nvPr/>
        </p:nvCxnSpPr>
        <p:spPr>
          <a:xfrm rot="16200000" flipH="1">
            <a:off x="6139849" y="4572092"/>
            <a:ext cx="1460047" cy="21854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CA90FA39-1791-15F8-21EB-C5CF0E02D817}"/>
              </a:ext>
            </a:extLst>
          </p:cNvPr>
          <p:cNvCxnSpPr/>
          <p:nvPr/>
        </p:nvCxnSpPr>
        <p:spPr>
          <a:xfrm rot="16200000" flipH="1">
            <a:off x="5948667" y="4763274"/>
            <a:ext cx="1842756" cy="21889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Connector: Elbow 97">
            <a:extLst>
              <a:ext uri="{FF2B5EF4-FFF2-40B4-BE49-F238E27FC236}">
                <a16:creationId xmlns:a16="http://schemas.microsoft.com/office/drawing/2014/main" id="{E33F10FF-2811-DD4E-9C2A-A93EA63930F1}"/>
              </a:ext>
            </a:extLst>
          </p:cNvPr>
          <p:cNvCxnSpPr/>
          <p:nvPr/>
        </p:nvCxnSpPr>
        <p:spPr>
          <a:xfrm rot="16200000" flipH="1">
            <a:off x="5827741" y="4884200"/>
            <a:ext cx="2084609" cy="21889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 name="Connector: Elbow 98">
            <a:extLst>
              <a:ext uri="{FF2B5EF4-FFF2-40B4-BE49-F238E27FC236}">
                <a16:creationId xmlns:a16="http://schemas.microsoft.com/office/drawing/2014/main" id="{9345BE97-BAFF-D292-F8BD-67E68ED5CCFF}"/>
              </a:ext>
            </a:extLst>
          </p:cNvPr>
          <p:cNvCxnSpPr>
            <a:cxnSpLocks/>
          </p:cNvCxnSpPr>
          <p:nvPr/>
        </p:nvCxnSpPr>
        <p:spPr>
          <a:xfrm rot="16200000" flipH="1">
            <a:off x="4153287" y="4041532"/>
            <a:ext cx="357253" cy="15688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Connector: Elbow 99">
            <a:extLst>
              <a:ext uri="{FF2B5EF4-FFF2-40B4-BE49-F238E27FC236}">
                <a16:creationId xmlns:a16="http://schemas.microsoft.com/office/drawing/2014/main" id="{8E035BA2-1593-E64E-50E5-7E9BCF9513D6}"/>
              </a:ext>
            </a:extLst>
          </p:cNvPr>
          <p:cNvCxnSpPr/>
          <p:nvPr/>
        </p:nvCxnSpPr>
        <p:spPr>
          <a:xfrm rot="16200000" flipH="1">
            <a:off x="3916961" y="4277858"/>
            <a:ext cx="829904" cy="15688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4">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B267D8-9283-B91D-9A8D-8C70ECFDF45F}"/>
              </a:ext>
            </a:extLst>
          </p:cNvPr>
          <p:cNvSpPr txBox="1"/>
          <p:nvPr/>
        </p:nvSpPr>
        <p:spPr>
          <a:xfrm>
            <a:off x="1341123" y="1083737"/>
            <a:ext cx="9509760" cy="369335"/>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dirty="0">
                <a:solidFill>
                  <a:schemeClr val="accent3">
                    <a:lumMod val="60000"/>
                    <a:lumOff val="40000"/>
                  </a:schemeClr>
                </a:solidFill>
                <a:uFillTx/>
                <a:latin typeface="Bembo"/>
              </a:rPr>
              <a:t>• Overview of the Development Process…</a:t>
            </a:r>
          </a:p>
        </p:txBody>
      </p:sp>
      <p:sp>
        <p:nvSpPr>
          <p:cNvPr id="3" name="Oval 2">
            <a:extLst>
              <a:ext uri="{FF2B5EF4-FFF2-40B4-BE49-F238E27FC236}">
                <a16:creationId xmlns:a16="http://schemas.microsoft.com/office/drawing/2014/main" id="{814EA609-E60E-C7DF-EE1E-389773F70FBB}"/>
              </a:ext>
            </a:extLst>
          </p:cNvPr>
          <p:cNvSpPr/>
          <p:nvPr/>
        </p:nvSpPr>
        <p:spPr>
          <a:xfrm>
            <a:off x="1869262" y="1996866"/>
            <a:ext cx="2071564" cy="103577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ADCEBC"/>
          </a:solidFill>
          <a:ln w="12701" cap="flat">
            <a:solidFill>
              <a:srgbClr val="8B706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dirty="0">
                <a:solidFill>
                  <a:srgbClr val="000000"/>
                </a:solidFill>
                <a:uFillTx/>
                <a:latin typeface="Aptos" panose="020B0004020202020204" pitchFamily="34" charset="0"/>
              </a:rPr>
              <a:t>Initial idea / concept</a:t>
            </a:r>
          </a:p>
        </p:txBody>
      </p:sp>
      <p:sp>
        <p:nvSpPr>
          <p:cNvPr id="4" name="Rectangle 3">
            <a:extLst>
              <a:ext uri="{FF2B5EF4-FFF2-40B4-BE49-F238E27FC236}">
                <a16:creationId xmlns:a16="http://schemas.microsoft.com/office/drawing/2014/main" id="{92875150-7EBB-04F2-ACEE-EE7CE143B780}"/>
              </a:ext>
            </a:extLst>
          </p:cNvPr>
          <p:cNvSpPr/>
          <p:nvPr/>
        </p:nvSpPr>
        <p:spPr>
          <a:xfrm>
            <a:off x="1966362" y="3906581"/>
            <a:ext cx="1877354" cy="922492"/>
          </a:xfrm>
          <a:prstGeom prst="rect">
            <a:avLst/>
          </a:prstGeom>
          <a:solidFill>
            <a:srgbClr val="E5D7CF"/>
          </a:solidFill>
          <a:ln w="12701" cap="flat">
            <a:solidFill>
              <a:srgbClr val="8B706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1" i="0" u="none" strike="noStrike" kern="1200" cap="none" spc="0" baseline="0" dirty="0">
                <a:solidFill>
                  <a:srgbClr val="000000"/>
                </a:solidFill>
                <a:uFillTx/>
                <a:latin typeface="Aptos" panose="020B0004020202020204" pitchFamily="34" charset="0"/>
              </a:rPr>
              <a:t>The</a:t>
            </a:r>
            <a:r>
              <a:rPr lang="en-GB" sz="1800" b="1" i="0" u="none" strike="noStrike" kern="1200" cap="none" spc="0" baseline="0" dirty="0">
                <a:solidFill>
                  <a:srgbClr val="000000"/>
                </a:solidFill>
                <a:uFillTx/>
                <a:latin typeface="Bembo"/>
              </a:rPr>
              <a:t> </a:t>
            </a:r>
            <a:r>
              <a:rPr lang="en-GB" sz="1800" b="1" i="0" u="none" strike="noStrike" kern="1200" cap="none" spc="0" baseline="0" dirty="0">
                <a:solidFill>
                  <a:srgbClr val="000000"/>
                </a:solidFill>
                <a:uFillTx/>
                <a:latin typeface="Aptos" panose="020B0004020202020204" pitchFamily="34" charset="0"/>
              </a:rPr>
              <a:t>Pitch</a:t>
            </a:r>
          </a:p>
        </p:txBody>
      </p:sp>
      <p:sp>
        <p:nvSpPr>
          <p:cNvPr id="5" name="Oval 4">
            <a:extLst>
              <a:ext uri="{FF2B5EF4-FFF2-40B4-BE49-F238E27FC236}">
                <a16:creationId xmlns:a16="http://schemas.microsoft.com/office/drawing/2014/main" id="{EC2FD82B-52BD-DEC4-D16D-3961D241FAED}"/>
              </a:ext>
            </a:extLst>
          </p:cNvPr>
          <p:cNvSpPr/>
          <p:nvPr/>
        </p:nvSpPr>
        <p:spPr>
          <a:xfrm>
            <a:off x="5044598" y="1664098"/>
            <a:ext cx="2071564" cy="103577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ADCEBC"/>
          </a:solidFill>
          <a:ln w="12701" cap="flat">
            <a:solidFill>
              <a:srgbClr val="8B706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dirty="0">
                <a:solidFill>
                  <a:srgbClr val="000000"/>
                </a:solidFill>
                <a:uFillTx/>
                <a:latin typeface="Aptos" panose="020B0004020202020204" pitchFamily="34" charset="0"/>
              </a:rPr>
              <a:t>Design</a:t>
            </a:r>
          </a:p>
        </p:txBody>
      </p:sp>
      <p:sp>
        <p:nvSpPr>
          <p:cNvPr id="6" name="Oval 5">
            <a:extLst>
              <a:ext uri="{FF2B5EF4-FFF2-40B4-BE49-F238E27FC236}">
                <a16:creationId xmlns:a16="http://schemas.microsoft.com/office/drawing/2014/main" id="{DD19677F-C310-AA8E-1751-A679E57A53E6}"/>
              </a:ext>
            </a:extLst>
          </p:cNvPr>
          <p:cNvSpPr/>
          <p:nvPr/>
        </p:nvSpPr>
        <p:spPr>
          <a:xfrm>
            <a:off x="5371760" y="3658898"/>
            <a:ext cx="2223855" cy="103577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ADCEBC"/>
          </a:solidFill>
          <a:ln w="12701" cap="flat">
            <a:solidFill>
              <a:srgbClr val="8B706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dirty="0">
                <a:solidFill>
                  <a:srgbClr val="000000"/>
                </a:solidFill>
                <a:uFillTx/>
                <a:latin typeface="Aptos" panose="020B0004020202020204" pitchFamily="34" charset="0"/>
              </a:rPr>
              <a:t>Development/ Prototyping</a:t>
            </a:r>
          </a:p>
        </p:txBody>
      </p:sp>
      <p:sp>
        <p:nvSpPr>
          <p:cNvPr id="7" name="Rectangle 6">
            <a:extLst>
              <a:ext uri="{FF2B5EF4-FFF2-40B4-BE49-F238E27FC236}">
                <a16:creationId xmlns:a16="http://schemas.microsoft.com/office/drawing/2014/main" id="{DBF04C37-01D0-367F-1313-414D652679E8}"/>
              </a:ext>
            </a:extLst>
          </p:cNvPr>
          <p:cNvSpPr/>
          <p:nvPr/>
        </p:nvSpPr>
        <p:spPr>
          <a:xfrm>
            <a:off x="9086008" y="1453073"/>
            <a:ext cx="1877354" cy="922492"/>
          </a:xfrm>
          <a:prstGeom prst="rect">
            <a:avLst/>
          </a:prstGeom>
          <a:solidFill>
            <a:srgbClr val="E5D7CF"/>
          </a:solidFill>
          <a:ln w="12701" cap="flat">
            <a:solidFill>
              <a:srgbClr val="8B706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1" i="0" u="none" strike="noStrike" kern="1200" cap="none" spc="0" baseline="0" dirty="0">
                <a:solidFill>
                  <a:srgbClr val="000000"/>
                </a:solidFill>
                <a:uFillTx/>
                <a:latin typeface="Aptos" panose="020B0004020202020204" pitchFamily="34" charset="0"/>
              </a:rPr>
              <a:t>Pre-Release</a:t>
            </a:r>
          </a:p>
        </p:txBody>
      </p:sp>
      <p:sp>
        <p:nvSpPr>
          <p:cNvPr id="8" name="Rectangle 7">
            <a:extLst>
              <a:ext uri="{FF2B5EF4-FFF2-40B4-BE49-F238E27FC236}">
                <a16:creationId xmlns:a16="http://schemas.microsoft.com/office/drawing/2014/main" id="{2D46D694-D59E-A9C4-306D-A959B2A31DA2}"/>
              </a:ext>
            </a:extLst>
          </p:cNvPr>
          <p:cNvSpPr/>
          <p:nvPr/>
        </p:nvSpPr>
        <p:spPr>
          <a:xfrm>
            <a:off x="8874261" y="4059652"/>
            <a:ext cx="2283302" cy="1247525"/>
          </a:xfrm>
          <a:prstGeom prst="rect">
            <a:avLst/>
          </a:prstGeom>
          <a:solidFill>
            <a:srgbClr val="E5D7CF"/>
          </a:solidFill>
          <a:ln w="12701" cap="flat">
            <a:solidFill>
              <a:srgbClr val="8B706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1" i="0" u="none" strike="noStrike" kern="1200" cap="none" spc="0" baseline="0" dirty="0">
                <a:solidFill>
                  <a:srgbClr val="000000"/>
                </a:solidFill>
                <a:uFillTx/>
                <a:latin typeface="Aptos" panose="020B0004020202020204" pitchFamily="34" charset="0"/>
              </a:rPr>
              <a:t>(“Release To Manufacture”)</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1" i="0" u="none" strike="noStrike" kern="1200" cap="none" spc="0" baseline="0" dirty="0">
                <a:solidFill>
                  <a:srgbClr val="000000"/>
                </a:solidFill>
                <a:uFillTx/>
                <a:latin typeface="Aptos" panose="020B0004020202020204" pitchFamily="34" charset="0"/>
              </a:rPr>
              <a:t>RTM /</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1" i="0" u="none" strike="noStrike" kern="1200" cap="none" spc="0" baseline="0" dirty="0">
                <a:solidFill>
                  <a:srgbClr val="000000"/>
                </a:solidFill>
                <a:uFillTx/>
                <a:latin typeface="Aptos" panose="020B0004020202020204" pitchFamily="34" charset="0"/>
              </a:rPr>
              <a:t>Gold Master</a:t>
            </a:r>
          </a:p>
        </p:txBody>
      </p:sp>
      <p:sp>
        <p:nvSpPr>
          <p:cNvPr id="9" name="TextBox 8">
            <a:extLst>
              <a:ext uri="{FF2B5EF4-FFF2-40B4-BE49-F238E27FC236}">
                <a16:creationId xmlns:a16="http://schemas.microsoft.com/office/drawing/2014/main" id="{EB8A9E22-24C1-5E92-8B18-1D521902A72D}"/>
              </a:ext>
            </a:extLst>
          </p:cNvPr>
          <p:cNvSpPr txBox="1"/>
          <p:nvPr/>
        </p:nvSpPr>
        <p:spPr>
          <a:xfrm>
            <a:off x="3922702" y="3042267"/>
            <a:ext cx="1140979" cy="655451"/>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1" i="0" u="none" strike="noStrike" kern="1200" cap="none" spc="0" baseline="0" dirty="0">
                <a:solidFill>
                  <a:schemeClr val="accent3">
                    <a:lumMod val="60000"/>
                    <a:lumOff val="40000"/>
                  </a:schemeClr>
                </a:solidFill>
                <a:uFillTx/>
                <a:latin typeface="Aptos" panose="020B0004020202020204" pitchFamily="34" charset="0"/>
              </a:rPr>
              <a:t>Funding secured</a:t>
            </a:r>
          </a:p>
        </p:txBody>
      </p:sp>
      <p:sp>
        <p:nvSpPr>
          <p:cNvPr id="10" name="Oval 9">
            <a:extLst>
              <a:ext uri="{FF2B5EF4-FFF2-40B4-BE49-F238E27FC236}">
                <a16:creationId xmlns:a16="http://schemas.microsoft.com/office/drawing/2014/main" id="{A8D36D42-02AF-8BE5-D853-E265044BE47E}"/>
              </a:ext>
            </a:extLst>
          </p:cNvPr>
          <p:cNvSpPr/>
          <p:nvPr/>
        </p:nvSpPr>
        <p:spPr>
          <a:xfrm>
            <a:off x="545759" y="2692432"/>
            <a:ext cx="1433203" cy="711165"/>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ADCEBC"/>
          </a:solidFill>
          <a:ln w="12701" cap="flat">
            <a:solidFill>
              <a:srgbClr val="8B706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0" baseline="0" dirty="0">
                <a:solidFill>
                  <a:srgbClr val="000000"/>
                </a:solidFill>
                <a:uFillTx/>
                <a:latin typeface="Aptos" panose="020B0004020202020204" pitchFamily="34" charset="0"/>
              </a:rPr>
              <a:t>Prototype</a:t>
            </a:r>
          </a:p>
        </p:txBody>
      </p:sp>
      <p:sp>
        <p:nvSpPr>
          <p:cNvPr id="11" name="Oval 10">
            <a:extLst>
              <a:ext uri="{FF2B5EF4-FFF2-40B4-BE49-F238E27FC236}">
                <a16:creationId xmlns:a16="http://schemas.microsoft.com/office/drawing/2014/main" id="{2D4E4EDD-B832-FCAB-366E-3B9E17DFE1C0}"/>
              </a:ext>
            </a:extLst>
          </p:cNvPr>
          <p:cNvSpPr/>
          <p:nvPr/>
        </p:nvSpPr>
        <p:spPr>
          <a:xfrm>
            <a:off x="6745848" y="2354918"/>
            <a:ext cx="1078937" cy="711165"/>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ADCEBC"/>
          </a:solidFill>
          <a:ln w="12701" cap="flat">
            <a:solidFill>
              <a:srgbClr val="8B706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400" b="1" i="0" u="none" strike="noStrike" kern="1200" cap="none" spc="0" baseline="0" dirty="0">
                <a:solidFill>
                  <a:srgbClr val="000000"/>
                </a:solidFill>
                <a:uFillTx/>
                <a:latin typeface="Aptos" panose="020B0004020202020204" pitchFamily="34" charset="0"/>
              </a:rPr>
              <a:t>Review</a:t>
            </a:r>
          </a:p>
        </p:txBody>
      </p:sp>
      <p:sp>
        <p:nvSpPr>
          <p:cNvPr id="12" name="Oval 11">
            <a:extLst>
              <a:ext uri="{FF2B5EF4-FFF2-40B4-BE49-F238E27FC236}">
                <a16:creationId xmlns:a16="http://schemas.microsoft.com/office/drawing/2014/main" id="{BCD6955A-0052-AA36-8D7F-1525162ED2AE}"/>
              </a:ext>
            </a:extLst>
          </p:cNvPr>
          <p:cNvSpPr/>
          <p:nvPr/>
        </p:nvSpPr>
        <p:spPr>
          <a:xfrm>
            <a:off x="6586916" y="4749439"/>
            <a:ext cx="1422852" cy="711165"/>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ADCEBC"/>
          </a:solidFill>
          <a:ln w="12701" cap="flat">
            <a:solidFill>
              <a:srgbClr val="8B706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200" b="1" i="0" u="none" strike="noStrike" kern="1200" cap="none" spc="0" baseline="0" dirty="0">
                <a:solidFill>
                  <a:srgbClr val="000000"/>
                </a:solidFill>
                <a:uFillTx/>
                <a:latin typeface="Aptos" panose="020B0004020202020204" pitchFamily="34" charset="0"/>
              </a:rPr>
              <a:t>Testing</a:t>
            </a:r>
          </a:p>
        </p:txBody>
      </p:sp>
      <p:sp>
        <p:nvSpPr>
          <p:cNvPr id="13" name="Oval 12">
            <a:extLst>
              <a:ext uri="{FF2B5EF4-FFF2-40B4-BE49-F238E27FC236}">
                <a16:creationId xmlns:a16="http://schemas.microsoft.com/office/drawing/2014/main" id="{8C22FF78-3DA7-185B-EA2A-CBB8456A5639}"/>
              </a:ext>
            </a:extLst>
          </p:cNvPr>
          <p:cNvSpPr/>
          <p:nvPr/>
        </p:nvSpPr>
        <p:spPr>
          <a:xfrm>
            <a:off x="5875495" y="5568613"/>
            <a:ext cx="1422852" cy="711165"/>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ADCEBC"/>
          </a:solidFill>
          <a:ln w="12701" cap="flat">
            <a:solidFill>
              <a:srgbClr val="8B706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200" b="1" i="0" u="none" strike="noStrike" kern="1200" cap="none" spc="0" baseline="0" dirty="0">
                <a:solidFill>
                  <a:srgbClr val="000000"/>
                </a:solidFill>
                <a:uFillTx/>
                <a:latin typeface="Aptos" panose="020B0004020202020204" pitchFamily="34" charset="0"/>
              </a:rPr>
              <a:t>Review / Design Eval</a:t>
            </a:r>
          </a:p>
        </p:txBody>
      </p:sp>
      <p:sp>
        <p:nvSpPr>
          <p:cNvPr id="14" name="Oval 13">
            <a:extLst>
              <a:ext uri="{FF2B5EF4-FFF2-40B4-BE49-F238E27FC236}">
                <a16:creationId xmlns:a16="http://schemas.microsoft.com/office/drawing/2014/main" id="{015C1761-0182-6FEB-E6FB-7EB50E732F01}"/>
              </a:ext>
            </a:extLst>
          </p:cNvPr>
          <p:cNvSpPr/>
          <p:nvPr/>
        </p:nvSpPr>
        <p:spPr>
          <a:xfrm>
            <a:off x="4211900" y="5568613"/>
            <a:ext cx="1078937" cy="711165"/>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ADCEBC"/>
          </a:solidFill>
          <a:ln w="12701" cap="flat">
            <a:solidFill>
              <a:srgbClr val="8B706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200" b="1" i="0" u="none" strike="noStrike" kern="1200" cap="none" spc="0" baseline="0" dirty="0">
                <a:solidFill>
                  <a:srgbClr val="000000"/>
                </a:solidFill>
                <a:uFillTx/>
                <a:latin typeface="Aptos" panose="020B0004020202020204" pitchFamily="34" charset="0"/>
              </a:rPr>
              <a:t>Crunch</a:t>
            </a:r>
          </a:p>
        </p:txBody>
      </p:sp>
      <p:sp>
        <p:nvSpPr>
          <p:cNvPr id="15" name="Rectangle 14">
            <a:extLst>
              <a:ext uri="{FF2B5EF4-FFF2-40B4-BE49-F238E27FC236}">
                <a16:creationId xmlns:a16="http://schemas.microsoft.com/office/drawing/2014/main" id="{70900789-05CF-351F-B8C1-837EC4B6EE38}"/>
              </a:ext>
            </a:extLst>
          </p:cNvPr>
          <p:cNvSpPr/>
          <p:nvPr/>
        </p:nvSpPr>
        <p:spPr>
          <a:xfrm>
            <a:off x="4057485" y="4694675"/>
            <a:ext cx="1449826" cy="478185"/>
          </a:xfrm>
          <a:prstGeom prst="rect">
            <a:avLst/>
          </a:prstGeom>
          <a:solidFill>
            <a:srgbClr val="E5D7CF"/>
          </a:solidFill>
          <a:ln w="12701" cap="flat">
            <a:solidFill>
              <a:srgbClr val="8B706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1" i="0" u="none" strike="noStrike" kern="1200" cap="none" spc="0" baseline="0" dirty="0">
                <a:solidFill>
                  <a:srgbClr val="000000"/>
                </a:solidFill>
                <a:uFillTx/>
                <a:latin typeface="Aptos" panose="020B0004020202020204" pitchFamily="34" charset="0"/>
              </a:rPr>
              <a:t>Milestone</a:t>
            </a:r>
          </a:p>
        </p:txBody>
      </p:sp>
      <p:sp>
        <p:nvSpPr>
          <p:cNvPr id="16" name="TextBox 15">
            <a:extLst>
              <a:ext uri="{FF2B5EF4-FFF2-40B4-BE49-F238E27FC236}">
                <a16:creationId xmlns:a16="http://schemas.microsoft.com/office/drawing/2014/main" id="{8432E795-2A20-AEE0-30B1-A1928383B406}"/>
              </a:ext>
            </a:extLst>
          </p:cNvPr>
          <p:cNvSpPr txBox="1"/>
          <p:nvPr/>
        </p:nvSpPr>
        <p:spPr>
          <a:xfrm>
            <a:off x="5012676" y="6274247"/>
            <a:ext cx="2127269" cy="369335"/>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1" i="0" u="none" strike="noStrike" kern="1200" cap="none" spc="0" baseline="0" dirty="0">
                <a:solidFill>
                  <a:schemeClr val="accent3">
                    <a:lumMod val="60000"/>
                    <a:lumOff val="40000"/>
                  </a:schemeClr>
                </a:solidFill>
                <a:uFillTx/>
                <a:latin typeface="Aptos" panose="020B0004020202020204" pitchFamily="34" charset="0"/>
              </a:rPr>
              <a:t>Pending deadline</a:t>
            </a:r>
          </a:p>
        </p:txBody>
      </p:sp>
      <p:cxnSp>
        <p:nvCxnSpPr>
          <p:cNvPr id="17" name="Straight Arrow Connector 16">
            <a:extLst>
              <a:ext uri="{FF2B5EF4-FFF2-40B4-BE49-F238E27FC236}">
                <a16:creationId xmlns:a16="http://schemas.microsoft.com/office/drawing/2014/main" id="{2DCD7436-85FA-30D0-0929-2A305816F53E}"/>
              </a:ext>
            </a:extLst>
          </p:cNvPr>
          <p:cNvCxnSpPr/>
          <p:nvPr/>
        </p:nvCxnSpPr>
        <p:spPr>
          <a:xfrm>
            <a:off x="2905039" y="3032644"/>
            <a:ext cx="0" cy="873937"/>
          </a:xfrm>
          <a:prstGeom prst="straightConnector1">
            <a:avLst/>
          </a:prstGeom>
          <a:noFill/>
          <a:ln w="6345" cap="flat">
            <a:solidFill>
              <a:srgbClr val="BE9A86"/>
            </a:solidFill>
            <a:prstDash val="solid"/>
            <a:miter/>
            <a:tailEnd type="arrow"/>
          </a:ln>
        </p:spPr>
      </p:cxnSp>
      <p:cxnSp>
        <p:nvCxnSpPr>
          <p:cNvPr id="18" name="Connector: Curved 17">
            <a:extLst>
              <a:ext uri="{FF2B5EF4-FFF2-40B4-BE49-F238E27FC236}">
                <a16:creationId xmlns:a16="http://schemas.microsoft.com/office/drawing/2014/main" id="{2CC8F278-DAF5-2F52-904D-7B9D34D705A9}"/>
              </a:ext>
            </a:extLst>
          </p:cNvPr>
          <p:cNvCxnSpPr>
            <a:cxnSpLocks/>
            <a:endCxn id="5" idx="3"/>
          </p:cNvCxnSpPr>
          <p:nvPr/>
        </p:nvCxnSpPr>
        <p:spPr>
          <a:xfrm rot="5400000" flipH="1" flipV="1">
            <a:off x="3351239" y="2674464"/>
            <a:ext cx="2185836" cy="1200882"/>
          </a:xfrm>
          <a:prstGeom prst="curvedConnector2">
            <a:avLst/>
          </a:prstGeom>
          <a:noFill/>
          <a:ln w="6345" cap="flat">
            <a:solidFill>
              <a:srgbClr val="BE9A86"/>
            </a:solidFill>
            <a:prstDash val="solid"/>
            <a:miter/>
            <a:tailEnd type="arrow"/>
          </a:ln>
        </p:spPr>
      </p:cxnSp>
      <p:cxnSp>
        <p:nvCxnSpPr>
          <p:cNvPr id="19" name="Straight Arrow Connector 18">
            <a:extLst>
              <a:ext uri="{FF2B5EF4-FFF2-40B4-BE49-F238E27FC236}">
                <a16:creationId xmlns:a16="http://schemas.microsoft.com/office/drawing/2014/main" id="{E81C75F2-844B-1D11-C16E-B1B0ADEE0232}"/>
              </a:ext>
            </a:extLst>
          </p:cNvPr>
          <p:cNvCxnSpPr>
            <a:cxnSpLocks/>
            <a:stCxn id="5" idx="2"/>
            <a:endCxn id="6" idx="0"/>
          </p:cNvCxnSpPr>
          <p:nvPr/>
        </p:nvCxnSpPr>
        <p:spPr>
          <a:xfrm>
            <a:off x="6080380" y="2699875"/>
            <a:ext cx="403308" cy="959023"/>
          </a:xfrm>
          <a:prstGeom prst="straightConnector1">
            <a:avLst/>
          </a:prstGeom>
          <a:noFill/>
          <a:ln w="6345" cap="flat">
            <a:solidFill>
              <a:srgbClr val="BE9A86"/>
            </a:solidFill>
            <a:prstDash val="solid"/>
            <a:miter/>
            <a:tailEnd type="arrow"/>
          </a:ln>
        </p:spPr>
      </p:cxnSp>
      <p:cxnSp>
        <p:nvCxnSpPr>
          <p:cNvPr id="20" name="Connector: Curved 19">
            <a:extLst>
              <a:ext uri="{FF2B5EF4-FFF2-40B4-BE49-F238E27FC236}">
                <a16:creationId xmlns:a16="http://schemas.microsoft.com/office/drawing/2014/main" id="{2CBC28B1-C295-9054-4ED1-793177E15537}"/>
              </a:ext>
            </a:extLst>
          </p:cNvPr>
          <p:cNvCxnSpPr>
            <a:cxnSpLocks/>
            <a:stCxn id="6" idx="1"/>
            <a:endCxn id="7" idx="1"/>
          </p:cNvCxnSpPr>
          <p:nvPr/>
        </p:nvCxnSpPr>
        <p:spPr>
          <a:xfrm flipV="1">
            <a:off x="7595615" y="1914319"/>
            <a:ext cx="1490393" cy="2262468"/>
          </a:xfrm>
          <a:prstGeom prst="curvedConnector3">
            <a:avLst>
              <a:gd name="adj1" fmla="val 50000"/>
            </a:avLst>
          </a:prstGeom>
          <a:noFill/>
          <a:ln w="6345" cap="flat">
            <a:solidFill>
              <a:srgbClr val="BE9A86"/>
            </a:solidFill>
            <a:prstDash val="solid"/>
            <a:miter/>
            <a:tailEnd type="arrow"/>
          </a:ln>
        </p:spPr>
      </p:cxnSp>
      <p:cxnSp>
        <p:nvCxnSpPr>
          <p:cNvPr id="21" name="Connector: Curved 20">
            <a:extLst>
              <a:ext uri="{FF2B5EF4-FFF2-40B4-BE49-F238E27FC236}">
                <a16:creationId xmlns:a16="http://schemas.microsoft.com/office/drawing/2014/main" id="{B6B37A02-9DC2-4FEA-9408-F41B4E8BCFBB}"/>
              </a:ext>
            </a:extLst>
          </p:cNvPr>
          <p:cNvCxnSpPr>
            <a:cxnSpLocks/>
            <a:endCxn id="10" idx="6"/>
          </p:cNvCxnSpPr>
          <p:nvPr/>
        </p:nvCxnSpPr>
        <p:spPr>
          <a:xfrm rot="10800000" flipV="1">
            <a:off x="1769074" y="3032633"/>
            <a:ext cx="1135966" cy="266815"/>
          </a:xfrm>
          <a:prstGeom prst="curvedConnector4">
            <a:avLst>
              <a:gd name="adj1" fmla="val 40762"/>
              <a:gd name="adj2" fmla="val 224711"/>
            </a:avLst>
          </a:prstGeom>
          <a:noFill/>
          <a:ln w="6345" cap="flat">
            <a:solidFill>
              <a:srgbClr val="BE9A86"/>
            </a:solidFill>
            <a:prstDash val="solid"/>
            <a:miter/>
            <a:tailEnd type="arrow"/>
          </a:ln>
        </p:spPr>
      </p:cxnSp>
      <p:cxnSp>
        <p:nvCxnSpPr>
          <p:cNvPr id="22" name="Connector: Curved 21">
            <a:extLst>
              <a:ext uri="{FF2B5EF4-FFF2-40B4-BE49-F238E27FC236}">
                <a16:creationId xmlns:a16="http://schemas.microsoft.com/office/drawing/2014/main" id="{326C970D-5503-7EF0-E5AA-81DFDD17529A}"/>
              </a:ext>
            </a:extLst>
          </p:cNvPr>
          <p:cNvCxnSpPr>
            <a:cxnSpLocks/>
            <a:endCxn id="3" idx="3"/>
          </p:cNvCxnSpPr>
          <p:nvPr/>
        </p:nvCxnSpPr>
        <p:spPr>
          <a:xfrm flipV="1">
            <a:off x="1262365" y="2514755"/>
            <a:ext cx="606897" cy="177685"/>
          </a:xfrm>
          <a:prstGeom prst="curvedConnector3">
            <a:avLst/>
          </a:prstGeom>
          <a:noFill/>
          <a:ln w="6345" cap="flat">
            <a:solidFill>
              <a:srgbClr val="BE9A86"/>
            </a:solidFill>
            <a:prstDash val="solid"/>
            <a:miter/>
            <a:tailEnd type="arrow"/>
          </a:ln>
        </p:spPr>
      </p:cxnSp>
      <p:cxnSp>
        <p:nvCxnSpPr>
          <p:cNvPr id="23" name="Connector: Curved 22">
            <a:extLst>
              <a:ext uri="{FF2B5EF4-FFF2-40B4-BE49-F238E27FC236}">
                <a16:creationId xmlns:a16="http://schemas.microsoft.com/office/drawing/2014/main" id="{60ACAF57-950D-F8DA-9AAE-BB8BA64CC9D9}"/>
              </a:ext>
            </a:extLst>
          </p:cNvPr>
          <p:cNvCxnSpPr>
            <a:cxnSpLocks/>
            <a:stCxn id="5" idx="2"/>
            <a:endCxn id="11" idx="2"/>
          </p:cNvCxnSpPr>
          <p:nvPr/>
        </p:nvCxnSpPr>
        <p:spPr>
          <a:xfrm rot="16200000" flipH="1">
            <a:off x="6499744" y="2280510"/>
            <a:ext cx="366208" cy="1204937"/>
          </a:xfrm>
          <a:prstGeom prst="curvedConnector3">
            <a:avLst>
              <a:gd name="adj1" fmla="val 185729"/>
            </a:avLst>
          </a:prstGeom>
          <a:noFill/>
          <a:ln w="6345" cap="flat">
            <a:solidFill>
              <a:srgbClr val="BE9A86"/>
            </a:solidFill>
            <a:prstDash val="solid"/>
            <a:miter/>
            <a:tailEnd type="arrow"/>
          </a:ln>
        </p:spPr>
      </p:cxnSp>
      <p:cxnSp>
        <p:nvCxnSpPr>
          <p:cNvPr id="24" name="Connector: Curved 23">
            <a:extLst>
              <a:ext uri="{FF2B5EF4-FFF2-40B4-BE49-F238E27FC236}">
                <a16:creationId xmlns:a16="http://schemas.microsoft.com/office/drawing/2014/main" id="{8025CA4E-CE1D-F323-C340-88AC35023199}"/>
              </a:ext>
            </a:extLst>
          </p:cNvPr>
          <p:cNvCxnSpPr>
            <a:stCxn id="11" idx="7"/>
            <a:endCxn id="5" idx="0"/>
          </p:cNvCxnSpPr>
          <p:nvPr/>
        </p:nvCxnSpPr>
        <p:spPr>
          <a:xfrm rot="16200000" flipV="1">
            <a:off x="6476095" y="1268383"/>
            <a:ext cx="794968" cy="1586398"/>
          </a:xfrm>
          <a:prstGeom prst="curvedConnector3">
            <a:avLst>
              <a:gd name="adj1" fmla="val 123644"/>
            </a:avLst>
          </a:prstGeom>
          <a:noFill/>
          <a:ln w="6345" cap="flat">
            <a:solidFill>
              <a:srgbClr val="BE9A86"/>
            </a:solidFill>
            <a:prstDash val="solid"/>
            <a:miter/>
            <a:tailEnd type="arrow"/>
          </a:ln>
        </p:spPr>
      </p:cxnSp>
      <p:cxnSp>
        <p:nvCxnSpPr>
          <p:cNvPr id="25" name="Straight Arrow Connector 24">
            <a:extLst>
              <a:ext uri="{FF2B5EF4-FFF2-40B4-BE49-F238E27FC236}">
                <a16:creationId xmlns:a16="http://schemas.microsoft.com/office/drawing/2014/main" id="{3D64A316-7E0A-0194-3347-74D55CCBFFD7}"/>
              </a:ext>
            </a:extLst>
          </p:cNvPr>
          <p:cNvCxnSpPr>
            <a:cxnSpLocks/>
            <a:stCxn id="6" idx="1"/>
          </p:cNvCxnSpPr>
          <p:nvPr/>
        </p:nvCxnSpPr>
        <p:spPr>
          <a:xfrm>
            <a:off x="7595615" y="4176787"/>
            <a:ext cx="1278646" cy="506632"/>
          </a:xfrm>
          <a:prstGeom prst="straightConnector1">
            <a:avLst/>
          </a:prstGeom>
          <a:noFill/>
          <a:ln w="6345" cap="flat">
            <a:solidFill>
              <a:srgbClr val="BE9A86"/>
            </a:solidFill>
            <a:prstDash val="solid"/>
            <a:miter/>
            <a:tailEnd type="arrow"/>
          </a:ln>
        </p:spPr>
      </p:cxnSp>
      <p:cxnSp>
        <p:nvCxnSpPr>
          <p:cNvPr id="26" name="Connector: Curved 25">
            <a:extLst>
              <a:ext uri="{FF2B5EF4-FFF2-40B4-BE49-F238E27FC236}">
                <a16:creationId xmlns:a16="http://schemas.microsoft.com/office/drawing/2014/main" id="{CF964FC2-5EE9-0AFF-BEE0-C5B4948899D9}"/>
              </a:ext>
            </a:extLst>
          </p:cNvPr>
          <p:cNvCxnSpPr>
            <a:cxnSpLocks/>
            <a:stCxn id="7" idx="2"/>
            <a:endCxn id="6" idx="7"/>
          </p:cNvCxnSpPr>
          <p:nvPr/>
        </p:nvCxnSpPr>
        <p:spPr>
          <a:xfrm rot="5400000">
            <a:off x="7929803" y="1715701"/>
            <a:ext cx="1435019" cy="2754746"/>
          </a:xfrm>
          <a:prstGeom prst="curvedConnector3">
            <a:avLst>
              <a:gd name="adj1" fmla="val 50000"/>
            </a:avLst>
          </a:prstGeom>
          <a:noFill/>
          <a:ln w="6345" cap="flat">
            <a:solidFill>
              <a:srgbClr val="BE9A86"/>
            </a:solidFill>
            <a:prstDash val="solid"/>
            <a:miter/>
            <a:tailEnd type="arrow"/>
          </a:ln>
        </p:spPr>
      </p:cxnSp>
      <p:cxnSp>
        <p:nvCxnSpPr>
          <p:cNvPr id="27" name="Connector: Curved 26">
            <a:extLst>
              <a:ext uri="{FF2B5EF4-FFF2-40B4-BE49-F238E27FC236}">
                <a16:creationId xmlns:a16="http://schemas.microsoft.com/office/drawing/2014/main" id="{D82DA9DA-7981-D2C9-82D8-D237A6C745A2}"/>
              </a:ext>
            </a:extLst>
          </p:cNvPr>
          <p:cNvCxnSpPr>
            <a:cxnSpLocks/>
            <a:stCxn id="6" idx="1"/>
            <a:endCxn id="12" idx="7"/>
          </p:cNvCxnSpPr>
          <p:nvPr/>
        </p:nvCxnSpPr>
        <p:spPr>
          <a:xfrm>
            <a:off x="7595615" y="4176787"/>
            <a:ext cx="205781" cy="676800"/>
          </a:xfrm>
          <a:prstGeom prst="curvedConnector2">
            <a:avLst/>
          </a:prstGeom>
          <a:noFill/>
          <a:ln w="6345" cap="flat">
            <a:solidFill>
              <a:srgbClr val="BE9A86"/>
            </a:solidFill>
            <a:prstDash val="solid"/>
            <a:miter/>
            <a:tailEnd type="arrow"/>
          </a:ln>
        </p:spPr>
      </p:cxnSp>
      <p:cxnSp>
        <p:nvCxnSpPr>
          <p:cNvPr id="28" name="Connector: Curved 27">
            <a:extLst>
              <a:ext uri="{FF2B5EF4-FFF2-40B4-BE49-F238E27FC236}">
                <a16:creationId xmlns:a16="http://schemas.microsoft.com/office/drawing/2014/main" id="{A8BC3D86-2E64-0860-9A57-B2F64D0FA6EF}"/>
              </a:ext>
            </a:extLst>
          </p:cNvPr>
          <p:cNvCxnSpPr>
            <a:stCxn id="12" idx="6"/>
            <a:endCxn id="13" idx="1"/>
          </p:cNvCxnSpPr>
          <p:nvPr/>
        </p:nvCxnSpPr>
        <p:spPr>
          <a:xfrm rot="5400000">
            <a:off x="7266002" y="5388802"/>
            <a:ext cx="567740" cy="503049"/>
          </a:xfrm>
          <a:prstGeom prst="curvedConnector2">
            <a:avLst/>
          </a:prstGeom>
          <a:noFill/>
          <a:ln w="6345" cap="flat">
            <a:solidFill>
              <a:srgbClr val="BE9A86"/>
            </a:solidFill>
            <a:prstDash val="solid"/>
            <a:miter/>
            <a:tailEnd type="arrow"/>
          </a:ln>
        </p:spPr>
      </p:cxnSp>
      <p:cxnSp>
        <p:nvCxnSpPr>
          <p:cNvPr id="29" name="Connector: Curved 28">
            <a:extLst>
              <a:ext uri="{FF2B5EF4-FFF2-40B4-BE49-F238E27FC236}">
                <a16:creationId xmlns:a16="http://schemas.microsoft.com/office/drawing/2014/main" id="{57167A10-8C8B-AA9B-4D4F-3F4645929D6D}"/>
              </a:ext>
            </a:extLst>
          </p:cNvPr>
          <p:cNvCxnSpPr>
            <a:stCxn id="13" idx="3"/>
            <a:endCxn id="14" idx="1"/>
          </p:cNvCxnSpPr>
          <p:nvPr/>
        </p:nvCxnSpPr>
        <p:spPr>
          <a:xfrm rot="10800000">
            <a:off x="5290837" y="5924196"/>
            <a:ext cx="584658" cy="12700"/>
          </a:xfrm>
          <a:prstGeom prst="curvedConnector3">
            <a:avLst>
              <a:gd name="adj1" fmla="val 50000"/>
            </a:avLst>
          </a:prstGeom>
          <a:noFill/>
          <a:ln w="6345" cap="flat">
            <a:solidFill>
              <a:srgbClr val="BE9A86"/>
            </a:solidFill>
            <a:prstDash val="solid"/>
            <a:miter/>
            <a:tailEnd type="arrow"/>
          </a:ln>
        </p:spPr>
      </p:cxnSp>
      <p:cxnSp>
        <p:nvCxnSpPr>
          <p:cNvPr id="30" name="Connector: Curved 29">
            <a:extLst>
              <a:ext uri="{FF2B5EF4-FFF2-40B4-BE49-F238E27FC236}">
                <a16:creationId xmlns:a16="http://schemas.microsoft.com/office/drawing/2014/main" id="{01E9B838-AD6C-453A-98EF-D351B558D499}"/>
              </a:ext>
            </a:extLst>
          </p:cNvPr>
          <p:cNvCxnSpPr>
            <a:cxnSpLocks/>
            <a:stCxn id="14" idx="3"/>
            <a:endCxn id="15" idx="1"/>
          </p:cNvCxnSpPr>
          <p:nvPr/>
        </p:nvCxnSpPr>
        <p:spPr>
          <a:xfrm rot="10800000">
            <a:off x="4057486" y="4933768"/>
            <a:ext cx="154415" cy="990428"/>
          </a:xfrm>
          <a:prstGeom prst="curvedConnector3">
            <a:avLst>
              <a:gd name="adj1" fmla="val 248043"/>
            </a:avLst>
          </a:prstGeom>
          <a:noFill/>
          <a:ln w="6345" cap="flat">
            <a:solidFill>
              <a:srgbClr val="BE9A86"/>
            </a:solidFill>
            <a:prstDash val="solid"/>
            <a:miter/>
            <a:tailEnd type="arrow"/>
          </a:ln>
        </p:spPr>
      </p:cxnSp>
      <p:cxnSp>
        <p:nvCxnSpPr>
          <p:cNvPr id="31" name="Connector: Curved 30">
            <a:extLst>
              <a:ext uri="{FF2B5EF4-FFF2-40B4-BE49-F238E27FC236}">
                <a16:creationId xmlns:a16="http://schemas.microsoft.com/office/drawing/2014/main" id="{9DDA04DB-207C-D9F5-3696-B4C6CAE83E30}"/>
              </a:ext>
            </a:extLst>
          </p:cNvPr>
          <p:cNvCxnSpPr>
            <a:cxnSpLocks/>
            <a:stCxn id="15" idx="0"/>
            <a:endCxn id="6" idx="3"/>
          </p:cNvCxnSpPr>
          <p:nvPr/>
        </p:nvCxnSpPr>
        <p:spPr>
          <a:xfrm rot="5400000" flipH="1" flipV="1">
            <a:off x="4818135" y="4141050"/>
            <a:ext cx="517888" cy="589362"/>
          </a:xfrm>
          <a:prstGeom prst="curvedConnector2">
            <a:avLst/>
          </a:prstGeom>
          <a:noFill/>
          <a:ln w="6345" cap="flat">
            <a:solidFill>
              <a:srgbClr val="BE9A86"/>
            </a:solidFill>
            <a:prstDash val="solid"/>
            <a:miter/>
            <a:tailEnd type="arrow"/>
          </a:ln>
        </p:spPr>
      </p:cxnSp>
      <p:cxnSp>
        <p:nvCxnSpPr>
          <p:cNvPr id="32" name="Connector: Curved 31">
            <a:extLst>
              <a:ext uri="{FF2B5EF4-FFF2-40B4-BE49-F238E27FC236}">
                <a16:creationId xmlns:a16="http://schemas.microsoft.com/office/drawing/2014/main" id="{F9DF1392-544A-BEE3-7B95-EEED23C2911E}"/>
              </a:ext>
            </a:extLst>
          </p:cNvPr>
          <p:cNvCxnSpPr>
            <a:cxnSpLocks/>
            <a:stCxn id="13" idx="3"/>
            <a:endCxn id="6" idx="5"/>
          </p:cNvCxnSpPr>
          <p:nvPr/>
        </p:nvCxnSpPr>
        <p:spPr>
          <a:xfrm rot="10800000">
            <a:off x="5697437" y="4542990"/>
            <a:ext cx="178059" cy="1381207"/>
          </a:xfrm>
          <a:prstGeom prst="curvedConnector2">
            <a:avLst/>
          </a:prstGeom>
          <a:noFill/>
          <a:ln w="6345" cap="flat">
            <a:solidFill>
              <a:srgbClr val="BE9A86"/>
            </a:solidFill>
            <a:prstDash val="solid"/>
            <a:miter/>
            <a:tailEnd type="arrow"/>
          </a:ln>
        </p:spPr>
      </p:cxnSp>
      <p:sp>
        <p:nvSpPr>
          <p:cNvPr id="33" name="Title 1">
            <a:extLst>
              <a:ext uri="{FF2B5EF4-FFF2-40B4-BE49-F238E27FC236}">
                <a16:creationId xmlns:a16="http://schemas.microsoft.com/office/drawing/2014/main" id="{5AA151AF-33A7-B11D-763F-A41E4071BF4F}"/>
              </a:ext>
            </a:extLst>
          </p:cNvPr>
          <p:cNvSpPr txBox="1"/>
          <p:nvPr/>
        </p:nvSpPr>
        <p:spPr>
          <a:xfrm>
            <a:off x="1028700" y="349136"/>
            <a:ext cx="10134596" cy="632472"/>
          </a:xfrm>
          <a:prstGeom prst="rect">
            <a:avLst/>
          </a:prstGeom>
          <a:noFill/>
          <a:ln cap="flat">
            <a:noFill/>
          </a:ln>
        </p:spPr>
        <p:txBody>
          <a:bodyPr vert="horz" wrap="square" lIns="91440" tIns="45720" rIns="91440" bIns="45720" anchor="t" anchorCtr="1" compatLnSpc="1">
            <a:noAutofit/>
          </a:bodyPr>
          <a:lstStyle/>
          <a:p>
            <a:pPr marL="0" marR="0" lvl="0" indent="0" algn="ctr" defTabSz="914400" rtl="0" fontAlgn="auto" hangingPunct="1">
              <a:lnSpc>
                <a:spcPct val="110000"/>
              </a:lnSpc>
              <a:spcBef>
                <a:spcPts val="0"/>
              </a:spcBef>
              <a:spcAft>
                <a:spcPts val="0"/>
              </a:spcAft>
              <a:buNone/>
              <a:tabLst/>
              <a:defRPr sz="1800" b="0" i="0" u="none" strike="noStrike" kern="0" cap="none" spc="0" baseline="0">
                <a:solidFill>
                  <a:srgbClr val="000000"/>
                </a:solidFill>
                <a:uFillTx/>
              </a:defRPr>
            </a:pPr>
            <a:r>
              <a:rPr lang="en-GB" sz="3200" b="0" i="0" u="none" strike="noStrike" kern="1200" cap="none" spc="0" baseline="0" dirty="0">
                <a:solidFill>
                  <a:schemeClr val="accent3">
                    <a:lumMod val="60000"/>
                    <a:lumOff val="40000"/>
                  </a:schemeClr>
                </a:solidFill>
                <a:uFillTx/>
                <a:latin typeface="Bembo"/>
              </a:rPr>
              <a:t>RECAP – Development Process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8541A35-5633-74B0-4295-4002F5E124BD}"/>
              </a:ext>
            </a:extLst>
          </p:cNvPr>
          <p:cNvSpPr txBox="1"/>
          <p:nvPr/>
        </p:nvSpPr>
        <p:spPr>
          <a:xfrm>
            <a:off x="1341120" y="1083742"/>
            <a:ext cx="9509760" cy="369332"/>
          </a:xfrm>
          <a:prstGeom prst="rect">
            <a:avLst/>
          </a:prstGeom>
          <a:noFill/>
        </p:spPr>
        <p:txBody>
          <a:bodyPr wrap="square" rtlCol="0">
            <a:spAutoFit/>
          </a:bodyPr>
          <a:lstStyle/>
          <a:p>
            <a:r>
              <a:rPr lang="en-GB" b="1" dirty="0"/>
              <a:t>1. Pre-Production</a:t>
            </a:r>
          </a:p>
        </p:txBody>
      </p:sp>
      <p:sp>
        <p:nvSpPr>
          <p:cNvPr id="17" name="TextBox 16">
            <a:extLst>
              <a:ext uri="{FF2B5EF4-FFF2-40B4-BE49-F238E27FC236}">
                <a16:creationId xmlns:a16="http://schemas.microsoft.com/office/drawing/2014/main" id="{C99EE66B-87AE-ADAB-81B2-94CD4854139A}"/>
              </a:ext>
            </a:extLst>
          </p:cNvPr>
          <p:cNvSpPr txBox="1"/>
          <p:nvPr/>
        </p:nvSpPr>
        <p:spPr>
          <a:xfrm>
            <a:off x="2034235" y="283779"/>
            <a:ext cx="8123531" cy="584775"/>
          </a:xfrm>
          <a:prstGeom prst="rect">
            <a:avLst/>
          </a:prstGeom>
          <a:noFill/>
        </p:spPr>
        <p:txBody>
          <a:bodyPr wrap="square" rtlCol="0">
            <a:spAutoFit/>
          </a:bodyPr>
          <a:lstStyle/>
          <a:p>
            <a:pPr algn="ctr"/>
            <a:r>
              <a:rPr lang="en-GB" sz="3200" b="1" dirty="0">
                <a:solidFill>
                  <a:schemeClr val="accent3">
                    <a:lumMod val="60000"/>
                    <a:lumOff val="40000"/>
                  </a:schemeClr>
                </a:solidFill>
              </a:rPr>
              <a:t>Development Phases</a:t>
            </a:r>
          </a:p>
        </p:txBody>
      </p:sp>
      <p:sp>
        <p:nvSpPr>
          <p:cNvPr id="18" name="Oval 17">
            <a:extLst>
              <a:ext uri="{FF2B5EF4-FFF2-40B4-BE49-F238E27FC236}">
                <a16:creationId xmlns:a16="http://schemas.microsoft.com/office/drawing/2014/main" id="{BEE7D2FA-9189-079F-D89A-B8926333D6BE}"/>
              </a:ext>
            </a:extLst>
          </p:cNvPr>
          <p:cNvSpPr/>
          <p:nvPr/>
        </p:nvSpPr>
        <p:spPr>
          <a:xfrm>
            <a:off x="1869259" y="1996863"/>
            <a:ext cx="2071562" cy="1035781"/>
          </a:xfrm>
          <a:prstGeom prst="ellipse">
            <a:avLst/>
          </a:prstGeom>
          <a:solidFill>
            <a:schemeClr val="accent6">
              <a:lumMod val="60000"/>
              <a:lumOff val="40000"/>
            </a:schemeClr>
          </a:solid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Initial idea / concept</a:t>
            </a:r>
          </a:p>
        </p:txBody>
      </p:sp>
      <p:sp>
        <p:nvSpPr>
          <p:cNvPr id="19" name="Rectangle 18">
            <a:extLst>
              <a:ext uri="{FF2B5EF4-FFF2-40B4-BE49-F238E27FC236}">
                <a16:creationId xmlns:a16="http://schemas.microsoft.com/office/drawing/2014/main" id="{ECCCC6C1-61B2-32F7-1D93-3329C92C51A4}"/>
              </a:ext>
            </a:extLst>
          </p:cNvPr>
          <p:cNvSpPr/>
          <p:nvPr/>
        </p:nvSpPr>
        <p:spPr>
          <a:xfrm>
            <a:off x="1966364" y="3906582"/>
            <a:ext cx="1877352" cy="922492"/>
          </a:xfrm>
          <a:prstGeom prst="rect">
            <a:avLst/>
          </a:prstGeom>
          <a:solidFill>
            <a:schemeClr val="accent1">
              <a:lumMod val="40000"/>
              <a:lumOff val="60000"/>
            </a:schemeClr>
          </a:solid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The Pitch</a:t>
            </a:r>
          </a:p>
        </p:txBody>
      </p:sp>
      <p:sp>
        <p:nvSpPr>
          <p:cNvPr id="20" name="Oval 19">
            <a:extLst>
              <a:ext uri="{FF2B5EF4-FFF2-40B4-BE49-F238E27FC236}">
                <a16:creationId xmlns:a16="http://schemas.microsoft.com/office/drawing/2014/main" id="{424014F8-E0A9-4E7B-94B5-E7F7FFFC9AFB}"/>
              </a:ext>
            </a:extLst>
          </p:cNvPr>
          <p:cNvSpPr/>
          <p:nvPr/>
        </p:nvSpPr>
        <p:spPr>
          <a:xfrm>
            <a:off x="5371762" y="1996863"/>
            <a:ext cx="2071562" cy="1035781"/>
          </a:xfrm>
          <a:prstGeom prst="ellipse">
            <a:avLst/>
          </a:prstGeom>
          <a:solidFill>
            <a:schemeClr val="accent6">
              <a:lumMod val="60000"/>
              <a:lumOff val="40000"/>
            </a:schemeClr>
          </a:solid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Design</a:t>
            </a:r>
          </a:p>
        </p:txBody>
      </p:sp>
      <p:cxnSp>
        <p:nvCxnSpPr>
          <p:cNvPr id="21" name="Straight Arrow Connector 20">
            <a:extLst>
              <a:ext uri="{FF2B5EF4-FFF2-40B4-BE49-F238E27FC236}">
                <a16:creationId xmlns:a16="http://schemas.microsoft.com/office/drawing/2014/main" id="{497FDE5F-D7A4-6050-57E1-5B1DD535F53B}"/>
              </a:ext>
            </a:extLst>
          </p:cNvPr>
          <p:cNvCxnSpPr>
            <a:stCxn id="18" idx="4"/>
            <a:endCxn id="19" idx="0"/>
          </p:cNvCxnSpPr>
          <p:nvPr/>
        </p:nvCxnSpPr>
        <p:spPr>
          <a:xfrm>
            <a:off x="2905040" y="3032644"/>
            <a:ext cx="0" cy="873938"/>
          </a:xfrm>
          <a:prstGeom prst="straightConnector1">
            <a:avLst/>
          </a:prstGeom>
          <a:ln w="444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ctor: Curved 21">
            <a:extLst>
              <a:ext uri="{FF2B5EF4-FFF2-40B4-BE49-F238E27FC236}">
                <a16:creationId xmlns:a16="http://schemas.microsoft.com/office/drawing/2014/main" id="{E68A73DF-AD4D-3875-9E45-924AEB2C7601}"/>
              </a:ext>
            </a:extLst>
          </p:cNvPr>
          <p:cNvCxnSpPr>
            <a:stCxn id="19" idx="3"/>
            <a:endCxn id="20" idx="2"/>
          </p:cNvCxnSpPr>
          <p:nvPr/>
        </p:nvCxnSpPr>
        <p:spPr>
          <a:xfrm flipV="1">
            <a:off x="3843716" y="2514754"/>
            <a:ext cx="1528046" cy="1853074"/>
          </a:xfrm>
          <a:prstGeom prst="curvedConnector3">
            <a:avLst/>
          </a:prstGeom>
          <a:ln w="444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CB71468C-3C8D-3B18-4917-51CF69E94842}"/>
              </a:ext>
            </a:extLst>
          </p:cNvPr>
          <p:cNvSpPr txBox="1"/>
          <p:nvPr/>
        </p:nvSpPr>
        <p:spPr>
          <a:xfrm>
            <a:off x="3641416" y="3048016"/>
            <a:ext cx="1140977" cy="655452"/>
          </a:xfrm>
          <a:prstGeom prst="rect">
            <a:avLst/>
          </a:prstGeom>
          <a:noFill/>
          <a:ln w="44450">
            <a:noFill/>
          </a:ln>
        </p:spPr>
        <p:txBody>
          <a:bodyPr wrap="square" rtlCol="0">
            <a:spAutoFit/>
          </a:bodyPr>
          <a:lstStyle/>
          <a:p>
            <a:pPr algn="ctr"/>
            <a:r>
              <a:rPr lang="en-GB" b="1" dirty="0"/>
              <a:t>Funding secured</a:t>
            </a:r>
          </a:p>
        </p:txBody>
      </p:sp>
      <p:sp>
        <p:nvSpPr>
          <p:cNvPr id="24" name="Oval 23">
            <a:extLst>
              <a:ext uri="{FF2B5EF4-FFF2-40B4-BE49-F238E27FC236}">
                <a16:creationId xmlns:a16="http://schemas.microsoft.com/office/drawing/2014/main" id="{D85C3550-B73C-DBA7-BB4B-6D29D8B6988A}"/>
              </a:ext>
            </a:extLst>
          </p:cNvPr>
          <p:cNvSpPr/>
          <p:nvPr/>
        </p:nvSpPr>
        <p:spPr>
          <a:xfrm>
            <a:off x="545756" y="2692434"/>
            <a:ext cx="1433203" cy="711164"/>
          </a:xfrm>
          <a:prstGeom prst="ellipse">
            <a:avLst/>
          </a:prstGeom>
          <a:solidFill>
            <a:schemeClr val="accent6">
              <a:lumMod val="60000"/>
              <a:lumOff val="40000"/>
            </a:schemeClr>
          </a:solid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Prototype</a:t>
            </a:r>
          </a:p>
        </p:txBody>
      </p:sp>
      <p:cxnSp>
        <p:nvCxnSpPr>
          <p:cNvPr id="25" name="Connector: Curved 24">
            <a:extLst>
              <a:ext uri="{FF2B5EF4-FFF2-40B4-BE49-F238E27FC236}">
                <a16:creationId xmlns:a16="http://schemas.microsoft.com/office/drawing/2014/main" id="{D08520DA-BAD9-101E-52B1-23D8DA98E35C}"/>
              </a:ext>
            </a:extLst>
          </p:cNvPr>
          <p:cNvCxnSpPr>
            <a:stCxn id="18" idx="4"/>
            <a:endCxn id="24" idx="5"/>
          </p:cNvCxnSpPr>
          <p:nvPr/>
        </p:nvCxnSpPr>
        <p:spPr>
          <a:xfrm rot="5400000">
            <a:off x="2203653" y="2598063"/>
            <a:ext cx="266806" cy="1135969"/>
          </a:xfrm>
          <a:prstGeom prst="curvedConnector3">
            <a:avLst>
              <a:gd name="adj1" fmla="val 224715"/>
            </a:avLst>
          </a:prstGeom>
          <a:ln w="444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Curved 25">
            <a:extLst>
              <a:ext uri="{FF2B5EF4-FFF2-40B4-BE49-F238E27FC236}">
                <a16:creationId xmlns:a16="http://schemas.microsoft.com/office/drawing/2014/main" id="{FE54DAFC-5A9B-D4FF-B147-698199797388}"/>
              </a:ext>
            </a:extLst>
          </p:cNvPr>
          <p:cNvCxnSpPr>
            <a:stCxn id="24" idx="0"/>
            <a:endCxn id="18" idx="2"/>
          </p:cNvCxnSpPr>
          <p:nvPr/>
        </p:nvCxnSpPr>
        <p:spPr>
          <a:xfrm rot="5400000" flipH="1" flipV="1">
            <a:off x="1476968" y="2300144"/>
            <a:ext cx="177680" cy="606901"/>
          </a:xfrm>
          <a:prstGeom prst="curvedConnector2">
            <a:avLst/>
          </a:prstGeom>
          <a:ln w="444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AD6E410A-677C-1557-ED77-BDD6D94225FB}"/>
              </a:ext>
            </a:extLst>
          </p:cNvPr>
          <p:cNvSpPr/>
          <p:nvPr/>
        </p:nvSpPr>
        <p:spPr>
          <a:xfrm>
            <a:off x="6903855" y="2486973"/>
            <a:ext cx="1260721" cy="711164"/>
          </a:xfrm>
          <a:prstGeom prst="ellipse">
            <a:avLst/>
          </a:prstGeom>
          <a:solidFill>
            <a:schemeClr val="accent6">
              <a:lumMod val="60000"/>
              <a:lumOff val="40000"/>
            </a:schemeClr>
          </a:solid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Review</a:t>
            </a:r>
          </a:p>
        </p:txBody>
      </p:sp>
      <p:cxnSp>
        <p:nvCxnSpPr>
          <p:cNvPr id="28" name="Connector: Curved 27">
            <a:extLst>
              <a:ext uri="{FF2B5EF4-FFF2-40B4-BE49-F238E27FC236}">
                <a16:creationId xmlns:a16="http://schemas.microsoft.com/office/drawing/2014/main" id="{73D4C7BE-1F59-F430-CCE1-86DC51B7FAC8}"/>
              </a:ext>
            </a:extLst>
          </p:cNvPr>
          <p:cNvCxnSpPr>
            <a:cxnSpLocks/>
            <a:stCxn id="27" idx="7"/>
            <a:endCxn id="20" idx="0"/>
          </p:cNvCxnSpPr>
          <p:nvPr/>
        </p:nvCxnSpPr>
        <p:spPr>
          <a:xfrm rot="16200000" flipV="1">
            <a:off x="6896617" y="1507789"/>
            <a:ext cx="594258" cy="1572405"/>
          </a:xfrm>
          <a:prstGeom prst="curvedConnector3">
            <a:avLst>
              <a:gd name="adj1" fmla="val 138468"/>
            </a:avLst>
          </a:prstGeom>
          <a:ln w="444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3818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C99EE66B-87AE-ADAB-81B2-94CD4854139A}"/>
              </a:ext>
            </a:extLst>
          </p:cNvPr>
          <p:cNvSpPr txBox="1"/>
          <p:nvPr/>
        </p:nvSpPr>
        <p:spPr>
          <a:xfrm>
            <a:off x="2034235" y="283779"/>
            <a:ext cx="8123531" cy="584775"/>
          </a:xfrm>
          <a:prstGeom prst="rect">
            <a:avLst/>
          </a:prstGeom>
          <a:noFill/>
        </p:spPr>
        <p:txBody>
          <a:bodyPr wrap="square" rtlCol="0">
            <a:spAutoFit/>
          </a:bodyPr>
          <a:lstStyle/>
          <a:p>
            <a:pPr algn="ctr"/>
            <a:r>
              <a:rPr lang="en-GB" sz="3200" b="1" dirty="0">
                <a:solidFill>
                  <a:schemeClr val="accent3">
                    <a:lumMod val="60000"/>
                    <a:lumOff val="40000"/>
                  </a:schemeClr>
                </a:solidFill>
              </a:rPr>
              <a:t>Development Phases</a:t>
            </a:r>
          </a:p>
        </p:txBody>
      </p:sp>
      <p:sp>
        <p:nvSpPr>
          <p:cNvPr id="18" name="Oval 17">
            <a:extLst>
              <a:ext uri="{FF2B5EF4-FFF2-40B4-BE49-F238E27FC236}">
                <a16:creationId xmlns:a16="http://schemas.microsoft.com/office/drawing/2014/main" id="{BEE7D2FA-9189-079F-D89A-B8926333D6BE}"/>
              </a:ext>
            </a:extLst>
          </p:cNvPr>
          <p:cNvSpPr/>
          <p:nvPr/>
        </p:nvSpPr>
        <p:spPr>
          <a:xfrm>
            <a:off x="1869259" y="1996863"/>
            <a:ext cx="2071562" cy="1035781"/>
          </a:xfrm>
          <a:prstGeom prst="ellipse">
            <a:avLst/>
          </a:prstGeom>
          <a:noFill/>
          <a:ln w="444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Initial idea / concept</a:t>
            </a:r>
          </a:p>
        </p:txBody>
      </p:sp>
      <p:sp>
        <p:nvSpPr>
          <p:cNvPr id="19" name="Rectangle 18">
            <a:extLst>
              <a:ext uri="{FF2B5EF4-FFF2-40B4-BE49-F238E27FC236}">
                <a16:creationId xmlns:a16="http://schemas.microsoft.com/office/drawing/2014/main" id="{ECCCC6C1-61B2-32F7-1D93-3329C92C51A4}"/>
              </a:ext>
            </a:extLst>
          </p:cNvPr>
          <p:cNvSpPr/>
          <p:nvPr/>
        </p:nvSpPr>
        <p:spPr>
          <a:xfrm>
            <a:off x="1966364" y="3906582"/>
            <a:ext cx="1877352" cy="922492"/>
          </a:xfrm>
          <a:prstGeom prst="rect">
            <a:avLst/>
          </a:prstGeom>
          <a:noFill/>
          <a:ln w="444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The Pitch</a:t>
            </a:r>
          </a:p>
        </p:txBody>
      </p:sp>
      <p:sp>
        <p:nvSpPr>
          <p:cNvPr id="20" name="Oval 19">
            <a:extLst>
              <a:ext uri="{FF2B5EF4-FFF2-40B4-BE49-F238E27FC236}">
                <a16:creationId xmlns:a16="http://schemas.microsoft.com/office/drawing/2014/main" id="{424014F8-E0A9-4E7B-94B5-E7F7FFFC9AFB}"/>
              </a:ext>
            </a:extLst>
          </p:cNvPr>
          <p:cNvSpPr/>
          <p:nvPr/>
        </p:nvSpPr>
        <p:spPr>
          <a:xfrm>
            <a:off x="5371762" y="1996863"/>
            <a:ext cx="1522652" cy="1035781"/>
          </a:xfrm>
          <a:prstGeom prst="ellipse">
            <a:avLst/>
          </a:prstGeom>
          <a:noFill/>
          <a:ln w="444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Design</a:t>
            </a:r>
          </a:p>
        </p:txBody>
      </p:sp>
      <p:cxnSp>
        <p:nvCxnSpPr>
          <p:cNvPr id="21" name="Straight Arrow Connector 20">
            <a:extLst>
              <a:ext uri="{FF2B5EF4-FFF2-40B4-BE49-F238E27FC236}">
                <a16:creationId xmlns:a16="http://schemas.microsoft.com/office/drawing/2014/main" id="{497FDE5F-D7A4-6050-57E1-5B1DD535F53B}"/>
              </a:ext>
            </a:extLst>
          </p:cNvPr>
          <p:cNvCxnSpPr>
            <a:stCxn id="18" idx="4"/>
            <a:endCxn id="19" idx="0"/>
          </p:cNvCxnSpPr>
          <p:nvPr/>
        </p:nvCxnSpPr>
        <p:spPr>
          <a:xfrm>
            <a:off x="2905040" y="3032644"/>
            <a:ext cx="0" cy="873938"/>
          </a:xfrm>
          <a:prstGeom prst="straightConnector1">
            <a:avLst/>
          </a:prstGeom>
          <a:ln w="444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ctor: Curved 21">
            <a:extLst>
              <a:ext uri="{FF2B5EF4-FFF2-40B4-BE49-F238E27FC236}">
                <a16:creationId xmlns:a16="http://schemas.microsoft.com/office/drawing/2014/main" id="{E68A73DF-AD4D-3875-9E45-924AEB2C7601}"/>
              </a:ext>
            </a:extLst>
          </p:cNvPr>
          <p:cNvCxnSpPr>
            <a:cxnSpLocks/>
            <a:stCxn id="19" idx="3"/>
            <a:endCxn id="20" idx="2"/>
          </p:cNvCxnSpPr>
          <p:nvPr/>
        </p:nvCxnSpPr>
        <p:spPr>
          <a:xfrm flipV="1">
            <a:off x="3843716" y="2514754"/>
            <a:ext cx="1528046" cy="1853074"/>
          </a:xfrm>
          <a:prstGeom prst="curvedConnector3">
            <a:avLst/>
          </a:prstGeom>
          <a:ln w="444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CB71468C-3C8D-3B18-4917-51CF69E94842}"/>
              </a:ext>
            </a:extLst>
          </p:cNvPr>
          <p:cNvSpPr txBox="1"/>
          <p:nvPr/>
        </p:nvSpPr>
        <p:spPr>
          <a:xfrm>
            <a:off x="3511052" y="3048016"/>
            <a:ext cx="1140977" cy="655452"/>
          </a:xfrm>
          <a:prstGeom prst="rect">
            <a:avLst/>
          </a:prstGeom>
          <a:noFill/>
          <a:ln w="44450">
            <a:noFill/>
          </a:ln>
        </p:spPr>
        <p:txBody>
          <a:bodyPr wrap="square" rtlCol="0">
            <a:spAutoFit/>
          </a:bodyPr>
          <a:lstStyle/>
          <a:p>
            <a:pPr algn="ctr"/>
            <a:r>
              <a:rPr lang="en-GB" b="1" dirty="0"/>
              <a:t>Funding secured</a:t>
            </a:r>
          </a:p>
        </p:txBody>
      </p:sp>
      <p:sp>
        <p:nvSpPr>
          <p:cNvPr id="24" name="Oval 23">
            <a:extLst>
              <a:ext uri="{FF2B5EF4-FFF2-40B4-BE49-F238E27FC236}">
                <a16:creationId xmlns:a16="http://schemas.microsoft.com/office/drawing/2014/main" id="{D85C3550-B73C-DBA7-BB4B-6D29D8B6988A}"/>
              </a:ext>
            </a:extLst>
          </p:cNvPr>
          <p:cNvSpPr/>
          <p:nvPr/>
        </p:nvSpPr>
        <p:spPr>
          <a:xfrm>
            <a:off x="545756" y="2692434"/>
            <a:ext cx="1433203" cy="711164"/>
          </a:xfrm>
          <a:prstGeom prst="ellipse">
            <a:avLst/>
          </a:prstGeom>
          <a:noFill/>
          <a:ln w="44450">
            <a:solidFill>
              <a:schemeClr val="tx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Prototype</a:t>
            </a:r>
          </a:p>
        </p:txBody>
      </p:sp>
      <p:cxnSp>
        <p:nvCxnSpPr>
          <p:cNvPr id="25" name="Connector: Curved 24">
            <a:extLst>
              <a:ext uri="{FF2B5EF4-FFF2-40B4-BE49-F238E27FC236}">
                <a16:creationId xmlns:a16="http://schemas.microsoft.com/office/drawing/2014/main" id="{D08520DA-BAD9-101E-52B1-23D8DA98E35C}"/>
              </a:ext>
            </a:extLst>
          </p:cNvPr>
          <p:cNvCxnSpPr>
            <a:stCxn id="18" idx="4"/>
            <a:endCxn id="24" idx="5"/>
          </p:cNvCxnSpPr>
          <p:nvPr/>
        </p:nvCxnSpPr>
        <p:spPr>
          <a:xfrm rot="5400000">
            <a:off x="2203653" y="2598063"/>
            <a:ext cx="266806" cy="1135969"/>
          </a:xfrm>
          <a:prstGeom prst="curvedConnector3">
            <a:avLst>
              <a:gd name="adj1" fmla="val 224715"/>
            </a:avLst>
          </a:prstGeom>
          <a:ln w="444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Curved 25">
            <a:extLst>
              <a:ext uri="{FF2B5EF4-FFF2-40B4-BE49-F238E27FC236}">
                <a16:creationId xmlns:a16="http://schemas.microsoft.com/office/drawing/2014/main" id="{FE54DAFC-5A9B-D4FF-B147-698199797388}"/>
              </a:ext>
            </a:extLst>
          </p:cNvPr>
          <p:cNvCxnSpPr>
            <a:stCxn id="24" idx="0"/>
            <a:endCxn id="18" idx="2"/>
          </p:cNvCxnSpPr>
          <p:nvPr/>
        </p:nvCxnSpPr>
        <p:spPr>
          <a:xfrm rot="5400000" flipH="1" flipV="1">
            <a:off x="1476968" y="2300144"/>
            <a:ext cx="177680" cy="606901"/>
          </a:xfrm>
          <a:prstGeom prst="curvedConnector2">
            <a:avLst/>
          </a:prstGeom>
          <a:ln w="44450">
            <a:solidFill>
              <a:schemeClr val="tx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AD6E410A-677C-1557-ED77-BDD6D94225FB}"/>
              </a:ext>
            </a:extLst>
          </p:cNvPr>
          <p:cNvSpPr/>
          <p:nvPr/>
        </p:nvSpPr>
        <p:spPr>
          <a:xfrm>
            <a:off x="6479023" y="2514753"/>
            <a:ext cx="1260721" cy="711164"/>
          </a:xfrm>
          <a:prstGeom prst="ellipse">
            <a:avLst/>
          </a:prstGeom>
          <a:noFill/>
          <a:ln w="444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Review</a:t>
            </a:r>
          </a:p>
        </p:txBody>
      </p:sp>
      <p:cxnSp>
        <p:nvCxnSpPr>
          <p:cNvPr id="28" name="Connector: Curved 27">
            <a:extLst>
              <a:ext uri="{FF2B5EF4-FFF2-40B4-BE49-F238E27FC236}">
                <a16:creationId xmlns:a16="http://schemas.microsoft.com/office/drawing/2014/main" id="{73D4C7BE-1F59-F430-CCE1-86DC51B7FAC8}"/>
              </a:ext>
            </a:extLst>
          </p:cNvPr>
          <p:cNvCxnSpPr>
            <a:cxnSpLocks/>
            <a:stCxn id="27" idx="7"/>
            <a:endCxn id="20" idx="0"/>
          </p:cNvCxnSpPr>
          <p:nvPr/>
        </p:nvCxnSpPr>
        <p:spPr>
          <a:xfrm rot="16200000" flipV="1">
            <a:off x="6533083" y="1596868"/>
            <a:ext cx="622038" cy="1422028"/>
          </a:xfrm>
          <a:prstGeom prst="curvedConnector3">
            <a:avLst>
              <a:gd name="adj1" fmla="val 126993"/>
            </a:avLst>
          </a:prstGeom>
          <a:ln w="444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9C6CA4A-193B-A7F5-9492-2D29DD942AC2}"/>
              </a:ext>
            </a:extLst>
          </p:cNvPr>
          <p:cNvSpPr txBox="1"/>
          <p:nvPr/>
        </p:nvSpPr>
        <p:spPr>
          <a:xfrm>
            <a:off x="1341120" y="1083742"/>
            <a:ext cx="9509760" cy="369332"/>
          </a:xfrm>
          <a:prstGeom prst="rect">
            <a:avLst/>
          </a:prstGeom>
          <a:noFill/>
        </p:spPr>
        <p:txBody>
          <a:bodyPr wrap="square" rtlCol="0">
            <a:spAutoFit/>
          </a:bodyPr>
          <a:lstStyle/>
          <a:p>
            <a:r>
              <a:rPr lang="en-GB" b="1" dirty="0"/>
              <a:t>2. Main Production / Development</a:t>
            </a:r>
          </a:p>
        </p:txBody>
      </p:sp>
      <p:sp>
        <p:nvSpPr>
          <p:cNvPr id="7" name="Oval 6">
            <a:extLst>
              <a:ext uri="{FF2B5EF4-FFF2-40B4-BE49-F238E27FC236}">
                <a16:creationId xmlns:a16="http://schemas.microsoft.com/office/drawing/2014/main" id="{22923F92-3503-126D-99D7-956D0B8D2C0B}"/>
              </a:ext>
            </a:extLst>
          </p:cNvPr>
          <p:cNvSpPr/>
          <p:nvPr/>
        </p:nvSpPr>
        <p:spPr>
          <a:xfrm>
            <a:off x="5215316" y="3906582"/>
            <a:ext cx="2424915" cy="1035781"/>
          </a:xfrm>
          <a:prstGeom prst="ellipse">
            <a:avLst/>
          </a:prstGeom>
          <a:solidFill>
            <a:schemeClr val="accent6">
              <a:lumMod val="60000"/>
              <a:lumOff val="40000"/>
            </a:schemeClr>
          </a:solid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Development/ Prototyping</a:t>
            </a:r>
          </a:p>
        </p:txBody>
      </p:sp>
      <p:sp>
        <p:nvSpPr>
          <p:cNvPr id="8" name="Rectangle 7">
            <a:extLst>
              <a:ext uri="{FF2B5EF4-FFF2-40B4-BE49-F238E27FC236}">
                <a16:creationId xmlns:a16="http://schemas.microsoft.com/office/drawing/2014/main" id="{BA1FBC00-D53F-D043-46EB-C8906C8B225B}"/>
              </a:ext>
            </a:extLst>
          </p:cNvPr>
          <p:cNvSpPr/>
          <p:nvPr/>
        </p:nvSpPr>
        <p:spPr>
          <a:xfrm>
            <a:off x="9086007" y="1453074"/>
            <a:ext cx="1877352" cy="922492"/>
          </a:xfrm>
          <a:prstGeom prst="rect">
            <a:avLst/>
          </a:prstGeom>
          <a:solidFill>
            <a:schemeClr val="accent1">
              <a:lumMod val="40000"/>
              <a:lumOff val="60000"/>
            </a:schemeClr>
          </a:solid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Pre-Release</a:t>
            </a:r>
          </a:p>
        </p:txBody>
      </p:sp>
      <p:cxnSp>
        <p:nvCxnSpPr>
          <p:cNvPr id="9" name="Connector: Curved 8">
            <a:extLst>
              <a:ext uri="{FF2B5EF4-FFF2-40B4-BE49-F238E27FC236}">
                <a16:creationId xmlns:a16="http://schemas.microsoft.com/office/drawing/2014/main" id="{65E3F398-0905-A4B0-51DB-B89271905D17}"/>
              </a:ext>
            </a:extLst>
          </p:cNvPr>
          <p:cNvCxnSpPr>
            <a:cxnSpLocks/>
            <a:stCxn id="7" idx="6"/>
            <a:endCxn id="8" idx="1"/>
          </p:cNvCxnSpPr>
          <p:nvPr/>
        </p:nvCxnSpPr>
        <p:spPr>
          <a:xfrm flipV="1">
            <a:off x="7640231" y="1914320"/>
            <a:ext cx="1445776" cy="2510153"/>
          </a:xfrm>
          <a:prstGeom prst="curvedConnector3">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3608201B-1C64-892F-D2A2-0E140C9AF74C}"/>
              </a:ext>
            </a:extLst>
          </p:cNvPr>
          <p:cNvSpPr/>
          <p:nvPr/>
        </p:nvSpPr>
        <p:spPr>
          <a:xfrm>
            <a:off x="7034007" y="4991383"/>
            <a:ext cx="1422848" cy="711164"/>
          </a:xfrm>
          <a:prstGeom prst="ellipse">
            <a:avLst/>
          </a:prstGeom>
          <a:solidFill>
            <a:schemeClr val="accent6">
              <a:lumMod val="60000"/>
              <a:lumOff val="40000"/>
            </a:schemeClr>
          </a:solid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Testing</a:t>
            </a:r>
          </a:p>
        </p:txBody>
      </p:sp>
      <p:sp>
        <p:nvSpPr>
          <p:cNvPr id="11" name="Oval 10">
            <a:extLst>
              <a:ext uri="{FF2B5EF4-FFF2-40B4-BE49-F238E27FC236}">
                <a16:creationId xmlns:a16="http://schemas.microsoft.com/office/drawing/2014/main" id="{44DE8796-CE22-4196-C481-968F7BDC62DD}"/>
              </a:ext>
            </a:extLst>
          </p:cNvPr>
          <p:cNvSpPr/>
          <p:nvPr/>
        </p:nvSpPr>
        <p:spPr>
          <a:xfrm>
            <a:off x="6120470" y="5816301"/>
            <a:ext cx="1554826" cy="711164"/>
          </a:xfrm>
          <a:prstGeom prst="ellipse">
            <a:avLst/>
          </a:prstGeom>
          <a:solidFill>
            <a:schemeClr val="accent6">
              <a:lumMod val="60000"/>
              <a:lumOff val="40000"/>
            </a:schemeClr>
          </a:solid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Review / Design </a:t>
            </a:r>
            <a:r>
              <a:rPr lang="en-GB" sz="1200" b="1" dirty="0" err="1">
                <a:solidFill>
                  <a:schemeClr val="tx1"/>
                </a:solidFill>
              </a:rPr>
              <a:t>Eval</a:t>
            </a:r>
            <a:endParaRPr lang="en-GB" sz="1200" b="1" dirty="0">
              <a:solidFill>
                <a:schemeClr val="tx1"/>
              </a:solidFill>
            </a:endParaRPr>
          </a:p>
        </p:txBody>
      </p:sp>
      <p:sp>
        <p:nvSpPr>
          <p:cNvPr id="12" name="Oval 11">
            <a:extLst>
              <a:ext uri="{FF2B5EF4-FFF2-40B4-BE49-F238E27FC236}">
                <a16:creationId xmlns:a16="http://schemas.microsoft.com/office/drawing/2014/main" id="{A44B1229-F34A-9A14-A203-1616EC59B7C8}"/>
              </a:ext>
            </a:extLst>
          </p:cNvPr>
          <p:cNvSpPr/>
          <p:nvPr/>
        </p:nvSpPr>
        <p:spPr>
          <a:xfrm>
            <a:off x="4033128" y="5816301"/>
            <a:ext cx="1078939" cy="711164"/>
          </a:xfrm>
          <a:prstGeom prst="ellipse">
            <a:avLst/>
          </a:prstGeom>
          <a:solidFill>
            <a:schemeClr val="accent6">
              <a:lumMod val="60000"/>
              <a:lumOff val="40000"/>
            </a:schemeClr>
          </a:solid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Crunch</a:t>
            </a:r>
          </a:p>
        </p:txBody>
      </p:sp>
      <p:sp>
        <p:nvSpPr>
          <p:cNvPr id="13" name="Rectangle 12">
            <a:extLst>
              <a:ext uri="{FF2B5EF4-FFF2-40B4-BE49-F238E27FC236}">
                <a16:creationId xmlns:a16="http://schemas.microsoft.com/office/drawing/2014/main" id="{D6323469-BF35-DED4-7066-A334716C5A2F}"/>
              </a:ext>
            </a:extLst>
          </p:cNvPr>
          <p:cNvSpPr/>
          <p:nvPr/>
        </p:nvSpPr>
        <p:spPr>
          <a:xfrm>
            <a:off x="3912243" y="4947769"/>
            <a:ext cx="1449823" cy="478190"/>
          </a:xfrm>
          <a:prstGeom prst="rect">
            <a:avLst/>
          </a:prstGeom>
          <a:solidFill>
            <a:schemeClr val="accent1">
              <a:lumMod val="40000"/>
              <a:lumOff val="60000"/>
            </a:schemeClr>
          </a:solid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Milestone</a:t>
            </a:r>
          </a:p>
        </p:txBody>
      </p:sp>
      <p:cxnSp>
        <p:nvCxnSpPr>
          <p:cNvPr id="14" name="Connector: Curved 13">
            <a:extLst>
              <a:ext uri="{FF2B5EF4-FFF2-40B4-BE49-F238E27FC236}">
                <a16:creationId xmlns:a16="http://schemas.microsoft.com/office/drawing/2014/main" id="{C077B146-91B1-A771-492C-55E85EE72892}"/>
              </a:ext>
            </a:extLst>
          </p:cNvPr>
          <p:cNvCxnSpPr>
            <a:cxnSpLocks/>
            <a:stCxn id="8" idx="2"/>
            <a:endCxn id="7" idx="7"/>
          </p:cNvCxnSpPr>
          <p:nvPr/>
        </p:nvCxnSpPr>
        <p:spPr>
          <a:xfrm rot="5400000">
            <a:off x="7813546" y="1847131"/>
            <a:ext cx="1682703" cy="2739573"/>
          </a:xfrm>
          <a:prstGeom prst="curvedConnector3">
            <a:avLst>
              <a:gd name="adj1" fmla="val 50000"/>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15" name="Connector: Curved 14">
            <a:extLst>
              <a:ext uri="{FF2B5EF4-FFF2-40B4-BE49-F238E27FC236}">
                <a16:creationId xmlns:a16="http://schemas.microsoft.com/office/drawing/2014/main" id="{DB7B2932-57FA-A916-0645-6DCD887E2A60}"/>
              </a:ext>
            </a:extLst>
          </p:cNvPr>
          <p:cNvCxnSpPr>
            <a:cxnSpLocks/>
            <a:stCxn id="7" idx="6"/>
            <a:endCxn id="10" idx="7"/>
          </p:cNvCxnSpPr>
          <p:nvPr/>
        </p:nvCxnSpPr>
        <p:spPr>
          <a:xfrm>
            <a:off x="7640231" y="4424473"/>
            <a:ext cx="608253" cy="671058"/>
          </a:xfrm>
          <a:prstGeom prst="curvedConnector2">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29" name="Connector: Curved 28">
            <a:extLst>
              <a:ext uri="{FF2B5EF4-FFF2-40B4-BE49-F238E27FC236}">
                <a16:creationId xmlns:a16="http://schemas.microsoft.com/office/drawing/2014/main" id="{631175E8-1914-F0D6-8676-91BFB28FD4CB}"/>
              </a:ext>
            </a:extLst>
          </p:cNvPr>
          <p:cNvCxnSpPr>
            <a:cxnSpLocks/>
            <a:stCxn id="10" idx="5"/>
            <a:endCxn id="11" idx="6"/>
          </p:cNvCxnSpPr>
          <p:nvPr/>
        </p:nvCxnSpPr>
        <p:spPr>
          <a:xfrm rot="5400000">
            <a:off x="7675148" y="5598547"/>
            <a:ext cx="573484" cy="573188"/>
          </a:xfrm>
          <a:prstGeom prst="curvedConnector2">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30" name="Connector: Curved 29">
            <a:extLst>
              <a:ext uri="{FF2B5EF4-FFF2-40B4-BE49-F238E27FC236}">
                <a16:creationId xmlns:a16="http://schemas.microsoft.com/office/drawing/2014/main" id="{70DCFE94-8DAA-9D0A-4A26-144351D41306}"/>
              </a:ext>
            </a:extLst>
          </p:cNvPr>
          <p:cNvCxnSpPr>
            <a:cxnSpLocks/>
            <a:stCxn id="11" idx="2"/>
            <a:endCxn id="12" idx="6"/>
          </p:cNvCxnSpPr>
          <p:nvPr/>
        </p:nvCxnSpPr>
        <p:spPr>
          <a:xfrm rot="10800000">
            <a:off x="5112068" y="6171883"/>
            <a:ext cx="1008403" cy="12700"/>
          </a:xfrm>
          <a:prstGeom prst="curvedConnector3">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E2A0519C-E15E-34F2-0BA8-D9E8691F84E3}"/>
              </a:ext>
            </a:extLst>
          </p:cNvPr>
          <p:cNvCxnSpPr>
            <a:cxnSpLocks/>
            <a:stCxn id="12" idx="2"/>
            <a:endCxn id="13" idx="1"/>
          </p:cNvCxnSpPr>
          <p:nvPr/>
        </p:nvCxnSpPr>
        <p:spPr>
          <a:xfrm rot="10800000">
            <a:off x="3912244" y="5186865"/>
            <a:ext cx="120885" cy="985019"/>
          </a:xfrm>
          <a:prstGeom prst="curvedConnector3">
            <a:avLst>
              <a:gd name="adj1" fmla="val 289105"/>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32" name="Connector: Curved 31">
            <a:extLst>
              <a:ext uri="{FF2B5EF4-FFF2-40B4-BE49-F238E27FC236}">
                <a16:creationId xmlns:a16="http://schemas.microsoft.com/office/drawing/2014/main" id="{7308878D-F512-169A-0AFE-C5702409273A}"/>
              </a:ext>
            </a:extLst>
          </p:cNvPr>
          <p:cNvCxnSpPr>
            <a:cxnSpLocks/>
            <a:stCxn id="13" idx="0"/>
            <a:endCxn id="7" idx="2"/>
          </p:cNvCxnSpPr>
          <p:nvPr/>
        </p:nvCxnSpPr>
        <p:spPr>
          <a:xfrm rot="5400000" flipH="1" flipV="1">
            <a:off x="4664587" y="4397041"/>
            <a:ext cx="523296" cy="578161"/>
          </a:xfrm>
          <a:prstGeom prst="curvedConnector2">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33" name="Connector: Curved 32">
            <a:extLst>
              <a:ext uri="{FF2B5EF4-FFF2-40B4-BE49-F238E27FC236}">
                <a16:creationId xmlns:a16="http://schemas.microsoft.com/office/drawing/2014/main" id="{F57542F2-9219-102A-DA36-C7C115DDD5E0}"/>
              </a:ext>
            </a:extLst>
          </p:cNvPr>
          <p:cNvCxnSpPr>
            <a:cxnSpLocks/>
            <a:stCxn id="11" idx="2"/>
            <a:endCxn id="7" idx="3"/>
          </p:cNvCxnSpPr>
          <p:nvPr/>
        </p:nvCxnSpPr>
        <p:spPr>
          <a:xfrm rot="10800000">
            <a:off x="5570438" y="4790677"/>
            <a:ext cx="550033" cy="1381207"/>
          </a:xfrm>
          <a:prstGeom prst="curvedConnector2">
            <a:avLst/>
          </a:prstGeom>
          <a:ln w="44450">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B83B598F-B8D3-1D05-3EE4-CEDB663783D8}"/>
              </a:ext>
            </a:extLst>
          </p:cNvPr>
          <p:cNvSpPr txBox="1"/>
          <p:nvPr/>
        </p:nvSpPr>
        <p:spPr>
          <a:xfrm>
            <a:off x="5004589" y="6211669"/>
            <a:ext cx="1335521" cy="646331"/>
          </a:xfrm>
          <a:prstGeom prst="rect">
            <a:avLst/>
          </a:prstGeom>
          <a:noFill/>
        </p:spPr>
        <p:txBody>
          <a:bodyPr wrap="square" rtlCol="0">
            <a:spAutoFit/>
          </a:bodyPr>
          <a:lstStyle/>
          <a:p>
            <a:pPr algn="ctr"/>
            <a:r>
              <a:rPr lang="en-GB" b="1" dirty="0"/>
              <a:t>Pending deadline</a:t>
            </a:r>
          </a:p>
        </p:txBody>
      </p:sp>
      <p:sp>
        <p:nvSpPr>
          <p:cNvPr id="35" name="TextBox 34">
            <a:extLst>
              <a:ext uri="{FF2B5EF4-FFF2-40B4-BE49-F238E27FC236}">
                <a16:creationId xmlns:a16="http://schemas.microsoft.com/office/drawing/2014/main" id="{D2A7F6CC-E0BF-5966-B141-12D58FBDD4F2}"/>
              </a:ext>
            </a:extLst>
          </p:cNvPr>
          <p:cNvSpPr txBox="1"/>
          <p:nvPr/>
        </p:nvSpPr>
        <p:spPr>
          <a:xfrm>
            <a:off x="9671331" y="3032644"/>
            <a:ext cx="2424915" cy="2893100"/>
          </a:xfrm>
          <a:prstGeom prst="rect">
            <a:avLst/>
          </a:prstGeom>
          <a:noFill/>
        </p:spPr>
        <p:txBody>
          <a:bodyPr wrap="square" rtlCol="0">
            <a:spAutoFit/>
          </a:bodyPr>
          <a:lstStyle/>
          <a:p>
            <a:r>
              <a:rPr lang="en-GB" b="1" dirty="0"/>
              <a:t>Alpha testing</a:t>
            </a:r>
            <a:r>
              <a:rPr lang="en-GB" dirty="0"/>
              <a:t> – </a:t>
            </a:r>
            <a:r>
              <a:rPr lang="en-GB" sz="1600" dirty="0"/>
              <a:t>Complete run-through of game (not yet feature complete).  Traditionally internal, but more open today (e.g. Early Access)</a:t>
            </a:r>
          </a:p>
          <a:p>
            <a:endParaRPr lang="en-GB" dirty="0"/>
          </a:p>
          <a:p>
            <a:r>
              <a:rPr lang="en-GB" b="1" dirty="0"/>
              <a:t>Beta testing</a:t>
            </a:r>
            <a:r>
              <a:rPr lang="en-GB" dirty="0"/>
              <a:t> – </a:t>
            </a:r>
            <a:r>
              <a:rPr lang="en-GB" sz="1600" dirty="0"/>
              <a:t>Feature complete game (</a:t>
            </a:r>
            <a:r>
              <a:rPr lang="en-GB" sz="1600" b="1" u="sng" dirty="0"/>
              <a:t>bug fixes only</a:t>
            </a:r>
            <a:r>
              <a:rPr lang="en-GB" sz="1600" dirty="0"/>
              <a:t>!)</a:t>
            </a:r>
            <a:endParaRPr lang="en-GB" dirty="0"/>
          </a:p>
        </p:txBody>
      </p:sp>
    </p:spTree>
    <p:extLst>
      <p:ext uri="{BB962C8B-B14F-4D97-AF65-F5344CB8AC3E}">
        <p14:creationId xmlns:p14="http://schemas.microsoft.com/office/powerpoint/2010/main" val="2676342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C99EE66B-87AE-ADAB-81B2-94CD4854139A}"/>
              </a:ext>
            </a:extLst>
          </p:cNvPr>
          <p:cNvSpPr txBox="1"/>
          <p:nvPr/>
        </p:nvSpPr>
        <p:spPr>
          <a:xfrm>
            <a:off x="2034235" y="283779"/>
            <a:ext cx="8123531" cy="584775"/>
          </a:xfrm>
          <a:prstGeom prst="rect">
            <a:avLst/>
          </a:prstGeom>
          <a:noFill/>
        </p:spPr>
        <p:txBody>
          <a:bodyPr wrap="square" rtlCol="0">
            <a:spAutoFit/>
          </a:bodyPr>
          <a:lstStyle/>
          <a:p>
            <a:pPr algn="ctr"/>
            <a:r>
              <a:rPr lang="en-GB" sz="3200" b="1" dirty="0">
                <a:solidFill>
                  <a:schemeClr val="accent3">
                    <a:lumMod val="60000"/>
                    <a:lumOff val="40000"/>
                  </a:schemeClr>
                </a:solidFill>
              </a:rPr>
              <a:t>Development Phases</a:t>
            </a:r>
          </a:p>
        </p:txBody>
      </p:sp>
      <p:sp>
        <p:nvSpPr>
          <p:cNvPr id="18" name="Oval 17">
            <a:extLst>
              <a:ext uri="{FF2B5EF4-FFF2-40B4-BE49-F238E27FC236}">
                <a16:creationId xmlns:a16="http://schemas.microsoft.com/office/drawing/2014/main" id="{BEE7D2FA-9189-079F-D89A-B8926333D6BE}"/>
              </a:ext>
            </a:extLst>
          </p:cNvPr>
          <p:cNvSpPr/>
          <p:nvPr/>
        </p:nvSpPr>
        <p:spPr>
          <a:xfrm>
            <a:off x="1869259" y="1996863"/>
            <a:ext cx="2071562" cy="1035781"/>
          </a:xfrm>
          <a:prstGeom prst="ellipse">
            <a:avLst/>
          </a:prstGeom>
          <a:noFill/>
          <a:ln w="444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Initial idea / concept</a:t>
            </a:r>
          </a:p>
        </p:txBody>
      </p:sp>
      <p:sp>
        <p:nvSpPr>
          <p:cNvPr id="19" name="Rectangle 18">
            <a:extLst>
              <a:ext uri="{FF2B5EF4-FFF2-40B4-BE49-F238E27FC236}">
                <a16:creationId xmlns:a16="http://schemas.microsoft.com/office/drawing/2014/main" id="{ECCCC6C1-61B2-32F7-1D93-3329C92C51A4}"/>
              </a:ext>
            </a:extLst>
          </p:cNvPr>
          <p:cNvSpPr/>
          <p:nvPr/>
        </p:nvSpPr>
        <p:spPr>
          <a:xfrm>
            <a:off x="1966364" y="3906582"/>
            <a:ext cx="1877352" cy="922492"/>
          </a:xfrm>
          <a:prstGeom prst="rect">
            <a:avLst/>
          </a:prstGeom>
          <a:noFill/>
          <a:ln w="444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The Pitch</a:t>
            </a:r>
          </a:p>
        </p:txBody>
      </p:sp>
      <p:sp>
        <p:nvSpPr>
          <p:cNvPr id="20" name="Oval 19">
            <a:extLst>
              <a:ext uri="{FF2B5EF4-FFF2-40B4-BE49-F238E27FC236}">
                <a16:creationId xmlns:a16="http://schemas.microsoft.com/office/drawing/2014/main" id="{424014F8-E0A9-4E7B-94B5-E7F7FFFC9AFB}"/>
              </a:ext>
            </a:extLst>
          </p:cNvPr>
          <p:cNvSpPr/>
          <p:nvPr/>
        </p:nvSpPr>
        <p:spPr>
          <a:xfrm>
            <a:off x="5371762" y="1996863"/>
            <a:ext cx="1522652" cy="1035781"/>
          </a:xfrm>
          <a:prstGeom prst="ellipse">
            <a:avLst/>
          </a:prstGeom>
          <a:noFill/>
          <a:ln w="444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Design</a:t>
            </a:r>
          </a:p>
        </p:txBody>
      </p:sp>
      <p:cxnSp>
        <p:nvCxnSpPr>
          <p:cNvPr id="21" name="Straight Arrow Connector 20">
            <a:extLst>
              <a:ext uri="{FF2B5EF4-FFF2-40B4-BE49-F238E27FC236}">
                <a16:creationId xmlns:a16="http://schemas.microsoft.com/office/drawing/2014/main" id="{497FDE5F-D7A4-6050-57E1-5B1DD535F53B}"/>
              </a:ext>
            </a:extLst>
          </p:cNvPr>
          <p:cNvCxnSpPr>
            <a:stCxn id="18" idx="4"/>
            <a:endCxn id="19" idx="0"/>
          </p:cNvCxnSpPr>
          <p:nvPr/>
        </p:nvCxnSpPr>
        <p:spPr>
          <a:xfrm>
            <a:off x="2905040" y="3032644"/>
            <a:ext cx="0" cy="873938"/>
          </a:xfrm>
          <a:prstGeom prst="straightConnector1">
            <a:avLst/>
          </a:prstGeom>
          <a:ln w="444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ctor: Curved 21">
            <a:extLst>
              <a:ext uri="{FF2B5EF4-FFF2-40B4-BE49-F238E27FC236}">
                <a16:creationId xmlns:a16="http://schemas.microsoft.com/office/drawing/2014/main" id="{E68A73DF-AD4D-3875-9E45-924AEB2C7601}"/>
              </a:ext>
            </a:extLst>
          </p:cNvPr>
          <p:cNvCxnSpPr>
            <a:cxnSpLocks/>
            <a:stCxn id="19" idx="3"/>
            <a:endCxn id="20" idx="2"/>
          </p:cNvCxnSpPr>
          <p:nvPr/>
        </p:nvCxnSpPr>
        <p:spPr>
          <a:xfrm flipV="1">
            <a:off x="3843716" y="2514754"/>
            <a:ext cx="1528046" cy="1853074"/>
          </a:xfrm>
          <a:prstGeom prst="curvedConnector3">
            <a:avLst/>
          </a:prstGeom>
          <a:ln w="444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CB71468C-3C8D-3B18-4917-51CF69E94842}"/>
              </a:ext>
            </a:extLst>
          </p:cNvPr>
          <p:cNvSpPr txBox="1"/>
          <p:nvPr/>
        </p:nvSpPr>
        <p:spPr>
          <a:xfrm>
            <a:off x="3511052" y="3048016"/>
            <a:ext cx="1140977" cy="655452"/>
          </a:xfrm>
          <a:prstGeom prst="rect">
            <a:avLst/>
          </a:prstGeom>
          <a:noFill/>
          <a:ln w="44450">
            <a:noFill/>
          </a:ln>
        </p:spPr>
        <p:txBody>
          <a:bodyPr wrap="square" rtlCol="0">
            <a:spAutoFit/>
          </a:bodyPr>
          <a:lstStyle/>
          <a:p>
            <a:pPr algn="ctr"/>
            <a:r>
              <a:rPr lang="en-GB" b="1" dirty="0"/>
              <a:t>Funding secured</a:t>
            </a:r>
          </a:p>
        </p:txBody>
      </p:sp>
      <p:sp>
        <p:nvSpPr>
          <p:cNvPr id="24" name="Oval 23">
            <a:extLst>
              <a:ext uri="{FF2B5EF4-FFF2-40B4-BE49-F238E27FC236}">
                <a16:creationId xmlns:a16="http://schemas.microsoft.com/office/drawing/2014/main" id="{D85C3550-B73C-DBA7-BB4B-6D29D8B6988A}"/>
              </a:ext>
            </a:extLst>
          </p:cNvPr>
          <p:cNvSpPr/>
          <p:nvPr/>
        </p:nvSpPr>
        <p:spPr>
          <a:xfrm>
            <a:off x="545756" y="2692434"/>
            <a:ext cx="1433203" cy="711164"/>
          </a:xfrm>
          <a:prstGeom prst="ellipse">
            <a:avLst/>
          </a:prstGeom>
          <a:noFill/>
          <a:ln w="44450">
            <a:solidFill>
              <a:schemeClr val="tx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Prototype</a:t>
            </a:r>
          </a:p>
        </p:txBody>
      </p:sp>
      <p:cxnSp>
        <p:nvCxnSpPr>
          <p:cNvPr id="25" name="Connector: Curved 24">
            <a:extLst>
              <a:ext uri="{FF2B5EF4-FFF2-40B4-BE49-F238E27FC236}">
                <a16:creationId xmlns:a16="http://schemas.microsoft.com/office/drawing/2014/main" id="{D08520DA-BAD9-101E-52B1-23D8DA98E35C}"/>
              </a:ext>
            </a:extLst>
          </p:cNvPr>
          <p:cNvCxnSpPr>
            <a:stCxn id="18" idx="4"/>
            <a:endCxn id="24" idx="5"/>
          </p:cNvCxnSpPr>
          <p:nvPr/>
        </p:nvCxnSpPr>
        <p:spPr>
          <a:xfrm rot="5400000">
            <a:off x="2203653" y="2598063"/>
            <a:ext cx="266806" cy="1135969"/>
          </a:xfrm>
          <a:prstGeom prst="curvedConnector3">
            <a:avLst>
              <a:gd name="adj1" fmla="val 224715"/>
            </a:avLst>
          </a:prstGeom>
          <a:ln w="444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Curved 25">
            <a:extLst>
              <a:ext uri="{FF2B5EF4-FFF2-40B4-BE49-F238E27FC236}">
                <a16:creationId xmlns:a16="http://schemas.microsoft.com/office/drawing/2014/main" id="{FE54DAFC-5A9B-D4FF-B147-698199797388}"/>
              </a:ext>
            </a:extLst>
          </p:cNvPr>
          <p:cNvCxnSpPr>
            <a:stCxn id="24" idx="0"/>
            <a:endCxn id="18" idx="2"/>
          </p:cNvCxnSpPr>
          <p:nvPr/>
        </p:nvCxnSpPr>
        <p:spPr>
          <a:xfrm rot="5400000" flipH="1" flipV="1">
            <a:off x="1476968" y="2300144"/>
            <a:ext cx="177680" cy="606901"/>
          </a:xfrm>
          <a:prstGeom prst="curvedConnector2">
            <a:avLst/>
          </a:prstGeom>
          <a:ln w="44450">
            <a:solidFill>
              <a:schemeClr val="tx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AD6E410A-677C-1557-ED77-BDD6D94225FB}"/>
              </a:ext>
            </a:extLst>
          </p:cNvPr>
          <p:cNvSpPr/>
          <p:nvPr/>
        </p:nvSpPr>
        <p:spPr>
          <a:xfrm>
            <a:off x="6479023" y="2514753"/>
            <a:ext cx="1260721" cy="711164"/>
          </a:xfrm>
          <a:prstGeom prst="ellipse">
            <a:avLst/>
          </a:prstGeom>
          <a:noFill/>
          <a:ln w="444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Review</a:t>
            </a:r>
          </a:p>
        </p:txBody>
      </p:sp>
      <p:cxnSp>
        <p:nvCxnSpPr>
          <p:cNvPr id="28" name="Connector: Curved 27">
            <a:extLst>
              <a:ext uri="{FF2B5EF4-FFF2-40B4-BE49-F238E27FC236}">
                <a16:creationId xmlns:a16="http://schemas.microsoft.com/office/drawing/2014/main" id="{73D4C7BE-1F59-F430-CCE1-86DC51B7FAC8}"/>
              </a:ext>
            </a:extLst>
          </p:cNvPr>
          <p:cNvCxnSpPr>
            <a:cxnSpLocks/>
            <a:stCxn id="27" idx="7"/>
            <a:endCxn id="20" idx="0"/>
          </p:cNvCxnSpPr>
          <p:nvPr/>
        </p:nvCxnSpPr>
        <p:spPr>
          <a:xfrm rot="16200000" flipV="1">
            <a:off x="6533083" y="1596868"/>
            <a:ext cx="622038" cy="1422028"/>
          </a:xfrm>
          <a:prstGeom prst="curvedConnector3">
            <a:avLst>
              <a:gd name="adj1" fmla="val 126993"/>
            </a:avLst>
          </a:prstGeom>
          <a:ln w="444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22923F92-3503-126D-99D7-956D0B8D2C0B}"/>
              </a:ext>
            </a:extLst>
          </p:cNvPr>
          <p:cNvSpPr/>
          <p:nvPr/>
        </p:nvSpPr>
        <p:spPr>
          <a:xfrm>
            <a:off x="5215316" y="3906582"/>
            <a:ext cx="2424915" cy="1035781"/>
          </a:xfrm>
          <a:prstGeom prst="ellipse">
            <a:avLst/>
          </a:prstGeom>
          <a:solidFill>
            <a:schemeClr val="accent6">
              <a:lumMod val="60000"/>
              <a:lumOff val="40000"/>
            </a:schemeClr>
          </a:solid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Development/ Prototyping</a:t>
            </a:r>
          </a:p>
        </p:txBody>
      </p:sp>
      <p:sp>
        <p:nvSpPr>
          <p:cNvPr id="8" name="Rectangle 7">
            <a:extLst>
              <a:ext uri="{FF2B5EF4-FFF2-40B4-BE49-F238E27FC236}">
                <a16:creationId xmlns:a16="http://schemas.microsoft.com/office/drawing/2014/main" id="{BA1FBC00-D53F-D043-46EB-C8906C8B225B}"/>
              </a:ext>
            </a:extLst>
          </p:cNvPr>
          <p:cNvSpPr/>
          <p:nvPr/>
        </p:nvSpPr>
        <p:spPr>
          <a:xfrm>
            <a:off x="9086007" y="1453074"/>
            <a:ext cx="1877352" cy="922492"/>
          </a:xfrm>
          <a:prstGeom prst="rect">
            <a:avLst/>
          </a:prstGeom>
          <a:noFill/>
          <a:ln w="444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Pre-Release</a:t>
            </a:r>
          </a:p>
        </p:txBody>
      </p:sp>
      <p:cxnSp>
        <p:nvCxnSpPr>
          <p:cNvPr id="9" name="Connector: Curved 8">
            <a:extLst>
              <a:ext uri="{FF2B5EF4-FFF2-40B4-BE49-F238E27FC236}">
                <a16:creationId xmlns:a16="http://schemas.microsoft.com/office/drawing/2014/main" id="{65E3F398-0905-A4B0-51DB-B89271905D17}"/>
              </a:ext>
            </a:extLst>
          </p:cNvPr>
          <p:cNvCxnSpPr>
            <a:cxnSpLocks/>
            <a:stCxn id="7" idx="6"/>
            <a:endCxn id="8" idx="1"/>
          </p:cNvCxnSpPr>
          <p:nvPr/>
        </p:nvCxnSpPr>
        <p:spPr>
          <a:xfrm flipV="1">
            <a:off x="7640231" y="1914320"/>
            <a:ext cx="1445776" cy="2510153"/>
          </a:xfrm>
          <a:prstGeom prst="curvedConnector3">
            <a:avLst/>
          </a:prstGeom>
          <a:ln w="444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3608201B-1C64-892F-D2A2-0E140C9AF74C}"/>
              </a:ext>
            </a:extLst>
          </p:cNvPr>
          <p:cNvSpPr/>
          <p:nvPr/>
        </p:nvSpPr>
        <p:spPr>
          <a:xfrm>
            <a:off x="7034007" y="4991383"/>
            <a:ext cx="1422848" cy="711164"/>
          </a:xfrm>
          <a:prstGeom prst="ellipse">
            <a:avLst/>
          </a:prstGeom>
          <a:noFill/>
          <a:ln w="444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Testing</a:t>
            </a:r>
          </a:p>
        </p:txBody>
      </p:sp>
      <p:sp>
        <p:nvSpPr>
          <p:cNvPr id="11" name="Oval 10">
            <a:extLst>
              <a:ext uri="{FF2B5EF4-FFF2-40B4-BE49-F238E27FC236}">
                <a16:creationId xmlns:a16="http://schemas.microsoft.com/office/drawing/2014/main" id="{44DE8796-CE22-4196-C481-968F7BDC62DD}"/>
              </a:ext>
            </a:extLst>
          </p:cNvPr>
          <p:cNvSpPr/>
          <p:nvPr/>
        </p:nvSpPr>
        <p:spPr>
          <a:xfrm>
            <a:off x="6120469" y="5816301"/>
            <a:ext cx="1519761" cy="711164"/>
          </a:xfrm>
          <a:prstGeom prst="ellipse">
            <a:avLst/>
          </a:prstGeom>
          <a:noFill/>
          <a:ln w="444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Review / Design </a:t>
            </a:r>
            <a:r>
              <a:rPr lang="en-GB" sz="1200" b="1" dirty="0" err="1">
                <a:solidFill>
                  <a:schemeClr val="tx1"/>
                </a:solidFill>
              </a:rPr>
              <a:t>Eval</a:t>
            </a:r>
            <a:endParaRPr lang="en-GB" sz="1200" b="1" dirty="0">
              <a:solidFill>
                <a:schemeClr val="tx1"/>
              </a:solidFill>
            </a:endParaRPr>
          </a:p>
        </p:txBody>
      </p:sp>
      <p:sp>
        <p:nvSpPr>
          <p:cNvPr id="12" name="Oval 11">
            <a:extLst>
              <a:ext uri="{FF2B5EF4-FFF2-40B4-BE49-F238E27FC236}">
                <a16:creationId xmlns:a16="http://schemas.microsoft.com/office/drawing/2014/main" id="{A44B1229-F34A-9A14-A203-1616EC59B7C8}"/>
              </a:ext>
            </a:extLst>
          </p:cNvPr>
          <p:cNvSpPr/>
          <p:nvPr/>
        </p:nvSpPr>
        <p:spPr>
          <a:xfrm>
            <a:off x="4033128" y="5816301"/>
            <a:ext cx="1078939" cy="711164"/>
          </a:xfrm>
          <a:prstGeom prst="ellipse">
            <a:avLst/>
          </a:prstGeom>
          <a:noFill/>
          <a:ln w="444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tx1"/>
                </a:solidFill>
              </a:rPr>
              <a:t>Crunch</a:t>
            </a:r>
          </a:p>
        </p:txBody>
      </p:sp>
      <p:sp>
        <p:nvSpPr>
          <p:cNvPr id="13" name="Rectangle 12">
            <a:extLst>
              <a:ext uri="{FF2B5EF4-FFF2-40B4-BE49-F238E27FC236}">
                <a16:creationId xmlns:a16="http://schemas.microsoft.com/office/drawing/2014/main" id="{D6323469-BF35-DED4-7066-A334716C5A2F}"/>
              </a:ext>
            </a:extLst>
          </p:cNvPr>
          <p:cNvSpPr/>
          <p:nvPr/>
        </p:nvSpPr>
        <p:spPr>
          <a:xfrm>
            <a:off x="3912243" y="4947769"/>
            <a:ext cx="1449823" cy="478190"/>
          </a:xfrm>
          <a:prstGeom prst="rect">
            <a:avLst/>
          </a:prstGeom>
          <a:noFill/>
          <a:ln w="444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Milestone</a:t>
            </a:r>
          </a:p>
        </p:txBody>
      </p:sp>
      <p:cxnSp>
        <p:nvCxnSpPr>
          <p:cNvPr id="14" name="Connector: Curved 13">
            <a:extLst>
              <a:ext uri="{FF2B5EF4-FFF2-40B4-BE49-F238E27FC236}">
                <a16:creationId xmlns:a16="http://schemas.microsoft.com/office/drawing/2014/main" id="{C077B146-91B1-A771-492C-55E85EE72892}"/>
              </a:ext>
            </a:extLst>
          </p:cNvPr>
          <p:cNvCxnSpPr>
            <a:cxnSpLocks/>
            <a:stCxn id="8" idx="2"/>
            <a:endCxn id="7" idx="7"/>
          </p:cNvCxnSpPr>
          <p:nvPr/>
        </p:nvCxnSpPr>
        <p:spPr>
          <a:xfrm rot="5400000">
            <a:off x="7813546" y="1847131"/>
            <a:ext cx="1682703" cy="2739573"/>
          </a:xfrm>
          <a:prstGeom prst="curvedConnector3">
            <a:avLst>
              <a:gd name="adj1" fmla="val 50000"/>
            </a:avLst>
          </a:prstGeom>
          <a:ln w="444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or: Curved 14">
            <a:extLst>
              <a:ext uri="{FF2B5EF4-FFF2-40B4-BE49-F238E27FC236}">
                <a16:creationId xmlns:a16="http://schemas.microsoft.com/office/drawing/2014/main" id="{DB7B2932-57FA-A916-0645-6DCD887E2A60}"/>
              </a:ext>
            </a:extLst>
          </p:cNvPr>
          <p:cNvCxnSpPr>
            <a:cxnSpLocks/>
            <a:stCxn id="7" idx="6"/>
            <a:endCxn id="10" idx="7"/>
          </p:cNvCxnSpPr>
          <p:nvPr/>
        </p:nvCxnSpPr>
        <p:spPr>
          <a:xfrm>
            <a:off x="7640231" y="4424473"/>
            <a:ext cx="608253" cy="671058"/>
          </a:xfrm>
          <a:prstGeom prst="curvedConnector2">
            <a:avLst/>
          </a:prstGeom>
          <a:ln w="444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ctor: Curved 28">
            <a:extLst>
              <a:ext uri="{FF2B5EF4-FFF2-40B4-BE49-F238E27FC236}">
                <a16:creationId xmlns:a16="http://schemas.microsoft.com/office/drawing/2014/main" id="{631175E8-1914-F0D6-8676-91BFB28FD4CB}"/>
              </a:ext>
            </a:extLst>
          </p:cNvPr>
          <p:cNvCxnSpPr>
            <a:cxnSpLocks/>
            <a:stCxn id="10" idx="5"/>
            <a:endCxn id="11" idx="6"/>
          </p:cNvCxnSpPr>
          <p:nvPr/>
        </p:nvCxnSpPr>
        <p:spPr>
          <a:xfrm rot="5400000">
            <a:off x="7657615" y="5581014"/>
            <a:ext cx="573484" cy="608254"/>
          </a:xfrm>
          <a:prstGeom prst="curvedConnector2">
            <a:avLst/>
          </a:prstGeom>
          <a:ln w="444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or: Curved 29">
            <a:extLst>
              <a:ext uri="{FF2B5EF4-FFF2-40B4-BE49-F238E27FC236}">
                <a16:creationId xmlns:a16="http://schemas.microsoft.com/office/drawing/2014/main" id="{70DCFE94-8DAA-9D0A-4A26-144351D41306}"/>
              </a:ext>
            </a:extLst>
          </p:cNvPr>
          <p:cNvCxnSpPr>
            <a:cxnSpLocks/>
            <a:stCxn id="11" idx="2"/>
            <a:endCxn id="12" idx="6"/>
          </p:cNvCxnSpPr>
          <p:nvPr/>
        </p:nvCxnSpPr>
        <p:spPr>
          <a:xfrm rot="10800000">
            <a:off x="5112067" y="6171883"/>
            <a:ext cx="1008402" cy="12700"/>
          </a:xfrm>
          <a:prstGeom prst="curvedConnector3">
            <a:avLst/>
          </a:prstGeom>
          <a:ln w="444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E2A0519C-E15E-34F2-0BA8-D9E8691F84E3}"/>
              </a:ext>
            </a:extLst>
          </p:cNvPr>
          <p:cNvCxnSpPr>
            <a:cxnSpLocks/>
            <a:stCxn id="12" idx="2"/>
            <a:endCxn id="13" idx="1"/>
          </p:cNvCxnSpPr>
          <p:nvPr/>
        </p:nvCxnSpPr>
        <p:spPr>
          <a:xfrm rot="10800000">
            <a:off x="3912244" y="5186865"/>
            <a:ext cx="120885" cy="985019"/>
          </a:xfrm>
          <a:prstGeom prst="curvedConnector3">
            <a:avLst>
              <a:gd name="adj1" fmla="val 289105"/>
            </a:avLst>
          </a:prstGeom>
          <a:ln w="444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or: Curved 31">
            <a:extLst>
              <a:ext uri="{FF2B5EF4-FFF2-40B4-BE49-F238E27FC236}">
                <a16:creationId xmlns:a16="http://schemas.microsoft.com/office/drawing/2014/main" id="{7308878D-F512-169A-0AFE-C5702409273A}"/>
              </a:ext>
            </a:extLst>
          </p:cNvPr>
          <p:cNvCxnSpPr>
            <a:cxnSpLocks/>
            <a:stCxn id="13" idx="0"/>
            <a:endCxn id="7" idx="2"/>
          </p:cNvCxnSpPr>
          <p:nvPr/>
        </p:nvCxnSpPr>
        <p:spPr>
          <a:xfrm rot="5400000" flipH="1" flipV="1">
            <a:off x="4664587" y="4397041"/>
            <a:ext cx="523296" cy="578161"/>
          </a:xfrm>
          <a:prstGeom prst="curvedConnector2">
            <a:avLst/>
          </a:prstGeom>
          <a:ln w="444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nector: Curved 32">
            <a:extLst>
              <a:ext uri="{FF2B5EF4-FFF2-40B4-BE49-F238E27FC236}">
                <a16:creationId xmlns:a16="http://schemas.microsoft.com/office/drawing/2014/main" id="{F57542F2-9219-102A-DA36-C7C115DDD5E0}"/>
              </a:ext>
            </a:extLst>
          </p:cNvPr>
          <p:cNvCxnSpPr>
            <a:cxnSpLocks/>
            <a:stCxn id="11" idx="2"/>
            <a:endCxn id="7" idx="3"/>
          </p:cNvCxnSpPr>
          <p:nvPr/>
        </p:nvCxnSpPr>
        <p:spPr>
          <a:xfrm rot="10800000">
            <a:off x="5570437" y="4790677"/>
            <a:ext cx="550032" cy="1381207"/>
          </a:xfrm>
          <a:prstGeom prst="curvedConnector2">
            <a:avLst/>
          </a:prstGeom>
          <a:ln w="444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B83B598F-B8D3-1D05-3EE4-CEDB663783D8}"/>
              </a:ext>
            </a:extLst>
          </p:cNvPr>
          <p:cNvSpPr txBox="1"/>
          <p:nvPr/>
        </p:nvSpPr>
        <p:spPr>
          <a:xfrm>
            <a:off x="5004589" y="6211669"/>
            <a:ext cx="1335521" cy="646331"/>
          </a:xfrm>
          <a:prstGeom prst="rect">
            <a:avLst/>
          </a:prstGeom>
          <a:noFill/>
        </p:spPr>
        <p:txBody>
          <a:bodyPr wrap="square" rtlCol="0">
            <a:spAutoFit/>
          </a:bodyPr>
          <a:lstStyle/>
          <a:p>
            <a:pPr algn="ctr"/>
            <a:r>
              <a:rPr lang="en-GB" b="1" dirty="0"/>
              <a:t>Pending deadline</a:t>
            </a:r>
          </a:p>
        </p:txBody>
      </p:sp>
      <p:sp>
        <p:nvSpPr>
          <p:cNvPr id="3" name="TextBox 2">
            <a:extLst>
              <a:ext uri="{FF2B5EF4-FFF2-40B4-BE49-F238E27FC236}">
                <a16:creationId xmlns:a16="http://schemas.microsoft.com/office/drawing/2014/main" id="{58E5D273-700C-8F4D-DED9-9278D1BDEB6C}"/>
              </a:ext>
            </a:extLst>
          </p:cNvPr>
          <p:cNvSpPr txBox="1"/>
          <p:nvPr/>
        </p:nvSpPr>
        <p:spPr>
          <a:xfrm>
            <a:off x="545756" y="1083742"/>
            <a:ext cx="10305124" cy="369332"/>
          </a:xfrm>
          <a:prstGeom prst="rect">
            <a:avLst/>
          </a:prstGeom>
          <a:noFill/>
        </p:spPr>
        <p:txBody>
          <a:bodyPr wrap="square" rtlCol="0">
            <a:spAutoFit/>
          </a:bodyPr>
          <a:lstStyle/>
          <a:p>
            <a:r>
              <a:rPr lang="en-GB" b="1" dirty="0"/>
              <a:t>3. Post-Production</a:t>
            </a:r>
            <a:r>
              <a:rPr lang="en-GB" dirty="0"/>
              <a:t> (includes development of promotional materials, demos and manuals)</a:t>
            </a:r>
          </a:p>
        </p:txBody>
      </p:sp>
      <p:sp>
        <p:nvSpPr>
          <p:cNvPr id="37" name="Rectangle 36">
            <a:extLst>
              <a:ext uri="{FF2B5EF4-FFF2-40B4-BE49-F238E27FC236}">
                <a16:creationId xmlns:a16="http://schemas.microsoft.com/office/drawing/2014/main" id="{15F1F3C8-C6C1-528F-9C07-36092EF5780D}"/>
              </a:ext>
            </a:extLst>
          </p:cNvPr>
          <p:cNvSpPr/>
          <p:nvPr/>
        </p:nvSpPr>
        <p:spPr>
          <a:xfrm>
            <a:off x="9056338" y="4065931"/>
            <a:ext cx="2283303" cy="1247523"/>
          </a:xfrm>
          <a:prstGeom prst="rect">
            <a:avLst/>
          </a:prstGeom>
          <a:solidFill>
            <a:schemeClr val="accent1">
              <a:lumMod val="40000"/>
              <a:lumOff val="60000"/>
            </a:schemeClr>
          </a:solid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(“Release To Manufacture”)</a:t>
            </a:r>
          </a:p>
          <a:p>
            <a:pPr algn="ctr"/>
            <a:r>
              <a:rPr lang="en-GB" b="1" dirty="0">
                <a:solidFill>
                  <a:schemeClr val="tx1"/>
                </a:solidFill>
              </a:rPr>
              <a:t>RTM /</a:t>
            </a:r>
          </a:p>
          <a:p>
            <a:pPr algn="ctr"/>
            <a:r>
              <a:rPr lang="en-GB" b="1" dirty="0">
                <a:solidFill>
                  <a:schemeClr val="tx1"/>
                </a:solidFill>
              </a:rPr>
              <a:t>Gold Master</a:t>
            </a:r>
          </a:p>
        </p:txBody>
      </p:sp>
      <p:cxnSp>
        <p:nvCxnSpPr>
          <p:cNvPr id="38" name="Straight Arrow Connector 37">
            <a:extLst>
              <a:ext uri="{FF2B5EF4-FFF2-40B4-BE49-F238E27FC236}">
                <a16:creationId xmlns:a16="http://schemas.microsoft.com/office/drawing/2014/main" id="{07A0D563-1BBA-FF52-BE7D-8FF3814278E6}"/>
              </a:ext>
            </a:extLst>
          </p:cNvPr>
          <p:cNvCxnSpPr>
            <a:cxnSpLocks/>
            <a:stCxn id="7" idx="6"/>
            <a:endCxn id="37" idx="1"/>
          </p:cNvCxnSpPr>
          <p:nvPr/>
        </p:nvCxnSpPr>
        <p:spPr>
          <a:xfrm>
            <a:off x="7640231" y="4424473"/>
            <a:ext cx="1416107" cy="265220"/>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1710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9DE401-DD34-ED4B-1D8B-2AFF70105665}"/>
              </a:ext>
            </a:extLst>
          </p:cNvPr>
          <p:cNvSpPr txBox="1"/>
          <p:nvPr/>
        </p:nvSpPr>
        <p:spPr>
          <a:xfrm>
            <a:off x="756604" y="1831536"/>
            <a:ext cx="10086723" cy="2308324"/>
          </a:xfrm>
          <a:prstGeom prst="rect">
            <a:avLst/>
          </a:prstGeom>
          <a:noFill/>
        </p:spPr>
        <p:txBody>
          <a:bodyPr wrap="square" rtlCol="0">
            <a:spAutoFit/>
          </a:bodyPr>
          <a:lstStyle/>
          <a:p>
            <a:r>
              <a:rPr lang="en-GB" dirty="0"/>
              <a:t>• Approaches to developing software have evolved over the years.  Key methodologies employed are:</a:t>
            </a:r>
          </a:p>
          <a:p>
            <a:endParaRPr lang="en-GB" dirty="0"/>
          </a:p>
          <a:p>
            <a:pPr marL="285750" indent="-285750">
              <a:buFontTx/>
              <a:buChar char="-"/>
            </a:pPr>
            <a:r>
              <a:rPr lang="en-GB" dirty="0"/>
              <a:t>Waterfall</a:t>
            </a:r>
          </a:p>
          <a:p>
            <a:endParaRPr lang="en-GB" dirty="0"/>
          </a:p>
          <a:p>
            <a:pPr marL="285750" indent="-285750">
              <a:buFontTx/>
              <a:buChar char="-"/>
            </a:pPr>
            <a:r>
              <a:rPr lang="en-GB" dirty="0"/>
              <a:t>Iterative / RAD (Rapid Application Development) – also known as the Spiral Model</a:t>
            </a:r>
          </a:p>
          <a:p>
            <a:endParaRPr lang="en-GB" dirty="0"/>
          </a:p>
          <a:p>
            <a:pPr marL="285750" indent="-285750">
              <a:buFontTx/>
              <a:buChar char="-"/>
            </a:pPr>
            <a:r>
              <a:rPr lang="en-GB" dirty="0"/>
              <a:t>Agile</a:t>
            </a:r>
          </a:p>
        </p:txBody>
      </p:sp>
      <p:sp>
        <p:nvSpPr>
          <p:cNvPr id="3" name="TextBox 2">
            <a:extLst>
              <a:ext uri="{FF2B5EF4-FFF2-40B4-BE49-F238E27FC236}">
                <a16:creationId xmlns:a16="http://schemas.microsoft.com/office/drawing/2014/main" id="{CA4836AF-6F3E-864F-190A-3C938FC62FE1}"/>
              </a:ext>
            </a:extLst>
          </p:cNvPr>
          <p:cNvSpPr txBox="1"/>
          <p:nvPr/>
        </p:nvSpPr>
        <p:spPr>
          <a:xfrm>
            <a:off x="2034235" y="283779"/>
            <a:ext cx="8123531" cy="584775"/>
          </a:xfrm>
          <a:prstGeom prst="rect">
            <a:avLst/>
          </a:prstGeom>
          <a:noFill/>
        </p:spPr>
        <p:txBody>
          <a:bodyPr wrap="square" rtlCol="0">
            <a:spAutoFit/>
          </a:bodyPr>
          <a:lstStyle/>
          <a:p>
            <a:pPr algn="ctr"/>
            <a:r>
              <a:rPr lang="en-GB" sz="3200" b="1" dirty="0">
                <a:solidFill>
                  <a:schemeClr val="accent3">
                    <a:lumMod val="60000"/>
                    <a:lumOff val="40000"/>
                  </a:schemeClr>
                </a:solidFill>
              </a:rPr>
              <a:t>Development Methodologies</a:t>
            </a:r>
          </a:p>
        </p:txBody>
      </p:sp>
    </p:spTree>
    <p:extLst>
      <p:ext uri="{BB962C8B-B14F-4D97-AF65-F5344CB8AC3E}">
        <p14:creationId xmlns:p14="http://schemas.microsoft.com/office/powerpoint/2010/main" val="2571184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317489-2AEC-7825-4810-6EBB931A38D3}"/>
              </a:ext>
            </a:extLst>
          </p:cNvPr>
          <p:cNvSpPr txBox="1"/>
          <p:nvPr/>
        </p:nvSpPr>
        <p:spPr>
          <a:xfrm>
            <a:off x="1341120" y="921182"/>
            <a:ext cx="9509760" cy="646331"/>
          </a:xfrm>
          <a:prstGeom prst="rect">
            <a:avLst/>
          </a:prstGeom>
          <a:noFill/>
        </p:spPr>
        <p:txBody>
          <a:bodyPr wrap="square" rtlCol="0">
            <a:spAutoFit/>
          </a:bodyPr>
          <a:lstStyle/>
          <a:p>
            <a:r>
              <a:rPr lang="en-GB" dirty="0"/>
              <a:t>• The Waterfall method involves a number of stages, each one completed and signed off before proceeding onto the next…</a:t>
            </a:r>
          </a:p>
        </p:txBody>
      </p:sp>
      <p:sp>
        <p:nvSpPr>
          <p:cNvPr id="3" name="TextBox 2">
            <a:extLst>
              <a:ext uri="{FF2B5EF4-FFF2-40B4-BE49-F238E27FC236}">
                <a16:creationId xmlns:a16="http://schemas.microsoft.com/office/drawing/2014/main" id="{AEE150E5-7645-E06B-D449-AB4CD5BA7929}"/>
              </a:ext>
            </a:extLst>
          </p:cNvPr>
          <p:cNvSpPr txBox="1"/>
          <p:nvPr/>
        </p:nvSpPr>
        <p:spPr>
          <a:xfrm>
            <a:off x="2034235" y="283779"/>
            <a:ext cx="8123531" cy="584775"/>
          </a:xfrm>
          <a:prstGeom prst="rect">
            <a:avLst/>
          </a:prstGeom>
          <a:noFill/>
        </p:spPr>
        <p:txBody>
          <a:bodyPr wrap="square" rtlCol="0">
            <a:spAutoFit/>
          </a:bodyPr>
          <a:lstStyle/>
          <a:p>
            <a:pPr algn="ctr"/>
            <a:r>
              <a:rPr lang="en-GB" sz="3200" b="1" dirty="0">
                <a:solidFill>
                  <a:schemeClr val="accent3">
                    <a:lumMod val="60000"/>
                    <a:lumOff val="40000"/>
                  </a:schemeClr>
                </a:solidFill>
              </a:rPr>
              <a:t>Development Methodologies - Waterfall</a:t>
            </a:r>
          </a:p>
        </p:txBody>
      </p:sp>
      <p:sp>
        <p:nvSpPr>
          <p:cNvPr id="4" name="Rectangle 3">
            <a:extLst>
              <a:ext uri="{FF2B5EF4-FFF2-40B4-BE49-F238E27FC236}">
                <a16:creationId xmlns:a16="http://schemas.microsoft.com/office/drawing/2014/main" id="{85A8A7AE-AC1D-0A0F-43D8-66E6373D226A}"/>
              </a:ext>
            </a:extLst>
          </p:cNvPr>
          <p:cNvSpPr/>
          <p:nvPr/>
        </p:nvSpPr>
        <p:spPr>
          <a:xfrm>
            <a:off x="5976958" y="2412715"/>
            <a:ext cx="1429656" cy="711200"/>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Concept</a:t>
            </a:r>
          </a:p>
        </p:txBody>
      </p:sp>
      <p:sp>
        <p:nvSpPr>
          <p:cNvPr id="5" name="Rectangle 4">
            <a:extLst>
              <a:ext uri="{FF2B5EF4-FFF2-40B4-BE49-F238E27FC236}">
                <a16:creationId xmlns:a16="http://schemas.microsoft.com/office/drawing/2014/main" id="{5E101D53-9636-1DAE-CE03-5C898E44123A}"/>
              </a:ext>
            </a:extLst>
          </p:cNvPr>
          <p:cNvSpPr/>
          <p:nvPr/>
        </p:nvSpPr>
        <p:spPr>
          <a:xfrm>
            <a:off x="7130843" y="3217113"/>
            <a:ext cx="1429656" cy="711200"/>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Design</a:t>
            </a:r>
          </a:p>
        </p:txBody>
      </p:sp>
      <p:sp>
        <p:nvSpPr>
          <p:cNvPr id="6" name="Rectangle 5">
            <a:extLst>
              <a:ext uri="{FF2B5EF4-FFF2-40B4-BE49-F238E27FC236}">
                <a16:creationId xmlns:a16="http://schemas.microsoft.com/office/drawing/2014/main" id="{450AA022-2FC1-2CF3-682E-E4979E5B415C}"/>
              </a:ext>
            </a:extLst>
          </p:cNvPr>
          <p:cNvSpPr/>
          <p:nvPr/>
        </p:nvSpPr>
        <p:spPr>
          <a:xfrm>
            <a:off x="8007005" y="4021511"/>
            <a:ext cx="1576752" cy="711200"/>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Implementation</a:t>
            </a:r>
          </a:p>
        </p:txBody>
      </p:sp>
      <p:sp>
        <p:nvSpPr>
          <p:cNvPr id="7" name="Rectangle 6">
            <a:extLst>
              <a:ext uri="{FF2B5EF4-FFF2-40B4-BE49-F238E27FC236}">
                <a16:creationId xmlns:a16="http://schemas.microsoft.com/office/drawing/2014/main" id="{F28EEC85-D8DF-C7AD-2AB6-724D8549BDC3}"/>
              </a:ext>
            </a:extLst>
          </p:cNvPr>
          <p:cNvSpPr/>
          <p:nvPr/>
        </p:nvSpPr>
        <p:spPr>
          <a:xfrm>
            <a:off x="9249929" y="4934377"/>
            <a:ext cx="1429656" cy="711200"/>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Testing</a:t>
            </a:r>
          </a:p>
        </p:txBody>
      </p:sp>
      <p:sp>
        <p:nvSpPr>
          <p:cNvPr id="8" name="Rectangle 7">
            <a:extLst>
              <a:ext uri="{FF2B5EF4-FFF2-40B4-BE49-F238E27FC236}">
                <a16:creationId xmlns:a16="http://schemas.microsoft.com/office/drawing/2014/main" id="{90A37198-19EA-A09A-EA23-DCCE8A6A63A5}"/>
              </a:ext>
            </a:extLst>
          </p:cNvPr>
          <p:cNvSpPr/>
          <p:nvPr/>
        </p:nvSpPr>
        <p:spPr>
          <a:xfrm>
            <a:off x="10403815" y="5793009"/>
            <a:ext cx="1429656" cy="711200"/>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Release</a:t>
            </a:r>
          </a:p>
        </p:txBody>
      </p:sp>
      <p:cxnSp>
        <p:nvCxnSpPr>
          <p:cNvPr id="9" name="Connector: Curved 8">
            <a:extLst>
              <a:ext uri="{FF2B5EF4-FFF2-40B4-BE49-F238E27FC236}">
                <a16:creationId xmlns:a16="http://schemas.microsoft.com/office/drawing/2014/main" id="{09999786-E9D6-00DD-FE1D-27562BD08668}"/>
              </a:ext>
            </a:extLst>
          </p:cNvPr>
          <p:cNvCxnSpPr>
            <a:stCxn id="4" idx="3"/>
            <a:endCxn id="5" idx="0"/>
          </p:cNvCxnSpPr>
          <p:nvPr/>
        </p:nvCxnSpPr>
        <p:spPr>
          <a:xfrm>
            <a:off x="7406614" y="2768315"/>
            <a:ext cx="439057" cy="448798"/>
          </a:xfrm>
          <a:prstGeom prst="curvedConnector2">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or: Curved 9">
            <a:extLst>
              <a:ext uri="{FF2B5EF4-FFF2-40B4-BE49-F238E27FC236}">
                <a16:creationId xmlns:a16="http://schemas.microsoft.com/office/drawing/2014/main" id="{76566E1D-5DAF-52C3-DAC4-FF0B354876CF}"/>
              </a:ext>
            </a:extLst>
          </p:cNvPr>
          <p:cNvCxnSpPr>
            <a:cxnSpLocks/>
            <a:stCxn id="5" idx="3"/>
            <a:endCxn id="6" idx="0"/>
          </p:cNvCxnSpPr>
          <p:nvPr/>
        </p:nvCxnSpPr>
        <p:spPr>
          <a:xfrm>
            <a:off x="8560499" y="3572713"/>
            <a:ext cx="234882" cy="448798"/>
          </a:xfrm>
          <a:prstGeom prst="curvedConnector2">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nector: Curved 10">
            <a:extLst>
              <a:ext uri="{FF2B5EF4-FFF2-40B4-BE49-F238E27FC236}">
                <a16:creationId xmlns:a16="http://schemas.microsoft.com/office/drawing/2014/main" id="{270939F2-4566-B059-8F79-6AB470110E32}"/>
              </a:ext>
            </a:extLst>
          </p:cNvPr>
          <p:cNvCxnSpPr>
            <a:cxnSpLocks/>
            <a:stCxn id="6" idx="3"/>
            <a:endCxn id="7" idx="0"/>
          </p:cNvCxnSpPr>
          <p:nvPr/>
        </p:nvCxnSpPr>
        <p:spPr>
          <a:xfrm>
            <a:off x="9583757" y="4377111"/>
            <a:ext cx="381000" cy="557266"/>
          </a:xfrm>
          <a:prstGeom prst="curvedConnector2">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ctor: Curved 11">
            <a:extLst>
              <a:ext uri="{FF2B5EF4-FFF2-40B4-BE49-F238E27FC236}">
                <a16:creationId xmlns:a16="http://schemas.microsoft.com/office/drawing/2014/main" id="{D630A831-DB61-7699-DDD1-A5738B4650BA}"/>
              </a:ext>
            </a:extLst>
          </p:cNvPr>
          <p:cNvCxnSpPr>
            <a:stCxn id="7" idx="3"/>
            <a:endCxn id="8" idx="0"/>
          </p:cNvCxnSpPr>
          <p:nvPr/>
        </p:nvCxnSpPr>
        <p:spPr>
          <a:xfrm>
            <a:off x="10679585" y="5289977"/>
            <a:ext cx="439058" cy="503032"/>
          </a:xfrm>
          <a:prstGeom prst="curvedConnector2">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C0847F90-ED95-5B74-5559-A6B7FF625970}"/>
              </a:ext>
            </a:extLst>
          </p:cNvPr>
          <p:cNvSpPr/>
          <p:nvPr/>
        </p:nvSpPr>
        <p:spPr>
          <a:xfrm>
            <a:off x="202301" y="2366511"/>
            <a:ext cx="1554630" cy="711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Requirements</a:t>
            </a:r>
          </a:p>
          <a:p>
            <a:pPr algn="ctr"/>
            <a:r>
              <a:rPr lang="en-GB" sz="1600" dirty="0">
                <a:solidFill>
                  <a:schemeClr val="tx1"/>
                </a:solidFill>
              </a:rPr>
              <a:t>Analysis</a:t>
            </a:r>
          </a:p>
        </p:txBody>
      </p:sp>
      <p:sp>
        <p:nvSpPr>
          <p:cNvPr id="14" name="Rectangle 13">
            <a:extLst>
              <a:ext uri="{FF2B5EF4-FFF2-40B4-BE49-F238E27FC236}">
                <a16:creationId xmlns:a16="http://schemas.microsoft.com/office/drawing/2014/main" id="{77A97C9C-65C1-E41B-3B59-369A7E46E9E7}"/>
              </a:ext>
            </a:extLst>
          </p:cNvPr>
          <p:cNvSpPr/>
          <p:nvPr/>
        </p:nvSpPr>
        <p:spPr>
          <a:xfrm>
            <a:off x="1295285" y="3217113"/>
            <a:ext cx="1429656" cy="711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Design</a:t>
            </a:r>
          </a:p>
        </p:txBody>
      </p:sp>
      <p:sp>
        <p:nvSpPr>
          <p:cNvPr id="15" name="Rectangle 14">
            <a:extLst>
              <a:ext uri="{FF2B5EF4-FFF2-40B4-BE49-F238E27FC236}">
                <a16:creationId xmlns:a16="http://schemas.microsoft.com/office/drawing/2014/main" id="{6E952C6B-03BE-E7F9-96C9-E328C90583FB}"/>
              </a:ext>
            </a:extLst>
          </p:cNvPr>
          <p:cNvSpPr/>
          <p:nvPr/>
        </p:nvSpPr>
        <p:spPr>
          <a:xfrm>
            <a:off x="2227243" y="4079288"/>
            <a:ext cx="1576752" cy="711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Implementation</a:t>
            </a:r>
          </a:p>
        </p:txBody>
      </p:sp>
      <p:sp>
        <p:nvSpPr>
          <p:cNvPr id="16" name="Rectangle 15">
            <a:extLst>
              <a:ext uri="{FF2B5EF4-FFF2-40B4-BE49-F238E27FC236}">
                <a16:creationId xmlns:a16="http://schemas.microsoft.com/office/drawing/2014/main" id="{F20688A2-E58F-4939-A092-07B70F68E526}"/>
              </a:ext>
            </a:extLst>
          </p:cNvPr>
          <p:cNvSpPr/>
          <p:nvPr/>
        </p:nvSpPr>
        <p:spPr>
          <a:xfrm>
            <a:off x="3340187" y="4947243"/>
            <a:ext cx="1429656" cy="711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Verification / Testing</a:t>
            </a:r>
          </a:p>
        </p:txBody>
      </p:sp>
      <p:sp>
        <p:nvSpPr>
          <p:cNvPr id="17" name="Rectangle 16">
            <a:extLst>
              <a:ext uri="{FF2B5EF4-FFF2-40B4-BE49-F238E27FC236}">
                <a16:creationId xmlns:a16="http://schemas.microsoft.com/office/drawing/2014/main" id="{9CCCDD87-ACF6-535F-2CBC-1283984EC18A}"/>
              </a:ext>
            </a:extLst>
          </p:cNvPr>
          <p:cNvSpPr/>
          <p:nvPr/>
        </p:nvSpPr>
        <p:spPr>
          <a:xfrm>
            <a:off x="4448230" y="5836581"/>
            <a:ext cx="1429656" cy="711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Maintenance</a:t>
            </a:r>
          </a:p>
        </p:txBody>
      </p:sp>
      <p:cxnSp>
        <p:nvCxnSpPr>
          <p:cNvPr id="18" name="Connector: Curved 17">
            <a:extLst>
              <a:ext uri="{FF2B5EF4-FFF2-40B4-BE49-F238E27FC236}">
                <a16:creationId xmlns:a16="http://schemas.microsoft.com/office/drawing/2014/main" id="{E94B2129-BD2B-85A4-5583-BE741A08C905}"/>
              </a:ext>
            </a:extLst>
          </p:cNvPr>
          <p:cNvCxnSpPr>
            <a:cxnSpLocks/>
            <a:stCxn id="13" idx="3"/>
            <a:endCxn id="14" idx="0"/>
          </p:cNvCxnSpPr>
          <p:nvPr/>
        </p:nvCxnSpPr>
        <p:spPr>
          <a:xfrm>
            <a:off x="1756931" y="2722111"/>
            <a:ext cx="253182" cy="495002"/>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or: Curved 18">
            <a:extLst>
              <a:ext uri="{FF2B5EF4-FFF2-40B4-BE49-F238E27FC236}">
                <a16:creationId xmlns:a16="http://schemas.microsoft.com/office/drawing/2014/main" id="{FDF24C3A-F62F-073D-1CDD-2911780381FB}"/>
              </a:ext>
            </a:extLst>
          </p:cNvPr>
          <p:cNvCxnSpPr>
            <a:cxnSpLocks/>
            <a:stCxn id="14" idx="3"/>
            <a:endCxn id="15" idx="0"/>
          </p:cNvCxnSpPr>
          <p:nvPr/>
        </p:nvCxnSpPr>
        <p:spPr>
          <a:xfrm>
            <a:off x="2724941" y="3572713"/>
            <a:ext cx="290678" cy="50657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Curved 19">
            <a:extLst>
              <a:ext uri="{FF2B5EF4-FFF2-40B4-BE49-F238E27FC236}">
                <a16:creationId xmlns:a16="http://schemas.microsoft.com/office/drawing/2014/main" id="{001D7F0B-8708-AE8B-9624-4CAEF1289FE0}"/>
              </a:ext>
            </a:extLst>
          </p:cNvPr>
          <p:cNvCxnSpPr>
            <a:cxnSpLocks/>
            <a:stCxn id="15" idx="3"/>
            <a:endCxn id="16" idx="0"/>
          </p:cNvCxnSpPr>
          <p:nvPr/>
        </p:nvCxnSpPr>
        <p:spPr>
          <a:xfrm>
            <a:off x="3803995" y="4434888"/>
            <a:ext cx="251020" cy="51235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nector: Curved 20">
            <a:extLst>
              <a:ext uri="{FF2B5EF4-FFF2-40B4-BE49-F238E27FC236}">
                <a16:creationId xmlns:a16="http://schemas.microsoft.com/office/drawing/2014/main" id="{AB1D2D63-5BD3-EF52-4673-D1605D7DD1A5}"/>
              </a:ext>
            </a:extLst>
          </p:cNvPr>
          <p:cNvCxnSpPr>
            <a:stCxn id="16" idx="3"/>
            <a:endCxn id="17" idx="0"/>
          </p:cNvCxnSpPr>
          <p:nvPr/>
        </p:nvCxnSpPr>
        <p:spPr>
          <a:xfrm>
            <a:off x="4769843" y="5302843"/>
            <a:ext cx="393215" cy="533738"/>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F52F0CC-5B92-E3B6-0EA6-43A3384625A8}"/>
              </a:ext>
            </a:extLst>
          </p:cNvPr>
          <p:cNvSpPr txBox="1"/>
          <p:nvPr/>
        </p:nvSpPr>
        <p:spPr>
          <a:xfrm>
            <a:off x="5582907" y="1841717"/>
            <a:ext cx="4645426" cy="369332"/>
          </a:xfrm>
          <a:prstGeom prst="rect">
            <a:avLst/>
          </a:prstGeom>
          <a:noFill/>
        </p:spPr>
        <p:txBody>
          <a:bodyPr wrap="square" rtlCol="0">
            <a:spAutoFit/>
          </a:bodyPr>
          <a:lstStyle/>
          <a:p>
            <a:r>
              <a:rPr lang="en-GB" b="1" dirty="0"/>
              <a:t>What does this look like for Games Dev?</a:t>
            </a:r>
          </a:p>
        </p:txBody>
      </p:sp>
      <p:sp>
        <p:nvSpPr>
          <p:cNvPr id="23" name="TextBox 22">
            <a:extLst>
              <a:ext uri="{FF2B5EF4-FFF2-40B4-BE49-F238E27FC236}">
                <a16:creationId xmlns:a16="http://schemas.microsoft.com/office/drawing/2014/main" id="{02C46032-DD6E-A759-1BC3-C4DE1536A41B}"/>
              </a:ext>
            </a:extLst>
          </p:cNvPr>
          <p:cNvSpPr txBox="1"/>
          <p:nvPr/>
        </p:nvSpPr>
        <p:spPr>
          <a:xfrm>
            <a:off x="69254" y="5345824"/>
            <a:ext cx="2886321" cy="1477328"/>
          </a:xfrm>
          <a:prstGeom prst="rect">
            <a:avLst/>
          </a:prstGeom>
          <a:noFill/>
        </p:spPr>
        <p:txBody>
          <a:bodyPr wrap="square" rtlCol="0">
            <a:spAutoFit/>
          </a:bodyPr>
          <a:lstStyle/>
          <a:p>
            <a:r>
              <a:rPr lang="en-GB" b="1" dirty="0">
                <a:solidFill>
                  <a:schemeClr val="accent3">
                    <a:lumMod val="60000"/>
                    <a:lumOff val="40000"/>
                  </a:schemeClr>
                </a:solidFill>
              </a:rPr>
              <a:t>What if requirements don’t meet customer needs?  Re-write / changes needed.  This is the most costly stage!</a:t>
            </a:r>
          </a:p>
        </p:txBody>
      </p:sp>
      <p:cxnSp>
        <p:nvCxnSpPr>
          <p:cNvPr id="24" name="Straight Arrow Connector 23">
            <a:extLst>
              <a:ext uri="{FF2B5EF4-FFF2-40B4-BE49-F238E27FC236}">
                <a16:creationId xmlns:a16="http://schemas.microsoft.com/office/drawing/2014/main" id="{518EA514-3B5E-598A-92BA-663597BD4FAC}"/>
              </a:ext>
            </a:extLst>
          </p:cNvPr>
          <p:cNvCxnSpPr>
            <a:cxnSpLocks/>
            <a:endCxn id="17" idx="1"/>
          </p:cNvCxnSpPr>
          <p:nvPr/>
        </p:nvCxnSpPr>
        <p:spPr>
          <a:xfrm>
            <a:off x="2227243" y="6084488"/>
            <a:ext cx="2220987" cy="107693"/>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04D4A62F-8155-FF58-9806-585A03E53F79}"/>
              </a:ext>
            </a:extLst>
          </p:cNvPr>
          <p:cNvSpPr txBox="1"/>
          <p:nvPr/>
        </p:nvSpPr>
        <p:spPr>
          <a:xfrm>
            <a:off x="5762932" y="4472712"/>
            <a:ext cx="2065066" cy="923330"/>
          </a:xfrm>
          <a:prstGeom prst="rect">
            <a:avLst/>
          </a:prstGeom>
          <a:noFill/>
        </p:spPr>
        <p:txBody>
          <a:bodyPr wrap="square" rtlCol="0">
            <a:spAutoFit/>
          </a:bodyPr>
          <a:lstStyle/>
          <a:p>
            <a:r>
              <a:rPr lang="en-GB" b="1" dirty="0">
                <a:solidFill>
                  <a:schemeClr val="accent3">
                    <a:lumMod val="60000"/>
                    <a:lumOff val="40000"/>
                  </a:schemeClr>
                </a:solidFill>
              </a:rPr>
              <a:t>Rigorous testing is vital for safety critical systems.</a:t>
            </a:r>
          </a:p>
        </p:txBody>
      </p:sp>
      <p:cxnSp>
        <p:nvCxnSpPr>
          <p:cNvPr id="26" name="Straight Arrow Connector 25">
            <a:extLst>
              <a:ext uri="{FF2B5EF4-FFF2-40B4-BE49-F238E27FC236}">
                <a16:creationId xmlns:a16="http://schemas.microsoft.com/office/drawing/2014/main" id="{878DA0B0-B7C6-D4E1-6DD1-C9F8C42F0FA5}"/>
              </a:ext>
            </a:extLst>
          </p:cNvPr>
          <p:cNvCxnSpPr>
            <a:stCxn id="25" idx="1"/>
          </p:cNvCxnSpPr>
          <p:nvPr/>
        </p:nvCxnSpPr>
        <p:spPr>
          <a:xfrm flipH="1">
            <a:off x="4879491" y="4934377"/>
            <a:ext cx="883441" cy="128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8899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3" grpId="0" animBg="1"/>
      <p:bldP spid="14" grpId="0" animBg="1"/>
      <p:bldP spid="15" grpId="0" animBg="1"/>
      <p:bldP spid="16" grpId="0" animBg="1"/>
      <p:bldP spid="17" grpId="0" animBg="1"/>
      <p:bldP spid="22" grpId="0"/>
      <p:bldP spid="23" grpId="0"/>
      <p:bldP spid="2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F9ACAD-6CE5-E9EC-44C0-7412C3DA5CD4}"/>
              </a:ext>
            </a:extLst>
          </p:cNvPr>
          <p:cNvSpPr txBox="1"/>
          <p:nvPr/>
        </p:nvSpPr>
        <p:spPr>
          <a:xfrm>
            <a:off x="1519936" y="1258969"/>
            <a:ext cx="9509760" cy="923330"/>
          </a:xfrm>
          <a:prstGeom prst="rect">
            <a:avLst/>
          </a:prstGeom>
          <a:noFill/>
        </p:spPr>
        <p:txBody>
          <a:bodyPr wrap="square" rtlCol="0">
            <a:spAutoFit/>
          </a:bodyPr>
          <a:lstStyle/>
          <a:p>
            <a:r>
              <a:rPr lang="en-GB" dirty="0"/>
              <a:t>• For user-centred systems, where requirements are less well known, iterative methodologies are more appropriate.  The Spiral Model encapsulates this process, and underpins RAD (Rapid Application Development)…</a:t>
            </a:r>
          </a:p>
        </p:txBody>
      </p:sp>
      <p:sp>
        <p:nvSpPr>
          <p:cNvPr id="3" name="TextBox 2">
            <a:extLst>
              <a:ext uri="{FF2B5EF4-FFF2-40B4-BE49-F238E27FC236}">
                <a16:creationId xmlns:a16="http://schemas.microsoft.com/office/drawing/2014/main" id="{ACD15378-6C7A-4B67-4108-7B25058F7025}"/>
              </a:ext>
            </a:extLst>
          </p:cNvPr>
          <p:cNvSpPr txBox="1"/>
          <p:nvPr/>
        </p:nvSpPr>
        <p:spPr>
          <a:xfrm>
            <a:off x="280416" y="283779"/>
            <a:ext cx="11306048" cy="584775"/>
          </a:xfrm>
          <a:prstGeom prst="rect">
            <a:avLst/>
          </a:prstGeom>
          <a:noFill/>
        </p:spPr>
        <p:txBody>
          <a:bodyPr wrap="square" rtlCol="0">
            <a:spAutoFit/>
          </a:bodyPr>
          <a:lstStyle/>
          <a:p>
            <a:r>
              <a:rPr lang="en-GB" sz="3200" b="1" dirty="0">
                <a:solidFill>
                  <a:schemeClr val="accent3">
                    <a:lumMod val="60000"/>
                    <a:lumOff val="40000"/>
                  </a:schemeClr>
                </a:solidFill>
              </a:rPr>
              <a:t>Development Methodologies – Iterative Development</a:t>
            </a:r>
          </a:p>
        </p:txBody>
      </p:sp>
      <p:cxnSp>
        <p:nvCxnSpPr>
          <p:cNvPr id="4" name="Straight Connector 3">
            <a:extLst>
              <a:ext uri="{FF2B5EF4-FFF2-40B4-BE49-F238E27FC236}">
                <a16:creationId xmlns:a16="http://schemas.microsoft.com/office/drawing/2014/main" id="{4496FE0F-F209-4B11-DD14-E63473D5A43B}"/>
              </a:ext>
            </a:extLst>
          </p:cNvPr>
          <p:cNvCxnSpPr/>
          <p:nvPr/>
        </p:nvCxnSpPr>
        <p:spPr>
          <a:xfrm>
            <a:off x="6116186" y="2187692"/>
            <a:ext cx="0" cy="3993159"/>
          </a:xfrm>
          <a:prstGeom prst="line">
            <a:avLst/>
          </a:prstGeom>
          <a:ln>
            <a:solidFill>
              <a:schemeClr val="bg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BA205FBD-F252-8AFA-9660-96E7579E3534}"/>
              </a:ext>
            </a:extLst>
          </p:cNvPr>
          <p:cNvCxnSpPr/>
          <p:nvPr/>
        </p:nvCxnSpPr>
        <p:spPr>
          <a:xfrm>
            <a:off x="3180039" y="3999714"/>
            <a:ext cx="5855516" cy="0"/>
          </a:xfrm>
          <a:prstGeom prst="straightConnector1">
            <a:avLst/>
          </a:prstGeom>
          <a:ln>
            <a:solidFill>
              <a:schemeClr val="bg2">
                <a:lumMod val="40000"/>
                <a:lumOff val="60000"/>
              </a:schemeClr>
            </a:solidFill>
            <a:tailEnd type="non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5EA6349-965C-DA18-F3C4-EB3E172935F3}"/>
              </a:ext>
            </a:extLst>
          </p:cNvPr>
          <p:cNvSpPr txBox="1"/>
          <p:nvPr/>
        </p:nvSpPr>
        <p:spPr>
          <a:xfrm>
            <a:off x="7998068" y="5731336"/>
            <a:ext cx="864066" cy="307777"/>
          </a:xfrm>
          <a:prstGeom prst="rect">
            <a:avLst/>
          </a:prstGeom>
          <a:noFill/>
        </p:spPr>
        <p:txBody>
          <a:bodyPr wrap="square" rtlCol="0">
            <a:spAutoFit/>
          </a:bodyPr>
          <a:lstStyle/>
          <a:p>
            <a:r>
              <a:rPr lang="en-GB" sz="1400" b="1" i="1" dirty="0"/>
              <a:t>Cost</a:t>
            </a:r>
          </a:p>
        </p:txBody>
      </p:sp>
      <p:sp>
        <p:nvSpPr>
          <p:cNvPr id="7" name="Oval 6">
            <a:extLst>
              <a:ext uri="{FF2B5EF4-FFF2-40B4-BE49-F238E27FC236}">
                <a16:creationId xmlns:a16="http://schemas.microsoft.com/office/drawing/2014/main" id="{C6FF74AF-9370-FCBE-2C36-9F0313334F5A}"/>
              </a:ext>
            </a:extLst>
          </p:cNvPr>
          <p:cNvSpPr/>
          <p:nvPr/>
        </p:nvSpPr>
        <p:spPr>
          <a:xfrm>
            <a:off x="5369271" y="3900409"/>
            <a:ext cx="194284" cy="20395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334860FF-3B6D-BD48-4250-E9B5DEC4C74F}"/>
              </a:ext>
            </a:extLst>
          </p:cNvPr>
          <p:cNvSpPr/>
          <p:nvPr/>
        </p:nvSpPr>
        <p:spPr>
          <a:xfrm>
            <a:off x="5999530" y="3152029"/>
            <a:ext cx="194284" cy="203953"/>
          </a:xfrm>
          <a:prstGeom prst="ellipse">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763585F1-6C96-D0AB-E2EE-3624B5B29906}"/>
              </a:ext>
            </a:extLst>
          </p:cNvPr>
          <p:cNvSpPr/>
          <p:nvPr/>
        </p:nvSpPr>
        <p:spPr>
          <a:xfrm>
            <a:off x="6841097" y="3921177"/>
            <a:ext cx="194284" cy="203953"/>
          </a:xfrm>
          <a:prstGeom prst="ellipse">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B86B6CAC-1030-1517-2EEA-ADFC48BE9A64}"/>
              </a:ext>
            </a:extLst>
          </p:cNvPr>
          <p:cNvSpPr/>
          <p:nvPr/>
        </p:nvSpPr>
        <p:spPr>
          <a:xfrm>
            <a:off x="6019045" y="4938527"/>
            <a:ext cx="194284" cy="203953"/>
          </a:xfrm>
          <a:prstGeom prst="ellipse">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B10EFF8F-ECE9-A6F1-A7A6-4AAB8D1943CF}"/>
              </a:ext>
            </a:extLst>
          </p:cNvPr>
          <p:cNvSpPr/>
          <p:nvPr/>
        </p:nvSpPr>
        <p:spPr>
          <a:xfrm>
            <a:off x="6019045" y="2361755"/>
            <a:ext cx="194284" cy="203953"/>
          </a:xfrm>
          <a:prstGeom prst="ellipse">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2" name="Connector: Curved 11">
            <a:extLst>
              <a:ext uri="{FF2B5EF4-FFF2-40B4-BE49-F238E27FC236}">
                <a16:creationId xmlns:a16="http://schemas.microsoft.com/office/drawing/2014/main" id="{934A59B7-5BDF-7278-7D63-9198843CEA11}"/>
              </a:ext>
            </a:extLst>
          </p:cNvPr>
          <p:cNvCxnSpPr>
            <a:cxnSpLocks/>
            <a:stCxn id="10" idx="2"/>
          </p:cNvCxnSpPr>
          <p:nvPr/>
        </p:nvCxnSpPr>
        <p:spPr>
          <a:xfrm rot="10800000">
            <a:off x="4640897" y="4114270"/>
            <a:ext cx="1378148" cy="926235"/>
          </a:xfrm>
          <a:prstGeom prst="curvedConnector2">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ctor: Curved 12">
            <a:extLst>
              <a:ext uri="{FF2B5EF4-FFF2-40B4-BE49-F238E27FC236}">
                <a16:creationId xmlns:a16="http://schemas.microsoft.com/office/drawing/2014/main" id="{23294903-C2E6-3A07-6C26-085F0FFEFA22}"/>
              </a:ext>
            </a:extLst>
          </p:cNvPr>
          <p:cNvCxnSpPr>
            <a:cxnSpLocks/>
            <a:endCxn id="11" idx="2"/>
          </p:cNvCxnSpPr>
          <p:nvPr/>
        </p:nvCxnSpPr>
        <p:spPr>
          <a:xfrm rot="5400000" flipH="1" flipV="1">
            <a:off x="4606679" y="2497950"/>
            <a:ext cx="1446584" cy="1378148"/>
          </a:xfrm>
          <a:prstGeom prst="curvedConnector2">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E31B21CE-CD16-7E27-B9B3-D3821338592E}"/>
              </a:ext>
            </a:extLst>
          </p:cNvPr>
          <p:cNvSpPr/>
          <p:nvPr/>
        </p:nvSpPr>
        <p:spPr>
          <a:xfrm>
            <a:off x="7831686" y="3897045"/>
            <a:ext cx="194284" cy="203953"/>
          </a:xfrm>
          <a:prstGeom prst="ellipse">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1D9932F9-0EB4-A60B-9DF6-DD227BD00D44}"/>
              </a:ext>
            </a:extLst>
          </p:cNvPr>
          <p:cNvSpPr txBox="1"/>
          <p:nvPr/>
        </p:nvSpPr>
        <p:spPr>
          <a:xfrm>
            <a:off x="5530173" y="2715048"/>
            <a:ext cx="1132998" cy="461665"/>
          </a:xfrm>
          <a:prstGeom prst="rect">
            <a:avLst/>
          </a:prstGeom>
          <a:noFill/>
        </p:spPr>
        <p:txBody>
          <a:bodyPr wrap="square" rtlCol="0">
            <a:spAutoFit/>
          </a:bodyPr>
          <a:lstStyle/>
          <a:p>
            <a:pPr algn="ctr"/>
            <a:r>
              <a:rPr lang="en-GB" sz="1200" b="1" dirty="0">
                <a:solidFill>
                  <a:srgbClr val="92D050"/>
                </a:solidFill>
              </a:rPr>
              <a:t>Risk Assessment</a:t>
            </a:r>
          </a:p>
        </p:txBody>
      </p:sp>
      <p:cxnSp>
        <p:nvCxnSpPr>
          <p:cNvPr id="16" name="Connector: Curved 15">
            <a:extLst>
              <a:ext uri="{FF2B5EF4-FFF2-40B4-BE49-F238E27FC236}">
                <a16:creationId xmlns:a16="http://schemas.microsoft.com/office/drawing/2014/main" id="{B3BE820E-7D43-801E-2B6B-CEB3B79CC9B6}"/>
              </a:ext>
            </a:extLst>
          </p:cNvPr>
          <p:cNvCxnSpPr>
            <a:stCxn id="9" idx="4"/>
            <a:endCxn id="10" idx="6"/>
          </p:cNvCxnSpPr>
          <p:nvPr/>
        </p:nvCxnSpPr>
        <p:spPr>
          <a:xfrm rot="5400000">
            <a:off x="6118097" y="4220362"/>
            <a:ext cx="915374" cy="724910"/>
          </a:xfrm>
          <a:prstGeom prst="curvedConnector2">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3EC5DDFA-23D3-943F-E184-5C12AEE84021}"/>
              </a:ext>
            </a:extLst>
          </p:cNvPr>
          <p:cNvSpPr/>
          <p:nvPr/>
        </p:nvSpPr>
        <p:spPr>
          <a:xfrm>
            <a:off x="6010655" y="5731336"/>
            <a:ext cx="194284" cy="203953"/>
          </a:xfrm>
          <a:prstGeom prst="ellipse">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8" name="Connector: Curved 17">
            <a:extLst>
              <a:ext uri="{FF2B5EF4-FFF2-40B4-BE49-F238E27FC236}">
                <a16:creationId xmlns:a16="http://schemas.microsoft.com/office/drawing/2014/main" id="{37A63FC2-8FEE-84C3-6151-B49E4B4F9A86}"/>
              </a:ext>
            </a:extLst>
          </p:cNvPr>
          <p:cNvCxnSpPr>
            <a:stCxn id="14" idx="4"/>
            <a:endCxn id="17" idx="6"/>
          </p:cNvCxnSpPr>
          <p:nvPr/>
        </p:nvCxnSpPr>
        <p:spPr>
          <a:xfrm rot="5400000">
            <a:off x="6200727" y="4105211"/>
            <a:ext cx="1732315" cy="1723889"/>
          </a:xfrm>
          <a:prstGeom prst="curvedConnector2">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DA77341-B4A4-F785-2A2C-0231718CAF26}"/>
              </a:ext>
            </a:extLst>
          </p:cNvPr>
          <p:cNvCxnSpPr/>
          <p:nvPr/>
        </p:nvCxnSpPr>
        <p:spPr>
          <a:xfrm>
            <a:off x="6116186" y="3997751"/>
            <a:ext cx="1812642" cy="1660099"/>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B51EFDC-5289-597A-5A5B-14F06000414E}"/>
              </a:ext>
            </a:extLst>
          </p:cNvPr>
          <p:cNvSpPr txBox="1"/>
          <p:nvPr/>
        </p:nvSpPr>
        <p:spPr>
          <a:xfrm>
            <a:off x="252855" y="5735382"/>
            <a:ext cx="4420035" cy="1077218"/>
          </a:xfrm>
          <a:prstGeom prst="rect">
            <a:avLst/>
          </a:prstGeom>
          <a:noFill/>
        </p:spPr>
        <p:txBody>
          <a:bodyPr wrap="square" rtlCol="0">
            <a:spAutoFit/>
          </a:bodyPr>
          <a:lstStyle/>
          <a:p>
            <a:r>
              <a:rPr lang="en-GB" sz="1600" dirty="0"/>
              <a:t>In RAD (Rapid Application Development), </a:t>
            </a:r>
            <a:r>
              <a:rPr lang="en-GB" sz="1600" b="1" dirty="0"/>
              <a:t>throw-away prototyping</a:t>
            </a:r>
            <a:r>
              <a:rPr lang="en-GB" sz="1600" dirty="0"/>
              <a:t> is often employed.  So, the developed systems </a:t>
            </a:r>
            <a:r>
              <a:rPr lang="en-GB" sz="1600" b="1" dirty="0"/>
              <a:t>do not </a:t>
            </a:r>
            <a:r>
              <a:rPr lang="en-GB" sz="1600" dirty="0"/>
              <a:t>make it into the final software.</a:t>
            </a:r>
          </a:p>
        </p:txBody>
      </p:sp>
      <p:sp>
        <p:nvSpPr>
          <p:cNvPr id="21" name="TextBox 20">
            <a:extLst>
              <a:ext uri="{FF2B5EF4-FFF2-40B4-BE49-F238E27FC236}">
                <a16:creationId xmlns:a16="http://schemas.microsoft.com/office/drawing/2014/main" id="{94DE9A0B-C008-435D-29DE-CF10171B4E2D}"/>
              </a:ext>
            </a:extLst>
          </p:cNvPr>
          <p:cNvSpPr txBox="1"/>
          <p:nvPr/>
        </p:nvSpPr>
        <p:spPr>
          <a:xfrm>
            <a:off x="246743" y="4542843"/>
            <a:ext cx="3142695" cy="923330"/>
          </a:xfrm>
          <a:prstGeom prst="rect">
            <a:avLst/>
          </a:prstGeom>
          <a:noFill/>
        </p:spPr>
        <p:txBody>
          <a:bodyPr wrap="square" rtlCol="0">
            <a:spAutoFit/>
          </a:bodyPr>
          <a:lstStyle/>
          <a:p>
            <a:r>
              <a:rPr lang="en-GB" b="1" dirty="0"/>
              <a:t>Repeat until final implementation has been completed.</a:t>
            </a:r>
          </a:p>
        </p:txBody>
      </p:sp>
      <p:cxnSp>
        <p:nvCxnSpPr>
          <p:cNvPr id="22" name="Straight Arrow Connector 21">
            <a:extLst>
              <a:ext uri="{FF2B5EF4-FFF2-40B4-BE49-F238E27FC236}">
                <a16:creationId xmlns:a16="http://schemas.microsoft.com/office/drawing/2014/main" id="{1C1C6F98-C28D-4ADA-A5D2-A18B9D0C9D08}"/>
              </a:ext>
            </a:extLst>
          </p:cNvPr>
          <p:cNvCxnSpPr>
            <a:cxnSpLocks/>
            <a:stCxn id="21" idx="3"/>
          </p:cNvCxnSpPr>
          <p:nvPr/>
        </p:nvCxnSpPr>
        <p:spPr>
          <a:xfrm>
            <a:off x="3389438" y="5004508"/>
            <a:ext cx="2343533" cy="726828"/>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4F0CBB2-6301-13BA-F869-A011F3F6EBEB}"/>
              </a:ext>
            </a:extLst>
          </p:cNvPr>
          <p:cNvSpPr txBox="1"/>
          <p:nvPr/>
        </p:nvSpPr>
        <p:spPr>
          <a:xfrm>
            <a:off x="9232809" y="4426525"/>
            <a:ext cx="2764971" cy="1754326"/>
          </a:xfrm>
          <a:prstGeom prst="rect">
            <a:avLst/>
          </a:prstGeom>
          <a:noFill/>
        </p:spPr>
        <p:txBody>
          <a:bodyPr wrap="square" rtlCol="0">
            <a:spAutoFit/>
          </a:bodyPr>
          <a:lstStyle/>
          <a:p>
            <a:r>
              <a:rPr lang="en-GB" dirty="0"/>
              <a:t>Contrast this with </a:t>
            </a:r>
            <a:r>
              <a:rPr lang="en-GB" b="1" dirty="0"/>
              <a:t>Evolutionary Prototyping</a:t>
            </a:r>
            <a:r>
              <a:rPr lang="en-GB" dirty="0"/>
              <a:t>, where a robust prototype is continually developed and refined and becomes the core of the final software.</a:t>
            </a:r>
          </a:p>
        </p:txBody>
      </p:sp>
      <p:sp>
        <p:nvSpPr>
          <p:cNvPr id="24" name="Oval 23">
            <a:extLst>
              <a:ext uri="{FF2B5EF4-FFF2-40B4-BE49-F238E27FC236}">
                <a16:creationId xmlns:a16="http://schemas.microsoft.com/office/drawing/2014/main" id="{848F5D25-AFE4-E4CA-C1BF-C6D62C25220F}"/>
              </a:ext>
            </a:extLst>
          </p:cNvPr>
          <p:cNvSpPr/>
          <p:nvPr/>
        </p:nvSpPr>
        <p:spPr>
          <a:xfrm>
            <a:off x="4543755" y="3910316"/>
            <a:ext cx="194284" cy="203953"/>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5" name="Connector: Curved 24">
            <a:extLst>
              <a:ext uri="{FF2B5EF4-FFF2-40B4-BE49-F238E27FC236}">
                <a16:creationId xmlns:a16="http://schemas.microsoft.com/office/drawing/2014/main" id="{3670377C-051B-8E94-297D-864B0B78AFFF}"/>
              </a:ext>
            </a:extLst>
          </p:cNvPr>
          <p:cNvCxnSpPr/>
          <p:nvPr/>
        </p:nvCxnSpPr>
        <p:spPr>
          <a:xfrm rot="5400000" flipH="1" flipV="1">
            <a:off x="5409770" y="3310650"/>
            <a:ext cx="646403" cy="533117"/>
          </a:xfrm>
          <a:prstGeom prst="curvedConnector2">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Curved 25">
            <a:extLst>
              <a:ext uri="{FF2B5EF4-FFF2-40B4-BE49-F238E27FC236}">
                <a16:creationId xmlns:a16="http://schemas.microsoft.com/office/drawing/2014/main" id="{8BA21525-089C-1106-09FD-5B3E7BD9E4B4}"/>
              </a:ext>
            </a:extLst>
          </p:cNvPr>
          <p:cNvCxnSpPr/>
          <p:nvPr/>
        </p:nvCxnSpPr>
        <p:spPr>
          <a:xfrm>
            <a:off x="6193814" y="3254006"/>
            <a:ext cx="744425" cy="667171"/>
          </a:xfrm>
          <a:prstGeom prst="curvedConnector2">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nector: Curved 26">
            <a:extLst>
              <a:ext uri="{FF2B5EF4-FFF2-40B4-BE49-F238E27FC236}">
                <a16:creationId xmlns:a16="http://schemas.microsoft.com/office/drawing/2014/main" id="{08CE566D-4C08-3C25-E7BD-1F65B13CB6C9}"/>
              </a:ext>
            </a:extLst>
          </p:cNvPr>
          <p:cNvCxnSpPr>
            <a:cxnSpLocks/>
          </p:cNvCxnSpPr>
          <p:nvPr/>
        </p:nvCxnSpPr>
        <p:spPr>
          <a:xfrm>
            <a:off x="6213329" y="2463732"/>
            <a:ext cx="1715499" cy="1433313"/>
          </a:xfrm>
          <a:prstGeom prst="curvedConnector2">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5F16D51-C0AC-BC24-1C80-D942DB006302}"/>
              </a:ext>
            </a:extLst>
          </p:cNvPr>
          <p:cNvSpPr txBox="1"/>
          <p:nvPr/>
        </p:nvSpPr>
        <p:spPr>
          <a:xfrm>
            <a:off x="4776852" y="4081178"/>
            <a:ext cx="1358849" cy="461665"/>
          </a:xfrm>
          <a:prstGeom prst="rect">
            <a:avLst/>
          </a:prstGeom>
          <a:noFill/>
        </p:spPr>
        <p:txBody>
          <a:bodyPr wrap="square" rtlCol="0">
            <a:spAutoFit/>
          </a:bodyPr>
          <a:lstStyle/>
          <a:p>
            <a:pPr algn="ctr"/>
            <a:r>
              <a:rPr lang="en-GB" sz="1200" b="1" dirty="0">
                <a:solidFill>
                  <a:schemeClr val="accent1"/>
                </a:solidFill>
              </a:rPr>
              <a:t>Requirements Analysis</a:t>
            </a:r>
          </a:p>
        </p:txBody>
      </p:sp>
      <p:sp>
        <p:nvSpPr>
          <p:cNvPr id="29" name="TextBox 28">
            <a:extLst>
              <a:ext uri="{FF2B5EF4-FFF2-40B4-BE49-F238E27FC236}">
                <a16:creationId xmlns:a16="http://schemas.microsoft.com/office/drawing/2014/main" id="{377FAF07-E045-CE01-A873-0B7FA9F14931}"/>
              </a:ext>
            </a:extLst>
          </p:cNvPr>
          <p:cNvSpPr txBox="1"/>
          <p:nvPr/>
        </p:nvSpPr>
        <p:spPr>
          <a:xfrm>
            <a:off x="6383723" y="4130162"/>
            <a:ext cx="1303316" cy="261610"/>
          </a:xfrm>
          <a:prstGeom prst="rect">
            <a:avLst/>
          </a:prstGeom>
          <a:noFill/>
          <a:ln>
            <a:noFill/>
          </a:ln>
        </p:spPr>
        <p:txBody>
          <a:bodyPr wrap="square" rtlCol="0">
            <a:spAutoFit/>
          </a:bodyPr>
          <a:lstStyle/>
          <a:p>
            <a:pPr algn="ctr"/>
            <a:r>
              <a:rPr lang="en-GB" sz="1100" b="1" dirty="0">
                <a:solidFill>
                  <a:srgbClr val="00B0F0"/>
                </a:solidFill>
              </a:rPr>
              <a:t>Implementation</a:t>
            </a:r>
          </a:p>
        </p:txBody>
      </p:sp>
      <p:sp>
        <p:nvSpPr>
          <p:cNvPr id="30" name="TextBox 29">
            <a:extLst>
              <a:ext uri="{FF2B5EF4-FFF2-40B4-BE49-F238E27FC236}">
                <a16:creationId xmlns:a16="http://schemas.microsoft.com/office/drawing/2014/main" id="{86F5AF34-71AE-02EF-79AC-C37AEF048008}"/>
              </a:ext>
            </a:extLst>
          </p:cNvPr>
          <p:cNvSpPr txBox="1"/>
          <p:nvPr/>
        </p:nvSpPr>
        <p:spPr>
          <a:xfrm>
            <a:off x="5485222" y="5115651"/>
            <a:ext cx="1230217" cy="261610"/>
          </a:xfrm>
          <a:prstGeom prst="rect">
            <a:avLst/>
          </a:prstGeom>
          <a:noFill/>
        </p:spPr>
        <p:txBody>
          <a:bodyPr wrap="square" rtlCol="0">
            <a:spAutoFit/>
          </a:bodyPr>
          <a:lstStyle/>
          <a:p>
            <a:pPr algn="ctr"/>
            <a:r>
              <a:rPr lang="en-GB" sz="1100" b="1" dirty="0">
                <a:solidFill>
                  <a:schemeClr val="accent3"/>
                </a:solidFill>
              </a:rPr>
              <a:t>Evaluation</a:t>
            </a:r>
          </a:p>
        </p:txBody>
      </p:sp>
    </p:spTree>
    <p:extLst>
      <p:ext uri="{BB962C8B-B14F-4D97-AF65-F5344CB8AC3E}">
        <p14:creationId xmlns:p14="http://schemas.microsoft.com/office/powerpoint/2010/main" val="2946936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2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2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2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P spid="9" grpId="0" animBg="1"/>
      <p:bldP spid="10" grpId="0" animBg="1"/>
      <p:bldP spid="11" grpId="0" animBg="1"/>
      <p:bldP spid="14" grpId="0" animBg="1"/>
      <p:bldP spid="15" grpId="0"/>
      <p:bldP spid="17" grpId="0" animBg="1"/>
      <p:bldP spid="20" grpId="0"/>
      <p:bldP spid="21" grpId="0"/>
      <p:bldP spid="23" grpId="0"/>
      <p:bldP spid="24" grpId="0" animBg="1"/>
      <p:bldP spid="28" grpId="0"/>
      <p:bldP spid="29" grpId="0" animBg="1"/>
      <p:bldP spid="3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B9E637-3277-4D0C-8232-793CFF2037FE}"/>
              </a:ext>
            </a:extLst>
          </p:cNvPr>
          <p:cNvSpPr txBox="1"/>
          <p:nvPr/>
        </p:nvSpPr>
        <p:spPr>
          <a:xfrm>
            <a:off x="307498" y="1272725"/>
            <a:ext cx="10819051" cy="646331"/>
          </a:xfrm>
          <a:prstGeom prst="rect">
            <a:avLst/>
          </a:prstGeom>
          <a:noFill/>
        </p:spPr>
        <p:txBody>
          <a:bodyPr wrap="square" rtlCol="0">
            <a:spAutoFit/>
          </a:bodyPr>
          <a:lstStyle/>
          <a:p>
            <a:r>
              <a:rPr lang="en-GB" dirty="0"/>
              <a:t>• Agile development is an umbrella term used to describe a collection of approaches that subscribe to the following principles / priorities…</a:t>
            </a:r>
          </a:p>
        </p:txBody>
      </p:sp>
      <p:sp>
        <p:nvSpPr>
          <p:cNvPr id="3" name="TextBox 2">
            <a:extLst>
              <a:ext uri="{FF2B5EF4-FFF2-40B4-BE49-F238E27FC236}">
                <a16:creationId xmlns:a16="http://schemas.microsoft.com/office/drawing/2014/main" id="{4C37E00A-724F-2510-7987-715BC68347F2}"/>
              </a:ext>
            </a:extLst>
          </p:cNvPr>
          <p:cNvSpPr txBox="1"/>
          <p:nvPr/>
        </p:nvSpPr>
        <p:spPr>
          <a:xfrm>
            <a:off x="2034235" y="283779"/>
            <a:ext cx="8123531" cy="584775"/>
          </a:xfrm>
          <a:prstGeom prst="rect">
            <a:avLst/>
          </a:prstGeom>
          <a:noFill/>
        </p:spPr>
        <p:txBody>
          <a:bodyPr wrap="square" rtlCol="0">
            <a:spAutoFit/>
          </a:bodyPr>
          <a:lstStyle/>
          <a:p>
            <a:pPr algn="ctr"/>
            <a:r>
              <a:rPr lang="en-GB" sz="3200" b="1" dirty="0">
                <a:solidFill>
                  <a:schemeClr val="accent3">
                    <a:lumMod val="60000"/>
                    <a:lumOff val="40000"/>
                  </a:schemeClr>
                </a:solidFill>
              </a:rPr>
              <a:t>Development Methodologies – Agile</a:t>
            </a:r>
          </a:p>
        </p:txBody>
      </p:sp>
      <p:sp>
        <p:nvSpPr>
          <p:cNvPr id="4" name="Rectangle 3">
            <a:extLst>
              <a:ext uri="{FF2B5EF4-FFF2-40B4-BE49-F238E27FC236}">
                <a16:creationId xmlns:a16="http://schemas.microsoft.com/office/drawing/2014/main" id="{786F68A1-8B4E-6FDC-CC64-0494A1B8519C}"/>
              </a:ext>
            </a:extLst>
          </p:cNvPr>
          <p:cNvSpPr/>
          <p:nvPr/>
        </p:nvSpPr>
        <p:spPr>
          <a:xfrm>
            <a:off x="782303" y="2323228"/>
            <a:ext cx="8040641" cy="2031325"/>
          </a:xfrm>
          <a:prstGeom prst="rect">
            <a:avLst/>
          </a:prstGeom>
        </p:spPr>
        <p:txBody>
          <a:bodyPr wrap="square">
            <a:spAutoFit/>
          </a:bodyPr>
          <a:lstStyle/>
          <a:p>
            <a:pPr marL="285750" indent="-285750">
              <a:buFontTx/>
              <a:buChar char="-"/>
            </a:pPr>
            <a:r>
              <a:rPr lang="en-GB" b="1" dirty="0"/>
              <a:t>Individuals and Interactions</a:t>
            </a:r>
            <a:r>
              <a:rPr lang="en-GB" dirty="0"/>
              <a:t> more than processes and tools</a:t>
            </a:r>
          </a:p>
          <a:p>
            <a:pPr marL="285750" indent="-285750">
              <a:buFontTx/>
              <a:buChar char="-"/>
            </a:pPr>
            <a:endParaRPr lang="en-GB" dirty="0"/>
          </a:p>
          <a:p>
            <a:pPr marL="285750" indent="-285750">
              <a:buFontTx/>
              <a:buChar char="-"/>
            </a:pPr>
            <a:r>
              <a:rPr lang="en-GB" b="1" dirty="0"/>
              <a:t>Working Software</a:t>
            </a:r>
            <a:r>
              <a:rPr lang="en-GB" dirty="0"/>
              <a:t> more than comprehensive documentation</a:t>
            </a:r>
          </a:p>
          <a:p>
            <a:pPr marL="285750" indent="-285750">
              <a:buFontTx/>
              <a:buChar char="-"/>
            </a:pPr>
            <a:endParaRPr lang="en-GB" dirty="0"/>
          </a:p>
          <a:p>
            <a:pPr marL="285750" indent="-285750">
              <a:buFontTx/>
              <a:buChar char="-"/>
            </a:pPr>
            <a:r>
              <a:rPr lang="en-GB" b="1" dirty="0"/>
              <a:t>Customer Collaboration </a:t>
            </a:r>
            <a:r>
              <a:rPr lang="en-GB" dirty="0"/>
              <a:t>more than contract negotiation</a:t>
            </a:r>
          </a:p>
          <a:p>
            <a:pPr marL="285750" indent="-285750">
              <a:buFontTx/>
              <a:buChar char="-"/>
            </a:pPr>
            <a:endParaRPr lang="en-GB" dirty="0"/>
          </a:p>
          <a:p>
            <a:pPr marL="285750" indent="-285750">
              <a:buFontTx/>
              <a:buChar char="-"/>
            </a:pPr>
            <a:r>
              <a:rPr lang="en-GB" b="1" dirty="0"/>
              <a:t>Responding to Change</a:t>
            </a:r>
            <a:r>
              <a:rPr lang="en-GB" dirty="0"/>
              <a:t> more than following a plan</a:t>
            </a:r>
          </a:p>
        </p:txBody>
      </p:sp>
      <p:sp>
        <p:nvSpPr>
          <p:cNvPr id="5" name="TextBox 4">
            <a:extLst>
              <a:ext uri="{FF2B5EF4-FFF2-40B4-BE49-F238E27FC236}">
                <a16:creationId xmlns:a16="http://schemas.microsoft.com/office/drawing/2014/main" id="{04A84BDA-52EF-F0D2-9CBC-F2E54DE89F0E}"/>
              </a:ext>
            </a:extLst>
          </p:cNvPr>
          <p:cNvSpPr txBox="1"/>
          <p:nvPr/>
        </p:nvSpPr>
        <p:spPr>
          <a:xfrm>
            <a:off x="307498" y="4887737"/>
            <a:ext cx="11385494" cy="646331"/>
          </a:xfrm>
          <a:prstGeom prst="rect">
            <a:avLst/>
          </a:prstGeom>
          <a:noFill/>
        </p:spPr>
        <p:txBody>
          <a:bodyPr wrap="square" rtlCol="0">
            <a:spAutoFit/>
          </a:bodyPr>
          <a:lstStyle/>
          <a:p>
            <a:r>
              <a:rPr lang="en-GB" dirty="0"/>
              <a:t>• Scrum is a common framework around which development is based.   </a:t>
            </a:r>
            <a:r>
              <a:rPr lang="en-GB" b="1" i="1" dirty="0"/>
              <a:t>Lean</a:t>
            </a:r>
            <a:r>
              <a:rPr lang="en-GB" dirty="0"/>
              <a:t> principles can also be applied to optimise the development process and eliminate waste.</a:t>
            </a:r>
          </a:p>
        </p:txBody>
      </p:sp>
    </p:spTree>
    <p:extLst>
      <p:ext uri="{BB962C8B-B14F-4D97-AF65-F5344CB8AC3E}">
        <p14:creationId xmlns:p14="http://schemas.microsoft.com/office/powerpoint/2010/main" val="3300156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8CED14-BE84-ABBC-3063-D2B116FA7FC6}"/>
              </a:ext>
            </a:extLst>
          </p:cNvPr>
          <p:cNvSpPr txBox="1"/>
          <p:nvPr/>
        </p:nvSpPr>
        <p:spPr>
          <a:xfrm>
            <a:off x="149766" y="936835"/>
            <a:ext cx="10701114" cy="1200329"/>
          </a:xfrm>
          <a:prstGeom prst="rect">
            <a:avLst/>
          </a:prstGeom>
          <a:noFill/>
        </p:spPr>
        <p:txBody>
          <a:bodyPr wrap="square" rtlCol="0">
            <a:spAutoFit/>
          </a:bodyPr>
          <a:lstStyle/>
          <a:p>
            <a:r>
              <a:rPr lang="en-GB" dirty="0"/>
              <a:t>• </a:t>
            </a:r>
            <a:r>
              <a:rPr lang="en-GB" b="1" dirty="0"/>
              <a:t>Scrum</a:t>
            </a:r>
          </a:p>
          <a:p>
            <a:endParaRPr lang="en-GB" b="1" dirty="0"/>
          </a:p>
          <a:p>
            <a:r>
              <a:rPr lang="en-GB" dirty="0"/>
              <a:t>Scrum is not a methodology, but a framework that promotes collaboration and flexibility during the development process…</a:t>
            </a:r>
          </a:p>
        </p:txBody>
      </p:sp>
      <p:sp>
        <p:nvSpPr>
          <p:cNvPr id="3" name="TextBox 2">
            <a:extLst>
              <a:ext uri="{FF2B5EF4-FFF2-40B4-BE49-F238E27FC236}">
                <a16:creationId xmlns:a16="http://schemas.microsoft.com/office/drawing/2014/main" id="{6E236D3C-1E8D-F9CA-0626-8336DAD13270}"/>
              </a:ext>
            </a:extLst>
          </p:cNvPr>
          <p:cNvSpPr txBox="1"/>
          <p:nvPr/>
        </p:nvSpPr>
        <p:spPr>
          <a:xfrm>
            <a:off x="2034235" y="299432"/>
            <a:ext cx="8123531" cy="584775"/>
          </a:xfrm>
          <a:prstGeom prst="rect">
            <a:avLst/>
          </a:prstGeom>
          <a:noFill/>
        </p:spPr>
        <p:txBody>
          <a:bodyPr wrap="square" rtlCol="0">
            <a:spAutoFit/>
          </a:bodyPr>
          <a:lstStyle/>
          <a:p>
            <a:pPr algn="ctr"/>
            <a:r>
              <a:rPr lang="en-GB" sz="3200" b="1" dirty="0">
                <a:solidFill>
                  <a:schemeClr val="accent3">
                    <a:lumMod val="60000"/>
                    <a:lumOff val="40000"/>
                  </a:schemeClr>
                </a:solidFill>
              </a:rPr>
              <a:t>Development Methodologies – Agile</a:t>
            </a:r>
          </a:p>
        </p:txBody>
      </p:sp>
      <p:sp>
        <p:nvSpPr>
          <p:cNvPr id="4" name="TextBox 3">
            <a:extLst>
              <a:ext uri="{FF2B5EF4-FFF2-40B4-BE49-F238E27FC236}">
                <a16:creationId xmlns:a16="http://schemas.microsoft.com/office/drawing/2014/main" id="{4E981385-F152-2F62-421C-5335C98B5E2F}"/>
              </a:ext>
            </a:extLst>
          </p:cNvPr>
          <p:cNvSpPr txBox="1"/>
          <p:nvPr/>
        </p:nvSpPr>
        <p:spPr>
          <a:xfrm>
            <a:off x="860216" y="3821534"/>
            <a:ext cx="1487566" cy="646331"/>
          </a:xfrm>
          <a:prstGeom prst="rect">
            <a:avLst/>
          </a:prstGeom>
          <a:noFill/>
          <a:ln>
            <a:solidFill>
              <a:srgbClr val="00B0F0"/>
            </a:solidFill>
          </a:ln>
        </p:spPr>
        <p:txBody>
          <a:bodyPr wrap="square" rtlCol="0">
            <a:spAutoFit/>
          </a:bodyPr>
          <a:lstStyle/>
          <a:p>
            <a:r>
              <a:rPr lang="en-GB" dirty="0"/>
              <a:t>Player Jump</a:t>
            </a:r>
          </a:p>
        </p:txBody>
      </p:sp>
      <p:sp>
        <p:nvSpPr>
          <p:cNvPr id="5" name="TextBox 4">
            <a:extLst>
              <a:ext uri="{FF2B5EF4-FFF2-40B4-BE49-F238E27FC236}">
                <a16:creationId xmlns:a16="http://schemas.microsoft.com/office/drawing/2014/main" id="{BC9754A4-D52B-0BBB-A9BA-A60CD82C316D}"/>
              </a:ext>
            </a:extLst>
          </p:cNvPr>
          <p:cNvSpPr txBox="1"/>
          <p:nvPr/>
        </p:nvSpPr>
        <p:spPr>
          <a:xfrm>
            <a:off x="860216" y="4550583"/>
            <a:ext cx="1487566" cy="646331"/>
          </a:xfrm>
          <a:prstGeom prst="rect">
            <a:avLst/>
          </a:prstGeom>
          <a:noFill/>
          <a:ln>
            <a:solidFill>
              <a:srgbClr val="00B0F0"/>
            </a:solidFill>
          </a:ln>
        </p:spPr>
        <p:txBody>
          <a:bodyPr wrap="square" rtlCol="0">
            <a:spAutoFit/>
          </a:bodyPr>
          <a:lstStyle/>
          <a:p>
            <a:r>
              <a:rPr lang="en-GB" dirty="0"/>
              <a:t>Player attack</a:t>
            </a:r>
          </a:p>
        </p:txBody>
      </p:sp>
      <p:sp>
        <p:nvSpPr>
          <p:cNvPr id="6" name="TextBox 5">
            <a:extLst>
              <a:ext uri="{FF2B5EF4-FFF2-40B4-BE49-F238E27FC236}">
                <a16:creationId xmlns:a16="http://schemas.microsoft.com/office/drawing/2014/main" id="{0316172C-1213-6791-BD97-D4393AF4B560}"/>
              </a:ext>
            </a:extLst>
          </p:cNvPr>
          <p:cNvSpPr txBox="1"/>
          <p:nvPr/>
        </p:nvSpPr>
        <p:spPr>
          <a:xfrm>
            <a:off x="860215" y="5279632"/>
            <a:ext cx="1487567" cy="646331"/>
          </a:xfrm>
          <a:prstGeom prst="rect">
            <a:avLst/>
          </a:prstGeom>
          <a:noFill/>
          <a:ln>
            <a:solidFill>
              <a:srgbClr val="00B0F0"/>
            </a:solidFill>
          </a:ln>
        </p:spPr>
        <p:txBody>
          <a:bodyPr wrap="square" rtlCol="0">
            <a:spAutoFit/>
          </a:bodyPr>
          <a:lstStyle/>
          <a:p>
            <a:r>
              <a:rPr lang="en-GB" dirty="0"/>
              <a:t>Player Stealth</a:t>
            </a:r>
          </a:p>
        </p:txBody>
      </p:sp>
      <p:sp>
        <p:nvSpPr>
          <p:cNvPr id="7" name="TextBox 6">
            <a:extLst>
              <a:ext uri="{FF2B5EF4-FFF2-40B4-BE49-F238E27FC236}">
                <a16:creationId xmlns:a16="http://schemas.microsoft.com/office/drawing/2014/main" id="{98EDA5DA-C0DC-AA20-9160-E586E509105D}"/>
              </a:ext>
            </a:extLst>
          </p:cNvPr>
          <p:cNvSpPr txBox="1"/>
          <p:nvPr/>
        </p:nvSpPr>
        <p:spPr>
          <a:xfrm>
            <a:off x="865848" y="5993028"/>
            <a:ext cx="1481935" cy="646331"/>
          </a:xfrm>
          <a:prstGeom prst="rect">
            <a:avLst/>
          </a:prstGeom>
          <a:noFill/>
          <a:ln>
            <a:solidFill>
              <a:srgbClr val="00B0F0"/>
            </a:solidFill>
          </a:ln>
        </p:spPr>
        <p:txBody>
          <a:bodyPr wrap="square" rtlCol="0">
            <a:spAutoFit/>
          </a:bodyPr>
          <a:lstStyle/>
          <a:p>
            <a:r>
              <a:rPr lang="en-GB" dirty="0"/>
              <a:t>NPC behaviour</a:t>
            </a:r>
          </a:p>
        </p:txBody>
      </p:sp>
      <p:sp>
        <p:nvSpPr>
          <p:cNvPr id="8" name="TextBox 7">
            <a:extLst>
              <a:ext uri="{FF2B5EF4-FFF2-40B4-BE49-F238E27FC236}">
                <a16:creationId xmlns:a16="http://schemas.microsoft.com/office/drawing/2014/main" id="{8A465A19-0096-AA45-189A-BAE4475734F9}"/>
              </a:ext>
            </a:extLst>
          </p:cNvPr>
          <p:cNvSpPr txBox="1"/>
          <p:nvPr/>
        </p:nvSpPr>
        <p:spPr>
          <a:xfrm>
            <a:off x="149766" y="2360121"/>
            <a:ext cx="3277211" cy="1077218"/>
          </a:xfrm>
          <a:prstGeom prst="rect">
            <a:avLst/>
          </a:prstGeom>
          <a:noFill/>
        </p:spPr>
        <p:txBody>
          <a:bodyPr wrap="square" rtlCol="0">
            <a:spAutoFit/>
          </a:bodyPr>
          <a:lstStyle/>
          <a:p>
            <a:r>
              <a:rPr lang="en-GB" sz="1600" b="1" dirty="0"/>
              <a:t>Start with the </a:t>
            </a:r>
            <a:r>
              <a:rPr lang="en-GB" sz="1600" b="1" dirty="0">
                <a:solidFill>
                  <a:srgbClr val="FF0000"/>
                </a:solidFill>
              </a:rPr>
              <a:t>Product Backlog</a:t>
            </a:r>
            <a:r>
              <a:rPr lang="en-GB" sz="1600" b="1" dirty="0"/>
              <a:t> - a list of</a:t>
            </a:r>
            <a:r>
              <a:rPr lang="en-GB" sz="1600" b="1" dirty="0">
                <a:solidFill>
                  <a:srgbClr val="FF0000"/>
                </a:solidFill>
              </a:rPr>
              <a:t> Product Backlog Items (PBIs) </a:t>
            </a:r>
            <a:r>
              <a:rPr lang="en-GB" sz="1600" b="1" dirty="0"/>
              <a:t>representing a prioritised list of features in the game</a:t>
            </a:r>
          </a:p>
        </p:txBody>
      </p:sp>
      <p:sp>
        <p:nvSpPr>
          <p:cNvPr id="9" name="Arrow: Bent 8">
            <a:extLst>
              <a:ext uri="{FF2B5EF4-FFF2-40B4-BE49-F238E27FC236}">
                <a16:creationId xmlns:a16="http://schemas.microsoft.com/office/drawing/2014/main" id="{4FF6A1F2-F4F2-55D4-7195-9B871A28E721}"/>
              </a:ext>
            </a:extLst>
          </p:cNvPr>
          <p:cNvSpPr/>
          <p:nvPr/>
        </p:nvSpPr>
        <p:spPr>
          <a:xfrm rot="3697471" flipV="1">
            <a:off x="360248" y="2696021"/>
            <a:ext cx="1140971" cy="1247374"/>
          </a:xfrm>
          <a:prstGeom prst="bentArrow">
            <a:avLst>
              <a:gd name="adj1" fmla="val 10725"/>
              <a:gd name="adj2" fmla="val 18324"/>
              <a:gd name="adj3" fmla="val 37241"/>
              <a:gd name="adj4" fmla="val 4421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 name="TextBox 9">
            <a:extLst>
              <a:ext uri="{FF2B5EF4-FFF2-40B4-BE49-F238E27FC236}">
                <a16:creationId xmlns:a16="http://schemas.microsoft.com/office/drawing/2014/main" id="{8B6199CE-70EE-D356-E6D4-9109F66E8F24}"/>
              </a:ext>
            </a:extLst>
          </p:cNvPr>
          <p:cNvSpPr txBox="1"/>
          <p:nvPr/>
        </p:nvSpPr>
        <p:spPr>
          <a:xfrm>
            <a:off x="2957309" y="4200967"/>
            <a:ext cx="1153296" cy="307777"/>
          </a:xfrm>
          <a:prstGeom prst="rect">
            <a:avLst/>
          </a:prstGeom>
          <a:noFill/>
          <a:ln>
            <a:solidFill>
              <a:srgbClr val="00B0F0"/>
            </a:solidFill>
          </a:ln>
        </p:spPr>
        <p:txBody>
          <a:bodyPr wrap="square" rtlCol="0">
            <a:spAutoFit/>
          </a:bodyPr>
          <a:lstStyle/>
          <a:p>
            <a:r>
              <a:rPr lang="en-GB" sz="1400" dirty="0"/>
              <a:t>Animation</a:t>
            </a:r>
            <a:endParaRPr lang="en-GB" dirty="0"/>
          </a:p>
        </p:txBody>
      </p:sp>
      <p:sp>
        <p:nvSpPr>
          <p:cNvPr id="11" name="TextBox 10">
            <a:extLst>
              <a:ext uri="{FF2B5EF4-FFF2-40B4-BE49-F238E27FC236}">
                <a16:creationId xmlns:a16="http://schemas.microsoft.com/office/drawing/2014/main" id="{C747DBCA-7C25-69AF-BB3F-4D063CA3DED7}"/>
              </a:ext>
            </a:extLst>
          </p:cNvPr>
          <p:cNvSpPr txBox="1"/>
          <p:nvPr/>
        </p:nvSpPr>
        <p:spPr>
          <a:xfrm>
            <a:off x="2957309" y="3836446"/>
            <a:ext cx="1153296" cy="307777"/>
          </a:xfrm>
          <a:prstGeom prst="rect">
            <a:avLst/>
          </a:prstGeom>
          <a:noFill/>
          <a:ln>
            <a:solidFill>
              <a:srgbClr val="00B0F0"/>
            </a:solidFill>
          </a:ln>
        </p:spPr>
        <p:txBody>
          <a:bodyPr wrap="square" rtlCol="0">
            <a:spAutoFit/>
          </a:bodyPr>
          <a:lstStyle/>
          <a:p>
            <a:r>
              <a:rPr lang="en-GB" sz="1400" dirty="0"/>
              <a:t>Player input</a:t>
            </a:r>
          </a:p>
        </p:txBody>
      </p:sp>
      <p:sp>
        <p:nvSpPr>
          <p:cNvPr id="12" name="TextBox 11">
            <a:extLst>
              <a:ext uri="{FF2B5EF4-FFF2-40B4-BE49-F238E27FC236}">
                <a16:creationId xmlns:a16="http://schemas.microsoft.com/office/drawing/2014/main" id="{EA2E4BBB-A4B6-B3F7-DBE4-BF2E3436619B}"/>
              </a:ext>
            </a:extLst>
          </p:cNvPr>
          <p:cNvSpPr txBox="1"/>
          <p:nvPr/>
        </p:nvSpPr>
        <p:spPr>
          <a:xfrm>
            <a:off x="2957309" y="3464709"/>
            <a:ext cx="1153296" cy="307777"/>
          </a:xfrm>
          <a:prstGeom prst="rect">
            <a:avLst/>
          </a:prstGeom>
          <a:noFill/>
          <a:ln>
            <a:solidFill>
              <a:srgbClr val="00B0F0"/>
            </a:solidFill>
          </a:ln>
        </p:spPr>
        <p:txBody>
          <a:bodyPr wrap="square" rtlCol="0">
            <a:spAutoFit/>
          </a:bodyPr>
          <a:lstStyle/>
          <a:p>
            <a:r>
              <a:rPr lang="en-GB" sz="1400" dirty="0"/>
              <a:t>Animation</a:t>
            </a:r>
            <a:endParaRPr lang="en-GB" dirty="0"/>
          </a:p>
        </p:txBody>
      </p:sp>
      <p:sp>
        <p:nvSpPr>
          <p:cNvPr id="13" name="TextBox 12">
            <a:extLst>
              <a:ext uri="{FF2B5EF4-FFF2-40B4-BE49-F238E27FC236}">
                <a16:creationId xmlns:a16="http://schemas.microsoft.com/office/drawing/2014/main" id="{193F4387-CF4B-1DF0-59AE-9CEEDC954506}"/>
              </a:ext>
            </a:extLst>
          </p:cNvPr>
          <p:cNvSpPr txBox="1"/>
          <p:nvPr/>
        </p:nvSpPr>
        <p:spPr>
          <a:xfrm>
            <a:off x="2957309" y="4565488"/>
            <a:ext cx="1153296" cy="307777"/>
          </a:xfrm>
          <a:prstGeom prst="rect">
            <a:avLst/>
          </a:prstGeom>
          <a:noFill/>
          <a:ln>
            <a:solidFill>
              <a:srgbClr val="00B0F0"/>
            </a:solidFill>
          </a:ln>
        </p:spPr>
        <p:txBody>
          <a:bodyPr wrap="square" rtlCol="0">
            <a:spAutoFit/>
          </a:bodyPr>
          <a:lstStyle/>
          <a:p>
            <a:r>
              <a:rPr lang="en-GB" sz="1400" dirty="0"/>
              <a:t>Physics</a:t>
            </a:r>
            <a:endParaRPr lang="en-GB" dirty="0"/>
          </a:p>
        </p:txBody>
      </p:sp>
      <p:sp>
        <p:nvSpPr>
          <p:cNvPr id="14" name="Rectangle 13">
            <a:extLst>
              <a:ext uri="{FF2B5EF4-FFF2-40B4-BE49-F238E27FC236}">
                <a16:creationId xmlns:a16="http://schemas.microsoft.com/office/drawing/2014/main" id="{1E10644A-B0F0-A60E-B16C-B113EFD44D5F}"/>
              </a:ext>
            </a:extLst>
          </p:cNvPr>
          <p:cNvSpPr/>
          <p:nvPr/>
        </p:nvSpPr>
        <p:spPr>
          <a:xfrm>
            <a:off x="2957309" y="4925303"/>
            <a:ext cx="1153296" cy="144163"/>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0FB1EBC4-2E46-832B-01B2-5660CECED7D6}"/>
              </a:ext>
            </a:extLst>
          </p:cNvPr>
          <p:cNvSpPr/>
          <p:nvPr/>
        </p:nvSpPr>
        <p:spPr>
          <a:xfrm>
            <a:off x="2957309" y="5117747"/>
            <a:ext cx="1153296" cy="144163"/>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7C5F2771-5C81-FDF0-0697-3142309A45C2}"/>
              </a:ext>
            </a:extLst>
          </p:cNvPr>
          <p:cNvSpPr/>
          <p:nvPr/>
        </p:nvSpPr>
        <p:spPr>
          <a:xfrm>
            <a:off x="2957309" y="5308722"/>
            <a:ext cx="1153296" cy="144163"/>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Left Brace 16">
            <a:extLst>
              <a:ext uri="{FF2B5EF4-FFF2-40B4-BE49-F238E27FC236}">
                <a16:creationId xmlns:a16="http://schemas.microsoft.com/office/drawing/2014/main" id="{FB328AA3-A96C-BB05-8A78-FB379FBBDF5F}"/>
              </a:ext>
            </a:extLst>
          </p:cNvPr>
          <p:cNvSpPr/>
          <p:nvPr/>
        </p:nvSpPr>
        <p:spPr>
          <a:xfrm>
            <a:off x="2502243" y="3424939"/>
            <a:ext cx="398908" cy="1408214"/>
          </a:xfrm>
          <a:prstGeom prst="leftBrace">
            <a:avLst>
              <a:gd name="adj1" fmla="val 41666"/>
              <a:gd name="adj2" fmla="val 50000"/>
            </a:avLst>
          </a:prstGeom>
          <a:ln>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8" name="TextBox 17">
            <a:extLst>
              <a:ext uri="{FF2B5EF4-FFF2-40B4-BE49-F238E27FC236}">
                <a16:creationId xmlns:a16="http://schemas.microsoft.com/office/drawing/2014/main" id="{17D4ABCB-A42D-2AB3-1C31-48204B64C366}"/>
              </a:ext>
            </a:extLst>
          </p:cNvPr>
          <p:cNvSpPr txBox="1"/>
          <p:nvPr/>
        </p:nvSpPr>
        <p:spPr>
          <a:xfrm>
            <a:off x="3605002" y="2278726"/>
            <a:ext cx="8257921" cy="646331"/>
          </a:xfrm>
          <a:prstGeom prst="rect">
            <a:avLst/>
          </a:prstGeom>
          <a:noFill/>
        </p:spPr>
        <p:txBody>
          <a:bodyPr wrap="square" rtlCol="0">
            <a:spAutoFit/>
          </a:bodyPr>
          <a:lstStyle/>
          <a:p>
            <a:r>
              <a:rPr lang="en-GB" dirty="0"/>
              <a:t>In Scrum, development is done in a series of Sprints.  Sprints are 2–4-week </a:t>
            </a:r>
            <a:r>
              <a:rPr lang="en-GB" i="1" dirty="0"/>
              <a:t>timeboxes</a:t>
            </a:r>
            <a:r>
              <a:rPr lang="en-GB" dirty="0"/>
              <a:t> which aim to produce a working, potentially shippable game.</a:t>
            </a:r>
          </a:p>
        </p:txBody>
      </p:sp>
      <p:sp>
        <p:nvSpPr>
          <p:cNvPr id="19" name="TextBox 18">
            <a:extLst>
              <a:ext uri="{FF2B5EF4-FFF2-40B4-BE49-F238E27FC236}">
                <a16:creationId xmlns:a16="http://schemas.microsoft.com/office/drawing/2014/main" id="{428361E3-BB9C-CBBF-808E-97B072EA8A11}"/>
              </a:ext>
            </a:extLst>
          </p:cNvPr>
          <p:cNvSpPr txBox="1"/>
          <p:nvPr/>
        </p:nvSpPr>
        <p:spPr>
          <a:xfrm>
            <a:off x="2502243" y="5551805"/>
            <a:ext cx="4505459" cy="1169551"/>
          </a:xfrm>
          <a:prstGeom prst="rect">
            <a:avLst/>
          </a:prstGeom>
          <a:noFill/>
        </p:spPr>
        <p:txBody>
          <a:bodyPr wrap="square" rtlCol="0">
            <a:spAutoFit/>
          </a:bodyPr>
          <a:lstStyle/>
          <a:p>
            <a:r>
              <a:rPr lang="en-GB" sz="1400" dirty="0"/>
              <a:t>Sprints start with a selection of PBIs from the Product Backlog at the </a:t>
            </a:r>
            <a:r>
              <a:rPr lang="en-GB" sz="1400" b="1" dirty="0">
                <a:solidFill>
                  <a:srgbClr val="FF0000"/>
                </a:solidFill>
              </a:rPr>
              <a:t>Sprint Planning Meeting</a:t>
            </a:r>
            <a:r>
              <a:rPr lang="en-GB" sz="1400" dirty="0"/>
              <a:t>.  Here features are elaborated upon into manageable tasks.  This forms the </a:t>
            </a:r>
            <a:r>
              <a:rPr lang="en-GB" sz="1400" b="1" dirty="0">
                <a:solidFill>
                  <a:srgbClr val="FF0000"/>
                </a:solidFill>
              </a:rPr>
              <a:t>Sprint Backlog.  </a:t>
            </a:r>
            <a:r>
              <a:rPr lang="en-GB" sz="1400" dirty="0"/>
              <a:t>These underpin the Sprint Theme.</a:t>
            </a:r>
          </a:p>
        </p:txBody>
      </p:sp>
      <p:sp>
        <p:nvSpPr>
          <p:cNvPr id="20" name="Arrow: Right 19">
            <a:extLst>
              <a:ext uri="{FF2B5EF4-FFF2-40B4-BE49-F238E27FC236}">
                <a16:creationId xmlns:a16="http://schemas.microsoft.com/office/drawing/2014/main" id="{5A4A97BD-FE7A-4BA3-BDDF-4ADB259ECB6F}"/>
              </a:ext>
            </a:extLst>
          </p:cNvPr>
          <p:cNvSpPr/>
          <p:nvPr/>
        </p:nvSpPr>
        <p:spPr>
          <a:xfrm>
            <a:off x="2480447" y="5093606"/>
            <a:ext cx="344196" cy="197745"/>
          </a:xfrm>
          <a:prstGeom prst="rightArrow">
            <a:avLst/>
          </a:prstGeom>
          <a:solidFill>
            <a:srgbClr val="0070C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Arrow: Right 20">
            <a:extLst>
              <a:ext uri="{FF2B5EF4-FFF2-40B4-BE49-F238E27FC236}">
                <a16:creationId xmlns:a16="http://schemas.microsoft.com/office/drawing/2014/main" id="{EDC00069-DCA3-0CF2-135B-18C6D9257898}"/>
              </a:ext>
            </a:extLst>
          </p:cNvPr>
          <p:cNvSpPr/>
          <p:nvPr/>
        </p:nvSpPr>
        <p:spPr>
          <a:xfrm>
            <a:off x="4543479" y="4803618"/>
            <a:ext cx="3881988" cy="417426"/>
          </a:xfrm>
          <a:prstGeom prst="rightArrow">
            <a:avLst>
              <a:gd name="adj1" fmla="val 27787"/>
              <a:gd name="adj2" fmla="val 133299"/>
            </a:avLst>
          </a:prstGeom>
          <a:solidFill>
            <a:srgbClr val="0070C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Arrow: Bent 21">
            <a:extLst>
              <a:ext uri="{FF2B5EF4-FFF2-40B4-BE49-F238E27FC236}">
                <a16:creationId xmlns:a16="http://schemas.microsoft.com/office/drawing/2014/main" id="{F6BB0179-5F50-F53B-2119-6ED560CC2EBF}"/>
              </a:ext>
            </a:extLst>
          </p:cNvPr>
          <p:cNvSpPr/>
          <p:nvPr/>
        </p:nvSpPr>
        <p:spPr>
          <a:xfrm rot="12781965" flipH="1">
            <a:off x="5493367" y="4281750"/>
            <a:ext cx="657872" cy="602427"/>
          </a:xfrm>
          <a:prstGeom prst="bentArrow">
            <a:avLst>
              <a:gd name="adj1" fmla="val 18302"/>
              <a:gd name="adj2" fmla="val 30089"/>
              <a:gd name="adj3" fmla="val 25000"/>
              <a:gd name="adj4" fmla="val 77175"/>
            </a:avLst>
          </a:prstGeom>
          <a:solidFill>
            <a:srgbClr val="0070C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3" name="Arrow: Bent 22">
            <a:extLst>
              <a:ext uri="{FF2B5EF4-FFF2-40B4-BE49-F238E27FC236}">
                <a16:creationId xmlns:a16="http://schemas.microsoft.com/office/drawing/2014/main" id="{9217BF3B-79E3-D79B-F558-A093C63059BD}"/>
              </a:ext>
            </a:extLst>
          </p:cNvPr>
          <p:cNvSpPr/>
          <p:nvPr/>
        </p:nvSpPr>
        <p:spPr>
          <a:xfrm rot="19440732" flipH="1">
            <a:off x="5918694" y="3534723"/>
            <a:ext cx="781505" cy="671369"/>
          </a:xfrm>
          <a:prstGeom prst="bentArrow">
            <a:avLst>
              <a:gd name="adj1" fmla="val 16281"/>
              <a:gd name="adj2" fmla="val 30089"/>
              <a:gd name="adj3" fmla="val 25000"/>
              <a:gd name="adj4" fmla="val 79062"/>
            </a:avLst>
          </a:prstGeom>
          <a:solidFill>
            <a:srgbClr val="0070C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Arrow: Bent 23">
            <a:extLst>
              <a:ext uri="{FF2B5EF4-FFF2-40B4-BE49-F238E27FC236}">
                <a16:creationId xmlns:a16="http://schemas.microsoft.com/office/drawing/2014/main" id="{2FD2C3E1-445F-7BBC-E50F-8E205D889F56}"/>
              </a:ext>
            </a:extLst>
          </p:cNvPr>
          <p:cNvSpPr/>
          <p:nvPr/>
        </p:nvSpPr>
        <p:spPr>
          <a:xfrm rot="4121546" flipH="1">
            <a:off x="6591406" y="4170770"/>
            <a:ext cx="657872" cy="602427"/>
          </a:xfrm>
          <a:prstGeom prst="bentArrow">
            <a:avLst>
              <a:gd name="adj1" fmla="val 18302"/>
              <a:gd name="adj2" fmla="val 30089"/>
              <a:gd name="adj3" fmla="val 25000"/>
              <a:gd name="adj4" fmla="val 79062"/>
            </a:avLst>
          </a:prstGeom>
          <a:solidFill>
            <a:srgbClr val="0070C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5" name="TextBox 24">
            <a:extLst>
              <a:ext uri="{FF2B5EF4-FFF2-40B4-BE49-F238E27FC236}">
                <a16:creationId xmlns:a16="http://schemas.microsoft.com/office/drawing/2014/main" id="{42FA5F35-A363-BE9C-F1AB-7E3D2DDE7281}"/>
              </a:ext>
            </a:extLst>
          </p:cNvPr>
          <p:cNvSpPr txBox="1"/>
          <p:nvPr/>
        </p:nvSpPr>
        <p:spPr>
          <a:xfrm>
            <a:off x="5752632" y="4129571"/>
            <a:ext cx="1167710" cy="584775"/>
          </a:xfrm>
          <a:prstGeom prst="rect">
            <a:avLst/>
          </a:prstGeom>
          <a:noFill/>
        </p:spPr>
        <p:txBody>
          <a:bodyPr wrap="square" rtlCol="0">
            <a:spAutoFit/>
          </a:bodyPr>
          <a:lstStyle/>
          <a:p>
            <a:pPr algn="ctr"/>
            <a:r>
              <a:rPr lang="en-GB" sz="1600" b="1" dirty="0"/>
              <a:t>2-4 week</a:t>
            </a:r>
          </a:p>
          <a:p>
            <a:pPr algn="ctr"/>
            <a:r>
              <a:rPr lang="en-GB" sz="1600" b="1" dirty="0"/>
              <a:t>Sprint</a:t>
            </a:r>
          </a:p>
        </p:txBody>
      </p:sp>
      <p:sp>
        <p:nvSpPr>
          <p:cNvPr id="26" name="TextBox 25">
            <a:extLst>
              <a:ext uri="{FF2B5EF4-FFF2-40B4-BE49-F238E27FC236}">
                <a16:creationId xmlns:a16="http://schemas.microsoft.com/office/drawing/2014/main" id="{E4244B5B-999E-CF23-4A63-CE9ADA78D5A0}"/>
              </a:ext>
            </a:extLst>
          </p:cNvPr>
          <p:cNvSpPr txBox="1"/>
          <p:nvPr/>
        </p:nvSpPr>
        <p:spPr>
          <a:xfrm>
            <a:off x="5695386" y="3306537"/>
            <a:ext cx="1356401" cy="338554"/>
          </a:xfrm>
          <a:prstGeom prst="rect">
            <a:avLst/>
          </a:prstGeom>
          <a:noFill/>
          <a:ln>
            <a:solidFill>
              <a:srgbClr val="00B0F0"/>
            </a:solidFill>
          </a:ln>
        </p:spPr>
        <p:txBody>
          <a:bodyPr wrap="square" rtlCol="0">
            <a:spAutoFit/>
          </a:bodyPr>
          <a:lstStyle/>
          <a:p>
            <a:pPr algn="ctr"/>
            <a:r>
              <a:rPr lang="en-GB" sz="1600" b="1" dirty="0"/>
              <a:t>Daily Scrum</a:t>
            </a:r>
          </a:p>
        </p:txBody>
      </p:sp>
      <p:sp>
        <p:nvSpPr>
          <p:cNvPr id="27" name="Flowchart: Magnetic Disk 26">
            <a:extLst>
              <a:ext uri="{FF2B5EF4-FFF2-40B4-BE49-F238E27FC236}">
                <a16:creationId xmlns:a16="http://schemas.microsoft.com/office/drawing/2014/main" id="{575A20F9-5BF7-4432-4507-336D312472B5}"/>
              </a:ext>
            </a:extLst>
          </p:cNvPr>
          <p:cNvSpPr/>
          <p:nvPr/>
        </p:nvSpPr>
        <p:spPr>
          <a:xfrm>
            <a:off x="8614372" y="4464317"/>
            <a:ext cx="706665" cy="737672"/>
          </a:xfrm>
          <a:prstGeom prst="flowChartMagneticDisk">
            <a:avLst/>
          </a:prstGeom>
          <a:solidFill>
            <a:srgbClr val="0070C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C3D0B9D9-7E58-4405-EE23-DDBECF2218B1}"/>
              </a:ext>
            </a:extLst>
          </p:cNvPr>
          <p:cNvSpPr/>
          <p:nvPr/>
        </p:nvSpPr>
        <p:spPr>
          <a:xfrm>
            <a:off x="8256257" y="5279632"/>
            <a:ext cx="1422893" cy="738664"/>
          </a:xfrm>
          <a:prstGeom prst="rect">
            <a:avLst/>
          </a:prstGeom>
        </p:spPr>
        <p:txBody>
          <a:bodyPr wrap="square">
            <a:spAutoFit/>
          </a:bodyPr>
          <a:lstStyle/>
          <a:p>
            <a:pPr algn="ctr"/>
            <a:r>
              <a:rPr lang="en-GB" sz="1400" b="1" dirty="0"/>
              <a:t>Potentially</a:t>
            </a:r>
          </a:p>
          <a:p>
            <a:pPr algn="ctr"/>
            <a:r>
              <a:rPr lang="en-GB" sz="1400" b="1" dirty="0"/>
              <a:t>Shippable</a:t>
            </a:r>
          </a:p>
          <a:p>
            <a:pPr algn="ctr"/>
            <a:r>
              <a:rPr lang="en-GB" sz="1400" dirty="0"/>
              <a:t>Game</a:t>
            </a:r>
          </a:p>
        </p:txBody>
      </p:sp>
      <p:sp>
        <p:nvSpPr>
          <p:cNvPr id="29" name="TextBox 28">
            <a:extLst>
              <a:ext uri="{FF2B5EF4-FFF2-40B4-BE49-F238E27FC236}">
                <a16:creationId xmlns:a16="http://schemas.microsoft.com/office/drawing/2014/main" id="{184C8305-E786-E199-3B00-2EBC32194478}"/>
              </a:ext>
            </a:extLst>
          </p:cNvPr>
          <p:cNvSpPr txBox="1"/>
          <p:nvPr/>
        </p:nvSpPr>
        <p:spPr>
          <a:xfrm>
            <a:off x="10157765" y="5255404"/>
            <a:ext cx="1626409" cy="584775"/>
          </a:xfrm>
          <a:prstGeom prst="rect">
            <a:avLst/>
          </a:prstGeom>
          <a:noFill/>
          <a:ln>
            <a:solidFill>
              <a:srgbClr val="00B0F0"/>
            </a:solidFill>
          </a:ln>
        </p:spPr>
        <p:txBody>
          <a:bodyPr wrap="square" rtlCol="0">
            <a:spAutoFit/>
          </a:bodyPr>
          <a:lstStyle/>
          <a:p>
            <a:pPr algn="ctr"/>
            <a:r>
              <a:rPr lang="en-GB" sz="1600" b="1" dirty="0"/>
              <a:t>Sprint Retrospective</a:t>
            </a:r>
          </a:p>
        </p:txBody>
      </p:sp>
      <p:sp>
        <p:nvSpPr>
          <p:cNvPr id="30" name="TextBox 29">
            <a:extLst>
              <a:ext uri="{FF2B5EF4-FFF2-40B4-BE49-F238E27FC236}">
                <a16:creationId xmlns:a16="http://schemas.microsoft.com/office/drawing/2014/main" id="{D4873514-07DB-3E6A-FE7D-931AD7561BF2}"/>
              </a:ext>
            </a:extLst>
          </p:cNvPr>
          <p:cNvSpPr txBox="1"/>
          <p:nvPr/>
        </p:nvSpPr>
        <p:spPr>
          <a:xfrm>
            <a:off x="10157766" y="3663399"/>
            <a:ext cx="1626409" cy="584775"/>
          </a:xfrm>
          <a:prstGeom prst="rect">
            <a:avLst/>
          </a:prstGeom>
          <a:noFill/>
          <a:ln>
            <a:solidFill>
              <a:srgbClr val="00B0F0"/>
            </a:solidFill>
          </a:ln>
        </p:spPr>
        <p:txBody>
          <a:bodyPr wrap="square" rtlCol="0">
            <a:spAutoFit/>
          </a:bodyPr>
          <a:lstStyle/>
          <a:p>
            <a:pPr algn="ctr"/>
            <a:r>
              <a:rPr lang="en-GB" sz="1600" b="1" dirty="0"/>
              <a:t>Sprint Review Meeting</a:t>
            </a:r>
          </a:p>
        </p:txBody>
      </p:sp>
      <p:sp>
        <p:nvSpPr>
          <p:cNvPr id="31" name="Arrow: Right 30">
            <a:extLst>
              <a:ext uri="{FF2B5EF4-FFF2-40B4-BE49-F238E27FC236}">
                <a16:creationId xmlns:a16="http://schemas.microsoft.com/office/drawing/2014/main" id="{29152026-5D96-3E96-5830-1CD87687A7C4}"/>
              </a:ext>
            </a:extLst>
          </p:cNvPr>
          <p:cNvSpPr/>
          <p:nvPr/>
        </p:nvSpPr>
        <p:spPr>
          <a:xfrm rot="19881355">
            <a:off x="9449098" y="4263711"/>
            <a:ext cx="774864" cy="398371"/>
          </a:xfrm>
          <a:prstGeom prst="rightArrow">
            <a:avLst>
              <a:gd name="adj1" fmla="val 27787"/>
              <a:gd name="adj2" fmla="val 90724"/>
            </a:avLst>
          </a:prstGeom>
          <a:solidFill>
            <a:srgbClr val="0070C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Arrow: Right 31">
            <a:extLst>
              <a:ext uri="{FF2B5EF4-FFF2-40B4-BE49-F238E27FC236}">
                <a16:creationId xmlns:a16="http://schemas.microsoft.com/office/drawing/2014/main" id="{564CD1CA-FFF9-C715-3700-606E61F1BDD2}"/>
              </a:ext>
            </a:extLst>
          </p:cNvPr>
          <p:cNvSpPr/>
          <p:nvPr/>
        </p:nvSpPr>
        <p:spPr>
          <a:xfrm rot="1718645" flipV="1">
            <a:off x="9459317" y="4837906"/>
            <a:ext cx="726323" cy="398371"/>
          </a:xfrm>
          <a:prstGeom prst="rightArrow">
            <a:avLst>
              <a:gd name="adj1" fmla="val 27787"/>
              <a:gd name="adj2" fmla="val 90724"/>
            </a:avLst>
          </a:prstGeom>
          <a:solidFill>
            <a:srgbClr val="0070C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Arrow: Bent 33">
            <a:extLst>
              <a:ext uri="{FF2B5EF4-FFF2-40B4-BE49-F238E27FC236}">
                <a16:creationId xmlns:a16="http://schemas.microsoft.com/office/drawing/2014/main" id="{B60E86BB-495B-6DAD-B371-19D0FA6178BB}"/>
              </a:ext>
            </a:extLst>
          </p:cNvPr>
          <p:cNvSpPr/>
          <p:nvPr/>
        </p:nvSpPr>
        <p:spPr>
          <a:xfrm rot="15254103">
            <a:off x="3818512" y="5293303"/>
            <a:ext cx="1330231" cy="1471153"/>
          </a:xfrm>
          <a:prstGeom prst="bentArrow">
            <a:avLst>
              <a:gd name="adj1" fmla="val 9303"/>
              <a:gd name="adj2" fmla="val 18012"/>
              <a:gd name="adj3" fmla="val 38316"/>
              <a:gd name="adj4" fmla="val 6168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3" name="Oval 32">
            <a:extLst>
              <a:ext uri="{FF2B5EF4-FFF2-40B4-BE49-F238E27FC236}">
                <a16:creationId xmlns:a16="http://schemas.microsoft.com/office/drawing/2014/main" id="{A03360ED-B9ED-5B84-E183-F1D1B72ADE45}"/>
              </a:ext>
            </a:extLst>
          </p:cNvPr>
          <p:cNvSpPr/>
          <p:nvPr/>
        </p:nvSpPr>
        <p:spPr>
          <a:xfrm>
            <a:off x="5431371" y="6068592"/>
            <a:ext cx="1488971" cy="570767"/>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a:extLst>
              <a:ext uri="{FF2B5EF4-FFF2-40B4-BE49-F238E27FC236}">
                <a16:creationId xmlns:a16="http://schemas.microsoft.com/office/drawing/2014/main" id="{416286CD-970F-C1C5-6A71-786B44B06C88}"/>
              </a:ext>
            </a:extLst>
          </p:cNvPr>
          <p:cNvSpPr txBox="1"/>
          <p:nvPr/>
        </p:nvSpPr>
        <p:spPr>
          <a:xfrm>
            <a:off x="7074347" y="3090485"/>
            <a:ext cx="1017688" cy="307855"/>
          </a:xfrm>
          <a:prstGeom prst="rect">
            <a:avLst/>
          </a:prstGeom>
          <a:noFill/>
        </p:spPr>
        <p:txBody>
          <a:bodyPr wrap="square" rtlCol="0">
            <a:spAutoFit/>
          </a:bodyPr>
          <a:lstStyle/>
          <a:p>
            <a:r>
              <a:rPr lang="en-GB" sz="1400" b="1" dirty="0"/>
              <a:t>15 mins.</a:t>
            </a:r>
          </a:p>
        </p:txBody>
      </p:sp>
      <p:sp>
        <p:nvSpPr>
          <p:cNvPr id="36" name="TextBox 35">
            <a:extLst>
              <a:ext uri="{FF2B5EF4-FFF2-40B4-BE49-F238E27FC236}">
                <a16:creationId xmlns:a16="http://schemas.microsoft.com/office/drawing/2014/main" id="{B52141E4-C03E-ACBB-4B4F-6C8FC024EF9D}"/>
              </a:ext>
            </a:extLst>
          </p:cNvPr>
          <p:cNvSpPr txBox="1"/>
          <p:nvPr/>
        </p:nvSpPr>
        <p:spPr>
          <a:xfrm>
            <a:off x="7059854" y="3475814"/>
            <a:ext cx="2174837" cy="523220"/>
          </a:xfrm>
          <a:prstGeom prst="rect">
            <a:avLst/>
          </a:prstGeom>
          <a:noFill/>
        </p:spPr>
        <p:txBody>
          <a:bodyPr wrap="square" rtlCol="0">
            <a:spAutoFit/>
          </a:bodyPr>
          <a:lstStyle/>
          <a:p>
            <a:r>
              <a:rPr lang="en-GB" sz="1400" dirty="0"/>
              <a:t>Share progress &amp; problems being faced.</a:t>
            </a:r>
          </a:p>
        </p:txBody>
      </p:sp>
      <p:sp>
        <p:nvSpPr>
          <p:cNvPr id="37" name="Oval 36">
            <a:extLst>
              <a:ext uri="{FF2B5EF4-FFF2-40B4-BE49-F238E27FC236}">
                <a16:creationId xmlns:a16="http://schemas.microsoft.com/office/drawing/2014/main" id="{9BD60DCA-6C65-9F71-D863-E0301B2D4B82}"/>
              </a:ext>
            </a:extLst>
          </p:cNvPr>
          <p:cNvSpPr/>
          <p:nvPr/>
        </p:nvSpPr>
        <p:spPr>
          <a:xfrm>
            <a:off x="1282588" y="2268206"/>
            <a:ext cx="2006824" cy="523064"/>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Box 37">
            <a:extLst>
              <a:ext uri="{FF2B5EF4-FFF2-40B4-BE49-F238E27FC236}">
                <a16:creationId xmlns:a16="http://schemas.microsoft.com/office/drawing/2014/main" id="{A7EBCA7D-F9FD-A5D0-D743-2D73501B0899}"/>
              </a:ext>
            </a:extLst>
          </p:cNvPr>
          <p:cNvSpPr txBox="1"/>
          <p:nvPr/>
        </p:nvSpPr>
        <p:spPr>
          <a:xfrm>
            <a:off x="10144303" y="4374491"/>
            <a:ext cx="2116985" cy="830997"/>
          </a:xfrm>
          <a:prstGeom prst="rect">
            <a:avLst/>
          </a:prstGeom>
          <a:noFill/>
        </p:spPr>
        <p:txBody>
          <a:bodyPr wrap="square" rtlCol="0">
            <a:spAutoFit/>
          </a:bodyPr>
          <a:lstStyle/>
          <a:p>
            <a:r>
              <a:rPr lang="en-GB" sz="1600" dirty="0">
                <a:solidFill>
                  <a:srgbClr val="FF0000"/>
                </a:solidFill>
              </a:rPr>
              <a:t>Sprint Review &amp; Product Backlog update</a:t>
            </a:r>
          </a:p>
        </p:txBody>
      </p:sp>
      <p:sp>
        <p:nvSpPr>
          <p:cNvPr id="39" name="TextBox 38">
            <a:extLst>
              <a:ext uri="{FF2B5EF4-FFF2-40B4-BE49-F238E27FC236}">
                <a16:creationId xmlns:a16="http://schemas.microsoft.com/office/drawing/2014/main" id="{70254945-C15C-DF7A-286C-323C79DDCAEB}"/>
              </a:ext>
            </a:extLst>
          </p:cNvPr>
          <p:cNvSpPr txBox="1"/>
          <p:nvPr/>
        </p:nvSpPr>
        <p:spPr>
          <a:xfrm>
            <a:off x="10157765" y="5910310"/>
            <a:ext cx="2105211" cy="584775"/>
          </a:xfrm>
          <a:prstGeom prst="rect">
            <a:avLst/>
          </a:prstGeom>
          <a:noFill/>
        </p:spPr>
        <p:txBody>
          <a:bodyPr wrap="square" rtlCol="0">
            <a:spAutoFit/>
          </a:bodyPr>
          <a:lstStyle/>
          <a:p>
            <a:r>
              <a:rPr lang="en-GB" sz="1600" dirty="0">
                <a:solidFill>
                  <a:srgbClr val="FF0000"/>
                </a:solidFill>
              </a:rPr>
              <a:t>Team reflection to improve practice</a:t>
            </a:r>
          </a:p>
        </p:txBody>
      </p:sp>
    </p:spTree>
    <p:extLst>
      <p:ext uri="{BB962C8B-B14F-4D97-AF65-F5344CB8AC3E}">
        <p14:creationId xmlns:p14="http://schemas.microsoft.com/office/powerpoint/2010/main" val="1313894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5"/>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7"/>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8"/>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31"/>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30"/>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32"/>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29"/>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38"/>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p:bldP spid="9" grpId="0" animBg="1"/>
      <p:bldP spid="10" grpId="0" animBg="1"/>
      <p:bldP spid="11" grpId="0" animBg="1"/>
      <p:bldP spid="12" grpId="0" animBg="1"/>
      <p:bldP spid="13" grpId="0" animBg="1"/>
      <p:bldP spid="14" grpId="0" animBg="1"/>
      <p:bldP spid="15" grpId="0" animBg="1"/>
      <p:bldP spid="16" grpId="0" animBg="1"/>
      <p:bldP spid="17" grpId="0" animBg="1"/>
      <p:bldP spid="18" grpId="0"/>
      <p:bldP spid="19" grpId="0"/>
      <p:bldP spid="20" grpId="0" animBg="1"/>
      <p:bldP spid="21" grpId="0" animBg="1"/>
      <p:bldP spid="22" grpId="0" animBg="1"/>
      <p:bldP spid="23" grpId="0" animBg="1"/>
      <p:bldP spid="24" grpId="0" animBg="1"/>
      <p:bldP spid="25" grpId="0"/>
      <p:bldP spid="26" grpId="0" animBg="1"/>
      <p:bldP spid="27" grpId="0" animBg="1"/>
      <p:bldP spid="28" grpId="0"/>
      <p:bldP spid="29" grpId="0" animBg="1"/>
      <p:bldP spid="30" grpId="0" animBg="1"/>
      <p:bldP spid="31" grpId="0" animBg="1"/>
      <p:bldP spid="32" grpId="0" animBg="1"/>
      <p:bldP spid="34" grpId="0" animBg="1"/>
      <p:bldP spid="33" grpId="0" animBg="1"/>
      <p:bldP spid="35" grpId="0"/>
      <p:bldP spid="36" grpId="0"/>
      <p:bldP spid="37" grpId="0" animBg="1"/>
      <p:bldP spid="38" grpId="0"/>
      <p:bldP spid="3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445DCB-30D8-1BC8-033B-0D79221C07DB}"/>
              </a:ext>
            </a:extLst>
          </p:cNvPr>
          <p:cNvSpPr txBox="1"/>
          <p:nvPr/>
        </p:nvSpPr>
        <p:spPr>
          <a:xfrm>
            <a:off x="1341120" y="921182"/>
            <a:ext cx="9509760" cy="1200329"/>
          </a:xfrm>
          <a:prstGeom prst="rect">
            <a:avLst/>
          </a:prstGeom>
          <a:noFill/>
        </p:spPr>
        <p:txBody>
          <a:bodyPr wrap="square" rtlCol="0">
            <a:spAutoFit/>
          </a:bodyPr>
          <a:lstStyle/>
          <a:p>
            <a:r>
              <a:rPr lang="en-GB" b="1" dirty="0"/>
              <a:t>• What’s a Potentially Shippable Game?</a:t>
            </a:r>
          </a:p>
          <a:p>
            <a:endParaRPr lang="en-GB" b="1" dirty="0"/>
          </a:p>
          <a:p>
            <a:r>
              <a:rPr lang="en-GB" dirty="0"/>
              <a:t>Unless your game is very simple, it’s not realistic to expect to ship a full game in 2-4 weeks.  But this is not the intent!</a:t>
            </a:r>
          </a:p>
        </p:txBody>
      </p:sp>
      <p:sp>
        <p:nvSpPr>
          <p:cNvPr id="3" name="TextBox 2">
            <a:extLst>
              <a:ext uri="{FF2B5EF4-FFF2-40B4-BE49-F238E27FC236}">
                <a16:creationId xmlns:a16="http://schemas.microsoft.com/office/drawing/2014/main" id="{3706BC85-9FC2-1B09-0541-1F7303C0BE02}"/>
              </a:ext>
            </a:extLst>
          </p:cNvPr>
          <p:cNvSpPr txBox="1"/>
          <p:nvPr/>
        </p:nvSpPr>
        <p:spPr>
          <a:xfrm>
            <a:off x="2034235" y="283779"/>
            <a:ext cx="8123531" cy="584775"/>
          </a:xfrm>
          <a:prstGeom prst="rect">
            <a:avLst/>
          </a:prstGeom>
          <a:noFill/>
        </p:spPr>
        <p:txBody>
          <a:bodyPr wrap="square" rtlCol="0">
            <a:spAutoFit/>
          </a:bodyPr>
          <a:lstStyle/>
          <a:p>
            <a:pPr algn="ctr"/>
            <a:r>
              <a:rPr lang="en-GB" sz="3200" b="1" dirty="0">
                <a:solidFill>
                  <a:schemeClr val="accent3">
                    <a:lumMod val="60000"/>
                    <a:lumOff val="40000"/>
                  </a:schemeClr>
                </a:solidFill>
              </a:rPr>
              <a:t>Development Methodologies – Agile</a:t>
            </a:r>
          </a:p>
        </p:txBody>
      </p:sp>
      <p:sp>
        <p:nvSpPr>
          <p:cNvPr id="4" name="Rectangle 3">
            <a:extLst>
              <a:ext uri="{FF2B5EF4-FFF2-40B4-BE49-F238E27FC236}">
                <a16:creationId xmlns:a16="http://schemas.microsoft.com/office/drawing/2014/main" id="{DC0DADC8-6454-C119-2916-40B1B83FB318}"/>
              </a:ext>
            </a:extLst>
          </p:cNvPr>
          <p:cNvSpPr/>
          <p:nvPr/>
        </p:nvSpPr>
        <p:spPr>
          <a:xfrm>
            <a:off x="59110" y="2494242"/>
            <a:ext cx="3695594" cy="3693319"/>
          </a:xfrm>
          <a:prstGeom prst="rect">
            <a:avLst/>
          </a:prstGeom>
        </p:spPr>
        <p:txBody>
          <a:bodyPr wrap="square">
            <a:spAutoFit/>
          </a:bodyPr>
          <a:lstStyle/>
          <a:p>
            <a:r>
              <a:rPr lang="en-GB" dirty="0"/>
              <a:t>Each sprint aims to produce a game that contains key elements that make it playable. </a:t>
            </a:r>
          </a:p>
          <a:p>
            <a:r>
              <a:rPr lang="en-GB" dirty="0"/>
              <a:t>The elements implemented cover the key components of the game.  They will not be complete, but come together to form a working, playable output.  </a:t>
            </a:r>
          </a:p>
          <a:p>
            <a:endParaRPr lang="en-GB" dirty="0"/>
          </a:p>
          <a:p>
            <a:r>
              <a:rPr lang="en-GB" dirty="0"/>
              <a:t>This is typically known as a </a:t>
            </a:r>
            <a:r>
              <a:rPr lang="en-GB" b="1" dirty="0"/>
              <a:t>vertical slice.</a:t>
            </a:r>
          </a:p>
        </p:txBody>
      </p:sp>
      <p:sp>
        <p:nvSpPr>
          <p:cNvPr id="5" name="Rectangle 4">
            <a:extLst>
              <a:ext uri="{FF2B5EF4-FFF2-40B4-BE49-F238E27FC236}">
                <a16:creationId xmlns:a16="http://schemas.microsoft.com/office/drawing/2014/main" id="{174FB443-5DAE-E4E5-AE5C-71479BE90953}"/>
              </a:ext>
            </a:extLst>
          </p:cNvPr>
          <p:cNvSpPr/>
          <p:nvPr/>
        </p:nvSpPr>
        <p:spPr>
          <a:xfrm>
            <a:off x="3838388" y="2745161"/>
            <a:ext cx="2498756" cy="4707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Player Input</a:t>
            </a:r>
          </a:p>
        </p:txBody>
      </p:sp>
      <p:sp>
        <p:nvSpPr>
          <p:cNvPr id="6" name="Rectangle 5">
            <a:extLst>
              <a:ext uri="{FF2B5EF4-FFF2-40B4-BE49-F238E27FC236}">
                <a16:creationId xmlns:a16="http://schemas.microsoft.com/office/drawing/2014/main" id="{02CCA5D0-E6CC-19B0-DCF2-5515E77041CC}"/>
              </a:ext>
            </a:extLst>
          </p:cNvPr>
          <p:cNvSpPr/>
          <p:nvPr/>
        </p:nvSpPr>
        <p:spPr>
          <a:xfrm>
            <a:off x="3838388" y="3212397"/>
            <a:ext cx="2498756" cy="470778"/>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AI</a:t>
            </a:r>
          </a:p>
        </p:txBody>
      </p:sp>
      <p:sp>
        <p:nvSpPr>
          <p:cNvPr id="7" name="Rectangle 6">
            <a:extLst>
              <a:ext uri="{FF2B5EF4-FFF2-40B4-BE49-F238E27FC236}">
                <a16:creationId xmlns:a16="http://schemas.microsoft.com/office/drawing/2014/main" id="{27221FA2-B71F-7D61-2685-41DEF6782D4E}"/>
              </a:ext>
            </a:extLst>
          </p:cNvPr>
          <p:cNvSpPr/>
          <p:nvPr/>
        </p:nvSpPr>
        <p:spPr>
          <a:xfrm>
            <a:off x="3838388" y="5081341"/>
            <a:ext cx="2498756" cy="470778"/>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Terrain</a:t>
            </a:r>
          </a:p>
        </p:txBody>
      </p:sp>
      <p:sp>
        <p:nvSpPr>
          <p:cNvPr id="8" name="Rectangle 7">
            <a:extLst>
              <a:ext uri="{FF2B5EF4-FFF2-40B4-BE49-F238E27FC236}">
                <a16:creationId xmlns:a16="http://schemas.microsoft.com/office/drawing/2014/main" id="{AD843B62-6213-AECE-8ACA-216ABA965BA9}"/>
              </a:ext>
            </a:extLst>
          </p:cNvPr>
          <p:cNvSpPr/>
          <p:nvPr/>
        </p:nvSpPr>
        <p:spPr>
          <a:xfrm>
            <a:off x="3838388" y="5548579"/>
            <a:ext cx="2498756" cy="4707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Rendering</a:t>
            </a:r>
          </a:p>
        </p:txBody>
      </p:sp>
      <p:sp>
        <p:nvSpPr>
          <p:cNvPr id="9" name="Rectangle 8">
            <a:extLst>
              <a:ext uri="{FF2B5EF4-FFF2-40B4-BE49-F238E27FC236}">
                <a16:creationId xmlns:a16="http://schemas.microsoft.com/office/drawing/2014/main" id="{90E43F8A-9AF7-2B97-9043-A53353DBAE24}"/>
              </a:ext>
            </a:extLst>
          </p:cNvPr>
          <p:cNvSpPr/>
          <p:nvPr/>
        </p:nvSpPr>
        <p:spPr>
          <a:xfrm>
            <a:off x="3838388" y="4146869"/>
            <a:ext cx="2498756" cy="470778"/>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Physics</a:t>
            </a:r>
          </a:p>
        </p:txBody>
      </p:sp>
      <p:sp>
        <p:nvSpPr>
          <p:cNvPr id="10" name="Rectangle 9">
            <a:extLst>
              <a:ext uri="{FF2B5EF4-FFF2-40B4-BE49-F238E27FC236}">
                <a16:creationId xmlns:a16="http://schemas.microsoft.com/office/drawing/2014/main" id="{B6956146-83BA-DF01-54E9-F8209708947A}"/>
              </a:ext>
            </a:extLst>
          </p:cNvPr>
          <p:cNvSpPr/>
          <p:nvPr/>
        </p:nvSpPr>
        <p:spPr>
          <a:xfrm>
            <a:off x="3838388" y="4614105"/>
            <a:ext cx="2498756" cy="4707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Scenery</a:t>
            </a:r>
          </a:p>
        </p:txBody>
      </p:sp>
      <p:sp>
        <p:nvSpPr>
          <p:cNvPr id="11" name="Rectangle 10">
            <a:extLst>
              <a:ext uri="{FF2B5EF4-FFF2-40B4-BE49-F238E27FC236}">
                <a16:creationId xmlns:a16="http://schemas.microsoft.com/office/drawing/2014/main" id="{5424DBAB-49BC-593A-C53B-6EE0ABA2845C}"/>
              </a:ext>
            </a:extLst>
          </p:cNvPr>
          <p:cNvSpPr/>
          <p:nvPr/>
        </p:nvSpPr>
        <p:spPr>
          <a:xfrm>
            <a:off x="3838388" y="3679633"/>
            <a:ext cx="2498756" cy="4707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Animations</a:t>
            </a:r>
          </a:p>
        </p:txBody>
      </p:sp>
      <p:sp>
        <p:nvSpPr>
          <p:cNvPr id="12" name="TextBox 11">
            <a:extLst>
              <a:ext uri="{FF2B5EF4-FFF2-40B4-BE49-F238E27FC236}">
                <a16:creationId xmlns:a16="http://schemas.microsoft.com/office/drawing/2014/main" id="{95885329-1AF8-AE5C-F9B4-87921B6E06E2}"/>
              </a:ext>
            </a:extLst>
          </p:cNvPr>
          <p:cNvSpPr txBox="1"/>
          <p:nvPr/>
        </p:nvSpPr>
        <p:spPr>
          <a:xfrm>
            <a:off x="3838388" y="2194556"/>
            <a:ext cx="2338404" cy="369332"/>
          </a:xfrm>
          <a:prstGeom prst="rect">
            <a:avLst/>
          </a:prstGeom>
          <a:noFill/>
        </p:spPr>
        <p:txBody>
          <a:bodyPr wrap="square" rtlCol="0">
            <a:spAutoFit/>
          </a:bodyPr>
          <a:lstStyle/>
          <a:p>
            <a:r>
              <a:rPr lang="en-GB" b="1" dirty="0"/>
              <a:t>Game Elements…</a:t>
            </a:r>
          </a:p>
        </p:txBody>
      </p:sp>
      <p:sp>
        <p:nvSpPr>
          <p:cNvPr id="13" name="Rectangle 12">
            <a:extLst>
              <a:ext uri="{FF2B5EF4-FFF2-40B4-BE49-F238E27FC236}">
                <a16:creationId xmlns:a16="http://schemas.microsoft.com/office/drawing/2014/main" id="{19C57A87-49BB-DFED-648D-F3BFF9D619AD}"/>
              </a:ext>
            </a:extLst>
          </p:cNvPr>
          <p:cNvSpPr/>
          <p:nvPr/>
        </p:nvSpPr>
        <p:spPr>
          <a:xfrm>
            <a:off x="5820871" y="2735792"/>
            <a:ext cx="457200" cy="467234"/>
          </a:xfrm>
          <a:prstGeom prst="rect">
            <a:avLst/>
          </a:prstGeom>
          <a:solidFill>
            <a:srgbClr val="FFFF00">
              <a:alpha val="4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4" name="Rectangle 13">
            <a:extLst>
              <a:ext uri="{FF2B5EF4-FFF2-40B4-BE49-F238E27FC236}">
                <a16:creationId xmlns:a16="http://schemas.microsoft.com/office/drawing/2014/main" id="{A53F367B-0D5E-E45C-B71F-B49880E5F113}"/>
              </a:ext>
            </a:extLst>
          </p:cNvPr>
          <p:cNvSpPr/>
          <p:nvPr/>
        </p:nvSpPr>
        <p:spPr>
          <a:xfrm>
            <a:off x="5820871" y="3206572"/>
            <a:ext cx="457200" cy="467234"/>
          </a:xfrm>
          <a:prstGeom prst="rect">
            <a:avLst/>
          </a:prstGeom>
          <a:solidFill>
            <a:srgbClr val="FFFF00">
              <a:alpha val="4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5" name="Rectangle 14">
            <a:extLst>
              <a:ext uri="{FF2B5EF4-FFF2-40B4-BE49-F238E27FC236}">
                <a16:creationId xmlns:a16="http://schemas.microsoft.com/office/drawing/2014/main" id="{87B682D6-5126-179E-EBA6-829AA136C585}"/>
              </a:ext>
            </a:extLst>
          </p:cNvPr>
          <p:cNvSpPr/>
          <p:nvPr/>
        </p:nvSpPr>
        <p:spPr>
          <a:xfrm>
            <a:off x="5820871" y="3673806"/>
            <a:ext cx="457200" cy="467234"/>
          </a:xfrm>
          <a:prstGeom prst="rect">
            <a:avLst/>
          </a:prstGeom>
          <a:solidFill>
            <a:srgbClr val="FFFF00">
              <a:alpha val="4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6" name="Rectangle 15">
            <a:extLst>
              <a:ext uri="{FF2B5EF4-FFF2-40B4-BE49-F238E27FC236}">
                <a16:creationId xmlns:a16="http://schemas.microsoft.com/office/drawing/2014/main" id="{3ADBD80B-AC18-3A3B-8274-247BFBE0446D}"/>
              </a:ext>
            </a:extLst>
          </p:cNvPr>
          <p:cNvSpPr/>
          <p:nvPr/>
        </p:nvSpPr>
        <p:spPr>
          <a:xfrm>
            <a:off x="5820871" y="4137500"/>
            <a:ext cx="457200" cy="467234"/>
          </a:xfrm>
          <a:prstGeom prst="rect">
            <a:avLst/>
          </a:prstGeom>
          <a:solidFill>
            <a:srgbClr val="FFFF00">
              <a:alpha val="4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7" name="Rectangle 16">
            <a:extLst>
              <a:ext uri="{FF2B5EF4-FFF2-40B4-BE49-F238E27FC236}">
                <a16:creationId xmlns:a16="http://schemas.microsoft.com/office/drawing/2014/main" id="{8F4DAE98-0037-3C07-6512-40ADC33F223C}"/>
              </a:ext>
            </a:extLst>
          </p:cNvPr>
          <p:cNvSpPr/>
          <p:nvPr/>
        </p:nvSpPr>
        <p:spPr>
          <a:xfrm>
            <a:off x="5820871" y="4602964"/>
            <a:ext cx="457200" cy="467234"/>
          </a:xfrm>
          <a:prstGeom prst="rect">
            <a:avLst/>
          </a:prstGeom>
          <a:solidFill>
            <a:srgbClr val="FFFF00">
              <a:alpha val="4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8" name="Rectangle 17">
            <a:extLst>
              <a:ext uri="{FF2B5EF4-FFF2-40B4-BE49-F238E27FC236}">
                <a16:creationId xmlns:a16="http://schemas.microsoft.com/office/drawing/2014/main" id="{DBFEB123-76B8-CCD9-01B4-82BA2A8FB7B2}"/>
              </a:ext>
            </a:extLst>
          </p:cNvPr>
          <p:cNvSpPr/>
          <p:nvPr/>
        </p:nvSpPr>
        <p:spPr>
          <a:xfrm>
            <a:off x="5820871" y="5073747"/>
            <a:ext cx="457200" cy="467234"/>
          </a:xfrm>
          <a:prstGeom prst="rect">
            <a:avLst/>
          </a:prstGeom>
          <a:solidFill>
            <a:srgbClr val="FFFF00">
              <a:alpha val="4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9" name="Rectangle 18">
            <a:extLst>
              <a:ext uri="{FF2B5EF4-FFF2-40B4-BE49-F238E27FC236}">
                <a16:creationId xmlns:a16="http://schemas.microsoft.com/office/drawing/2014/main" id="{A4B7588B-E61C-9F0F-1A03-61391B82AB14}"/>
              </a:ext>
            </a:extLst>
          </p:cNvPr>
          <p:cNvSpPr/>
          <p:nvPr/>
        </p:nvSpPr>
        <p:spPr>
          <a:xfrm>
            <a:off x="5820871" y="5540984"/>
            <a:ext cx="457200" cy="467234"/>
          </a:xfrm>
          <a:prstGeom prst="rect">
            <a:avLst/>
          </a:prstGeom>
          <a:solidFill>
            <a:srgbClr val="FFFF00">
              <a:alpha val="4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0" name="TextBox 19">
            <a:extLst>
              <a:ext uri="{FF2B5EF4-FFF2-40B4-BE49-F238E27FC236}">
                <a16:creationId xmlns:a16="http://schemas.microsoft.com/office/drawing/2014/main" id="{1FEDAE53-4D33-51DE-D4CA-EBB27B5D63A5}"/>
              </a:ext>
            </a:extLst>
          </p:cNvPr>
          <p:cNvSpPr txBox="1"/>
          <p:nvPr/>
        </p:nvSpPr>
        <p:spPr>
          <a:xfrm>
            <a:off x="6854496" y="2792824"/>
            <a:ext cx="1363852" cy="461665"/>
          </a:xfrm>
          <a:prstGeom prst="rect">
            <a:avLst/>
          </a:prstGeom>
          <a:noFill/>
        </p:spPr>
        <p:txBody>
          <a:bodyPr wrap="square" rtlCol="0">
            <a:spAutoFit/>
          </a:bodyPr>
          <a:lstStyle/>
          <a:p>
            <a:r>
              <a:rPr lang="en-GB" sz="1200" i="1" dirty="0"/>
              <a:t>Core Player movement</a:t>
            </a:r>
          </a:p>
        </p:txBody>
      </p:sp>
      <p:sp>
        <p:nvSpPr>
          <p:cNvPr id="21" name="TextBox 20">
            <a:extLst>
              <a:ext uri="{FF2B5EF4-FFF2-40B4-BE49-F238E27FC236}">
                <a16:creationId xmlns:a16="http://schemas.microsoft.com/office/drawing/2014/main" id="{71B653D2-DDD0-AC8C-E4E2-6A7E8D93B1AE}"/>
              </a:ext>
            </a:extLst>
          </p:cNvPr>
          <p:cNvSpPr txBox="1"/>
          <p:nvPr/>
        </p:nvSpPr>
        <p:spPr>
          <a:xfrm>
            <a:off x="6854496" y="3309286"/>
            <a:ext cx="1737360" cy="276999"/>
          </a:xfrm>
          <a:prstGeom prst="rect">
            <a:avLst/>
          </a:prstGeom>
          <a:noFill/>
        </p:spPr>
        <p:txBody>
          <a:bodyPr wrap="square" rtlCol="0">
            <a:spAutoFit/>
          </a:bodyPr>
          <a:lstStyle/>
          <a:p>
            <a:r>
              <a:rPr lang="en-GB" sz="1200" i="1" dirty="0"/>
              <a:t>Path Finding</a:t>
            </a:r>
          </a:p>
        </p:txBody>
      </p:sp>
      <p:sp>
        <p:nvSpPr>
          <p:cNvPr id="22" name="TextBox 21">
            <a:extLst>
              <a:ext uri="{FF2B5EF4-FFF2-40B4-BE49-F238E27FC236}">
                <a16:creationId xmlns:a16="http://schemas.microsoft.com/office/drawing/2014/main" id="{FC2D742E-11A3-CCF4-325D-1FC7336374B2}"/>
              </a:ext>
            </a:extLst>
          </p:cNvPr>
          <p:cNvSpPr txBox="1"/>
          <p:nvPr/>
        </p:nvSpPr>
        <p:spPr>
          <a:xfrm>
            <a:off x="6854496" y="3776522"/>
            <a:ext cx="1737360" cy="276999"/>
          </a:xfrm>
          <a:prstGeom prst="rect">
            <a:avLst/>
          </a:prstGeom>
          <a:noFill/>
        </p:spPr>
        <p:txBody>
          <a:bodyPr wrap="square" rtlCol="0">
            <a:spAutoFit/>
          </a:bodyPr>
          <a:lstStyle/>
          <a:p>
            <a:r>
              <a:rPr lang="en-GB" sz="1200" i="1" dirty="0"/>
              <a:t>Player rigging</a:t>
            </a:r>
          </a:p>
        </p:txBody>
      </p:sp>
      <p:sp>
        <p:nvSpPr>
          <p:cNvPr id="23" name="TextBox 22">
            <a:extLst>
              <a:ext uri="{FF2B5EF4-FFF2-40B4-BE49-F238E27FC236}">
                <a16:creationId xmlns:a16="http://schemas.microsoft.com/office/drawing/2014/main" id="{F4DD748D-4126-7A13-A00F-966EEAD04E57}"/>
              </a:ext>
            </a:extLst>
          </p:cNvPr>
          <p:cNvSpPr txBox="1"/>
          <p:nvPr/>
        </p:nvSpPr>
        <p:spPr>
          <a:xfrm>
            <a:off x="6854496" y="4210144"/>
            <a:ext cx="1737360" cy="276999"/>
          </a:xfrm>
          <a:prstGeom prst="rect">
            <a:avLst/>
          </a:prstGeom>
          <a:noFill/>
        </p:spPr>
        <p:txBody>
          <a:bodyPr wrap="square" rtlCol="0">
            <a:spAutoFit/>
          </a:bodyPr>
          <a:lstStyle/>
          <a:p>
            <a:r>
              <a:rPr lang="en-GB" sz="1200" i="1" dirty="0"/>
              <a:t>Player physics</a:t>
            </a:r>
          </a:p>
        </p:txBody>
      </p:sp>
      <p:sp>
        <p:nvSpPr>
          <p:cNvPr id="24" name="TextBox 23">
            <a:extLst>
              <a:ext uri="{FF2B5EF4-FFF2-40B4-BE49-F238E27FC236}">
                <a16:creationId xmlns:a16="http://schemas.microsoft.com/office/drawing/2014/main" id="{88DD9F9B-3EE3-7F27-FE89-674A5125CDC0}"/>
              </a:ext>
            </a:extLst>
          </p:cNvPr>
          <p:cNvSpPr txBox="1"/>
          <p:nvPr/>
        </p:nvSpPr>
        <p:spPr>
          <a:xfrm>
            <a:off x="6854496" y="4707448"/>
            <a:ext cx="1737360" cy="276999"/>
          </a:xfrm>
          <a:prstGeom prst="rect">
            <a:avLst/>
          </a:prstGeom>
          <a:noFill/>
        </p:spPr>
        <p:txBody>
          <a:bodyPr wrap="square" rtlCol="0">
            <a:spAutoFit/>
          </a:bodyPr>
          <a:lstStyle/>
          <a:p>
            <a:r>
              <a:rPr lang="en-GB" sz="1200" i="1" dirty="0"/>
              <a:t>Platforms etc.</a:t>
            </a:r>
          </a:p>
        </p:txBody>
      </p:sp>
      <p:sp>
        <p:nvSpPr>
          <p:cNvPr id="25" name="TextBox 24">
            <a:extLst>
              <a:ext uri="{FF2B5EF4-FFF2-40B4-BE49-F238E27FC236}">
                <a16:creationId xmlns:a16="http://schemas.microsoft.com/office/drawing/2014/main" id="{C5F981DF-4322-CD06-F1E7-E980EAC1068A}"/>
              </a:ext>
            </a:extLst>
          </p:cNvPr>
          <p:cNvSpPr txBox="1"/>
          <p:nvPr/>
        </p:nvSpPr>
        <p:spPr>
          <a:xfrm>
            <a:off x="6854496" y="5178230"/>
            <a:ext cx="1737028" cy="461665"/>
          </a:xfrm>
          <a:prstGeom prst="rect">
            <a:avLst/>
          </a:prstGeom>
          <a:noFill/>
        </p:spPr>
        <p:txBody>
          <a:bodyPr wrap="square" rtlCol="0">
            <a:spAutoFit/>
          </a:bodyPr>
          <a:lstStyle/>
          <a:p>
            <a:r>
              <a:rPr lang="en-GB" sz="1200" i="1" dirty="0"/>
              <a:t>Basic terrain / world model</a:t>
            </a:r>
          </a:p>
        </p:txBody>
      </p:sp>
      <p:sp>
        <p:nvSpPr>
          <p:cNvPr id="26" name="TextBox 25">
            <a:extLst>
              <a:ext uri="{FF2B5EF4-FFF2-40B4-BE49-F238E27FC236}">
                <a16:creationId xmlns:a16="http://schemas.microsoft.com/office/drawing/2014/main" id="{088CE130-0CD1-4282-71F5-8D54434CF690}"/>
              </a:ext>
            </a:extLst>
          </p:cNvPr>
          <p:cNvSpPr txBox="1"/>
          <p:nvPr/>
        </p:nvSpPr>
        <p:spPr>
          <a:xfrm>
            <a:off x="6854496" y="5694329"/>
            <a:ext cx="1897380" cy="646331"/>
          </a:xfrm>
          <a:prstGeom prst="rect">
            <a:avLst/>
          </a:prstGeom>
          <a:noFill/>
        </p:spPr>
        <p:txBody>
          <a:bodyPr wrap="square" rtlCol="0">
            <a:spAutoFit/>
          </a:bodyPr>
          <a:lstStyle/>
          <a:p>
            <a:r>
              <a:rPr lang="en-GB" sz="1200" i="1" dirty="0"/>
              <a:t>Initial rendering pipeline / shaders (e.g. Deferred renderer)</a:t>
            </a:r>
          </a:p>
        </p:txBody>
      </p:sp>
      <p:sp>
        <p:nvSpPr>
          <p:cNvPr id="34" name="Rectangle 33">
            <a:extLst>
              <a:ext uri="{FF2B5EF4-FFF2-40B4-BE49-F238E27FC236}">
                <a16:creationId xmlns:a16="http://schemas.microsoft.com/office/drawing/2014/main" id="{F847D468-6E41-A535-63A0-ED63403E2516}"/>
              </a:ext>
            </a:extLst>
          </p:cNvPr>
          <p:cNvSpPr/>
          <p:nvPr/>
        </p:nvSpPr>
        <p:spPr>
          <a:xfrm>
            <a:off x="5820871" y="2745159"/>
            <a:ext cx="457200" cy="3281793"/>
          </a:xfrm>
          <a:prstGeom prst="rect">
            <a:avLst/>
          </a:prstGeom>
          <a:noFill/>
          <a:ln w="476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5" name="TextBox 34">
            <a:extLst>
              <a:ext uri="{FF2B5EF4-FFF2-40B4-BE49-F238E27FC236}">
                <a16:creationId xmlns:a16="http://schemas.microsoft.com/office/drawing/2014/main" id="{1FA23081-381D-A514-F65E-D754B0089328}"/>
              </a:ext>
            </a:extLst>
          </p:cNvPr>
          <p:cNvSpPr txBox="1"/>
          <p:nvPr/>
        </p:nvSpPr>
        <p:spPr>
          <a:xfrm>
            <a:off x="5175250" y="6235506"/>
            <a:ext cx="1556260" cy="369332"/>
          </a:xfrm>
          <a:prstGeom prst="rect">
            <a:avLst/>
          </a:prstGeom>
          <a:noFill/>
        </p:spPr>
        <p:txBody>
          <a:bodyPr wrap="none" rtlCol="0">
            <a:spAutoFit/>
          </a:bodyPr>
          <a:lstStyle/>
          <a:p>
            <a:r>
              <a:rPr lang="en-GB" dirty="0"/>
              <a:t>“Vertical Slice”</a:t>
            </a:r>
          </a:p>
        </p:txBody>
      </p:sp>
      <p:sp>
        <p:nvSpPr>
          <p:cNvPr id="36" name="Rectangle 35">
            <a:extLst>
              <a:ext uri="{FF2B5EF4-FFF2-40B4-BE49-F238E27FC236}">
                <a16:creationId xmlns:a16="http://schemas.microsoft.com/office/drawing/2014/main" id="{0615DC89-D81F-5B6B-65FC-C5F8DBF2264D}"/>
              </a:ext>
            </a:extLst>
          </p:cNvPr>
          <p:cNvSpPr/>
          <p:nvPr/>
        </p:nvSpPr>
        <p:spPr>
          <a:xfrm>
            <a:off x="8735700" y="2315294"/>
            <a:ext cx="3370907" cy="3970318"/>
          </a:xfrm>
          <a:prstGeom prst="rect">
            <a:avLst/>
          </a:prstGeom>
        </p:spPr>
        <p:txBody>
          <a:bodyPr wrap="square">
            <a:spAutoFit/>
          </a:bodyPr>
          <a:lstStyle/>
          <a:p>
            <a:r>
              <a:rPr lang="en-GB" b="1" dirty="0"/>
              <a:t>Choosing which components to implement early on is about mitigating risk.  For example, the most complex part of the AI system may be the pathfinding algorithm.  So the early sprints will have NPCs moving around but may only be shown as basic cubes or capsules.  Once the key tech is in, later sprints can address lower-risk elements.</a:t>
            </a:r>
          </a:p>
        </p:txBody>
      </p:sp>
      <p:sp>
        <p:nvSpPr>
          <p:cNvPr id="37" name="TextBox 36">
            <a:extLst>
              <a:ext uri="{FF2B5EF4-FFF2-40B4-BE49-F238E27FC236}">
                <a16:creationId xmlns:a16="http://schemas.microsoft.com/office/drawing/2014/main" id="{D2CC5E05-4F04-571B-09E3-BEF8F9F47B41}"/>
              </a:ext>
            </a:extLst>
          </p:cNvPr>
          <p:cNvSpPr txBox="1"/>
          <p:nvPr/>
        </p:nvSpPr>
        <p:spPr>
          <a:xfrm>
            <a:off x="6602160" y="2022060"/>
            <a:ext cx="1750613" cy="369332"/>
          </a:xfrm>
          <a:prstGeom prst="rect">
            <a:avLst/>
          </a:prstGeom>
          <a:noFill/>
        </p:spPr>
        <p:txBody>
          <a:bodyPr wrap="square" rtlCol="0">
            <a:spAutoFit/>
          </a:bodyPr>
          <a:lstStyle/>
          <a:p>
            <a:r>
              <a:rPr lang="en-GB" dirty="0">
                <a:solidFill>
                  <a:schemeClr val="accent3">
                    <a:lumMod val="60000"/>
                    <a:lumOff val="40000"/>
                  </a:schemeClr>
                </a:solidFill>
              </a:rPr>
              <a:t>Sprint Backlog</a:t>
            </a:r>
          </a:p>
        </p:txBody>
      </p:sp>
      <p:sp>
        <p:nvSpPr>
          <p:cNvPr id="38" name="Arrow: Right 37">
            <a:extLst>
              <a:ext uri="{FF2B5EF4-FFF2-40B4-BE49-F238E27FC236}">
                <a16:creationId xmlns:a16="http://schemas.microsoft.com/office/drawing/2014/main" id="{EAE5F881-9615-87F9-719F-81219DCEE96F}"/>
              </a:ext>
            </a:extLst>
          </p:cNvPr>
          <p:cNvSpPr/>
          <p:nvPr/>
        </p:nvSpPr>
        <p:spPr>
          <a:xfrm rot="5400000">
            <a:off x="7176052" y="2428756"/>
            <a:ext cx="304800" cy="309271"/>
          </a:xfrm>
          <a:prstGeom prst="rightArrow">
            <a:avLst/>
          </a:prstGeom>
          <a:solidFill>
            <a:srgbClr val="0070C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7" name="Straight Arrow Connector 26">
            <a:extLst>
              <a:ext uri="{FF2B5EF4-FFF2-40B4-BE49-F238E27FC236}">
                <a16:creationId xmlns:a16="http://schemas.microsoft.com/office/drawing/2014/main" id="{4DAF89D0-7526-EE28-0D68-9911E80356B0}"/>
              </a:ext>
            </a:extLst>
          </p:cNvPr>
          <p:cNvCxnSpPr>
            <a:cxnSpLocks/>
            <a:stCxn id="20" idx="1"/>
            <a:endCxn id="13" idx="3"/>
          </p:cNvCxnSpPr>
          <p:nvPr/>
        </p:nvCxnSpPr>
        <p:spPr>
          <a:xfrm flipH="1" flipV="1">
            <a:off x="6278071" y="2969409"/>
            <a:ext cx="576425" cy="54248"/>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519DB909-27ED-0DC1-7590-C2B263812405}"/>
              </a:ext>
            </a:extLst>
          </p:cNvPr>
          <p:cNvCxnSpPr>
            <a:stCxn id="21" idx="1"/>
            <a:endCxn id="14" idx="3"/>
          </p:cNvCxnSpPr>
          <p:nvPr/>
        </p:nvCxnSpPr>
        <p:spPr>
          <a:xfrm flipH="1" flipV="1">
            <a:off x="6278071" y="3440189"/>
            <a:ext cx="576425" cy="7597"/>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6737AF0-E02E-1DC0-16A5-BF4741C8AB7B}"/>
              </a:ext>
            </a:extLst>
          </p:cNvPr>
          <p:cNvCxnSpPr>
            <a:stCxn id="22" idx="1"/>
            <a:endCxn id="15" idx="3"/>
          </p:cNvCxnSpPr>
          <p:nvPr/>
        </p:nvCxnSpPr>
        <p:spPr>
          <a:xfrm flipH="1" flipV="1">
            <a:off x="6278071" y="3907423"/>
            <a:ext cx="576425" cy="7599"/>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A37653F-B62D-BFD2-810A-0DA30DCB30A3}"/>
              </a:ext>
            </a:extLst>
          </p:cNvPr>
          <p:cNvCxnSpPr>
            <a:stCxn id="23" idx="1"/>
            <a:endCxn id="16" idx="3"/>
          </p:cNvCxnSpPr>
          <p:nvPr/>
        </p:nvCxnSpPr>
        <p:spPr>
          <a:xfrm flipH="1">
            <a:off x="6278071" y="4348644"/>
            <a:ext cx="576425" cy="22473"/>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EB410FF-964E-6FCC-8046-638D115D4431}"/>
              </a:ext>
            </a:extLst>
          </p:cNvPr>
          <p:cNvCxnSpPr>
            <a:stCxn id="24" idx="1"/>
            <a:endCxn id="17" idx="3"/>
          </p:cNvCxnSpPr>
          <p:nvPr/>
        </p:nvCxnSpPr>
        <p:spPr>
          <a:xfrm flipH="1" flipV="1">
            <a:off x="6278071" y="4836581"/>
            <a:ext cx="576425" cy="9367"/>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50734A42-6DFC-C1D7-C454-62BB13304845}"/>
              </a:ext>
            </a:extLst>
          </p:cNvPr>
          <p:cNvCxnSpPr>
            <a:cxnSpLocks/>
            <a:stCxn id="25" idx="1"/>
            <a:endCxn id="18" idx="3"/>
          </p:cNvCxnSpPr>
          <p:nvPr/>
        </p:nvCxnSpPr>
        <p:spPr>
          <a:xfrm flipH="1" flipV="1">
            <a:off x="6278071" y="5307364"/>
            <a:ext cx="576425" cy="101699"/>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A190B415-A912-3DB8-ECAC-349B6638E45A}"/>
              </a:ext>
            </a:extLst>
          </p:cNvPr>
          <p:cNvCxnSpPr>
            <a:cxnSpLocks/>
            <a:stCxn id="26" idx="1"/>
            <a:endCxn id="19" idx="3"/>
          </p:cNvCxnSpPr>
          <p:nvPr/>
        </p:nvCxnSpPr>
        <p:spPr>
          <a:xfrm flipH="1" flipV="1">
            <a:off x="6278071" y="5774601"/>
            <a:ext cx="576425" cy="242894"/>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107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7"/>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38"/>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P spid="9" grpId="0" animBg="1"/>
      <p:bldP spid="10" grpId="0" animBg="1"/>
      <p:bldP spid="11" grpId="0" animBg="1"/>
      <p:bldP spid="12" grpId="0"/>
      <p:bldP spid="13" grpId="0" animBg="1"/>
      <p:bldP spid="14" grpId="0" animBg="1"/>
      <p:bldP spid="15" grpId="0" animBg="1"/>
      <p:bldP spid="16" grpId="0" animBg="1"/>
      <p:bldP spid="17" grpId="0" animBg="1"/>
      <p:bldP spid="18" grpId="0" animBg="1"/>
      <p:bldP spid="19" grpId="0" animBg="1"/>
      <p:bldP spid="20" grpId="0"/>
      <p:bldP spid="21" grpId="0"/>
      <p:bldP spid="22" grpId="0"/>
      <p:bldP spid="23" grpId="0"/>
      <p:bldP spid="24" grpId="0"/>
      <p:bldP spid="25" grpId="0"/>
      <p:bldP spid="26" grpId="0"/>
      <p:bldP spid="34" grpId="0" animBg="1"/>
      <p:bldP spid="35" grpId="0"/>
      <p:bldP spid="36" grpId="0"/>
      <p:bldP spid="37" grpId="0"/>
      <p:bldP spid="3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87849D-42CF-AA6E-F818-83AC3F4D2E58}"/>
              </a:ext>
            </a:extLst>
          </p:cNvPr>
          <p:cNvSpPr txBox="1"/>
          <p:nvPr/>
        </p:nvSpPr>
        <p:spPr>
          <a:xfrm>
            <a:off x="1347205" y="952498"/>
            <a:ext cx="9509760" cy="369332"/>
          </a:xfrm>
          <a:prstGeom prst="rect">
            <a:avLst/>
          </a:prstGeom>
          <a:noFill/>
        </p:spPr>
        <p:txBody>
          <a:bodyPr wrap="square" rtlCol="0">
            <a:spAutoFit/>
          </a:bodyPr>
          <a:lstStyle/>
          <a:p>
            <a:r>
              <a:rPr lang="en-GB" dirty="0"/>
              <a:t>• </a:t>
            </a:r>
            <a:r>
              <a:rPr lang="en-GB" b="1" dirty="0"/>
              <a:t>Who’s Who in a Scrum Project…</a:t>
            </a:r>
          </a:p>
        </p:txBody>
      </p:sp>
      <p:sp>
        <p:nvSpPr>
          <p:cNvPr id="3" name="TextBox 2">
            <a:extLst>
              <a:ext uri="{FF2B5EF4-FFF2-40B4-BE49-F238E27FC236}">
                <a16:creationId xmlns:a16="http://schemas.microsoft.com/office/drawing/2014/main" id="{C138C7E0-29BD-67F8-2937-6AE51E3C154C}"/>
              </a:ext>
            </a:extLst>
          </p:cNvPr>
          <p:cNvSpPr txBox="1"/>
          <p:nvPr/>
        </p:nvSpPr>
        <p:spPr>
          <a:xfrm>
            <a:off x="2040320" y="315095"/>
            <a:ext cx="8123531" cy="584775"/>
          </a:xfrm>
          <a:prstGeom prst="rect">
            <a:avLst/>
          </a:prstGeom>
          <a:noFill/>
        </p:spPr>
        <p:txBody>
          <a:bodyPr wrap="square" rtlCol="0">
            <a:spAutoFit/>
          </a:bodyPr>
          <a:lstStyle/>
          <a:p>
            <a:pPr algn="ctr"/>
            <a:r>
              <a:rPr lang="en-GB" sz="3200" b="1" dirty="0">
                <a:solidFill>
                  <a:schemeClr val="accent3">
                    <a:lumMod val="60000"/>
                    <a:lumOff val="40000"/>
                  </a:schemeClr>
                </a:solidFill>
              </a:rPr>
              <a:t>Development Methodologies – Agile</a:t>
            </a:r>
          </a:p>
        </p:txBody>
      </p:sp>
      <p:pic>
        <p:nvPicPr>
          <p:cNvPr id="4" name="Picture 3">
            <a:extLst>
              <a:ext uri="{FF2B5EF4-FFF2-40B4-BE49-F238E27FC236}">
                <a16:creationId xmlns:a16="http://schemas.microsoft.com/office/drawing/2014/main" id="{F003808B-B845-1615-61C7-A4C8F68494C7}"/>
              </a:ext>
            </a:extLst>
          </p:cNvPr>
          <p:cNvPicPr>
            <a:picLocks noChangeAspect="1"/>
          </p:cNvPicPr>
          <p:nvPr/>
        </p:nvPicPr>
        <p:blipFill>
          <a:blip r:embed="rId2"/>
          <a:stretch>
            <a:fillRect/>
          </a:stretch>
        </p:blipFill>
        <p:spPr>
          <a:xfrm>
            <a:off x="420148" y="3012691"/>
            <a:ext cx="397597" cy="650324"/>
          </a:xfrm>
          <a:prstGeom prst="rect">
            <a:avLst/>
          </a:prstGeom>
        </p:spPr>
      </p:pic>
      <p:sp>
        <p:nvSpPr>
          <p:cNvPr id="5" name="TextBox 4">
            <a:extLst>
              <a:ext uri="{FF2B5EF4-FFF2-40B4-BE49-F238E27FC236}">
                <a16:creationId xmlns:a16="http://schemas.microsoft.com/office/drawing/2014/main" id="{5A8A8F0E-04FA-AC79-84E1-BF064AF61687}"/>
              </a:ext>
            </a:extLst>
          </p:cNvPr>
          <p:cNvSpPr txBox="1"/>
          <p:nvPr/>
        </p:nvSpPr>
        <p:spPr>
          <a:xfrm>
            <a:off x="1166704" y="4557935"/>
            <a:ext cx="1252106" cy="276999"/>
          </a:xfrm>
          <a:prstGeom prst="rect">
            <a:avLst/>
          </a:prstGeom>
          <a:noFill/>
          <a:ln>
            <a:solidFill>
              <a:srgbClr val="00B0F0"/>
            </a:solidFill>
          </a:ln>
        </p:spPr>
        <p:txBody>
          <a:bodyPr wrap="square" rtlCol="0">
            <a:spAutoFit/>
          </a:bodyPr>
          <a:lstStyle/>
          <a:p>
            <a:r>
              <a:rPr lang="en-GB" sz="1200" dirty="0"/>
              <a:t>Player Jump</a:t>
            </a:r>
          </a:p>
        </p:txBody>
      </p:sp>
      <p:sp>
        <p:nvSpPr>
          <p:cNvPr id="6" name="TextBox 5">
            <a:extLst>
              <a:ext uri="{FF2B5EF4-FFF2-40B4-BE49-F238E27FC236}">
                <a16:creationId xmlns:a16="http://schemas.microsoft.com/office/drawing/2014/main" id="{0C87943B-B696-A75C-F849-829392E9F079}"/>
              </a:ext>
            </a:extLst>
          </p:cNvPr>
          <p:cNvSpPr txBox="1"/>
          <p:nvPr/>
        </p:nvSpPr>
        <p:spPr>
          <a:xfrm>
            <a:off x="1183223" y="4873832"/>
            <a:ext cx="1235587" cy="276999"/>
          </a:xfrm>
          <a:prstGeom prst="rect">
            <a:avLst/>
          </a:prstGeom>
          <a:noFill/>
          <a:ln>
            <a:solidFill>
              <a:srgbClr val="00B0F0"/>
            </a:solidFill>
          </a:ln>
        </p:spPr>
        <p:txBody>
          <a:bodyPr wrap="square" rtlCol="0">
            <a:spAutoFit/>
          </a:bodyPr>
          <a:lstStyle/>
          <a:p>
            <a:r>
              <a:rPr lang="en-GB" sz="1200" dirty="0"/>
              <a:t>Player attack</a:t>
            </a:r>
          </a:p>
        </p:txBody>
      </p:sp>
      <p:sp>
        <p:nvSpPr>
          <p:cNvPr id="7" name="TextBox 6">
            <a:extLst>
              <a:ext uri="{FF2B5EF4-FFF2-40B4-BE49-F238E27FC236}">
                <a16:creationId xmlns:a16="http://schemas.microsoft.com/office/drawing/2014/main" id="{30D81E48-D1C6-5E0A-D385-B714AD5EB9DC}"/>
              </a:ext>
            </a:extLst>
          </p:cNvPr>
          <p:cNvSpPr txBox="1"/>
          <p:nvPr/>
        </p:nvSpPr>
        <p:spPr>
          <a:xfrm>
            <a:off x="1183224" y="5195086"/>
            <a:ext cx="1235586" cy="276999"/>
          </a:xfrm>
          <a:prstGeom prst="rect">
            <a:avLst/>
          </a:prstGeom>
          <a:noFill/>
          <a:ln>
            <a:solidFill>
              <a:srgbClr val="00B0F0"/>
            </a:solidFill>
          </a:ln>
        </p:spPr>
        <p:txBody>
          <a:bodyPr wrap="square" rtlCol="0">
            <a:spAutoFit/>
          </a:bodyPr>
          <a:lstStyle/>
          <a:p>
            <a:r>
              <a:rPr lang="en-GB" sz="1200" dirty="0"/>
              <a:t>Player Stealth</a:t>
            </a:r>
          </a:p>
        </p:txBody>
      </p:sp>
      <p:sp>
        <p:nvSpPr>
          <p:cNvPr id="8" name="TextBox 7">
            <a:extLst>
              <a:ext uri="{FF2B5EF4-FFF2-40B4-BE49-F238E27FC236}">
                <a16:creationId xmlns:a16="http://schemas.microsoft.com/office/drawing/2014/main" id="{770D5FB0-E74A-8A5F-B945-C4AE319CAF66}"/>
              </a:ext>
            </a:extLst>
          </p:cNvPr>
          <p:cNvSpPr txBox="1"/>
          <p:nvPr/>
        </p:nvSpPr>
        <p:spPr>
          <a:xfrm>
            <a:off x="1186577" y="5516340"/>
            <a:ext cx="1232233" cy="461665"/>
          </a:xfrm>
          <a:prstGeom prst="rect">
            <a:avLst/>
          </a:prstGeom>
          <a:noFill/>
          <a:ln>
            <a:solidFill>
              <a:srgbClr val="00B0F0"/>
            </a:solidFill>
          </a:ln>
        </p:spPr>
        <p:txBody>
          <a:bodyPr wrap="square" rtlCol="0">
            <a:spAutoFit/>
          </a:bodyPr>
          <a:lstStyle/>
          <a:p>
            <a:r>
              <a:rPr lang="en-GB" sz="1200" dirty="0"/>
              <a:t>NPC behaviour</a:t>
            </a:r>
          </a:p>
        </p:txBody>
      </p:sp>
      <p:sp>
        <p:nvSpPr>
          <p:cNvPr id="9" name="TextBox 8">
            <a:extLst>
              <a:ext uri="{FF2B5EF4-FFF2-40B4-BE49-F238E27FC236}">
                <a16:creationId xmlns:a16="http://schemas.microsoft.com/office/drawing/2014/main" id="{29877313-B196-C7AA-E55D-4C57F19464A7}"/>
              </a:ext>
            </a:extLst>
          </p:cNvPr>
          <p:cNvSpPr txBox="1"/>
          <p:nvPr/>
        </p:nvSpPr>
        <p:spPr>
          <a:xfrm>
            <a:off x="88033" y="4882984"/>
            <a:ext cx="1078671" cy="584775"/>
          </a:xfrm>
          <a:prstGeom prst="rect">
            <a:avLst/>
          </a:prstGeom>
          <a:noFill/>
        </p:spPr>
        <p:txBody>
          <a:bodyPr wrap="square" rtlCol="0">
            <a:spAutoFit/>
          </a:bodyPr>
          <a:lstStyle/>
          <a:p>
            <a:r>
              <a:rPr lang="en-GB" sz="1600" b="1" dirty="0">
                <a:solidFill>
                  <a:schemeClr val="accent3">
                    <a:lumMod val="60000"/>
                    <a:lumOff val="40000"/>
                  </a:schemeClr>
                </a:solidFill>
              </a:rPr>
              <a:t>Product Backlog</a:t>
            </a:r>
          </a:p>
        </p:txBody>
      </p:sp>
      <p:sp>
        <p:nvSpPr>
          <p:cNvPr id="10" name="TextBox 9">
            <a:extLst>
              <a:ext uri="{FF2B5EF4-FFF2-40B4-BE49-F238E27FC236}">
                <a16:creationId xmlns:a16="http://schemas.microsoft.com/office/drawing/2014/main" id="{37E5D398-3684-AF9B-C844-EADC918AA006}"/>
              </a:ext>
            </a:extLst>
          </p:cNvPr>
          <p:cNvSpPr txBox="1"/>
          <p:nvPr/>
        </p:nvSpPr>
        <p:spPr>
          <a:xfrm>
            <a:off x="3685013" y="5165959"/>
            <a:ext cx="1317360" cy="307777"/>
          </a:xfrm>
          <a:prstGeom prst="rect">
            <a:avLst/>
          </a:prstGeom>
          <a:noFill/>
          <a:ln>
            <a:solidFill>
              <a:srgbClr val="00B0F0"/>
            </a:solidFill>
          </a:ln>
        </p:spPr>
        <p:txBody>
          <a:bodyPr wrap="square" rtlCol="0">
            <a:spAutoFit/>
          </a:bodyPr>
          <a:lstStyle/>
          <a:p>
            <a:r>
              <a:rPr lang="en-GB" sz="1400" dirty="0"/>
              <a:t>Animation</a:t>
            </a:r>
            <a:endParaRPr lang="en-GB" dirty="0"/>
          </a:p>
        </p:txBody>
      </p:sp>
      <p:sp>
        <p:nvSpPr>
          <p:cNvPr id="11" name="TextBox 10">
            <a:extLst>
              <a:ext uri="{FF2B5EF4-FFF2-40B4-BE49-F238E27FC236}">
                <a16:creationId xmlns:a16="http://schemas.microsoft.com/office/drawing/2014/main" id="{94611F43-ED7A-3B5E-6748-A5C700613FCC}"/>
              </a:ext>
            </a:extLst>
          </p:cNvPr>
          <p:cNvSpPr txBox="1"/>
          <p:nvPr/>
        </p:nvSpPr>
        <p:spPr>
          <a:xfrm>
            <a:off x="3685013" y="4801438"/>
            <a:ext cx="1317360" cy="307777"/>
          </a:xfrm>
          <a:prstGeom prst="rect">
            <a:avLst/>
          </a:prstGeom>
          <a:noFill/>
          <a:ln>
            <a:solidFill>
              <a:srgbClr val="00B0F0"/>
            </a:solidFill>
          </a:ln>
        </p:spPr>
        <p:txBody>
          <a:bodyPr wrap="square" rtlCol="0">
            <a:spAutoFit/>
          </a:bodyPr>
          <a:lstStyle/>
          <a:p>
            <a:r>
              <a:rPr lang="en-GB" sz="1400" dirty="0"/>
              <a:t>Player input</a:t>
            </a:r>
          </a:p>
        </p:txBody>
      </p:sp>
      <p:sp>
        <p:nvSpPr>
          <p:cNvPr id="12" name="TextBox 11">
            <a:extLst>
              <a:ext uri="{FF2B5EF4-FFF2-40B4-BE49-F238E27FC236}">
                <a16:creationId xmlns:a16="http://schemas.microsoft.com/office/drawing/2014/main" id="{DD8B3619-C339-7674-A350-728154F8F7D3}"/>
              </a:ext>
            </a:extLst>
          </p:cNvPr>
          <p:cNvSpPr txBox="1"/>
          <p:nvPr/>
        </p:nvSpPr>
        <p:spPr>
          <a:xfrm>
            <a:off x="3680052" y="4446588"/>
            <a:ext cx="1316139" cy="307777"/>
          </a:xfrm>
          <a:prstGeom prst="rect">
            <a:avLst/>
          </a:prstGeom>
          <a:noFill/>
          <a:ln>
            <a:solidFill>
              <a:srgbClr val="00B0F0"/>
            </a:solidFill>
          </a:ln>
        </p:spPr>
        <p:txBody>
          <a:bodyPr wrap="square" rtlCol="0">
            <a:spAutoFit/>
          </a:bodyPr>
          <a:lstStyle/>
          <a:p>
            <a:r>
              <a:rPr lang="en-GB" sz="1400" dirty="0"/>
              <a:t>Animation</a:t>
            </a:r>
            <a:endParaRPr lang="en-GB" dirty="0"/>
          </a:p>
        </p:txBody>
      </p:sp>
      <p:sp>
        <p:nvSpPr>
          <p:cNvPr id="13" name="TextBox 12">
            <a:extLst>
              <a:ext uri="{FF2B5EF4-FFF2-40B4-BE49-F238E27FC236}">
                <a16:creationId xmlns:a16="http://schemas.microsoft.com/office/drawing/2014/main" id="{6D45BDCF-CF99-8B1C-A761-4329E7B6C4B0}"/>
              </a:ext>
            </a:extLst>
          </p:cNvPr>
          <p:cNvSpPr txBox="1"/>
          <p:nvPr/>
        </p:nvSpPr>
        <p:spPr>
          <a:xfrm>
            <a:off x="3685013" y="5530480"/>
            <a:ext cx="1317360" cy="307777"/>
          </a:xfrm>
          <a:prstGeom prst="rect">
            <a:avLst/>
          </a:prstGeom>
          <a:noFill/>
          <a:ln>
            <a:solidFill>
              <a:srgbClr val="00B0F0"/>
            </a:solidFill>
          </a:ln>
        </p:spPr>
        <p:txBody>
          <a:bodyPr wrap="square" rtlCol="0">
            <a:spAutoFit/>
          </a:bodyPr>
          <a:lstStyle/>
          <a:p>
            <a:r>
              <a:rPr lang="en-GB" sz="1400" dirty="0"/>
              <a:t>Physics</a:t>
            </a:r>
            <a:endParaRPr lang="en-GB" dirty="0"/>
          </a:p>
        </p:txBody>
      </p:sp>
      <p:sp>
        <p:nvSpPr>
          <p:cNvPr id="14" name="Rectangle 13">
            <a:extLst>
              <a:ext uri="{FF2B5EF4-FFF2-40B4-BE49-F238E27FC236}">
                <a16:creationId xmlns:a16="http://schemas.microsoft.com/office/drawing/2014/main" id="{A174E91C-888F-B38F-20D3-FEAC3AF4E554}"/>
              </a:ext>
            </a:extLst>
          </p:cNvPr>
          <p:cNvSpPr/>
          <p:nvPr/>
        </p:nvSpPr>
        <p:spPr>
          <a:xfrm>
            <a:off x="3676158" y="5907182"/>
            <a:ext cx="1316138" cy="144163"/>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28A74CD9-F7CA-FFF4-A4B6-BDEA02D0AD4B}"/>
              </a:ext>
            </a:extLst>
          </p:cNvPr>
          <p:cNvSpPr/>
          <p:nvPr/>
        </p:nvSpPr>
        <p:spPr>
          <a:xfrm>
            <a:off x="3676158" y="6099626"/>
            <a:ext cx="1316138" cy="144163"/>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B8ACE3DE-383E-B77B-8E9E-A69396EA1E30}"/>
              </a:ext>
            </a:extLst>
          </p:cNvPr>
          <p:cNvSpPr/>
          <p:nvPr/>
        </p:nvSpPr>
        <p:spPr>
          <a:xfrm>
            <a:off x="3680053" y="6290601"/>
            <a:ext cx="1316138" cy="144163"/>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D65201E1-4F73-D250-BD4F-2DDF5C456BE5}"/>
              </a:ext>
            </a:extLst>
          </p:cNvPr>
          <p:cNvSpPr txBox="1"/>
          <p:nvPr/>
        </p:nvSpPr>
        <p:spPr>
          <a:xfrm>
            <a:off x="3627438" y="4090530"/>
            <a:ext cx="1462183" cy="307777"/>
          </a:xfrm>
          <a:prstGeom prst="rect">
            <a:avLst/>
          </a:prstGeom>
          <a:noFill/>
        </p:spPr>
        <p:txBody>
          <a:bodyPr wrap="square" rtlCol="0">
            <a:spAutoFit/>
          </a:bodyPr>
          <a:lstStyle/>
          <a:p>
            <a:r>
              <a:rPr lang="en-GB" sz="1400" b="1" dirty="0">
                <a:solidFill>
                  <a:schemeClr val="accent3">
                    <a:lumMod val="60000"/>
                    <a:lumOff val="40000"/>
                  </a:schemeClr>
                </a:solidFill>
              </a:rPr>
              <a:t>Sprint Backlog</a:t>
            </a:r>
          </a:p>
        </p:txBody>
      </p:sp>
      <p:sp>
        <p:nvSpPr>
          <p:cNvPr id="18" name="Arrow: Right 17">
            <a:extLst>
              <a:ext uri="{FF2B5EF4-FFF2-40B4-BE49-F238E27FC236}">
                <a16:creationId xmlns:a16="http://schemas.microsoft.com/office/drawing/2014/main" id="{AAD9DBF1-8026-74CD-1D13-FBCD874C0388}"/>
              </a:ext>
            </a:extLst>
          </p:cNvPr>
          <p:cNvSpPr/>
          <p:nvPr/>
        </p:nvSpPr>
        <p:spPr>
          <a:xfrm>
            <a:off x="5057823" y="4815879"/>
            <a:ext cx="3367644" cy="417426"/>
          </a:xfrm>
          <a:prstGeom prst="rightArrow">
            <a:avLst>
              <a:gd name="adj1" fmla="val 27787"/>
              <a:gd name="adj2" fmla="val 133299"/>
            </a:avLst>
          </a:prstGeom>
          <a:solidFill>
            <a:srgbClr val="0070C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Arrow: Bent 18">
            <a:extLst>
              <a:ext uri="{FF2B5EF4-FFF2-40B4-BE49-F238E27FC236}">
                <a16:creationId xmlns:a16="http://schemas.microsoft.com/office/drawing/2014/main" id="{F451DCDF-F86E-257D-AF84-21DE4FBDE630}"/>
              </a:ext>
            </a:extLst>
          </p:cNvPr>
          <p:cNvSpPr/>
          <p:nvPr/>
        </p:nvSpPr>
        <p:spPr>
          <a:xfrm rot="12781965" flipH="1">
            <a:off x="5772746" y="4258899"/>
            <a:ext cx="657872" cy="602427"/>
          </a:xfrm>
          <a:prstGeom prst="bentArrow">
            <a:avLst>
              <a:gd name="adj1" fmla="val 18302"/>
              <a:gd name="adj2" fmla="val 30089"/>
              <a:gd name="adj3" fmla="val 25000"/>
              <a:gd name="adj4" fmla="val 77175"/>
            </a:avLst>
          </a:prstGeom>
          <a:solidFill>
            <a:srgbClr val="0070C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0" name="Arrow: Bent 19">
            <a:extLst>
              <a:ext uri="{FF2B5EF4-FFF2-40B4-BE49-F238E27FC236}">
                <a16:creationId xmlns:a16="http://schemas.microsoft.com/office/drawing/2014/main" id="{F6DF084E-9BDE-CD2F-4EBC-9FE62A0A1051}"/>
              </a:ext>
            </a:extLst>
          </p:cNvPr>
          <p:cNvSpPr/>
          <p:nvPr/>
        </p:nvSpPr>
        <p:spPr>
          <a:xfrm rot="19440732" flipH="1">
            <a:off x="6198073" y="3511872"/>
            <a:ext cx="781505" cy="671369"/>
          </a:xfrm>
          <a:prstGeom prst="bentArrow">
            <a:avLst>
              <a:gd name="adj1" fmla="val 16281"/>
              <a:gd name="adj2" fmla="val 30089"/>
              <a:gd name="adj3" fmla="val 25000"/>
              <a:gd name="adj4" fmla="val 79062"/>
            </a:avLst>
          </a:prstGeom>
          <a:solidFill>
            <a:srgbClr val="0070C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1" name="Arrow: Bent 20">
            <a:extLst>
              <a:ext uri="{FF2B5EF4-FFF2-40B4-BE49-F238E27FC236}">
                <a16:creationId xmlns:a16="http://schemas.microsoft.com/office/drawing/2014/main" id="{032F1C62-161D-489A-190D-EF4C8201F871}"/>
              </a:ext>
            </a:extLst>
          </p:cNvPr>
          <p:cNvSpPr/>
          <p:nvPr/>
        </p:nvSpPr>
        <p:spPr>
          <a:xfrm rot="4121546" flipH="1">
            <a:off x="6870785" y="4147919"/>
            <a:ext cx="657872" cy="602427"/>
          </a:xfrm>
          <a:prstGeom prst="bentArrow">
            <a:avLst>
              <a:gd name="adj1" fmla="val 18302"/>
              <a:gd name="adj2" fmla="val 30089"/>
              <a:gd name="adj3" fmla="val 25000"/>
              <a:gd name="adj4" fmla="val 79062"/>
            </a:avLst>
          </a:prstGeom>
          <a:solidFill>
            <a:srgbClr val="0070C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2" name="TextBox 21">
            <a:extLst>
              <a:ext uri="{FF2B5EF4-FFF2-40B4-BE49-F238E27FC236}">
                <a16:creationId xmlns:a16="http://schemas.microsoft.com/office/drawing/2014/main" id="{65310153-65C4-A18A-18ED-C5D0B09FD558}"/>
              </a:ext>
            </a:extLst>
          </p:cNvPr>
          <p:cNvSpPr txBox="1"/>
          <p:nvPr/>
        </p:nvSpPr>
        <p:spPr>
          <a:xfrm>
            <a:off x="6032011" y="4106720"/>
            <a:ext cx="1167710" cy="584775"/>
          </a:xfrm>
          <a:prstGeom prst="rect">
            <a:avLst/>
          </a:prstGeom>
          <a:noFill/>
        </p:spPr>
        <p:txBody>
          <a:bodyPr wrap="square" rtlCol="0">
            <a:spAutoFit/>
          </a:bodyPr>
          <a:lstStyle/>
          <a:p>
            <a:pPr algn="ctr"/>
            <a:r>
              <a:rPr lang="en-GB" sz="1600" b="1" dirty="0"/>
              <a:t>2-4 week</a:t>
            </a:r>
          </a:p>
          <a:p>
            <a:pPr algn="ctr"/>
            <a:r>
              <a:rPr lang="en-GB" sz="1600" b="1" dirty="0"/>
              <a:t>Sprint</a:t>
            </a:r>
          </a:p>
        </p:txBody>
      </p:sp>
      <p:sp>
        <p:nvSpPr>
          <p:cNvPr id="23" name="TextBox 22">
            <a:extLst>
              <a:ext uri="{FF2B5EF4-FFF2-40B4-BE49-F238E27FC236}">
                <a16:creationId xmlns:a16="http://schemas.microsoft.com/office/drawing/2014/main" id="{2607ABD0-A743-2441-F661-D1DC320B2FB8}"/>
              </a:ext>
            </a:extLst>
          </p:cNvPr>
          <p:cNvSpPr txBox="1"/>
          <p:nvPr/>
        </p:nvSpPr>
        <p:spPr>
          <a:xfrm>
            <a:off x="6051779" y="3294160"/>
            <a:ext cx="1356401" cy="338554"/>
          </a:xfrm>
          <a:prstGeom prst="rect">
            <a:avLst/>
          </a:prstGeom>
          <a:noFill/>
          <a:ln>
            <a:solidFill>
              <a:srgbClr val="00B0F0"/>
            </a:solidFill>
          </a:ln>
        </p:spPr>
        <p:txBody>
          <a:bodyPr wrap="square" rtlCol="0">
            <a:spAutoFit/>
          </a:bodyPr>
          <a:lstStyle/>
          <a:p>
            <a:pPr algn="ctr"/>
            <a:r>
              <a:rPr lang="en-GB" sz="1600" b="1" dirty="0"/>
              <a:t>Daily Scrum</a:t>
            </a:r>
          </a:p>
        </p:txBody>
      </p:sp>
      <p:sp>
        <p:nvSpPr>
          <p:cNvPr id="24" name="Flowchart: Magnetic Disk 23">
            <a:extLst>
              <a:ext uri="{FF2B5EF4-FFF2-40B4-BE49-F238E27FC236}">
                <a16:creationId xmlns:a16="http://schemas.microsoft.com/office/drawing/2014/main" id="{911CA1D9-5768-BEBB-4D1D-4DE8A2831729}"/>
              </a:ext>
            </a:extLst>
          </p:cNvPr>
          <p:cNvSpPr/>
          <p:nvPr/>
        </p:nvSpPr>
        <p:spPr>
          <a:xfrm>
            <a:off x="8614372" y="4476578"/>
            <a:ext cx="706665" cy="737672"/>
          </a:xfrm>
          <a:prstGeom prst="flowChartMagneticDisk">
            <a:avLst/>
          </a:prstGeom>
          <a:solidFill>
            <a:srgbClr val="0070C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98202E8D-00AC-2AAF-47DC-8678A7ADA8FE}"/>
              </a:ext>
            </a:extLst>
          </p:cNvPr>
          <p:cNvSpPr/>
          <p:nvPr/>
        </p:nvSpPr>
        <p:spPr>
          <a:xfrm>
            <a:off x="8256257" y="5279632"/>
            <a:ext cx="1422893" cy="738664"/>
          </a:xfrm>
          <a:prstGeom prst="rect">
            <a:avLst/>
          </a:prstGeom>
        </p:spPr>
        <p:txBody>
          <a:bodyPr wrap="square">
            <a:spAutoFit/>
          </a:bodyPr>
          <a:lstStyle/>
          <a:p>
            <a:pPr algn="ctr"/>
            <a:r>
              <a:rPr lang="en-GB" sz="1400" b="1" dirty="0"/>
              <a:t>Potentially</a:t>
            </a:r>
          </a:p>
          <a:p>
            <a:pPr algn="ctr"/>
            <a:r>
              <a:rPr lang="en-GB" sz="1400" b="1" dirty="0"/>
              <a:t>Shippable</a:t>
            </a:r>
          </a:p>
          <a:p>
            <a:pPr algn="ctr"/>
            <a:r>
              <a:rPr lang="en-GB" sz="1400" dirty="0"/>
              <a:t>Game</a:t>
            </a:r>
          </a:p>
        </p:txBody>
      </p:sp>
      <p:sp>
        <p:nvSpPr>
          <p:cNvPr id="26" name="TextBox 25">
            <a:extLst>
              <a:ext uri="{FF2B5EF4-FFF2-40B4-BE49-F238E27FC236}">
                <a16:creationId xmlns:a16="http://schemas.microsoft.com/office/drawing/2014/main" id="{D7C85E84-B01E-A0DD-8B41-E2181CBC85C3}"/>
              </a:ext>
            </a:extLst>
          </p:cNvPr>
          <p:cNvSpPr txBox="1"/>
          <p:nvPr/>
        </p:nvSpPr>
        <p:spPr>
          <a:xfrm>
            <a:off x="10442272" y="4865860"/>
            <a:ext cx="1559407" cy="584775"/>
          </a:xfrm>
          <a:prstGeom prst="rect">
            <a:avLst/>
          </a:prstGeom>
          <a:noFill/>
          <a:ln>
            <a:solidFill>
              <a:srgbClr val="00B0F0"/>
            </a:solidFill>
          </a:ln>
        </p:spPr>
        <p:txBody>
          <a:bodyPr wrap="square" rtlCol="0">
            <a:spAutoFit/>
          </a:bodyPr>
          <a:lstStyle/>
          <a:p>
            <a:pPr algn="ctr"/>
            <a:r>
              <a:rPr lang="en-GB" sz="1600" b="1" dirty="0"/>
              <a:t>Sprint Retrospective</a:t>
            </a:r>
          </a:p>
        </p:txBody>
      </p:sp>
      <p:sp>
        <p:nvSpPr>
          <p:cNvPr id="27" name="TextBox 26">
            <a:extLst>
              <a:ext uri="{FF2B5EF4-FFF2-40B4-BE49-F238E27FC236}">
                <a16:creationId xmlns:a16="http://schemas.microsoft.com/office/drawing/2014/main" id="{3A2CEFCC-4411-AF38-A75A-D0D7F5C4C894}"/>
              </a:ext>
            </a:extLst>
          </p:cNvPr>
          <p:cNvSpPr txBox="1"/>
          <p:nvPr/>
        </p:nvSpPr>
        <p:spPr>
          <a:xfrm>
            <a:off x="10427773" y="4029914"/>
            <a:ext cx="1573906" cy="584775"/>
          </a:xfrm>
          <a:prstGeom prst="rect">
            <a:avLst/>
          </a:prstGeom>
          <a:noFill/>
          <a:ln>
            <a:solidFill>
              <a:srgbClr val="00B0F0"/>
            </a:solidFill>
          </a:ln>
        </p:spPr>
        <p:txBody>
          <a:bodyPr wrap="square" rtlCol="0">
            <a:spAutoFit/>
          </a:bodyPr>
          <a:lstStyle/>
          <a:p>
            <a:pPr algn="ctr"/>
            <a:r>
              <a:rPr lang="en-GB" sz="1600" b="1" dirty="0"/>
              <a:t>Sprint Review Meeting</a:t>
            </a:r>
          </a:p>
        </p:txBody>
      </p:sp>
      <p:sp>
        <p:nvSpPr>
          <p:cNvPr id="28" name="Arrow: Right 27">
            <a:extLst>
              <a:ext uri="{FF2B5EF4-FFF2-40B4-BE49-F238E27FC236}">
                <a16:creationId xmlns:a16="http://schemas.microsoft.com/office/drawing/2014/main" id="{40A9D935-1380-0502-11ED-0F8B71C39353}"/>
              </a:ext>
            </a:extLst>
          </p:cNvPr>
          <p:cNvSpPr/>
          <p:nvPr/>
        </p:nvSpPr>
        <p:spPr>
          <a:xfrm rot="20514635">
            <a:off x="9443815" y="4243023"/>
            <a:ext cx="861181" cy="398371"/>
          </a:xfrm>
          <a:prstGeom prst="rightArrow">
            <a:avLst>
              <a:gd name="adj1" fmla="val 27787"/>
              <a:gd name="adj2" fmla="val 90724"/>
            </a:avLst>
          </a:prstGeom>
          <a:solidFill>
            <a:srgbClr val="0070C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Arrow: Right 28">
            <a:extLst>
              <a:ext uri="{FF2B5EF4-FFF2-40B4-BE49-F238E27FC236}">
                <a16:creationId xmlns:a16="http://schemas.microsoft.com/office/drawing/2014/main" id="{2FEB383A-0B45-2F6C-3E9F-CA990E509A01}"/>
              </a:ext>
            </a:extLst>
          </p:cNvPr>
          <p:cNvSpPr/>
          <p:nvPr/>
        </p:nvSpPr>
        <p:spPr>
          <a:xfrm rot="1020523" flipV="1">
            <a:off x="9451064" y="4882491"/>
            <a:ext cx="861181" cy="398371"/>
          </a:xfrm>
          <a:prstGeom prst="rightArrow">
            <a:avLst>
              <a:gd name="adj1" fmla="val 27787"/>
              <a:gd name="adj2" fmla="val 90724"/>
            </a:avLst>
          </a:prstGeom>
          <a:solidFill>
            <a:srgbClr val="0070C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oup 29">
            <a:extLst>
              <a:ext uri="{FF2B5EF4-FFF2-40B4-BE49-F238E27FC236}">
                <a16:creationId xmlns:a16="http://schemas.microsoft.com/office/drawing/2014/main" id="{A7EE9625-893C-B13B-3BCE-CA290537BACE}"/>
              </a:ext>
            </a:extLst>
          </p:cNvPr>
          <p:cNvGrpSpPr/>
          <p:nvPr/>
        </p:nvGrpSpPr>
        <p:grpSpPr>
          <a:xfrm>
            <a:off x="6234186" y="2360577"/>
            <a:ext cx="965535" cy="894761"/>
            <a:chOff x="2384990" y="2707090"/>
            <a:chExt cx="1354956" cy="1183355"/>
          </a:xfrm>
        </p:grpSpPr>
        <p:pic>
          <p:nvPicPr>
            <p:cNvPr id="31" name="Picture 30">
              <a:extLst>
                <a:ext uri="{FF2B5EF4-FFF2-40B4-BE49-F238E27FC236}">
                  <a16:creationId xmlns:a16="http://schemas.microsoft.com/office/drawing/2014/main" id="{401004FA-913D-9E77-C909-20EC268ADDAC}"/>
                </a:ext>
              </a:extLst>
            </p:cNvPr>
            <p:cNvPicPr>
              <a:picLocks noChangeAspect="1"/>
            </p:cNvPicPr>
            <p:nvPr/>
          </p:nvPicPr>
          <p:blipFill>
            <a:blip r:embed="rId3"/>
            <a:stretch>
              <a:fillRect/>
            </a:stretch>
          </p:blipFill>
          <p:spPr>
            <a:xfrm>
              <a:off x="2384990" y="2710640"/>
              <a:ext cx="551357" cy="846829"/>
            </a:xfrm>
            <a:prstGeom prst="rect">
              <a:avLst/>
            </a:prstGeom>
          </p:spPr>
        </p:pic>
        <p:pic>
          <p:nvPicPr>
            <p:cNvPr id="32" name="Picture 31">
              <a:extLst>
                <a:ext uri="{FF2B5EF4-FFF2-40B4-BE49-F238E27FC236}">
                  <a16:creationId xmlns:a16="http://schemas.microsoft.com/office/drawing/2014/main" id="{90603111-E08D-C99E-5784-28155F9349FB}"/>
                </a:ext>
              </a:extLst>
            </p:cNvPr>
            <p:cNvPicPr>
              <a:picLocks noChangeAspect="1"/>
            </p:cNvPicPr>
            <p:nvPr/>
          </p:nvPicPr>
          <p:blipFill>
            <a:blip r:embed="rId3"/>
            <a:stretch>
              <a:fillRect/>
            </a:stretch>
          </p:blipFill>
          <p:spPr>
            <a:xfrm>
              <a:off x="3188589" y="2707090"/>
              <a:ext cx="551357" cy="846829"/>
            </a:xfrm>
            <a:prstGeom prst="rect">
              <a:avLst/>
            </a:prstGeom>
          </p:spPr>
        </p:pic>
        <p:pic>
          <p:nvPicPr>
            <p:cNvPr id="33" name="Picture 32">
              <a:extLst>
                <a:ext uri="{FF2B5EF4-FFF2-40B4-BE49-F238E27FC236}">
                  <a16:creationId xmlns:a16="http://schemas.microsoft.com/office/drawing/2014/main" id="{286ACE21-ADCE-AFE1-C84C-C67ED772E777}"/>
                </a:ext>
              </a:extLst>
            </p:cNvPr>
            <p:cNvPicPr>
              <a:picLocks noChangeAspect="1"/>
            </p:cNvPicPr>
            <p:nvPr/>
          </p:nvPicPr>
          <p:blipFill>
            <a:blip r:embed="rId3"/>
            <a:stretch>
              <a:fillRect/>
            </a:stretch>
          </p:blipFill>
          <p:spPr>
            <a:xfrm>
              <a:off x="2774384" y="3043616"/>
              <a:ext cx="551357" cy="846829"/>
            </a:xfrm>
            <a:prstGeom prst="rect">
              <a:avLst/>
            </a:prstGeom>
          </p:spPr>
        </p:pic>
      </p:grpSp>
      <p:sp>
        <p:nvSpPr>
          <p:cNvPr id="34" name="TextBox 33">
            <a:extLst>
              <a:ext uri="{FF2B5EF4-FFF2-40B4-BE49-F238E27FC236}">
                <a16:creationId xmlns:a16="http://schemas.microsoft.com/office/drawing/2014/main" id="{61533F47-7FD9-ECE3-A5D2-68D18978EF28}"/>
              </a:ext>
            </a:extLst>
          </p:cNvPr>
          <p:cNvSpPr txBox="1"/>
          <p:nvPr/>
        </p:nvSpPr>
        <p:spPr>
          <a:xfrm>
            <a:off x="7247094" y="2506707"/>
            <a:ext cx="1057607" cy="338554"/>
          </a:xfrm>
          <a:prstGeom prst="rect">
            <a:avLst/>
          </a:prstGeom>
          <a:noFill/>
        </p:spPr>
        <p:txBody>
          <a:bodyPr wrap="square" rtlCol="0">
            <a:spAutoFit/>
          </a:bodyPr>
          <a:lstStyle/>
          <a:p>
            <a:r>
              <a:rPr lang="en-GB" sz="1600" b="1" dirty="0"/>
              <a:t>Dev Team</a:t>
            </a:r>
            <a:endParaRPr lang="en-GB" dirty="0"/>
          </a:p>
        </p:txBody>
      </p:sp>
      <p:grpSp>
        <p:nvGrpSpPr>
          <p:cNvPr id="35" name="Group 34">
            <a:extLst>
              <a:ext uri="{FF2B5EF4-FFF2-40B4-BE49-F238E27FC236}">
                <a16:creationId xmlns:a16="http://schemas.microsoft.com/office/drawing/2014/main" id="{CEC1F5B7-1D07-9727-95B0-870EA6E5D8A5}"/>
              </a:ext>
            </a:extLst>
          </p:cNvPr>
          <p:cNvGrpSpPr/>
          <p:nvPr/>
        </p:nvGrpSpPr>
        <p:grpSpPr>
          <a:xfrm>
            <a:off x="291810" y="1356265"/>
            <a:ext cx="655225" cy="768758"/>
            <a:chOff x="279647" y="1496770"/>
            <a:chExt cx="806323" cy="932668"/>
          </a:xfrm>
        </p:grpSpPr>
        <p:pic>
          <p:nvPicPr>
            <p:cNvPr id="36" name="Picture 35">
              <a:extLst>
                <a:ext uri="{FF2B5EF4-FFF2-40B4-BE49-F238E27FC236}">
                  <a16:creationId xmlns:a16="http://schemas.microsoft.com/office/drawing/2014/main" id="{F9DA3A49-28E0-5716-54F7-608E7C27D0BE}"/>
                </a:ext>
              </a:extLst>
            </p:cNvPr>
            <p:cNvPicPr>
              <a:picLocks noChangeAspect="1"/>
            </p:cNvPicPr>
            <p:nvPr/>
          </p:nvPicPr>
          <p:blipFill>
            <a:blip r:embed="rId4"/>
            <a:stretch>
              <a:fillRect/>
            </a:stretch>
          </p:blipFill>
          <p:spPr>
            <a:xfrm>
              <a:off x="279647" y="1496770"/>
              <a:ext cx="477633" cy="733596"/>
            </a:xfrm>
            <a:prstGeom prst="rect">
              <a:avLst/>
            </a:prstGeom>
          </p:spPr>
        </p:pic>
        <p:pic>
          <p:nvPicPr>
            <p:cNvPr id="37" name="Picture 36">
              <a:extLst>
                <a:ext uri="{FF2B5EF4-FFF2-40B4-BE49-F238E27FC236}">
                  <a16:creationId xmlns:a16="http://schemas.microsoft.com/office/drawing/2014/main" id="{CE5D3149-97BF-6293-A1FE-C3EEFC4573FF}"/>
                </a:ext>
              </a:extLst>
            </p:cNvPr>
            <p:cNvPicPr>
              <a:picLocks noChangeAspect="1"/>
            </p:cNvPicPr>
            <p:nvPr/>
          </p:nvPicPr>
          <p:blipFill>
            <a:blip r:embed="rId4"/>
            <a:stretch>
              <a:fillRect/>
            </a:stretch>
          </p:blipFill>
          <p:spPr>
            <a:xfrm>
              <a:off x="608337" y="1695842"/>
              <a:ext cx="477633" cy="733596"/>
            </a:xfrm>
            <a:prstGeom prst="rect">
              <a:avLst/>
            </a:prstGeom>
          </p:spPr>
        </p:pic>
      </p:grpSp>
      <p:sp>
        <p:nvSpPr>
          <p:cNvPr id="38" name="TextBox 37">
            <a:extLst>
              <a:ext uri="{FF2B5EF4-FFF2-40B4-BE49-F238E27FC236}">
                <a16:creationId xmlns:a16="http://schemas.microsoft.com/office/drawing/2014/main" id="{C5254999-68DB-F8F2-10EA-F82B17AD3E53}"/>
              </a:ext>
            </a:extLst>
          </p:cNvPr>
          <p:cNvSpPr txBox="1"/>
          <p:nvPr/>
        </p:nvSpPr>
        <p:spPr>
          <a:xfrm>
            <a:off x="949985" y="1435877"/>
            <a:ext cx="4177167" cy="615553"/>
          </a:xfrm>
          <a:prstGeom prst="rect">
            <a:avLst/>
          </a:prstGeom>
          <a:noFill/>
        </p:spPr>
        <p:txBody>
          <a:bodyPr wrap="square" rtlCol="0">
            <a:spAutoFit/>
          </a:bodyPr>
          <a:lstStyle/>
          <a:p>
            <a:r>
              <a:rPr lang="en-GB" sz="1600" b="1" dirty="0"/>
              <a:t>Stakeholders</a:t>
            </a:r>
          </a:p>
          <a:p>
            <a:r>
              <a:rPr lang="en-GB" dirty="0"/>
              <a:t>(</a:t>
            </a:r>
            <a:r>
              <a:rPr lang="en-GB" sz="1600" i="1" dirty="0"/>
              <a:t>publisher / management, Customers</a:t>
            </a:r>
            <a:r>
              <a:rPr lang="en-GB" dirty="0"/>
              <a:t>)</a:t>
            </a:r>
          </a:p>
        </p:txBody>
      </p:sp>
      <p:sp>
        <p:nvSpPr>
          <p:cNvPr id="39" name="TextBox 38">
            <a:extLst>
              <a:ext uri="{FF2B5EF4-FFF2-40B4-BE49-F238E27FC236}">
                <a16:creationId xmlns:a16="http://schemas.microsoft.com/office/drawing/2014/main" id="{F6D4B02A-B298-271B-8B9F-F1DF5A0C7FF0}"/>
              </a:ext>
            </a:extLst>
          </p:cNvPr>
          <p:cNvSpPr txBox="1"/>
          <p:nvPr/>
        </p:nvSpPr>
        <p:spPr>
          <a:xfrm>
            <a:off x="858003" y="3087912"/>
            <a:ext cx="997314" cy="584775"/>
          </a:xfrm>
          <a:prstGeom prst="rect">
            <a:avLst/>
          </a:prstGeom>
          <a:noFill/>
        </p:spPr>
        <p:txBody>
          <a:bodyPr wrap="square" rtlCol="0">
            <a:spAutoFit/>
          </a:bodyPr>
          <a:lstStyle/>
          <a:p>
            <a:r>
              <a:rPr lang="en-GB" sz="1600" b="1" dirty="0"/>
              <a:t>Project Owner</a:t>
            </a:r>
            <a:endParaRPr lang="en-GB" sz="1600" dirty="0"/>
          </a:p>
        </p:txBody>
      </p:sp>
      <p:sp>
        <p:nvSpPr>
          <p:cNvPr id="40" name="TextBox 39">
            <a:extLst>
              <a:ext uri="{FF2B5EF4-FFF2-40B4-BE49-F238E27FC236}">
                <a16:creationId xmlns:a16="http://schemas.microsoft.com/office/drawing/2014/main" id="{A3DB2849-05CE-2541-62F4-91480EA40D70}"/>
              </a:ext>
            </a:extLst>
          </p:cNvPr>
          <p:cNvSpPr txBox="1"/>
          <p:nvPr/>
        </p:nvSpPr>
        <p:spPr>
          <a:xfrm>
            <a:off x="3700077" y="2884247"/>
            <a:ext cx="2212962" cy="861774"/>
          </a:xfrm>
          <a:prstGeom prst="rect">
            <a:avLst/>
          </a:prstGeom>
          <a:noFill/>
        </p:spPr>
        <p:txBody>
          <a:bodyPr wrap="square" rtlCol="0">
            <a:spAutoFit/>
          </a:bodyPr>
          <a:lstStyle/>
          <a:p>
            <a:r>
              <a:rPr lang="en-GB" sz="1600" b="1" dirty="0"/>
              <a:t>Dev Team</a:t>
            </a:r>
            <a:r>
              <a:rPr lang="en-GB" sz="1600" dirty="0"/>
              <a:t> </a:t>
            </a:r>
            <a:r>
              <a:rPr lang="en-GB" dirty="0"/>
              <a:t>(</a:t>
            </a:r>
            <a:r>
              <a:rPr lang="en-GB" sz="1400" i="1" dirty="0"/>
              <a:t>programmers, artists, designers etc.</a:t>
            </a:r>
            <a:r>
              <a:rPr lang="en-GB" sz="1600" dirty="0"/>
              <a:t>)</a:t>
            </a:r>
            <a:endParaRPr lang="en-GB" dirty="0"/>
          </a:p>
        </p:txBody>
      </p:sp>
      <p:sp>
        <p:nvSpPr>
          <p:cNvPr id="41" name="Arrow: Up-Down 40">
            <a:extLst>
              <a:ext uri="{FF2B5EF4-FFF2-40B4-BE49-F238E27FC236}">
                <a16:creationId xmlns:a16="http://schemas.microsoft.com/office/drawing/2014/main" id="{E14E78F0-2364-0D45-BE5A-12B3084637BF}"/>
              </a:ext>
            </a:extLst>
          </p:cNvPr>
          <p:cNvSpPr/>
          <p:nvPr/>
        </p:nvSpPr>
        <p:spPr>
          <a:xfrm>
            <a:off x="601607" y="2362701"/>
            <a:ext cx="281201" cy="604459"/>
          </a:xfrm>
          <a:prstGeom prst="up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Arrow: Bent 41">
            <a:extLst>
              <a:ext uri="{FF2B5EF4-FFF2-40B4-BE49-F238E27FC236}">
                <a16:creationId xmlns:a16="http://schemas.microsoft.com/office/drawing/2014/main" id="{333ED0E9-B0C7-458D-0802-14C749BF0F3C}"/>
              </a:ext>
            </a:extLst>
          </p:cNvPr>
          <p:cNvSpPr/>
          <p:nvPr/>
        </p:nvSpPr>
        <p:spPr>
          <a:xfrm rot="2458433" flipV="1">
            <a:off x="69398" y="4038931"/>
            <a:ext cx="1271572" cy="652070"/>
          </a:xfrm>
          <a:prstGeom prst="bentArrow">
            <a:avLst>
              <a:gd name="adj1" fmla="val 13240"/>
              <a:gd name="adj2" fmla="val 28515"/>
              <a:gd name="adj3" fmla="val 50000"/>
              <a:gd name="adj4" fmla="val 88102"/>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3" name="Arrow: Bent 42">
            <a:extLst>
              <a:ext uri="{FF2B5EF4-FFF2-40B4-BE49-F238E27FC236}">
                <a16:creationId xmlns:a16="http://schemas.microsoft.com/office/drawing/2014/main" id="{97DE6416-E252-AD30-ACBF-9611A99D66FA}"/>
              </a:ext>
            </a:extLst>
          </p:cNvPr>
          <p:cNvSpPr/>
          <p:nvPr/>
        </p:nvSpPr>
        <p:spPr>
          <a:xfrm rot="2080498">
            <a:off x="1741383" y="2667417"/>
            <a:ext cx="750346" cy="668342"/>
          </a:xfrm>
          <a:prstGeom prst="bentArrow">
            <a:avLst>
              <a:gd name="adj1" fmla="val 11727"/>
              <a:gd name="adj2" fmla="val 25000"/>
              <a:gd name="adj3" fmla="val 38316"/>
              <a:gd name="adj4" fmla="val 7502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4" name="TextBox 43">
            <a:extLst>
              <a:ext uri="{FF2B5EF4-FFF2-40B4-BE49-F238E27FC236}">
                <a16:creationId xmlns:a16="http://schemas.microsoft.com/office/drawing/2014/main" id="{B6346EA9-36B1-7B45-0658-3F4B838D13D5}"/>
              </a:ext>
            </a:extLst>
          </p:cNvPr>
          <p:cNvSpPr txBox="1"/>
          <p:nvPr/>
        </p:nvSpPr>
        <p:spPr>
          <a:xfrm>
            <a:off x="0" y="2414675"/>
            <a:ext cx="736103" cy="523220"/>
          </a:xfrm>
          <a:prstGeom prst="rect">
            <a:avLst/>
          </a:prstGeom>
          <a:noFill/>
        </p:spPr>
        <p:txBody>
          <a:bodyPr wrap="square" rtlCol="0">
            <a:spAutoFit/>
          </a:bodyPr>
          <a:lstStyle/>
          <a:p>
            <a:r>
              <a:rPr lang="en-GB" sz="1400" dirty="0"/>
              <a:t>Liaises with</a:t>
            </a:r>
          </a:p>
        </p:txBody>
      </p:sp>
      <p:sp>
        <p:nvSpPr>
          <p:cNvPr id="45" name="TextBox 44">
            <a:extLst>
              <a:ext uri="{FF2B5EF4-FFF2-40B4-BE49-F238E27FC236}">
                <a16:creationId xmlns:a16="http://schemas.microsoft.com/office/drawing/2014/main" id="{68B6C648-B54F-1D5E-FE48-2C44D42274C5}"/>
              </a:ext>
            </a:extLst>
          </p:cNvPr>
          <p:cNvSpPr txBox="1"/>
          <p:nvPr/>
        </p:nvSpPr>
        <p:spPr>
          <a:xfrm>
            <a:off x="1640494" y="2491400"/>
            <a:ext cx="997314" cy="307777"/>
          </a:xfrm>
          <a:prstGeom prst="rect">
            <a:avLst/>
          </a:prstGeom>
          <a:noFill/>
        </p:spPr>
        <p:txBody>
          <a:bodyPr wrap="square" rtlCol="0">
            <a:spAutoFit/>
          </a:bodyPr>
          <a:lstStyle/>
          <a:p>
            <a:r>
              <a:rPr lang="en-GB" sz="1400" dirty="0"/>
              <a:t>Supports</a:t>
            </a:r>
          </a:p>
        </p:txBody>
      </p:sp>
      <p:sp>
        <p:nvSpPr>
          <p:cNvPr id="46" name="TextBox 45">
            <a:extLst>
              <a:ext uri="{FF2B5EF4-FFF2-40B4-BE49-F238E27FC236}">
                <a16:creationId xmlns:a16="http://schemas.microsoft.com/office/drawing/2014/main" id="{E4593448-38AF-0D22-72A3-22F73797DB45}"/>
              </a:ext>
            </a:extLst>
          </p:cNvPr>
          <p:cNvSpPr txBox="1"/>
          <p:nvPr/>
        </p:nvSpPr>
        <p:spPr>
          <a:xfrm>
            <a:off x="619423" y="4089046"/>
            <a:ext cx="1027955" cy="307777"/>
          </a:xfrm>
          <a:prstGeom prst="rect">
            <a:avLst/>
          </a:prstGeom>
          <a:noFill/>
        </p:spPr>
        <p:txBody>
          <a:bodyPr wrap="square" rtlCol="0">
            <a:spAutoFit/>
          </a:bodyPr>
          <a:lstStyle/>
          <a:p>
            <a:r>
              <a:rPr lang="en-GB" sz="1400" dirty="0"/>
              <a:t>Manages</a:t>
            </a:r>
          </a:p>
        </p:txBody>
      </p:sp>
      <p:pic>
        <p:nvPicPr>
          <p:cNvPr id="47" name="Picture 46">
            <a:extLst>
              <a:ext uri="{FF2B5EF4-FFF2-40B4-BE49-F238E27FC236}">
                <a16:creationId xmlns:a16="http://schemas.microsoft.com/office/drawing/2014/main" id="{06FF961E-3F46-8676-BC91-7D52F344D974}"/>
              </a:ext>
            </a:extLst>
          </p:cNvPr>
          <p:cNvPicPr>
            <a:picLocks noChangeAspect="1"/>
          </p:cNvPicPr>
          <p:nvPr/>
        </p:nvPicPr>
        <p:blipFill>
          <a:blip r:embed="rId2"/>
          <a:stretch>
            <a:fillRect/>
          </a:stretch>
        </p:blipFill>
        <p:spPr>
          <a:xfrm>
            <a:off x="10808756" y="2537424"/>
            <a:ext cx="397597" cy="650324"/>
          </a:xfrm>
          <a:prstGeom prst="rect">
            <a:avLst/>
          </a:prstGeom>
        </p:spPr>
      </p:pic>
      <p:sp>
        <p:nvSpPr>
          <p:cNvPr id="48" name="TextBox 47">
            <a:extLst>
              <a:ext uri="{FF2B5EF4-FFF2-40B4-BE49-F238E27FC236}">
                <a16:creationId xmlns:a16="http://schemas.microsoft.com/office/drawing/2014/main" id="{4C99741D-7276-554C-C458-DB3FBE3EDC5C}"/>
              </a:ext>
            </a:extLst>
          </p:cNvPr>
          <p:cNvSpPr txBox="1"/>
          <p:nvPr/>
        </p:nvSpPr>
        <p:spPr>
          <a:xfrm>
            <a:off x="11246611" y="2612645"/>
            <a:ext cx="888167" cy="584775"/>
          </a:xfrm>
          <a:prstGeom prst="rect">
            <a:avLst/>
          </a:prstGeom>
          <a:noFill/>
        </p:spPr>
        <p:txBody>
          <a:bodyPr wrap="square" rtlCol="0">
            <a:spAutoFit/>
          </a:bodyPr>
          <a:lstStyle/>
          <a:p>
            <a:r>
              <a:rPr lang="en-GB" sz="1600" b="1" dirty="0"/>
              <a:t>Project Owner</a:t>
            </a:r>
            <a:endParaRPr lang="en-GB" sz="1600" dirty="0"/>
          </a:p>
        </p:txBody>
      </p:sp>
      <p:sp>
        <p:nvSpPr>
          <p:cNvPr id="49" name="Arrow: Bent 48">
            <a:extLst>
              <a:ext uri="{FF2B5EF4-FFF2-40B4-BE49-F238E27FC236}">
                <a16:creationId xmlns:a16="http://schemas.microsoft.com/office/drawing/2014/main" id="{487F727F-AAA0-F80E-DCC1-4BDF92AE0FBA}"/>
              </a:ext>
            </a:extLst>
          </p:cNvPr>
          <p:cNvSpPr/>
          <p:nvPr/>
        </p:nvSpPr>
        <p:spPr>
          <a:xfrm rot="3697471" flipV="1">
            <a:off x="10368783" y="3275937"/>
            <a:ext cx="707639" cy="519696"/>
          </a:xfrm>
          <a:prstGeom prst="bentArrow">
            <a:avLst>
              <a:gd name="adj1" fmla="val 13240"/>
              <a:gd name="adj2" fmla="val 30727"/>
              <a:gd name="adj3" fmla="val 50000"/>
              <a:gd name="adj4" fmla="val 88102"/>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0" name="TextBox 49">
            <a:extLst>
              <a:ext uri="{FF2B5EF4-FFF2-40B4-BE49-F238E27FC236}">
                <a16:creationId xmlns:a16="http://schemas.microsoft.com/office/drawing/2014/main" id="{946D57E6-FE19-21F7-4AF1-841DE5CABC9F}"/>
              </a:ext>
            </a:extLst>
          </p:cNvPr>
          <p:cNvSpPr txBox="1"/>
          <p:nvPr/>
        </p:nvSpPr>
        <p:spPr>
          <a:xfrm>
            <a:off x="10821869" y="3396591"/>
            <a:ext cx="976804" cy="307777"/>
          </a:xfrm>
          <a:prstGeom prst="rect">
            <a:avLst/>
          </a:prstGeom>
          <a:noFill/>
        </p:spPr>
        <p:txBody>
          <a:bodyPr wrap="square" rtlCol="0">
            <a:spAutoFit/>
          </a:bodyPr>
          <a:lstStyle/>
          <a:p>
            <a:r>
              <a:rPr lang="en-GB" sz="1400" dirty="0"/>
              <a:t>Supports</a:t>
            </a:r>
          </a:p>
        </p:txBody>
      </p:sp>
      <p:grpSp>
        <p:nvGrpSpPr>
          <p:cNvPr id="51" name="Group 50">
            <a:extLst>
              <a:ext uri="{FF2B5EF4-FFF2-40B4-BE49-F238E27FC236}">
                <a16:creationId xmlns:a16="http://schemas.microsoft.com/office/drawing/2014/main" id="{669853D8-E416-8A6C-516D-CE10D8ECBF52}"/>
              </a:ext>
            </a:extLst>
          </p:cNvPr>
          <p:cNvGrpSpPr/>
          <p:nvPr/>
        </p:nvGrpSpPr>
        <p:grpSpPr>
          <a:xfrm>
            <a:off x="10201967" y="6059372"/>
            <a:ext cx="755946" cy="748631"/>
            <a:chOff x="2384990" y="2707090"/>
            <a:chExt cx="1354956" cy="1183355"/>
          </a:xfrm>
        </p:grpSpPr>
        <p:pic>
          <p:nvPicPr>
            <p:cNvPr id="52" name="Picture 51">
              <a:extLst>
                <a:ext uri="{FF2B5EF4-FFF2-40B4-BE49-F238E27FC236}">
                  <a16:creationId xmlns:a16="http://schemas.microsoft.com/office/drawing/2014/main" id="{73F13945-804C-9B84-CF2E-4945167D7B3D}"/>
                </a:ext>
              </a:extLst>
            </p:cNvPr>
            <p:cNvPicPr>
              <a:picLocks noChangeAspect="1"/>
            </p:cNvPicPr>
            <p:nvPr/>
          </p:nvPicPr>
          <p:blipFill>
            <a:blip r:embed="rId3"/>
            <a:stretch>
              <a:fillRect/>
            </a:stretch>
          </p:blipFill>
          <p:spPr>
            <a:xfrm>
              <a:off x="2384990" y="2710640"/>
              <a:ext cx="551357" cy="846829"/>
            </a:xfrm>
            <a:prstGeom prst="rect">
              <a:avLst/>
            </a:prstGeom>
          </p:spPr>
        </p:pic>
        <p:pic>
          <p:nvPicPr>
            <p:cNvPr id="53" name="Picture 52">
              <a:extLst>
                <a:ext uri="{FF2B5EF4-FFF2-40B4-BE49-F238E27FC236}">
                  <a16:creationId xmlns:a16="http://schemas.microsoft.com/office/drawing/2014/main" id="{CD03F571-9696-5948-7E20-343A5243C062}"/>
                </a:ext>
              </a:extLst>
            </p:cNvPr>
            <p:cNvPicPr>
              <a:picLocks noChangeAspect="1"/>
            </p:cNvPicPr>
            <p:nvPr/>
          </p:nvPicPr>
          <p:blipFill>
            <a:blip r:embed="rId3"/>
            <a:stretch>
              <a:fillRect/>
            </a:stretch>
          </p:blipFill>
          <p:spPr>
            <a:xfrm>
              <a:off x="3188589" y="2707090"/>
              <a:ext cx="551357" cy="846829"/>
            </a:xfrm>
            <a:prstGeom prst="rect">
              <a:avLst/>
            </a:prstGeom>
          </p:spPr>
        </p:pic>
        <p:pic>
          <p:nvPicPr>
            <p:cNvPr id="54" name="Picture 53">
              <a:extLst>
                <a:ext uri="{FF2B5EF4-FFF2-40B4-BE49-F238E27FC236}">
                  <a16:creationId xmlns:a16="http://schemas.microsoft.com/office/drawing/2014/main" id="{ACC87421-B072-450C-B9B3-F43AD8EF4AFD}"/>
                </a:ext>
              </a:extLst>
            </p:cNvPr>
            <p:cNvPicPr>
              <a:picLocks noChangeAspect="1"/>
            </p:cNvPicPr>
            <p:nvPr/>
          </p:nvPicPr>
          <p:blipFill>
            <a:blip r:embed="rId3"/>
            <a:stretch>
              <a:fillRect/>
            </a:stretch>
          </p:blipFill>
          <p:spPr>
            <a:xfrm>
              <a:off x="2774384" y="3043616"/>
              <a:ext cx="551357" cy="846829"/>
            </a:xfrm>
            <a:prstGeom prst="rect">
              <a:avLst/>
            </a:prstGeom>
          </p:spPr>
        </p:pic>
      </p:grpSp>
      <p:sp>
        <p:nvSpPr>
          <p:cNvPr id="55" name="TextBox 54">
            <a:extLst>
              <a:ext uri="{FF2B5EF4-FFF2-40B4-BE49-F238E27FC236}">
                <a16:creationId xmlns:a16="http://schemas.microsoft.com/office/drawing/2014/main" id="{7CE1325E-65D3-B38A-7DB4-FD929C8D62B8}"/>
              </a:ext>
            </a:extLst>
          </p:cNvPr>
          <p:cNvSpPr txBox="1"/>
          <p:nvPr/>
        </p:nvSpPr>
        <p:spPr>
          <a:xfrm>
            <a:off x="11007554" y="6121324"/>
            <a:ext cx="1184446" cy="338554"/>
          </a:xfrm>
          <a:prstGeom prst="rect">
            <a:avLst/>
          </a:prstGeom>
          <a:noFill/>
        </p:spPr>
        <p:txBody>
          <a:bodyPr wrap="square" rtlCol="0">
            <a:spAutoFit/>
          </a:bodyPr>
          <a:lstStyle/>
          <a:p>
            <a:r>
              <a:rPr lang="en-GB" sz="1600" b="1" dirty="0"/>
              <a:t>Dev Team</a:t>
            </a:r>
            <a:endParaRPr lang="en-GB" dirty="0"/>
          </a:p>
        </p:txBody>
      </p:sp>
      <p:sp>
        <p:nvSpPr>
          <p:cNvPr id="56" name="Arrow: Bent 55">
            <a:extLst>
              <a:ext uri="{FF2B5EF4-FFF2-40B4-BE49-F238E27FC236}">
                <a16:creationId xmlns:a16="http://schemas.microsoft.com/office/drawing/2014/main" id="{3E34D98A-E3DF-371B-FFA7-1E55C58BEE72}"/>
              </a:ext>
            </a:extLst>
          </p:cNvPr>
          <p:cNvSpPr/>
          <p:nvPr/>
        </p:nvSpPr>
        <p:spPr>
          <a:xfrm rot="15934455" flipV="1">
            <a:off x="10789523" y="5560151"/>
            <a:ext cx="707639" cy="519696"/>
          </a:xfrm>
          <a:prstGeom prst="bentArrow">
            <a:avLst>
              <a:gd name="adj1" fmla="val 13240"/>
              <a:gd name="adj2" fmla="val 30727"/>
              <a:gd name="adj3" fmla="val 50000"/>
              <a:gd name="adj4" fmla="val 88102"/>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7" name="TextBox 56">
            <a:extLst>
              <a:ext uri="{FF2B5EF4-FFF2-40B4-BE49-F238E27FC236}">
                <a16:creationId xmlns:a16="http://schemas.microsoft.com/office/drawing/2014/main" id="{846F2F99-F078-09CC-9B7C-8FC5F724ADF7}"/>
              </a:ext>
            </a:extLst>
          </p:cNvPr>
          <p:cNvSpPr txBox="1"/>
          <p:nvPr/>
        </p:nvSpPr>
        <p:spPr>
          <a:xfrm>
            <a:off x="10163851" y="5525692"/>
            <a:ext cx="996295" cy="523220"/>
          </a:xfrm>
          <a:prstGeom prst="rect">
            <a:avLst/>
          </a:prstGeom>
          <a:noFill/>
        </p:spPr>
        <p:txBody>
          <a:bodyPr wrap="square" rtlCol="0">
            <a:spAutoFit/>
          </a:bodyPr>
          <a:lstStyle/>
          <a:p>
            <a:r>
              <a:rPr lang="en-GB" sz="1400" dirty="0"/>
              <a:t>Engages with</a:t>
            </a:r>
          </a:p>
        </p:txBody>
      </p:sp>
      <p:pic>
        <p:nvPicPr>
          <p:cNvPr id="58" name="Picture 57">
            <a:extLst>
              <a:ext uri="{FF2B5EF4-FFF2-40B4-BE49-F238E27FC236}">
                <a16:creationId xmlns:a16="http://schemas.microsoft.com/office/drawing/2014/main" id="{8D2ACBD7-F384-C3E0-4394-767DAB2C5662}"/>
              </a:ext>
            </a:extLst>
          </p:cNvPr>
          <p:cNvPicPr>
            <a:picLocks noChangeAspect="1"/>
          </p:cNvPicPr>
          <p:nvPr/>
        </p:nvPicPr>
        <p:blipFill>
          <a:blip r:embed="rId2"/>
          <a:stretch>
            <a:fillRect/>
          </a:stretch>
        </p:blipFill>
        <p:spPr>
          <a:xfrm>
            <a:off x="5527322" y="1262309"/>
            <a:ext cx="397597" cy="650324"/>
          </a:xfrm>
          <a:prstGeom prst="rect">
            <a:avLst/>
          </a:prstGeom>
        </p:spPr>
      </p:pic>
      <p:sp>
        <p:nvSpPr>
          <p:cNvPr id="59" name="TextBox 58">
            <a:extLst>
              <a:ext uri="{FF2B5EF4-FFF2-40B4-BE49-F238E27FC236}">
                <a16:creationId xmlns:a16="http://schemas.microsoft.com/office/drawing/2014/main" id="{0435080F-4FBF-5E90-2B27-E0231FB67313}"/>
              </a:ext>
            </a:extLst>
          </p:cNvPr>
          <p:cNvSpPr txBox="1"/>
          <p:nvPr/>
        </p:nvSpPr>
        <p:spPr>
          <a:xfrm>
            <a:off x="5909075" y="1306249"/>
            <a:ext cx="897752" cy="584775"/>
          </a:xfrm>
          <a:prstGeom prst="rect">
            <a:avLst/>
          </a:prstGeom>
          <a:noFill/>
        </p:spPr>
        <p:txBody>
          <a:bodyPr wrap="square" rtlCol="0">
            <a:spAutoFit/>
          </a:bodyPr>
          <a:lstStyle/>
          <a:p>
            <a:r>
              <a:rPr lang="en-GB" sz="1600" b="1" dirty="0"/>
              <a:t>Scrum Master</a:t>
            </a:r>
            <a:endParaRPr lang="en-GB" sz="1600" dirty="0"/>
          </a:p>
        </p:txBody>
      </p:sp>
      <p:sp>
        <p:nvSpPr>
          <p:cNvPr id="60" name="Rectangle 59">
            <a:extLst>
              <a:ext uri="{FF2B5EF4-FFF2-40B4-BE49-F238E27FC236}">
                <a16:creationId xmlns:a16="http://schemas.microsoft.com/office/drawing/2014/main" id="{5463C1B9-072C-A17E-47B4-C1CA391B19AA}"/>
              </a:ext>
            </a:extLst>
          </p:cNvPr>
          <p:cNvSpPr/>
          <p:nvPr/>
        </p:nvSpPr>
        <p:spPr>
          <a:xfrm>
            <a:off x="6808768" y="1328204"/>
            <a:ext cx="3296267" cy="307777"/>
          </a:xfrm>
          <a:prstGeom prst="rect">
            <a:avLst/>
          </a:prstGeom>
        </p:spPr>
        <p:txBody>
          <a:bodyPr wrap="square">
            <a:spAutoFit/>
          </a:bodyPr>
          <a:lstStyle/>
          <a:p>
            <a:pPr algn="ctr"/>
            <a:r>
              <a:rPr lang="en-GB" sz="1400" b="1" dirty="0"/>
              <a:t>Ensure Scrum process  is a success</a:t>
            </a:r>
          </a:p>
        </p:txBody>
      </p:sp>
      <p:sp>
        <p:nvSpPr>
          <p:cNvPr id="61" name="Arrow: Bent 60">
            <a:extLst>
              <a:ext uri="{FF2B5EF4-FFF2-40B4-BE49-F238E27FC236}">
                <a16:creationId xmlns:a16="http://schemas.microsoft.com/office/drawing/2014/main" id="{1B34C800-86BF-093F-E356-09980D15E5EB}"/>
              </a:ext>
            </a:extLst>
          </p:cNvPr>
          <p:cNvSpPr/>
          <p:nvPr/>
        </p:nvSpPr>
        <p:spPr>
          <a:xfrm rot="19594626" flipH="1" flipV="1">
            <a:off x="7432558" y="2956299"/>
            <a:ext cx="707639" cy="519696"/>
          </a:xfrm>
          <a:prstGeom prst="bentArrow">
            <a:avLst>
              <a:gd name="adj1" fmla="val 13240"/>
              <a:gd name="adj2" fmla="val 30727"/>
              <a:gd name="adj3" fmla="val 50000"/>
              <a:gd name="adj4" fmla="val 88102"/>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2" name="Right Brace 61">
            <a:extLst>
              <a:ext uri="{FF2B5EF4-FFF2-40B4-BE49-F238E27FC236}">
                <a16:creationId xmlns:a16="http://schemas.microsoft.com/office/drawing/2014/main" id="{3FE3703E-D85A-EE83-54C8-17EA0A30C43D}"/>
              </a:ext>
            </a:extLst>
          </p:cNvPr>
          <p:cNvSpPr/>
          <p:nvPr/>
        </p:nvSpPr>
        <p:spPr>
          <a:xfrm rot="16200000">
            <a:off x="5787280" y="-3707163"/>
            <a:ext cx="439292" cy="12001681"/>
          </a:xfrm>
          <a:prstGeom prst="rightBrace">
            <a:avLst>
              <a:gd name="adj1" fmla="val 8333"/>
              <a:gd name="adj2" fmla="val 47858"/>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63" name="TextBox 62">
            <a:extLst>
              <a:ext uri="{FF2B5EF4-FFF2-40B4-BE49-F238E27FC236}">
                <a16:creationId xmlns:a16="http://schemas.microsoft.com/office/drawing/2014/main" id="{451ADBD6-9A53-043C-7C8A-BFDB8BE2F36C}"/>
              </a:ext>
            </a:extLst>
          </p:cNvPr>
          <p:cNvSpPr txBox="1"/>
          <p:nvPr/>
        </p:nvSpPr>
        <p:spPr>
          <a:xfrm>
            <a:off x="8025531" y="3038551"/>
            <a:ext cx="889941" cy="307777"/>
          </a:xfrm>
          <a:prstGeom prst="rect">
            <a:avLst/>
          </a:prstGeom>
          <a:noFill/>
        </p:spPr>
        <p:txBody>
          <a:bodyPr wrap="square" rtlCol="0">
            <a:spAutoFit/>
          </a:bodyPr>
          <a:lstStyle/>
          <a:p>
            <a:r>
              <a:rPr lang="en-GB" sz="1400" dirty="0"/>
              <a:t>Attends</a:t>
            </a:r>
          </a:p>
        </p:txBody>
      </p:sp>
      <p:grpSp>
        <p:nvGrpSpPr>
          <p:cNvPr id="64" name="Group 63">
            <a:extLst>
              <a:ext uri="{FF2B5EF4-FFF2-40B4-BE49-F238E27FC236}">
                <a16:creationId xmlns:a16="http://schemas.microsoft.com/office/drawing/2014/main" id="{0FAB8C79-58C1-5396-0B8E-16E8CF659F41}"/>
              </a:ext>
            </a:extLst>
          </p:cNvPr>
          <p:cNvGrpSpPr/>
          <p:nvPr/>
        </p:nvGrpSpPr>
        <p:grpSpPr>
          <a:xfrm>
            <a:off x="2669225" y="3081726"/>
            <a:ext cx="965535" cy="894761"/>
            <a:chOff x="2384990" y="2707090"/>
            <a:chExt cx="1354956" cy="1183355"/>
          </a:xfrm>
        </p:grpSpPr>
        <p:pic>
          <p:nvPicPr>
            <p:cNvPr id="65" name="Picture 64">
              <a:extLst>
                <a:ext uri="{FF2B5EF4-FFF2-40B4-BE49-F238E27FC236}">
                  <a16:creationId xmlns:a16="http://schemas.microsoft.com/office/drawing/2014/main" id="{1D963610-271E-801C-284D-8791A2A5AF86}"/>
                </a:ext>
              </a:extLst>
            </p:cNvPr>
            <p:cNvPicPr>
              <a:picLocks noChangeAspect="1"/>
            </p:cNvPicPr>
            <p:nvPr/>
          </p:nvPicPr>
          <p:blipFill>
            <a:blip r:embed="rId3"/>
            <a:stretch>
              <a:fillRect/>
            </a:stretch>
          </p:blipFill>
          <p:spPr>
            <a:xfrm>
              <a:off x="2384990" y="2710640"/>
              <a:ext cx="551357" cy="846829"/>
            </a:xfrm>
            <a:prstGeom prst="rect">
              <a:avLst/>
            </a:prstGeom>
          </p:spPr>
        </p:pic>
        <p:pic>
          <p:nvPicPr>
            <p:cNvPr id="66" name="Picture 65">
              <a:extLst>
                <a:ext uri="{FF2B5EF4-FFF2-40B4-BE49-F238E27FC236}">
                  <a16:creationId xmlns:a16="http://schemas.microsoft.com/office/drawing/2014/main" id="{37AB27EE-86F4-CEAB-B6E7-5629ECB40100}"/>
                </a:ext>
              </a:extLst>
            </p:cNvPr>
            <p:cNvPicPr>
              <a:picLocks noChangeAspect="1"/>
            </p:cNvPicPr>
            <p:nvPr/>
          </p:nvPicPr>
          <p:blipFill>
            <a:blip r:embed="rId3"/>
            <a:stretch>
              <a:fillRect/>
            </a:stretch>
          </p:blipFill>
          <p:spPr>
            <a:xfrm>
              <a:off x="3188589" y="2707090"/>
              <a:ext cx="551357" cy="846829"/>
            </a:xfrm>
            <a:prstGeom prst="rect">
              <a:avLst/>
            </a:prstGeom>
          </p:spPr>
        </p:pic>
        <p:pic>
          <p:nvPicPr>
            <p:cNvPr id="67" name="Picture 66">
              <a:extLst>
                <a:ext uri="{FF2B5EF4-FFF2-40B4-BE49-F238E27FC236}">
                  <a16:creationId xmlns:a16="http://schemas.microsoft.com/office/drawing/2014/main" id="{03225C0C-004D-00F2-204B-80236A207DA8}"/>
                </a:ext>
              </a:extLst>
            </p:cNvPr>
            <p:cNvPicPr>
              <a:picLocks noChangeAspect="1"/>
            </p:cNvPicPr>
            <p:nvPr/>
          </p:nvPicPr>
          <p:blipFill>
            <a:blip r:embed="rId3"/>
            <a:stretch>
              <a:fillRect/>
            </a:stretch>
          </p:blipFill>
          <p:spPr>
            <a:xfrm>
              <a:off x="2774384" y="3043616"/>
              <a:ext cx="551357" cy="846829"/>
            </a:xfrm>
            <a:prstGeom prst="rect">
              <a:avLst/>
            </a:prstGeom>
          </p:spPr>
        </p:pic>
      </p:grpSp>
      <p:sp>
        <p:nvSpPr>
          <p:cNvPr id="68" name="Arrow: Bent 67">
            <a:extLst>
              <a:ext uri="{FF2B5EF4-FFF2-40B4-BE49-F238E27FC236}">
                <a16:creationId xmlns:a16="http://schemas.microsoft.com/office/drawing/2014/main" id="{E365F9BF-AF9B-698E-4537-8D478C4D5793}"/>
              </a:ext>
            </a:extLst>
          </p:cNvPr>
          <p:cNvSpPr/>
          <p:nvPr/>
        </p:nvSpPr>
        <p:spPr>
          <a:xfrm rot="1729363" flipV="1">
            <a:off x="3015694" y="4093193"/>
            <a:ext cx="707639" cy="519696"/>
          </a:xfrm>
          <a:prstGeom prst="bentArrow">
            <a:avLst>
              <a:gd name="adj1" fmla="val 13240"/>
              <a:gd name="adj2" fmla="val 30727"/>
              <a:gd name="adj3" fmla="val 50000"/>
              <a:gd name="adj4" fmla="val 88102"/>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9" name="Arrow: Down 68">
            <a:extLst>
              <a:ext uri="{FF2B5EF4-FFF2-40B4-BE49-F238E27FC236}">
                <a16:creationId xmlns:a16="http://schemas.microsoft.com/office/drawing/2014/main" id="{E62B509E-5023-0D20-BC4A-B3E295F2B5E9}"/>
              </a:ext>
            </a:extLst>
          </p:cNvPr>
          <p:cNvSpPr/>
          <p:nvPr/>
        </p:nvSpPr>
        <p:spPr>
          <a:xfrm rot="18127309">
            <a:off x="2193403" y="3205614"/>
            <a:ext cx="317959" cy="1902612"/>
          </a:xfrm>
          <a:prstGeom prst="downArrow">
            <a:avLst>
              <a:gd name="adj1" fmla="val 24273"/>
              <a:gd name="adj2" fmla="val 10940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TextBox 75">
            <a:extLst>
              <a:ext uri="{FF2B5EF4-FFF2-40B4-BE49-F238E27FC236}">
                <a16:creationId xmlns:a16="http://schemas.microsoft.com/office/drawing/2014/main" id="{CA1D9980-0EAA-94EC-339E-B8AA6A056E22}"/>
              </a:ext>
            </a:extLst>
          </p:cNvPr>
          <p:cNvSpPr txBox="1"/>
          <p:nvPr/>
        </p:nvSpPr>
        <p:spPr>
          <a:xfrm>
            <a:off x="2026521" y="3615184"/>
            <a:ext cx="889941" cy="307777"/>
          </a:xfrm>
          <a:prstGeom prst="rect">
            <a:avLst/>
          </a:prstGeom>
          <a:noFill/>
        </p:spPr>
        <p:txBody>
          <a:bodyPr wrap="square" rtlCol="0">
            <a:spAutoFit/>
          </a:bodyPr>
          <a:lstStyle/>
          <a:p>
            <a:pPr algn="ctr"/>
            <a:r>
              <a:rPr lang="en-GB" sz="1400" dirty="0"/>
              <a:t>Create</a:t>
            </a:r>
          </a:p>
        </p:txBody>
      </p:sp>
    </p:spTree>
    <p:extLst>
      <p:ext uri="{BB962C8B-B14F-4D97-AF65-F5344CB8AC3E}">
        <p14:creationId xmlns:p14="http://schemas.microsoft.com/office/powerpoint/2010/main" val="822544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1"/>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63"/>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4"/>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25"/>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28"/>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27"/>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29"/>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26"/>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8"/>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47"/>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49"/>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50"/>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51"/>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55"/>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56"/>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57"/>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58"/>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59"/>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60"/>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62"/>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64"/>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68"/>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69"/>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p:bldP spid="10" grpId="0" animBg="1"/>
      <p:bldP spid="11" grpId="0" animBg="1"/>
      <p:bldP spid="12" grpId="0" animBg="1"/>
      <p:bldP spid="13" grpId="0" animBg="1"/>
      <p:bldP spid="14" grpId="0" animBg="1"/>
      <p:bldP spid="15" grpId="0" animBg="1"/>
      <p:bldP spid="16" grpId="0" animBg="1"/>
      <p:bldP spid="17" grpId="0"/>
      <p:bldP spid="18" grpId="0" animBg="1"/>
      <p:bldP spid="19" grpId="0" animBg="1"/>
      <p:bldP spid="20" grpId="0" animBg="1"/>
      <p:bldP spid="21" grpId="0" animBg="1"/>
      <p:bldP spid="22" grpId="0"/>
      <p:bldP spid="23" grpId="0" animBg="1"/>
      <p:bldP spid="24" grpId="0" animBg="1"/>
      <p:bldP spid="25" grpId="0"/>
      <p:bldP spid="26" grpId="0" animBg="1"/>
      <p:bldP spid="27" grpId="0" animBg="1"/>
      <p:bldP spid="28" grpId="0" animBg="1"/>
      <p:bldP spid="29" grpId="0" animBg="1"/>
      <p:bldP spid="34" grpId="0"/>
      <p:bldP spid="38" grpId="0"/>
      <p:bldP spid="39" grpId="0"/>
      <p:bldP spid="40" grpId="0"/>
      <p:bldP spid="41" grpId="0" animBg="1"/>
      <p:bldP spid="42" grpId="0" animBg="1"/>
      <p:bldP spid="43" grpId="0" animBg="1"/>
      <p:bldP spid="44" grpId="0"/>
      <p:bldP spid="45" grpId="0"/>
      <p:bldP spid="46" grpId="0"/>
      <p:bldP spid="48" grpId="0"/>
      <p:bldP spid="49" grpId="0" animBg="1"/>
      <p:bldP spid="50" grpId="0"/>
      <p:bldP spid="55" grpId="0"/>
      <p:bldP spid="56" grpId="0" animBg="1"/>
      <p:bldP spid="57" grpId="0"/>
      <p:bldP spid="59" grpId="0"/>
      <p:bldP spid="60" grpId="0"/>
      <p:bldP spid="61" grpId="0" animBg="1"/>
      <p:bldP spid="62" grpId="0" animBg="1"/>
      <p:bldP spid="63" grpId="0"/>
      <p:bldP spid="68" grpId="0" animBg="1"/>
      <p:bldP spid="69" grpId="0" animBg="1"/>
      <p:bldP spid="7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7CEC25-9033-0EEF-A5D4-E837B0DC5283}"/>
              </a:ext>
            </a:extLst>
          </p:cNvPr>
          <p:cNvSpPr txBox="1"/>
          <p:nvPr/>
        </p:nvSpPr>
        <p:spPr>
          <a:xfrm>
            <a:off x="218485" y="921182"/>
            <a:ext cx="10632395" cy="1477328"/>
          </a:xfrm>
          <a:prstGeom prst="rect">
            <a:avLst/>
          </a:prstGeom>
          <a:noFill/>
        </p:spPr>
        <p:txBody>
          <a:bodyPr wrap="square" rtlCol="0">
            <a:spAutoFit/>
          </a:bodyPr>
          <a:lstStyle/>
          <a:p>
            <a:r>
              <a:rPr lang="en-GB" dirty="0"/>
              <a:t>• Communication is vital in any development project.  It’s important to enable members of the development team to understand the priority of features as well as be aware of changes made to the design.</a:t>
            </a:r>
          </a:p>
          <a:p>
            <a:endParaRPr lang="en-GB" dirty="0"/>
          </a:p>
          <a:p>
            <a:r>
              <a:rPr lang="en-GB" dirty="0"/>
              <a:t>• User stories were created to address the following needs…</a:t>
            </a:r>
          </a:p>
        </p:txBody>
      </p:sp>
      <p:sp>
        <p:nvSpPr>
          <p:cNvPr id="3" name="TextBox 2">
            <a:extLst>
              <a:ext uri="{FF2B5EF4-FFF2-40B4-BE49-F238E27FC236}">
                <a16:creationId xmlns:a16="http://schemas.microsoft.com/office/drawing/2014/main" id="{AEDCF321-D8B9-A9BF-23A3-FF5B5B22BA35}"/>
              </a:ext>
            </a:extLst>
          </p:cNvPr>
          <p:cNvSpPr txBox="1"/>
          <p:nvPr/>
        </p:nvSpPr>
        <p:spPr>
          <a:xfrm>
            <a:off x="2034235" y="283779"/>
            <a:ext cx="8123531" cy="584775"/>
          </a:xfrm>
          <a:prstGeom prst="rect">
            <a:avLst/>
          </a:prstGeom>
          <a:noFill/>
        </p:spPr>
        <p:txBody>
          <a:bodyPr wrap="square" rtlCol="0">
            <a:spAutoFit/>
          </a:bodyPr>
          <a:lstStyle/>
          <a:p>
            <a:pPr algn="ctr"/>
            <a:r>
              <a:rPr lang="en-GB" sz="3200" b="1" dirty="0">
                <a:solidFill>
                  <a:schemeClr val="accent3">
                    <a:lumMod val="60000"/>
                    <a:lumOff val="40000"/>
                  </a:schemeClr>
                </a:solidFill>
              </a:rPr>
              <a:t>User Stories</a:t>
            </a:r>
          </a:p>
        </p:txBody>
      </p:sp>
      <p:sp>
        <p:nvSpPr>
          <p:cNvPr id="4" name="Rectangle 3">
            <a:extLst>
              <a:ext uri="{FF2B5EF4-FFF2-40B4-BE49-F238E27FC236}">
                <a16:creationId xmlns:a16="http://schemas.microsoft.com/office/drawing/2014/main" id="{D0617331-05DC-71B2-367E-1F108E577F72}"/>
              </a:ext>
            </a:extLst>
          </p:cNvPr>
          <p:cNvSpPr/>
          <p:nvPr/>
        </p:nvSpPr>
        <p:spPr>
          <a:xfrm>
            <a:off x="485522" y="2645264"/>
            <a:ext cx="10766854" cy="3970318"/>
          </a:xfrm>
          <a:prstGeom prst="rect">
            <a:avLst/>
          </a:prstGeom>
        </p:spPr>
        <p:txBody>
          <a:bodyPr wrap="square">
            <a:spAutoFit/>
          </a:bodyPr>
          <a:lstStyle/>
          <a:p>
            <a:pPr>
              <a:spcBef>
                <a:spcPts val="400"/>
              </a:spcBef>
              <a:spcAft>
                <a:spcPts val="400"/>
              </a:spcAft>
            </a:pPr>
            <a:r>
              <a:rPr lang="en-GB" sz="1600" dirty="0">
                <a:solidFill>
                  <a:schemeClr val="tx2"/>
                </a:solidFill>
              </a:rPr>
              <a:t>• </a:t>
            </a:r>
            <a:r>
              <a:rPr lang="en-GB" sz="1600" b="1" dirty="0">
                <a:solidFill>
                  <a:schemeClr val="tx2"/>
                </a:solidFill>
              </a:rPr>
              <a:t>Communicate feature priority and value</a:t>
            </a:r>
          </a:p>
          <a:p>
            <a:pPr>
              <a:spcBef>
                <a:spcPts val="400"/>
              </a:spcBef>
              <a:spcAft>
                <a:spcPts val="400"/>
              </a:spcAft>
            </a:pPr>
            <a:r>
              <a:rPr lang="en-GB" sz="1600" dirty="0">
                <a:solidFill>
                  <a:schemeClr val="tx2"/>
                </a:solidFill>
              </a:rPr>
              <a:t>The development team needs to focus on delivering the highest-value features first.</a:t>
            </a:r>
          </a:p>
          <a:p>
            <a:pPr>
              <a:spcBef>
                <a:spcPts val="400"/>
              </a:spcBef>
              <a:spcAft>
                <a:spcPts val="400"/>
              </a:spcAft>
            </a:pPr>
            <a:r>
              <a:rPr lang="en-GB" sz="1600" dirty="0">
                <a:solidFill>
                  <a:schemeClr val="tx2"/>
                </a:solidFill>
              </a:rPr>
              <a:t>• </a:t>
            </a:r>
            <a:r>
              <a:rPr lang="en-GB" sz="1600" b="1" dirty="0">
                <a:solidFill>
                  <a:schemeClr val="tx2"/>
                </a:solidFill>
              </a:rPr>
              <a:t>Enables change and communication of change</a:t>
            </a:r>
          </a:p>
          <a:p>
            <a:pPr>
              <a:spcBef>
                <a:spcPts val="400"/>
              </a:spcBef>
              <a:spcAft>
                <a:spcPts val="400"/>
              </a:spcAft>
            </a:pPr>
            <a:r>
              <a:rPr lang="en-GB" sz="1600" dirty="0">
                <a:solidFill>
                  <a:schemeClr val="tx2"/>
                </a:solidFill>
              </a:rPr>
              <a:t>Changes will occur throughout a project and discussions about those changes need to happen regularly and frequently.</a:t>
            </a:r>
          </a:p>
          <a:p>
            <a:pPr>
              <a:spcBef>
                <a:spcPts val="400"/>
              </a:spcBef>
              <a:spcAft>
                <a:spcPts val="400"/>
              </a:spcAft>
            </a:pPr>
            <a:r>
              <a:rPr lang="en-GB" sz="1600" dirty="0">
                <a:solidFill>
                  <a:schemeClr val="tx2"/>
                </a:solidFill>
              </a:rPr>
              <a:t>• </a:t>
            </a:r>
            <a:r>
              <a:rPr lang="en-GB" sz="1600" b="1" dirty="0">
                <a:solidFill>
                  <a:schemeClr val="tx2"/>
                </a:solidFill>
              </a:rPr>
              <a:t>Is a placeholder for future communication</a:t>
            </a:r>
          </a:p>
          <a:p>
            <a:pPr>
              <a:spcBef>
                <a:spcPts val="400"/>
              </a:spcBef>
              <a:spcAft>
                <a:spcPts val="400"/>
              </a:spcAft>
            </a:pPr>
            <a:r>
              <a:rPr lang="en-GB" sz="1600" dirty="0">
                <a:solidFill>
                  <a:schemeClr val="tx2"/>
                </a:solidFill>
              </a:rPr>
              <a:t>Provide scope to elaborate on ideas further into development.</a:t>
            </a:r>
          </a:p>
          <a:p>
            <a:pPr>
              <a:spcBef>
                <a:spcPts val="400"/>
              </a:spcBef>
              <a:spcAft>
                <a:spcPts val="400"/>
              </a:spcAft>
            </a:pPr>
            <a:r>
              <a:rPr lang="en-GB" sz="1600" dirty="0">
                <a:solidFill>
                  <a:schemeClr val="tx2"/>
                </a:solidFill>
              </a:rPr>
              <a:t>• </a:t>
            </a:r>
            <a:r>
              <a:rPr lang="en-GB" sz="1600" b="1" dirty="0">
                <a:solidFill>
                  <a:schemeClr val="tx2"/>
                </a:solidFill>
              </a:rPr>
              <a:t>Enables details to emerge as more information is learned</a:t>
            </a:r>
          </a:p>
          <a:p>
            <a:pPr>
              <a:spcBef>
                <a:spcPts val="400"/>
              </a:spcBef>
              <a:spcAft>
                <a:spcPts val="400"/>
              </a:spcAft>
            </a:pPr>
            <a:r>
              <a:rPr lang="en-GB" sz="1600" dirty="0">
                <a:solidFill>
                  <a:schemeClr val="tx2"/>
                </a:solidFill>
              </a:rPr>
              <a:t>Facilitate the inclusion of new knowledge and elaborate on features or propose changes based on this.</a:t>
            </a:r>
          </a:p>
          <a:p>
            <a:pPr>
              <a:spcBef>
                <a:spcPts val="400"/>
              </a:spcBef>
              <a:spcAft>
                <a:spcPts val="400"/>
              </a:spcAft>
            </a:pPr>
            <a:r>
              <a:rPr lang="en-GB" sz="1600" dirty="0">
                <a:solidFill>
                  <a:schemeClr val="tx2"/>
                </a:solidFill>
              </a:rPr>
              <a:t>• </a:t>
            </a:r>
            <a:r>
              <a:rPr lang="en-GB" sz="1600" b="1" dirty="0">
                <a:solidFill>
                  <a:schemeClr val="tx2"/>
                </a:solidFill>
              </a:rPr>
              <a:t>Enables continuing refinement of the work estimated for each feature as the team learns more</a:t>
            </a:r>
          </a:p>
          <a:p>
            <a:pPr>
              <a:spcBef>
                <a:spcPts val="400"/>
              </a:spcBef>
              <a:spcAft>
                <a:spcPts val="400"/>
              </a:spcAft>
            </a:pPr>
            <a:r>
              <a:rPr lang="en-GB" sz="1600" dirty="0">
                <a:solidFill>
                  <a:schemeClr val="tx2"/>
                </a:solidFill>
              </a:rPr>
              <a:t>Uncertain features can’t have precise estimates. Accuracy can grow as the feature requirements are refined.</a:t>
            </a:r>
            <a:endParaRPr lang="en-GB" sz="1600" b="0" i="0" dirty="0">
              <a:solidFill>
                <a:schemeClr val="tx2"/>
              </a:solidFill>
              <a:effectLst/>
            </a:endParaRPr>
          </a:p>
        </p:txBody>
      </p:sp>
    </p:spTree>
    <p:extLst>
      <p:ext uri="{BB962C8B-B14F-4D97-AF65-F5344CB8AC3E}">
        <p14:creationId xmlns:p14="http://schemas.microsoft.com/office/powerpoint/2010/main" val="3704561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765A9D-2EAE-8D10-786F-AF399E7AB2F1}"/>
              </a:ext>
            </a:extLst>
          </p:cNvPr>
          <p:cNvSpPr txBox="1"/>
          <p:nvPr/>
        </p:nvSpPr>
        <p:spPr>
          <a:xfrm>
            <a:off x="222531" y="921182"/>
            <a:ext cx="10628349" cy="2308324"/>
          </a:xfrm>
          <a:prstGeom prst="rect">
            <a:avLst/>
          </a:prstGeom>
          <a:noFill/>
        </p:spPr>
        <p:txBody>
          <a:bodyPr wrap="square" rtlCol="0">
            <a:spAutoFit/>
          </a:bodyPr>
          <a:lstStyle/>
          <a:p>
            <a:r>
              <a:rPr lang="en-GB" dirty="0"/>
              <a:t>• In any game development project there are many people involved, all speaking their respective languages (programmers use different jargon from artists for example).  User Stories get around this by expressing features in terms of what they are, and the feature has for the user (the player, stakeholders or any member of the development team.)</a:t>
            </a:r>
          </a:p>
          <a:p>
            <a:endParaRPr lang="en-GB" dirty="0"/>
          </a:p>
          <a:p>
            <a:r>
              <a:rPr lang="en-GB" dirty="0"/>
              <a:t>• User Stories have a very basic structure:</a:t>
            </a:r>
          </a:p>
          <a:p>
            <a:endParaRPr lang="en-GB" dirty="0"/>
          </a:p>
          <a:p>
            <a:r>
              <a:rPr lang="en-GB" b="1" dirty="0">
                <a:latin typeface="Consolas" panose="020B0609020204030204" pitchFamily="49" charset="0"/>
              </a:rPr>
              <a:t>	As a &lt;</a:t>
            </a:r>
            <a:r>
              <a:rPr lang="en-GB" b="1" dirty="0">
                <a:solidFill>
                  <a:srgbClr val="00B050"/>
                </a:solidFill>
                <a:latin typeface="Consolas" panose="020B0609020204030204" pitchFamily="49" charset="0"/>
              </a:rPr>
              <a:t>user role</a:t>
            </a:r>
            <a:r>
              <a:rPr lang="en-GB" b="1" dirty="0">
                <a:latin typeface="Consolas" panose="020B0609020204030204" pitchFamily="49" charset="0"/>
              </a:rPr>
              <a:t>&gt;, I want &lt;</a:t>
            </a:r>
            <a:r>
              <a:rPr lang="en-GB" b="1" dirty="0">
                <a:solidFill>
                  <a:schemeClr val="bg2">
                    <a:lumMod val="40000"/>
                    <a:lumOff val="60000"/>
                  </a:schemeClr>
                </a:solidFill>
                <a:latin typeface="Consolas" panose="020B0609020204030204" pitchFamily="49" charset="0"/>
              </a:rPr>
              <a:t>goal</a:t>
            </a:r>
            <a:r>
              <a:rPr lang="en-GB" b="1" dirty="0">
                <a:latin typeface="Consolas" panose="020B0609020204030204" pitchFamily="49" charset="0"/>
              </a:rPr>
              <a:t>&gt; </a:t>
            </a:r>
            <a:r>
              <a:rPr lang="en-GB" b="1" dirty="0">
                <a:solidFill>
                  <a:schemeClr val="accent1"/>
                </a:solidFill>
                <a:latin typeface="Consolas" panose="020B0609020204030204" pitchFamily="49" charset="0"/>
              </a:rPr>
              <a:t>so that &lt;reason&gt;</a:t>
            </a:r>
            <a:r>
              <a:rPr lang="en-GB" b="1" dirty="0">
                <a:latin typeface="Consolas" panose="020B0609020204030204" pitchFamily="49" charset="0"/>
              </a:rPr>
              <a:t>.</a:t>
            </a:r>
            <a:r>
              <a:rPr lang="en-GB" b="1" dirty="0">
                <a:solidFill>
                  <a:schemeClr val="accent1"/>
                </a:solidFill>
                <a:latin typeface="Consolas" panose="020B0609020204030204" pitchFamily="49" charset="0"/>
              </a:rPr>
              <a:t> </a:t>
            </a:r>
            <a:r>
              <a:rPr lang="en-GB" sz="1400" i="1" dirty="0"/>
              <a:t>The last (red) part is optional</a:t>
            </a:r>
            <a:endParaRPr lang="en-GB" b="1" dirty="0"/>
          </a:p>
        </p:txBody>
      </p:sp>
      <p:sp>
        <p:nvSpPr>
          <p:cNvPr id="3" name="TextBox 2">
            <a:extLst>
              <a:ext uri="{FF2B5EF4-FFF2-40B4-BE49-F238E27FC236}">
                <a16:creationId xmlns:a16="http://schemas.microsoft.com/office/drawing/2014/main" id="{C1500BCB-8B71-B1A7-F30F-6646455FFD5F}"/>
              </a:ext>
            </a:extLst>
          </p:cNvPr>
          <p:cNvSpPr txBox="1"/>
          <p:nvPr/>
        </p:nvSpPr>
        <p:spPr>
          <a:xfrm>
            <a:off x="2034235" y="283779"/>
            <a:ext cx="8123531" cy="584775"/>
          </a:xfrm>
          <a:prstGeom prst="rect">
            <a:avLst/>
          </a:prstGeom>
          <a:noFill/>
        </p:spPr>
        <p:txBody>
          <a:bodyPr wrap="square" rtlCol="0">
            <a:spAutoFit/>
          </a:bodyPr>
          <a:lstStyle/>
          <a:p>
            <a:pPr algn="ctr"/>
            <a:r>
              <a:rPr lang="en-GB" sz="3200" b="1" dirty="0">
                <a:solidFill>
                  <a:schemeClr val="accent3">
                    <a:lumMod val="60000"/>
                    <a:lumOff val="40000"/>
                  </a:schemeClr>
                </a:solidFill>
              </a:rPr>
              <a:t>User Stories</a:t>
            </a:r>
          </a:p>
        </p:txBody>
      </p:sp>
      <p:sp>
        <p:nvSpPr>
          <p:cNvPr id="4" name="TextBox 3">
            <a:extLst>
              <a:ext uri="{FF2B5EF4-FFF2-40B4-BE49-F238E27FC236}">
                <a16:creationId xmlns:a16="http://schemas.microsoft.com/office/drawing/2014/main" id="{6CF085BE-AFD5-0030-20D3-AC6E7FB3091A}"/>
              </a:ext>
            </a:extLst>
          </p:cNvPr>
          <p:cNvSpPr txBox="1"/>
          <p:nvPr/>
        </p:nvSpPr>
        <p:spPr>
          <a:xfrm>
            <a:off x="222531" y="3363701"/>
            <a:ext cx="10628349" cy="3416320"/>
          </a:xfrm>
          <a:prstGeom prst="rect">
            <a:avLst/>
          </a:prstGeom>
          <a:noFill/>
        </p:spPr>
        <p:txBody>
          <a:bodyPr wrap="square" rtlCol="0">
            <a:spAutoFit/>
          </a:bodyPr>
          <a:lstStyle/>
          <a:p>
            <a:r>
              <a:rPr lang="en-GB" dirty="0"/>
              <a:t>• Some examples…</a:t>
            </a:r>
          </a:p>
          <a:p>
            <a:endParaRPr lang="en-GB" dirty="0"/>
          </a:p>
          <a:p>
            <a:r>
              <a:rPr lang="en-GB" dirty="0"/>
              <a:t>As a </a:t>
            </a:r>
            <a:r>
              <a:rPr lang="en-GB" dirty="0">
                <a:solidFill>
                  <a:srgbClr val="00B050"/>
                </a:solidFill>
              </a:rPr>
              <a:t>player</a:t>
            </a:r>
            <a:r>
              <a:rPr lang="en-GB" dirty="0"/>
              <a:t>, I want </a:t>
            </a:r>
            <a:r>
              <a:rPr lang="en-GB" dirty="0">
                <a:solidFill>
                  <a:schemeClr val="bg2">
                    <a:lumMod val="40000"/>
                    <a:lumOff val="60000"/>
                  </a:schemeClr>
                </a:solidFill>
              </a:rPr>
              <a:t>a player mute button </a:t>
            </a:r>
            <a:r>
              <a:rPr lang="en-GB" dirty="0"/>
              <a:t>so that </a:t>
            </a:r>
            <a:r>
              <a:rPr lang="en-GB" dirty="0">
                <a:solidFill>
                  <a:schemeClr val="accent1"/>
                </a:solidFill>
              </a:rPr>
              <a:t>I stop being distracted by some of the other players online</a:t>
            </a:r>
            <a:r>
              <a:rPr lang="en-GB" dirty="0"/>
              <a:t>.</a:t>
            </a:r>
          </a:p>
          <a:p>
            <a:endParaRPr lang="en-GB" dirty="0"/>
          </a:p>
          <a:p>
            <a:r>
              <a:rPr lang="en-GB" dirty="0"/>
              <a:t>As a </a:t>
            </a:r>
            <a:r>
              <a:rPr lang="en-GB" dirty="0">
                <a:solidFill>
                  <a:srgbClr val="00B050"/>
                </a:solidFill>
              </a:rPr>
              <a:t>player</a:t>
            </a:r>
            <a:r>
              <a:rPr lang="en-GB" dirty="0"/>
              <a:t>, I want </a:t>
            </a:r>
            <a:r>
              <a:rPr lang="en-GB" dirty="0">
                <a:solidFill>
                  <a:schemeClr val="bg2">
                    <a:lumMod val="40000"/>
                    <a:lumOff val="60000"/>
                  </a:schemeClr>
                </a:solidFill>
              </a:rPr>
              <a:t>to see how many lives I’ve got left</a:t>
            </a:r>
          </a:p>
          <a:p>
            <a:endParaRPr lang="en-GB" dirty="0"/>
          </a:p>
          <a:p>
            <a:r>
              <a:rPr lang="en-GB" dirty="0"/>
              <a:t>As an </a:t>
            </a:r>
            <a:r>
              <a:rPr lang="en-GB" dirty="0">
                <a:solidFill>
                  <a:srgbClr val="00B050"/>
                </a:solidFill>
              </a:rPr>
              <a:t>animator</a:t>
            </a:r>
            <a:r>
              <a:rPr lang="en-GB" dirty="0"/>
              <a:t>, I want </a:t>
            </a:r>
            <a:r>
              <a:rPr lang="en-GB" dirty="0">
                <a:solidFill>
                  <a:schemeClr val="bg2">
                    <a:lumMod val="40000"/>
                    <a:lumOff val="60000"/>
                  </a:schemeClr>
                </a:solidFill>
              </a:rPr>
              <a:t>to change animations directly in the game without restarting it</a:t>
            </a:r>
            <a:r>
              <a:rPr lang="en-GB" dirty="0"/>
              <a:t> so that </a:t>
            </a:r>
            <a:r>
              <a:rPr lang="en-GB" dirty="0">
                <a:solidFill>
                  <a:schemeClr val="accent1"/>
                </a:solidFill>
              </a:rPr>
              <a:t>I can iterate faster on animations</a:t>
            </a:r>
            <a:r>
              <a:rPr lang="en-GB" dirty="0"/>
              <a:t>.</a:t>
            </a:r>
          </a:p>
          <a:p>
            <a:endParaRPr lang="en-GB" dirty="0"/>
          </a:p>
          <a:p>
            <a:r>
              <a:rPr lang="en-GB" dirty="0"/>
              <a:t>As a </a:t>
            </a:r>
            <a:r>
              <a:rPr lang="en-GB" dirty="0">
                <a:solidFill>
                  <a:srgbClr val="00B050"/>
                </a:solidFill>
              </a:rPr>
              <a:t>3D modeler</a:t>
            </a:r>
            <a:r>
              <a:rPr lang="en-GB" dirty="0"/>
              <a:t>, I want </a:t>
            </a:r>
            <a:r>
              <a:rPr lang="en-GB" dirty="0">
                <a:solidFill>
                  <a:schemeClr val="bg2">
                    <a:lumMod val="40000"/>
                    <a:lumOff val="60000"/>
                  </a:schemeClr>
                </a:solidFill>
              </a:rPr>
              <a:t>the exporter to report stats on the resulting file </a:t>
            </a:r>
            <a:r>
              <a:rPr lang="en-GB" dirty="0"/>
              <a:t>so that </a:t>
            </a:r>
            <a:r>
              <a:rPr lang="en-GB" dirty="0">
                <a:solidFill>
                  <a:schemeClr val="accent1"/>
                </a:solidFill>
              </a:rPr>
              <a:t>I can ensure the output fits into the game’s memory constraints</a:t>
            </a:r>
            <a:r>
              <a:rPr lang="en-GB" dirty="0"/>
              <a:t>.</a:t>
            </a:r>
          </a:p>
        </p:txBody>
      </p:sp>
    </p:spTree>
    <p:extLst>
      <p:ext uri="{BB962C8B-B14F-4D97-AF65-F5344CB8AC3E}">
        <p14:creationId xmlns:p14="http://schemas.microsoft.com/office/powerpoint/2010/main" val="3938125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571396-05E2-3AB1-3AA2-A4D231830E6E}"/>
              </a:ext>
            </a:extLst>
          </p:cNvPr>
          <p:cNvSpPr txBox="1"/>
          <p:nvPr/>
        </p:nvSpPr>
        <p:spPr>
          <a:xfrm>
            <a:off x="426719" y="1297462"/>
            <a:ext cx="10699829" cy="3416320"/>
          </a:xfrm>
          <a:prstGeom prst="rect">
            <a:avLst/>
          </a:prstGeom>
          <a:noFill/>
        </p:spPr>
        <p:txBody>
          <a:bodyPr wrap="square" rtlCol="0">
            <a:spAutoFit/>
          </a:bodyPr>
          <a:lstStyle/>
          <a:p>
            <a:r>
              <a:rPr lang="en-GB" dirty="0"/>
              <a:t>• User Stories can drive sprints in the Scrum framework.  Typically, User Stories are prioritised and selected for implementation.</a:t>
            </a:r>
          </a:p>
          <a:p>
            <a:endParaRPr lang="en-GB" b="1" dirty="0"/>
          </a:p>
          <a:p>
            <a:r>
              <a:rPr lang="en-GB" dirty="0"/>
              <a:t>• High priority User Stories that are too big to be completed in a single 2–4-week sprint are referred to as </a:t>
            </a:r>
            <a:r>
              <a:rPr lang="en-GB" b="1" i="1" dirty="0"/>
              <a:t>epics</a:t>
            </a:r>
            <a:r>
              <a:rPr lang="en-GB" dirty="0"/>
              <a:t>.  Epics are broken down into smaller User Stories, during which the related requirements are elaborated upon.  This process allows more detail and clarity to emerge.</a:t>
            </a:r>
          </a:p>
          <a:p>
            <a:endParaRPr lang="en-GB" dirty="0"/>
          </a:p>
          <a:p>
            <a:r>
              <a:rPr lang="en-GB" dirty="0"/>
              <a:t>• Alternatively, when User Stories are broken down into smaller stories, these smaller stories can form “Conditions of Satisfaction”.  These are testable outcomes that can be evaluated at the end of a sprint.</a:t>
            </a:r>
          </a:p>
          <a:p>
            <a:endParaRPr lang="en-GB" b="1" dirty="0"/>
          </a:p>
          <a:p>
            <a:endParaRPr lang="en-GB" b="1" dirty="0"/>
          </a:p>
        </p:txBody>
      </p:sp>
      <p:sp>
        <p:nvSpPr>
          <p:cNvPr id="3" name="TextBox 2">
            <a:extLst>
              <a:ext uri="{FF2B5EF4-FFF2-40B4-BE49-F238E27FC236}">
                <a16:creationId xmlns:a16="http://schemas.microsoft.com/office/drawing/2014/main" id="{7720902F-0747-AF2F-625E-8BB5FA8C7B6B}"/>
              </a:ext>
            </a:extLst>
          </p:cNvPr>
          <p:cNvSpPr txBox="1"/>
          <p:nvPr/>
        </p:nvSpPr>
        <p:spPr>
          <a:xfrm>
            <a:off x="2034235" y="283779"/>
            <a:ext cx="8123531" cy="584775"/>
          </a:xfrm>
          <a:prstGeom prst="rect">
            <a:avLst/>
          </a:prstGeom>
          <a:noFill/>
        </p:spPr>
        <p:txBody>
          <a:bodyPr wrap="square" rtlCol="0">
            <a:spAutoFit/>
          </a:bodyPr>
          <a:lstStyle/>
          <a:p>
            <a:pPr algn="ctr"/>
            <a:r>
              <a:rPr lang="en-GB" sz="3200" b="1" dirty="0">
                <a:solidFill>
                  <a:schemeClr val="accent3">
                    <a:lumMod val="60000"/>
                    <a:lumOff val="40000"/>
                  </a:schemeClr>
                </a:solidFill>
              </a:rPr>
              <a:t>User Stories</a:t>
            </a:r>
          </a:p>
        </p:txBody>
      </p:sp>
    </p:spTree>
    <p:extLst>
      <p:ext uri="{BB962C8B-B14F-4D97-AF65-F5344CB8AC3E}">
        <p14:creationId xmlns:p14="http://schemas.microsoft.com/office/powerpoint/2010/main" val="1462441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ABE421-BF96-CF65-574D-245B2B11BEC3}"/>
              </a:ext>
            </a:extLst>
          </p:cNvPr>
          <p:cNvSpPr txBox="1"/>
          <p:nvPr/>
        </p:nvSpPr>
        <p:spPr>
          <a:xfrm>
            <a:off x="337559" y="921182"/>
            <a:ext cx="10513321" cy="2031325"/>
          </a:xfrm>
          <a:prstGeom prst="rect">
            <a:avLst/>
          </a:prstGeom>
          <a:noFill/>
        </p:spPr>
        <p:txBody>
          <a:bodyPr wrap="square" rtlCol="0">
            <a:spAutoFit/>
          </a:bodyPr>
          <a:lstStyle/>
          <a:p>
            <a:r>
              <a:rPr lang="en-GB" dirty="0"/>
              <a:t>• Building on the ideas of focusing on customer needs, Kanban is a visual approach that aims to give a better understanding of the work and workflow.  It emphasises customer focus and evolutionary change.</a:t>
            </a:r>
          </a:p>
          <a:p>
            <a:endParaRPr lang="en-GB" dirty="0"/>
          </a:p>
          <a:p>
            <a:r>
              <a:rPr lang="en-GB" dirty="0"/>
              <a:t>• Work is shown on the Kanban board.  This is application dependent, but shows the progression of work from initial Epics / User Stories to work-in-progress and then completed User Stories and Epics…</a:t>
            </a:r>
            <a:endParaRPr lang="en-GB" b="1" dirty="0"/>
          </a:p>
        </p:txBody>
      </p:sp>
      <p:sp>
        <p:nvSpPr>
          <p:cNvPr id="3" name="TextBox 2">
            <a:extLst>
              <a:ext uri="{FF2B5EF4-FFF2-40B4-BE49-F238E27FC236}">
                <a16:creationId xmlns:a16="http://schemas.microsoft.com/office/drawing/2014/main" id="{B41FBD5D-33ED-7E6E-03AE-0D3E3873C591}"/>
              </a:ext>
            </a:extLst>
          </p:cNvPr>
          <p:cNvSpPr txBox="1"/>
          <p:nvPr/>
        </p:nvSpPr>
        <p:spPr>
          <a:xfrm>
            <a:off x="2034235" y="283779"/>
            <a:ext cx="8123531" cy="584775"/>
          </a:xfrm>
          <a:prstGeom prst="rect">
            <a:avLst/>
          </a:prstGeom>
          <a:noFill/>
        </p:spPr>
        <p:txBody>
          <a:bodyPr wrap="square" rtlCol="0">
            <a:spAutoFit/>
          </a:bodyPr>
          <a:lstStyle/>
          <a:p>
            <a:pPr algn="ctr"/>
            <a:r>
              <a:rPr lang="en-GB" sz="3200" b="1" dirty="0">
                <a:solidFill>
                  <a:schemeClr val="accent3">
                    <a:lumMod val="60000"/>
                    <a:lumOff val="40000"/>
                  </a:schemeClr>
                </a:solidFill>
              </a:rPr>
              <a:t>Kanban</a:t>
            </a:r>
          </a:p>
        </p:txBody>
      </p:sp>
      <p:pic>
        <p:nvPicPr>
          <p:cNvPr id="4" name="Picture 2" descr="Sample Kanban Board.png">
            <a:extLst>
              <a:ext uri="{FF2B5EF4-FFF2-40B4-BE49-F238E27FC236}">
                <a16:creationId xmlns:a16="http://schemas.microsoft.com/office/drawing/2014/main" id="{7F6DD822-2C5E-538F-8AF5-FEAC5DB33F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5665" y="2876719"/>
            <a:ext cx="6430799" cy="354517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35D43377-645B-F60D-FA3D-CEF76A7674B2}"/>
              </a:ext>
            </a:extLst>
          </p:cNvPr>
          <p:cNvSpPr/>
          <p:nvPr/>
        </p:nvSpPr>
        <p:spPr>
          <a:xfrm>
            <a:off x="5841537" y="6421891"/>
            <a:ext cx="3244799" cy="261610"/>
          </a:xfrm>
          <a:prstGeom prst="rect">
            <a:avLst/>
          </a:prstGeom>
        </p:spPr>
        <p:txBody>
          <a:bodyPr wrap="none">
            <a:spAutoFit/>
          </a:bodyPr>
          <a:lstStyle/>
          <a:p>
            <a:r>
              <a:rPr lang="en-GB" sz="1100" i="1" dirty="0"/>
              <a:t>https://en.wikipedia.org/wiki/Kanban_(development)</a:t>
            </a:r>
          </a:p>
        </p:txBody>
      </p:sp>
    </p:spTree>
    <p:extLst>
      <p:ext uri="{BB962C8B-B14F-4D97-AF65-F5344CB8AC3E}">
        <p14:creationId xmlns:p14="http://schemas.microsoft.com/office/powerpoint/2010/main" val="19256575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E28F22-DC5E-EA8D-99BB-4BE6BCC7BC02}"/>
              </a:ext>
            </a:extLst>
          </p:cNvPr>
          <p:cNvSpPr txBox="1"/>
          <p:nvPr/>
        </p:nvSpPr>
        <p:spPr>
          <a:xfrm>
            <a:off x="2034235" y="283779"/>
            <a:ext cx="8123531" cy="584775"/>
          </a:xfrm>
          <a:prstGeom prst="rect">
            <a:avLst/>
          </a:prstGeom>
          <a:noFill/>
        </p:spPr>
        <p:txBody>
          <a:bodyPr wrap="square" rtlCol="0">
            <a:spAutoFit/>
          </a:bodyPr>
          <a:lstStyle/>
          <a:p>
            <a:pPr algn="ctr"/>
            <a:r>
              <a:rPr lang="en-GB" sz="3200" b="1" dirty="0">
                <a:solidFill>
                  <a:schemeClr val="accent3">
                    <a:lumMod val="60000"/>
                    <a:lumOff val="40000"/>
                  </a:schemeClr>
                </a:solidFill>
              </a:rPr>
              <a:t>Kanban</a:t>
            </a:r>
          </a:p>
        </p:txBody>
      </p:sp>
      <p:pic>
        <p:nvPicPr>
          <p:cNvPr id="4" name="Picture 3">
            <a:extLst>
              <a:ext uri="{FF2B5EF4-FFF2-40B4-BE49-F238E27FC236}">
                <a16:creationId xmlns:a16="http://schemas.microsoft.com/office/drawing/2014/main" id="{F66856D3-A2C0-6145-A5E6-C0D9951FA874}"/>
              </a:ext>
            </a:extLst>
          </p:cNvPr>
          <p:cNvPicPr>
            <a:picLocks noChangeAspect="1"/>
          </p:cNvPicPr>
          <p:nvPr/>
        </p:nvPicPr>
        <p:blipFill>
          <a:blip r:embed="rId2"/>
          <a:srcRect l="488" t="1174" r="597" b="778"/>
          <a:stretch/>
        </p:blipFill>
        <p:spPr>
          <a:xfrm>
            <a:off x="5543296" y="1661428"/>
            <a:ext cx="6567424" cy="4920487"/>
          </a:xfrm>
          <a:prstGeom prst="rect">
            <a:avLst/>
          </a:prstGeom>
        </p:spPr>
      </p:pic>
      <p:sp>
        <p:nvSpPr>
          <p:cNvPr id="5" name="TextBox 4">
            <a:extLst>
              <a:ext uri="{FF2B5EF4-FFF2-40B4-BE49-F238E27FC236}">
                <a16:creationId xmlns:a16="http://schemas.microsoft.com/office/drawing/2014/main" id="{9B039239-2753-680B-7B78-16027C3A1E76}"/>
              </a:ext>
            </a:extLst>
          </p:cNvPr>
          <p:cNvSpPr txBox="1"/>
          <p:nvPr/>
        </p:nvSpPr>
        <p:spPr>
          <a:xfrm>
            <a:off x="337559" y="953796"/>
            <a:ext cx="10513321" cy="923330"/>
          </a:xfrm>
          <a:prstGeom prst="rect">
            <a:avLst/>
          </a:prstGeom>
          <a:noFill/>
        </p:spPr>
        <p:txBody>
          <a:bodyPr wrap="square" rtlCol="0">
            <a:spAutoFit/>
          </a:bodyPr>
          <a:lstStyle/>
          <a:p>
            <a:r>
              <a:rPr lang="en-GB" dirty="0"/>
              <a:t>• Kanban started in the Toyota factory in the late 1940s, as a way to visually track production and ordering new parts. It gained in popularity and soon found its way into the software industry. </a:t>
            </a:r>
            <a:endParaRPr lang="en-GB" b="1" dirty="0"/>
          </a:p>
        </p:txBody>
      </p:sp>
      <p:sp>
        <p:nvSpPr>
          <p:cNvPr id="6" name="TextBox 5">
            <a:extLst>
              <a:ext uri="{FF2B5EF4-FFF2-40B4-BE49-F238E27FC236}">
                <a16:creationId xmlns:a16="http://schemas.microsoft.com/office/drawing/2014/main" id="{79122021-B341-AB4F-7996-87829E644E93}"/>
              </a:ext>
            </a:extLst>
          </p:cNvPr>
          <p:cNvSpPr txBox="1"/>
          <p:nvPr/>
        </p:nvSpPr>
        <p:spPr>
          <a:xfrm>
            <a:off x="8289041" y="6574221"/>
            <a:ext cx="3955791" cy="215444"/>
          </a:xfrm>
          <a:prstGeom prst="rect">
            <a:avLst/>
          </a:prstGeom>
          <a:noFill/>
        </p:spPr>
        <p:txBody>
          <a:bodyPr wrap="square" rtlCol="0">
            <a:spAutoFit/>
          </a:bodyPr>
          <a:lstStyle/>
          <a:p>
            <a:r>
              <a:rPr lang="en-GB" sz="800" dirty="0"/>
              <a:t>Phasmophobia Trello Board: https://trello.com/b/9QrnqQ1j/phasmophobia</a:t>
            </a:r>
          </a:p>
        </p:txBody>
      </p:sp>
      <p:sp>
        <p:nvSpPr>
          <p:cNvPr id="7" name="TextBox 6">
            <a:extLst>
              <a:ext uri="{FF2B5EF4-FFF2-40B4-BE49-F238E27FC236}">
                <a16:creationId xmlns:a16="http://schemas.microsoft.com/office/drawing/2014/main" id="{0F0C0D78-7D9D-A82B-A757-72BE09A2AC38}"/>
              </a:ext>
            </a:extLst>
          </p:cNvPr>
          <p:cNvSpPr txBox="1"/>
          <p:nvPr/>
        </p:nvSpPr>
        <p:spPr>
          <a:xfrm>
            <a:off x="337559" y="1962368"/>
            <a:ext cx="5124457" cy="4247317"/>
          </a:xfrm>
          <a:prstGeom prst="rect">
            <a:avLst/>
          </a:prstGeom>
          <a:noFill/>
        </p:spPr>
        <p:txBody>
          <a:bodyPr wrap="square" rtlCol="0">
            <a:spAutoFit/>
          </a:bodyPr>
          <a:lstStyle/>
          <a:p>
            <a:pPr marL="285750" indent="-285750">
              <a:buFont typeface="Arial" panose="020B0604020202020204" pitchFamily="34" charset="0"/>
              <a:buChar char="•"/>
            </a:pPr>
            <a:r>
              <a:rPr lang="en-GB" dirty="0"/>
              <a:t>Kanban started in the Toyota factory in the late 1940s, as a way to visually track production and ordering new parts. It gained in popularity and soon found its way into the software industry.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Kanban is less about sprints, like Scrum, and more flowing, where items on the board can move back and forth during development. Elements of Scrum can be used with Kanban, depending on the needs of the project and the team.</a:t>
            </a:r>
          </a:p>
          <a:p>
            <a:endParaRPr lang="en-GB" dirty="0"/>
          </a:p>
          <a:p>
            <a:pPr marL="285750" indent="-285750">
              <a:buFont typeface="Arial" panose="020B0604020202020204" pitchFamily="34" charset="0"/>
              <a:buChar char="•"/>
            </a:pPr>
            <a:r>
              <a:rPr lang="en-GB" dirty="0"/>
              <a:t>There are a few useful Kanban tools, such as Trello and Jira. </a:t>
            </a:r>
          </a:p>
        </p:txBody>
      </p:sp>
    </p:spTree>
    <p:extLst>
      <p:ext uri="{BB962C8B-B14F-4D97-AF65-F5344CB8AC3E}">
        <p14:creationId xmlns:p14="http://schemas.microsoft.com/office/powerpoint/2010/main" val="30440356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7A0F11-5794-54B8-C13E-8089BDB06F37}"/>
              </a:ext>
            </a:extLst>
          </p:cNvPr>
          <p:cNvSpPr txBox="1"/>
          <p:nvPr/>
        </p:nvSpPr>
        <p:spPr>
          <a:xfrm>
            <a:off x="396510" y="1172035"/>
            <a:ext cx="10454370" cy="4801314"/>
          </a:xfrm>
          <a:prstGeom prst="rect">
            <a:avLst/>
          </a:prstGeom>
          <a:noFill/>
        </p:spPr>
        <p:txBody>
          <a:bodyPr wrap="square" rtlCol="0">
            <a:spAutoFit/>
          </a:bodyPr>
          <a:lstStyle/>
          <a:p>
            <a:r>
              <a:rPr lang="en-GB" dirty="0"/>
              <a:t>• Prototyping is important in both testing gameplay and ideas as well as mitigating risk by exploring high-risk aspects of the software.</a:t>
            </a:r>
          </a:p>
          <a:p>
            <a:endParaRPr lang="en-GB" dirty="0"/>
          </a:p>
          <a:p>
            <a:r>
              <a:rPr lang="en-GB" dirty="0"/>
              <a:t>• We considered some approaches above – throwaway prototyping and evolutionary prototyping, and how they fit into wider methodologies.  But other approaches are available to us…</a:t>
            </a:r>
          </a:p>
          <a:p>
            <a:endParaRPr lang="en-GB" dirty="0"/>
          </a:p>
          <a:p>
            <a:pPr marL="285750" indent="-285750">
              <a:buFontTx/>
              <a:buChar char="-"/>
            </a:pPr>
            <a:r>
              <a:rPr lang="en-GB" b="1" dirty="0"/>
              <a:t>Paper-based prototyping</a:t>
            </a:r>
            <a:r>
              <a:rPr lang="en-GB" dirty="0"/>
              <a:t> (</a:t>
            </a:r>
            <a:r>
              <a:rPr lang="en-GB" i="1" dirty="0"/>
              <a:t>throwaway</a:t>
            </a:r>
            <a:r>
              <a:rPr lang="en-GB" dirty="0"/>
              <a:t>) – A quick, rough method that allows the developer to test ideas out on paper.  Elements can be moved, and system responses can be “played out” to test ideas.</a:t>
            </a:r>
          </a:p>
          <a:p>
            <a:pPr marL="285750" indent="-285750">
              <a:buFontTx/>
              <a:buChar char="-"/>
            </a:pPr>
            <a:endParaRPr lang="en-GB" dirty="0"/>
          </a:p>
          <a:p>
            <a:pPr marL="285750" indent="-285750">
              <a:buFontTx/>
              <a:buChar char="-"/>
            </a:pPr>
            <a:r>
              <a:rPr lang="en-GB" b="1" dirty="0"/>
              <a:t>Incremental Prototyping </a:t>
            </a:r>
            <a:r>
              <a:rPr lang="en-GB" dirty="0"/>
              <a:t>– The software is developed as a set of separate prototypes, each implementing and testing a different section of the system.  These are then combined, according to a given design, the form the complete system.</a:t>
            </a:r>
          </a:p>
          <a:p>
            <a:pPr marL="285750" indent="-285750">
              <a:buFontTx/>
              <a:buChar char="-"/>
            </a:pPr>
            <a:endParaRPr lang="en-GB" dirty="0"/>
          </a:p>
          <a:p>
            <a:pPr marL="285750" indent="-285750">
              <a:buFontTx/>
              <a:buChar char="-"/>
            </a:pPr>
            <a:r>
              <a:rPr lang="en-GB" b="1" dirty="0"/>
              <a:t>Extreme Prototyping</a:t>
            </a:r>
            <a:r>
              <a:rPr lang="en-GB" dirty="0"/>
              <a:t> – This consists of 3 stages: UI layout, UI functionality, backend services.  This is common in web development.</a:t>
            </a:r>
          </a:p>
        </p:txBody>
      </p:sp>
      <p:sp>
        <p:nvSpPr>
          <p:cNvPr id="3" name="TextBox 2">
            <a:extLst>
              <a:ext uri="{FF2B5EF4-FFF2-40B4-BE49-F238E27FC236}">
                <a16:creationId xmlns:a16="http://schemas.microsoft.com/office/drawing/2014/main" id="{C30485A0-6E82-1135-4872-A48F220BF4B7}"/>
              </a:ext>
            </a:extLst>
          </p:cNvPr>
          <p:cNvSpPr txBox="1"/>
          <p:nvPr/>
        </p:nvSpPr>
        <p:spPr>
          <a:xfrm>
            <a:off x="2034235" y="283779"/>
            <a:ext cx="8123531" cy="584775"/>
          </a:xfrm>
          <a:prstGeom prst="rect">
            <a:avLst/>
          </a:prstGeom>
          <a:noFill/>
        </p:spPr>
        <p:txBody>
          <a:bodyPr wrap="square" rtlCol="0">
            <a:spAutoFit/>
          </a:bodyPr>
          <a:lstStyle/>
          <a:p>
            <a:pPr algn="ctr"/>
            <a:r>
              <a:rPr lang="en-GB" sz="3200" b="1" dirty="0">
                <a:solidFill>
                  <a:schemeClr val="accent3">
                    <a:lumMod val="60000"/>
                    <a:lumOff val="40000"/>
                  </a:schemeClr>
                </a:solidFill>
              </a:rPr>
              <a:t>Prototyping</a:t>
            </a:r>
          </a:p>
        </p:txBody>
      </p:sp>
    </p:spTree>
    <p:extLst>
      <p:ext uri="{BB962C8B-B14F-4D97-AF65-F5344CB8AC3E}">
        <p14:creationId xmlns:p14="http://schemas.microsoft.com/office/powerpoint/2010/main" val="24666945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E46E4D-FD01-AB62-09E0-011A66DCB0BC}"/>
              </a:ext>
            </a:extLst>
          </p:cNvPr>
          <p:cNvSpPr txBox="1"/>
          <p:nvPr/>
        </p:nvSpPr>
        <p:spPr>
          <a:xfrm>
            <a:off x="2911366" y="283779"/>
            <a:ext cx="6369269" cy="584775"/>
          </a:xfrm>
          <a:prstGeom prst="rect">
            <a:avLst/>
          </a:prstGeom>
          <a:noFill/>
        </p:spPr>
        <p:txBody>
          <a:bodyPr wrap="square" rtlCol="0">
            <a:spAutoFit/>
          </a:bodyPr>
          <a:lstStyle/>
          <a:p>
            <a:pPr algn="ctr"/>
            <a:r>
              <a:rPr lang="en-GB" sz="3200" b="1" dirty="0">
                <a:solidFill>
                  <a:schemeClr val="accent3">
                    <a:lumMod val="60000"/>
                    <a:lumOff val="40000"/>
                  </a:schemeClr>
                </a:solidFill>
              </a:rPr>
              <a:t>References / Resources</a:t>
            </a:r>
          </a:p>
        </p:txBody>
      </p:sp>
      <p:sp>
        <p:nvSpPr>
          <p:cNvPr id="3" name="TextBox 2">
            <a:extLst>
              <a:ext uri="{FF2B5EF4-FFF2-40B4-BE49-F238E27FC236}">
                <a16:creationId xmlns:a16="http://schemas.microsoft.com/office/drawing/2014/main" id="{59509DC2-DF40-BE6F-1675-8A32EF2928B1}"/>
              </a:ext>
            </a:extLst>
          </p:cNvPr>
          <p:cNvSpPr txBox="1"/>
          <p:nvPr/>
        </p:nvSpPr>
        <p:spPr>
          <a:xfrm>
            <a:off x="716986" y="1084719"/>
            <a:ext cx="11237670" cy="3046988"/>
          </a:xfrm>
          <a:prstGeom prst="rect">
            <a:avLst/>
          </a:prstGeom>
          <a:noFill/>
        </p:spPr>
        <p:txBody>
          <a:bodyPr wrap="square" rtlCol="0">
            <a:spAutoFit/>
          </a:bodyPr>
          <a:lstStyle/>
          <a:p>
            <a:r>
              <a:rPr lang="en-GB" sz="1600" dirty="0"/>
              <a:t>• “Agile Game Development with Scrum” Keith, Clinton.  Addison-Wesley Professional</a:t>
            </a:r>
          </a:p>
          <a:p>
            <a:endParaRPr lang="en-GB" sz="1600" dirty="0"/>
          </a:p>
          <a:p>
            <a:r>
              <a:rPr lang="en-GB" sz="1600" dirty="0"/>
              <a:t>• Agile Development Manifesto</a:t>
            </a:r>
          </a:p>
          <a:p>
            <a:r>
              <a:rPr lang="en-GB" sz="1600" dirty="0">
                <a:solidFill>
                  <a:srgbClr val="00B0F0"/>
                </a:solidFill>
                <a:hlinkClick r:id="rId2">
                  <a:extLst>
                    <a:ext uri="{A12FA001-AC4F-418D-AE19-62706E023703}">
                      <ahyp:hlinkClr xmlns:ahyp="http://schemas.microsoft.com/office/drawing/2018/hyperlinkcolor" val="tx"/>
                    </a:ext>
                  </a:extLst>
                </a:hlinkClick>
              </a:rPr>
              <a:t>http://agilemanifesto.org/principles.html</a:t>
            </a:r>
            <a:endParaRPr lang="en-GB" sz="1600" dirty="0">
              <a:solidFill>
                <a:srgbClr val="00B0F0"/>
              </a:solidFill>
            </a:endParaRPr>
          </a:p>
          <a:p>
            <a:endParaRPr lang="en-GB" sz="1600" dirty="0"/>
          </a:p>
          <a:p>
            <a:r>
              <a:rPr lang="en-GB" sz="1600" dirty="0"/>
              <a:t>• Overview of Agile Methodologies</a:t>
            </a:r>
          </a:p>
          <a:p>
            <a:r>
              <a:rPr lang="en-GB" sz="1600" dirty="0">
                <a:solidFill>
                  <a:srgbClr val="00B0F0"/>
                </a:solidFill>
                <a:hlinkClick r:id="rId3">
                  <a:extLst>
                    <a:ext uri="{A12FA001-AC4F-418D-AE19-62706E023703}">
                      <ahyp:hlinkClr xmlns:ahyp="http://schemas.microsoft.com/office/drawing/2018/hyperlinkcolor" val="tx"/>
                    </a:ext>
                  </a:extLst>
                </a:hlinkClick>
              </a:rPr>
              <a:t>https://en.wikipedia.org/wiki/Agile_software_development</a:t>
            </a:r>
            <a:endParaRPr lang="en-GB" sz="1600" dirty="0">
              <a:solidFill>
                <a:srgbClr val="00B0F0"/>
              </a:solidFill>
            </a:endParaRPr>
          </a:p>
          <a:p>
            <a:endParaRPr lang="en-GB" sz="1600" dirty="0"/>
          </a:p>
          <a:p>
            <a:r>
              <a:rPr lang="en-GB" sz="1600" dirty="0"/>
              <a:t>• Lean principles in software development</a:t>
            </a:r>
          </a:p>
          <a:p>
            <a:r>
              <a:rPr lang="en-GB" sz="1600" dirty="0">
                <a:solidFill>
                  <a:srgbClr val="00B0F0"/>
                </a:solidFill>
                <a:hlinkClick r:id="rId4">
                  <a:extLst>
                    <a:ext uri="{A12FA001-AC4F-418D-AE19-62706E023703}">
                      <ahyp:hlinkClr xmlns:ahyp="http://schemas.microsoft.com/office/drawing/2018/hyperlinkcolor" val="tx"/>
                    </a:ext>
                  </a:extLst>
                </a:hlinkClick>
              </a:rPr>
              <a:t>https://msdn.microsoft.com/en-us/library/hh533841(v=vs.120).aspx</a:t>
            </a:r>
            <a:endParaRPr lang="en-GB" sz="1600" dirty="0">
              <a:solidFill>
                <a:srgbClr val="00B0F0"/>
              </a:solidFill>
            </a:endParaRPr>
          </a:p>
          <a:p>
            <a:endParaRPr lang="en-GB" sz="1600" dirty="0"/>
          </a:p>
          <a:p>
            <a:endParaRPr lang="en-GB" sz="1600" dirty="0"/>
          </a:p>
        </p:txBody>
      </p:sp>
    </p:spTree>
    <p:extLst>
      <p:ext uri="{BB962C8B-B14F-4D97-AF65-F5344CB8AC3E}">
        <p14:creationId xmlns:p14="http://schemas.microsoft.com/office/powerpoint/2010/main" val="1674947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229</TotalTime>
  <Words>1987</Words>
  <Application>Microsoft Office PowerPoint</Application>
  <PresentationFormat>Widescreen</PresentationFormat>
  <Paragraphs>307</Paragraphs>
  <Slides>21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Aptos</vt:lpstr>
      <vt:lpstr>Arial</vt:lpstr>
      <vt:lpstr>Bembo</vt:lpstr>
      <vt:lpstr>Century Gothic</vt:lpstr>
      <vt:lpstr>Consolas</vt:lpstr>
      <vt:lpstr>Wingdings 3</vt:lpstr>
      <vt:lpstr>Ion</vt:lpstr>
      <vt:lpstr>BSc Hons Computer Games Design and Development</vt:lpstr>
      <vt:lpstr>The Plan:</vt:lpstr>
      <vt:lpstr>RECAP – Organisation of the Development Team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Smith, Ian</dc:creator>
  <cp:lastModifiedBy>Smith, Ian</cp:lastModifiedBy>
  <cp:revision>5</cp:revision>
  <dcterms:created xsi:type="dcterms:W3CDTF">2024-10-16T15:18:38Z</dcterms:created>
  <dcterms:modified xsi:type="dcterms:W3CDTF">2025-11-28T09:46:18Z</dcterms:modified>
</cp:coreProperties>
</file>