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96" r:id="rId5"/>
  </p:sldMasterIdLst>
  <p:notesMasterIdLst>
    <p:notesMasterId r:id="rId21"/>
  </p:notesMasterIdLst>
  <p:sldIdLst>
    <p:sldId id="256" r:id="rId6"/>
    <p:sldId id="946" r:id="rId7"/>
    <p:sldId id="1023" r:id="rId8"/>
    <p:sldId id="929" r:id="rId9"/>
    <p:sldId id="917" r:id="rId10"/>
    <p:sldId id="947" r:id="rId11"/>
    <p:sldId id="920" r:id="rId12"/>
    <p:sldId id="1022" r:id="rId13"/>
    <p:sldId id="1021" r:id="rId14"/>
    <p:sldId id="948" r:id="rId15"/>
    <p:sldId id="949" r:id="rId16"/>
    <p:sldId id="950" r:id="rId17"/>
    <p:sldId id="952" r:id="rId18"/>
    <p:sldId id="263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19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7" autoAdjust="0"/>
    <p:restoredTop sz="94674"/>
  </p:normalViewPr>
  <p:slideViewPr>
    <p:cSldViewPr snapToGrid="0" snapToObjects="1">
      <p:cViewPr varScale="1">
        <p:scale>
          <a:sx n="120" d="100"/>
          <a:sy n="120" d="100"/>
        </p:scale>
        <p:origin x="6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8ACD08-5DF5-BD4B-807B-F11B16FFC28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902F4-BDC4-E545-963F-EE58C192B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1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902F4-BDC4-E545-963F-EE58C192BF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49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6F3D5-9A5D-48EC-924E-5E433748FE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6B9D1C-EAC0-4393-92FC-B17A2C93BF19}"/>
              </a:ext>
            </a:extLst>
          </p:cNvPr>
          <p:cNvSpPr txBox="1"/>
          <p:nvPr userDrawn="1"/>
        </p:nvSpPr>
        <p:spPr>
          <a:xfrm>
            <a:off x="6239435" y="4678125"/>
            <a:ext cx="5449535" cy="769441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pPr algn="r"/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833B3-907A-4942-A3F4-AB4ACB34E6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5" y="4678363"/>
            <a:ext cx="5449888" cy="76993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Bilingual Heading here</a:t>
            </a:r>
          </a:p>
        </p:txBody>
      </p:sp>
    </p:spTree>
    <p:extLst>
      <p:ext uri="{BB962C8B-B14F-4D97-AF65-F5344CB8AC3E}">
        <p14:creationId xmlns:p14="http://schemas.microsoft.com/office/powerpoint/2010/main" val="2244772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E9688C-1987-43BF-A4C7-C0845C9FBF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12148B-AA15-4516-A604-02DC6F97084B}"/>
              </a:ext>
            </a:extLst>
          </p:cNvPr>
          <p:cNvSpPr txBox="1"/>
          <p:nvPr userDrawn="1"/>
        </p:nvSpPr>
        <p:spPr>
          <a:xfrm>
            <a:off x="8218842" y="1752045"/>
            <a:ext cx="3534674" cy="144655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chemeClr val="bg1"/>
                </a:solidFill>
              </a:rPr>
              <a:t> </a:t>
            </a:r>
          </a:p>
          <a:p>
            <a:pPr algn="r"/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0E0F33-E7B1-41E3-BE0F-253048403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8666" y="1767285"/>
            <a:ext cx="3375025" cy="1295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Bilingual Heading here</a:t>
            </a:r>
          </a:p>
        </p:txBody>
      </p:sp>
    </p:spTree>
    <p:extLst>
      <p:ext uri="{BB962C8B-B14F-4D97-AF65-F5344CB8AC3E}">
        <p14:creationId xmlns:p14="http://schemas.microsoft.com/office/powerpoint/2010/main" val="127713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A1904D-E72A-412F-9A4B-1C3E4D2208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8074" y="4732338"/>
            <a:ext cx="5516245" cy="669925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algn="r"/>
            <a:r>
              <a:rPr lang="en-US" sz="4400" b="1" dirty="0">
                <a:solidFill>
                  <a:schemeClr val="bg1"/>
                </a:solidFill>
              </a:rPr>
              <a:t>Bilingual Heading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C8A3A3-5E59-4A74-A66F-A20A2816C7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E87D23-107A-4283-B77B-1108C9FBB5F4}"/>
              </a:ext>
            </a:extLst>
          </p:cNvPr>
          <p:cNvSpPr txBox="1"/>
          <p:nvPr userDrawn="1"/>
        </p:nvSpPr>
        <p:spPr>
          <a:xfrm>
            <a:off x="8218842" y="1752045"/>
            <a:ext cx="3534674" cy="144655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pPr algn="r"/>
            <a:endParaRPr lang="en-US" sz="4400" b="1" dirty="0">
              <a:solidFill>
                <a:schemeClr val="bg1"/>
              </a:solidFill>
            </a:endParaRPr>
          </a:p>
          <a:p>
            <a:pPr algn="r"/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C5570-27B1-435E-8D28-6A5DC3532A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43900" y="1836738"/>
            <a:ext cx="3360738" cy="1295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Bilingual Heading here</a:t>
            </a:r>
          </a:p>
        </p:txBody>
      </p:sp>
    </p:spTree>
    <p:extLst>
      <p:ext uri="{BB962C8B-B14F-4D97-AF65-F5344CB8AC3E}">
        <p14:creationId xmlns:p14="http://schemas.microsoft.com/office/powerpoint/2010/main" val="110301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B4DF51-1C92-4AA2-A4C4-841B3BED6E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0A2E05-BAD3-4383-B6CC-4877693501C9}"/>
              </a:ext>
            </a:extLst>
          </p:cNvPr>
          <p:cNvSpPr txBox="1"/>
          <p:nvPr userDrawn="1"/>
        </p:nvSpPr>
        <p:spPr>
          <a:xfrm>
            <a:off x="575109" y="2386747"/>
            <a:ext cx="6197615" cy="769441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pPr algn="r"/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69630B-0311-417E-BBD8-079AE150A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5109" y="2423804"/>
            <a:ext cx="6197615" cy="695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English only Heading here</a:t>
            </a:r>
          </a:p>
        </p:txBody>
      </p:sp>
    </p:spTree>
    <p:extLst>
      <p:ext uri="{BB962C8B-B14F-4D97-AF65-F5344CB8AC3E}">
        <p14:creationId xmlns:p14="http://schemas.microsoft.com/office/powerpoint/2010/main" val="211841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2D995F-E892-4FBD-9667-E412489FD2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F4239F-2209-4A50-A00B-9C376710109B}"/>
              </a:ext>
            </a:extLst>
          </p:cNvPr>
          <p:cNvSpPr txBox="1"/>
          <p:nvPr userDrawn="1"/>
        </p:nvSpPr>
        <p:spPr>
          <a:xfrm>
            <a:off x="5577415" y="4226305"/>
            <a:ext cx="6197615" cy="769441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pPr algn="r"/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289CEF-A252-4642-BE44-CA22585246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77415" y="4225925"/>
            <a:ext cx="6197073" cy="769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English only Heading here</a:t>
            </a:r>
          </a:p>
        </p:txBody>
      </p:sp>
    </p:spTree>
    <p:extLst>
      <p:ext uri="{BB962C8B-B14F-4D97-AF65-F5344CB8AC3E}">
        <p14:creationId xmlns:p14="http://schemas.microsoft.com/office/powerpoint/2010/main" val="137343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039705-2251-4043-A771-7EF96AB058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B9368B-7E4D-4AC3-879B-DF983CC59A10}"/>
              </a:ext>
            </a:extLst>
          </p:cNvPr>
          <p:cNvSpPr txBox="1"/>
          <p:nvPr userDrawn="1"/>
        </p:nvSpPr>
        <p:spPr>
          <a:xfrm>
            <a:off x="5745055" y="4489105"/>
            <a:ext cx="6197615" cy="769441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pPr algn="r"/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A438AC-1512-4574-8641-921FF49FD0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76018" y="4496297"/>
            <a:ext cx="6166652" cy="677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English only Heading here</a:t>
            </a:r>
          </a:p>
        </p:txBody>
      </p:sp>
    </p:spTree>
    <p:extLst>
      <p:ext uri="{BB962C8B-B14F-4D97-AF65-F5344CB8AC3E}">
        <p14:creationId xmlns:p14="http://schemas.microsoft.com/office/powerpoint/2010/main" val="35500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66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E7E6-6A8F-E0AF-3FBA-C912FDA84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518E3-3684-1F4C-2697-4D06EACE4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98A8E-1C3E-8BB3-F16F-7892CE12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708F6-42C6-AF46-5313-0FBF52095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4D267-7324-1478-68C8-A5928A01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50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8DDB-D502-84CD-EBFC-74633BA5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C7A96-A02B-DF90-F30A-4A826764B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42FFD-FA79-5044-5C20-2115E51A9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2B13D-06BE-DF07-310E-0A11E36E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57A94-845B-5E88-8766-5679F55C8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961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35806-B11D-7C06-0D47-3C46A1643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7E47F-8DC7-E342-A1B5-FBDC0EE2B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AD242-CAB8-A74E-6F4E-C6BCB987C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3445A-FD73-8754-968A-D03EA10D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C04AE-3C72-A546-2D2D-B4EA3670E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270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CB4E-A7BF-8D1C-1B2F-3985FE826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39D0C-3920-CC90-B8D8-31C94682DD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C185A-ABAF-309D-B6C7-984311B6E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27D99-7736-7F29-7D37-91EB903A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39B51-607E-6EDD-70FA-329B08A8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A3CCA-5B9D-25D9-98CB-743B0D93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295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EEBF-BA17-AA97-51D6-F8FEFC64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F8504-A0C9-D0B1-E59D-185622CC4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5F404-86C6-34A1-EA2F-C2748E279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116EE3-5B63-4EE1-61EE-79929236E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B067C-1C41-E81F-F1F9-F7A9AA3EC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E9D4E8-CBB8-31EA-EE32-CA4A43FF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EA8D8-2915-60E5-A59C-745C7A9E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A2287D-545E-FC6A-84DD-50B733A7B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107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DA5A-809E-1135-3ABC-F35D6E48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D33244-3035-D34D-0EBA-75BA9F73B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41B6E-82F2-7B4A-ED73-6C719B76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0CDB9-64A8-7394-FFF2-C084B3DA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325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31FE33-5B4C-08A0-2462-0C79716A2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56A90-B66C-43F9-3F3F-0FBE6117B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060B0-FA65-0737-7597-F1FAACC16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043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03822-0A51-509B-87B0-BC3CB0180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ADADF-5983-48EA-1AA5-3705591B6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FE903-98FC-CEAE-1827-1EACE81FE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ED493-A88E-7EF2-7F7E-5A4461C19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0081A-B601-5007-0A48-0F55C810E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38DB8-318A-3396-2C37-18F67112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455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5533-DB7C-1B78-9756-92C022425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4DA4C8-C090-DC7C-ABB1-79096B50A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1B779-AE57-ADB9-51D8-0915B0D39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4400B-933F-9E4B-0713-3801C2DE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526D8-3F94-D590-CA3C-8E238DB1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BA9BB-802C-B4FE-12C0-A29A8550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890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42640-839A-83DF-23CC-7B00AED3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31A6A-5E08-6F6B-0C6C-E41011C86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DD819-6A2F-03BA-98A2-6F2FB75C9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49AA-CBB5-A330-58BD-45E68E6D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DC7EF-39F6-567B-D6F6-47C12FE81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524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AD863-4071-79CA-387A-D14ED8839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BA56AA-2C1D-362C-408D-F91239B93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08B0C-0875-5C8F-2E7D-BCD29E00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CCC76-7AB7-A9AD-9E18-9B36DD53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DDF0D-7A84-599B-F3D7-A00D655C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223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CC09DD-9DE4-4B42-8113-4014E05E556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2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49" r:id="rId6"/>
    <p:sldLayoutId id="214748365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191FC-E7D0-FF3B-ED83-0D149265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CD300-0AB1-C7D1-1411-59C8495E7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0FD0F-F78E-6B42-F3C4-C65205F68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7B71D-1F68-4B61-94AE-355485F5FC53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7FF93-3535-9803-99C9-66FAC1600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3733-2FA8-F5BC-A991-C1A3FBA08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73219-C9B9-4A2B-9007-4D425AE367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99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ismith@cardiffmet.ac.uk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rdiffmet.ac.uk/alumni/Pages/Our-History.aspx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rdiffmet.ac.uk/study/studentservices/Pages/default.aspx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82ADA1-E978-C443-AF9A-4FCCF8509F0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C65286-65DB-A145-AFAC-CBECE1316264}"/>
              </a:ext>
            </a:extLst>
          </p:cNvPr>
          <p:cNvSpPr txBox="1"/>
          <p:nvPr/>
        </p:nvSpPr>
        <p:spPr>
          <a:xfrm>
            <a:off x="3843132" y="4088403"/>
            <a:ext cx="8210274" cy="156966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pPr algn="r"/>
            <a:r>
              <a:rPr lang="en-GB" sz="3200" b="1" i="0" dirty="0">
                <a:solidFill>
                  <a:srgbClr val="FFFFFF"/>
                </a:solidFill>
                <a:effectLst/>
                <a:latin typeface="-apple-system"/>
              </a:rPr>
              <a:t>Level 4 - Personal Academic Tutors</a:t>
            </a:r>
          </a:p>
          <a:p>
            <a:pPr algn="r"/>
            <a:r>
              <a:rPr lang="en-GB" sz="3200" b="1" i="0" dirty="0">
                <a:solidFill>
                  <a:srgbClr val="FFFFFF"/>
                </a:solidFill>
                <a:effectLst/>
                <a:latin typeface="-apple-system"/>
              </a:rPr>
              <a:t>BSc. Games Design and Development</a:t>
            </a:r>
          </a:p>
          <a:p>
            <a:pPr algn="r"/>
            <a:r>
              <a:rPr lang="en-GB" sz="3200" b="1" i="0" dirty="0">
                <a:solidFill>
                  <a:srgbClr val="FFFFFF"/>
                </a:solidFill>
                <a:effectLst/>
                <a:latin typeface="-apple-system"/>
              </a:rPr>
              <a:t>2025-2026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221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FF235B-45BD-4246-A372-08C52B49D4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BD55EC-49FB-9D48-A7C2-E4B1222B9FC0}"/>
              </a:ext>
            </a:extLst>
          </p:cNvPr>
          <p:cNvSpPr txBox="1"/>
          <p:nvPr/>
        </p:nvSpPr>
        <p:spPr>
          <a:xfrm>
            <a:off x="678095" y="534255"/>
            <a:ext cx="3502966" cy="52322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Program Details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37978-9DD3-8F4F-A806-99633A50E913}"/>
              </a:ext>
            </a:extLst>
          </p:cNvPr>
          <p:cNvSpPr txBox="1"/>
          <p:nvPr/>
        </p:nvSpPr>
        <p:spPr>
          <a:xfrm>
            <a:off x="678096" y="1430098"/>
            <a:ext cx="8616980" cy="481713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GB" sz="3200" b="1" i="0" dirty="0">
                <a:solidFill>
                  <a:srgbClr val="24292F"/>
                </a:solidFill>
                <a:effectLst/>
              </a:rPr>
              <a:t>Program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BSc Computer Games Design and Development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Level 4</a:t>
            </a:r>
          </a:p>
          <a:p>
            <a:pPr lvl="1"/>
            <a:endParaRPr lang="en-GB" sz="3200" b="0" i="0" dirty="0">
              <a:solidFill>
                <a:srgbClr val="24292F"/>
              </a:solidFill>
              <a:effectLst/>
            </a:endParaRPr>
          </a:p>
          <a:p>
            <a:pPr algn="l"/>
            <a:r>
              <a:rPr lang="en-GB" sz="3200" b="1" i="0" dirty="0">
                <a:solidFill>
                  <a:srgbClr val="24292F"/>
                </a:solidFill>
                <a:effectLst/>
              </a:rPr>
              <a:t>Personal Tutor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Ian Smith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Email: </a:t>
            </a:r>
            <a:r>
              <a:rPr lang="en-GB" sz="3200" b="0" i="0" dirty="0">
                <a:solidFill>
                  <a:srgbClr val="24292F"/>
                </a:solidFill>
                <a:effectLst/>
                <a:hlinkClick r:id="rId3"/>
              </a:rPr>
              <a:t>ismith@cardiffmet.ac.uk</a:t>
            </a:r>
            <a:endParaRPr lang="en-GB" sz="3200" dirty="0">
              <a:solidFill>
                <a:srgbClr val="24292F"/>
              </a:solidFill>
              <a:hlinkClick r:id="rId3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Teams: No.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Group: Games 2</a:t>
            </a:r>
          </a:p>
        </p:txBody>
      </p:sp>
      <p:pic>
        <p:nvPicPr>
          <p:cNvPr id="5" name="Picture 4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B370F1E6-7081-C35D-E985-B94187B225C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5" t="6454" r="31191" b="48131"/>
          <a:stretch/>
        </p:blipFill>
        <p:spPr>
          <a:xfrm>
            <a:off x="9295076" y="2065980"/>
            <a:ext cx="2685264" cy="33619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36113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A5BE3-F361-E1AD-8329-A9380959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890A83-BD6E-871D-D3B2-402B65F8B8A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AA9A91-1934-F0C2-8847-985B54808CA1}"/>
              </a:ext>
            </a:extLst>
          </p:cNvPr>
          <p:cNvSpPr txBox="1"/>
          <p:nvPr/>
        </p:nvSpPr>
        <p:spPr>
          <a:xfrm>
            <a:off x="678095" y="534255"/>
            <a:ext cx="3502966" cy="52322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About 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4F7D4-A5D1-6D56-BC6C-820643388FE7}"/>
              </a:ext>
            </a:extLst>
          </p:cNvPr>
          <p:cNvSpPr txBox="1"/>
          <p:nvPr/>
        </p:nvSpPr>
        <p:spPr>
          <a:xfrm>
            <a:off x="678096" y="1430098"/>
            <a:ext cx="8616980" cy="4817139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algn="l"/>
            <a:r>
              <a:rPr lang="en-GB" sz="3200" b="1" i="0" dirty="0">
                <a:solidFill>
                  <a:srgbClr val="24292F"/>
                </a:solidFill>
                <a:effectLst/>
              </a:rPr>
              <a:t>History (Pertinent)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Joined Cardiff Met in 2017 at the age of 40.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Read BSc Computer Games Design and Development under Dr. Paul Angel and Dr. Glenn Jenkins.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Became a Student Rep and then School Rep for CST.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92F"/>
                </a:solidFill>
              </a:rPr>
              <a:t>Graduated in 2021 with 1</a:t>
            </a:r>
            <a:r>
              <a:rPr lang="en-GB" sz="3200" baseline="30000" dirty="0">
                <a:solidFill>
                  <a:srgbClr val="24292F"/>
                </a:solidFill>
              </a:rPr>
              <a:t>st</a:t>
            </a:r>
            <a:r>
              <a:rPr lang="en-GB" sz="3200" dirty="0">
                <a:solidFill>
                  <a:srgbClr val="24292F"/>
                </a:solidFill>
              </a:rPr>
              <a:t> Class honours.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Continued to work as a Student Coach.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92F"/>
                </a:solidFill>
              </a:rPr>
              <a:t>Became an Associate Tutor in 2022.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Became a </a:t>
            </a:r>
            <a:r>
              <a:rPr lang="en-GB" sz="3200" b="0" i="0">
                <a:solidFill>
                  <a:srgbClr val="24292F"/>
                </a:solidFill>
                <a:effectLst/>
              </a:rPr>
              <a:t>full-time Lecturer the same year.</a:t>
            </a:r>
            <a:endParaRPr lang="en-GB" sz="3200" b="0" i="0" dirty="0">
              <a:solidFill>
                <a:srgbClr val="24292F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GB" sz="3200" b="0" i="0" dirty="0">
              <a:solidFill>
                <a:srgbClr val="24292F"/>
              </a:solidFill>
              <a:effectLst/>
            </a:endParaRPr>
          </a:p>
        </p:txBody>
      </p:sp>
      <p:pic>
        <p:nvPicPr>
          <p:cNvPr id="5" name="Picture 4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572FBA79-5686-AA9E-B811-19186BDD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5" t="6454" r="31191" b="48131"/>
          <a:stretch/>
        </p:blipFill>
        <p:spPr>
          <a:xfrm>
            <a:off x="9295076" y="2065980"/>
            <a:ext cx="2685264" cy="33619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8319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FF235B-45BD-4246-A372-08C52B49D4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137978-9DD3-8F4F-A806-99633A50E913}"/>
              </a:ext>
            </a:extLst>
          </p:cNvPr>
          <p:cNvSpPr txBox="1"/>
          <p:nvPr/>
        </p:nvSpPr>
        <p:spPr>
          <a:xfrm>
            <a:off x="543131" y="2153666"/>
            <a:ext cx="11105738" cy="380981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Tell us your: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Name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24292F"/>
                </a:solidFill>
              </a:rPr>
              <a:t>What do you hope to get out of the programme?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What do you want to do after graduation?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454F16-07E9-ADB2-7602-A5028502F210}"/>
              </a:ext>
            </a:extLst>
          </p:cNvPr>
          <p:cNvSpPr txBox="1"/>
          <p:nvPr/>
        </p:nvSpPr>
        <p:spPr>
          <a:xfrm>
            <a:off x="678095" y="534255"/>
            <a:ext cx="3502966" cy="52322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Your Turn!</a:t>
            </a:r>
          </a:p>
        </p:txBody>
      </p:sp>
    </p:spTree>
    <p:extLst>
      <p:ext uri="{BB962C8B-B14F-4D97-AF65-F5344CB8AC3E}">
        <p14:creationId xmlns:p14="http://schemas.microsoft.com/office/powerpoint/2010/main" val="247351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FF235B-45BD-4246-A372-08C52B49D4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BD55EC-49FB-9D48-A7C2-E4B1222B9FC0}"/>
              </a:ext>
            </a:extLst>
          </p:cNvPr>
          <p:cNvSpPr txBox="1"/>
          <p:nvPr/>
        </p:nvSpPr>
        <p:spPr>
          <a:xfrm>
            <a:off x="678095" y="534255"/>
            <a:ext cx="5069562" cy="52322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Cardiff Metropolitan University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37978-9DD3-8F4F-A806-99633A50E913}"/>
              </a:ext>
            </a:extLst>
          </p:cNvPr>
          <p:cNvSpPr txBox="1"/>
          <p:nvPr/>
        </p:nvSpPr>
        <p:spPr>
          <a:xfrm>
            <a:off x="678094" y="1430097"/>
            <a:ext cx="10026191" cy="4658645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Founded in the mid </a:t>
            </a:r>
            <a:r>
              <a:rPr lang="en-GB" sz="3600" b="0" i="0" u="none" strike="noStrike" dirty="0">
                <a:solidFill>
                  <a:srgbClr val="24292F"/>
                </a:solidFill>
                <a:effectLst/>
                <a:hlinkClick r:id="rId3" tooltip="https://www.cardiffmet.ac.uk/alumni/Pages/Our-History.aspx"/>
              </a:rPr>
              <a:t>1970s</a:t>
            </a:r>
            <a:r>
              <a:rPr lang="en-GB" sz="3600" b="0" i="0" dirty="0">
                <a:solidFill>
                  <a:srgbClr val="24292F"/>
                </a:solidFill>
                <a:effectLst/>
              </a:rPr>
              <a:t> from a number of existing technical colleges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b="0" i="0" dirty="0" err="1">
                <a:solidFill>
                  <a:srgbClr val="24292F"/>
                </a:solidFill>
                <a:effectLst/>
              </a:rPr>
              <a:t>Landaff</a:t>
            </a:r>
            <a:r>
              <a:rPr lang="en-GB" sz="3600" b="0" i="0" dirty="0">
                <a:solidFill>
                  <a:srgbClr val="24292F"/>
                </a:solidFill>
                <a:effectLst/>
              </a:rPr>
              <a:t> School of Technology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Cardiff College of Food Technology and Commerce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Cardiff College of Education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The earliest of these traces its history to 1865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The Cardiff Technical School was established in 1889.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We've had a </a:t>
            </a:r>
            <a:r>
              <a:rPr lang="en-GB" sz="3600" b="0" i="1" dirty="0">
                <a:solidFill>
                  <a:srgbClr val="24292F"/>
                </a:solidFill>
                <a:effectLst/>
              </a:rPr>
              <a:t>lot</a:t>
            </a:r>
            <a:r>
              <a:rPr lang="en-GB" sz="3600" b="0" i="0" dirty="0">
                <a:solidFill>
                  <a:srgbClr val="24292F"/>
                </a:solidFill>
                <a:effectLst/>
              </a:rPr>
              <a:t> of names! - UWIC is perhaps the most well-known.</a:t>
            </a:r>
          </a:p>
        </p:txBody>
      </p:sp>
    </p:spTree>
    <p:extLst>
      <p:ext uri="{BB962C8B-B14F-4D97-AF65-F5344CB8AC3E}">
        <p14:creationId xmlns:p14="http://schemas.microsoft.com/office/powerpoint/2010/main" val="3235298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FF235B-45BD-4246-A372-08C52B49D4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BD55EC-49FB-9D48-A7C2-E4B1222B9FC0}"/>
              </a:ext>
            </a:extLst>
          </p:cNvPr>
          <p:cNvSpPr txBox="1"/>
          <p:nvPr/>
        </p:nvSpPr>
        <p:spPr>
          <a:xfrm>
            <a:off x="678095" y="534255"/>
            <a:ext cx="5069562" cy="52322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Campus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37978-9DD3-8F4F-A806-99633A50E913}"/>
              </a:ext>
            </a:extLst>
          </p:cNvPr>
          <p:cNvSpPr txBox="1"/>
          <p:nvPr/>
        </p:nvSpPr>
        <p:spPr>
          <a:xfrm>
            <a:off x="678094" y="1430097"/>
            <a:ext cx="4417417" cy="205299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School of Technologies (ringed).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Coffee!!</a:t>
            </a:r>
          </a:p>
        </p:txBody>
      </p:sp>
      <p:pic>
        <p:nvPicPr>
          <p:cNvPr id="5" name="Picture 4" descr="Aerial view of a building&#10;&#10;Description automatically generated">
            <a:extLst>
              <a:ext uri="{FF2B5EF4-FFF2-40B4-BE49-F238E27FC236}">
                <a16:creationId xmlns:a16="http://schemas.microsoft.com/office/drawing/2014/main" id="{582670E4-E693-5EB3-BAC8-7E3026015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331" y="1549849"/>
            <a:ext cx="5467350" cy="418147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1054731-EEBF-818F-C5F6-B4243B3281DF}"/>
              </a:ext>
            </a:extLst>
          </p:cNvPr>
          <p:cNvSpPr/>
          <p:nvPr/>
        </p:nvSpPr>
        <p:spPr>
          <a:xfrm>
            <a:off x="9095139" y="3148049"/>
            <a:ext cx="970241" cy="80969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73D041-154E-F94F-5A30-647C0BC7421B}"/>
              </a:ext>
            </a:extLst>
          </p:cNvPr>
          <p:cNvCxnSpPr/>
          <p:nvPr/>
        </p:nvCxnSpPr>
        <p:spPr>
          <a:xfrm>
            <a:off x="2598282" y="2880052"/>
            <a:ext cx="5866760" cy="21707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8D253CC-66B0-82EA-24FC-CA300FD1D6BD}"/>
              </a:ext>
            </a:extLst>
          </p:cNvPr>
          <p:cNvCxnSpPr>
            <a:cxnSpLocks/>
          </p:cNvCxnSpPr>
          <p:nvPr/>
        </p:nvCxnSpPr>
        <p:spPr>
          <a:xfrm>
            <a:off x="2598282" y="2880052"/>
            <a:ext cx="3752572" cy="37413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D2350C-F66E-9472-B375-90EC3FD99073}"/>
              </a:ext>
            </a:extLst>
          </p:cNvPr>
          <p:cNvCxnSpPr>
            <a:cxnSpLocks/>
          </p:cNvCxnSpPr>
          <p:nvPr/>
        </p:nvCxnSpPr>
        <p:spPr>
          <a:xfrm>
            <a:off x="2598282" y="2880052"/>
            <a:ext cx="6453510" cy="1253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DAB2040-0E30-B744-58BD-D960DE047D39}"/>
              </a:ext>
            </a:extLst>
          </p:cNvPr>
          <p:cNvSpPr/>
          <p:nvPr/>
        </p:nvSpPr>
        <p:spPr>
          <a:xfrm>
            <a:off x="2467653" y="2759028"/>
            <a:ext cx="261257" cy="24204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81211D-2E33-CB1F-0138-4725DFD917B6}"/>
              </a:ext>
            </a:extLst>
          </p:cNvPr>
          <p:cNvSpPr txBox="1"/>
          <p:nvPr/>
        </p:nvSpPr>
        <p:spPr>
          <a:xfrm>
            <a:off x="5375707" y="2977189"/>
            <a:ext cx="1325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rgbClr val="FFC000"/>
                </a:solidFill>
                <a:highlight>
                  <a:srgbClr val="000000"/>
                </a:highlight>
              </a:rPr>
              <a:t>The Atrium - CSM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B8DFC3-E421-FFB1-8969-FC9F4B0C8064}"/>
              </a:ext>
            </a:extLst>
          </p:cNvPr>
          <p:cNvSpPr txBox="1"/>
          <p:nvPr/>
        </p:nvSpPr>
        <p:spPr>
          <a:xfrm>
            <a:off x="7782646" y="4733087"/>
            <a:ext cx="723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rgbClr val="FFC000"/>
                </a:solidFill>
                <a:highlight>
                  <a:srgbClr val="000000"/>
                </a:highlight>
              </a:rPr>
              <a:t>The Hub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0179A3-4E71-730B-33FE-3AF4C669819B}"/>
              </a:ext>
            </a:extLst>
          </p:cNvPr>
          <p:cNvSpPr txBox="1"/>
          <p:nvPr/>
        </p:nvSpPr>
        <p:spPr>
          <a:xfrm>
            <a:off x="7964120" y="3842342"/>
            <a:ext cx="1263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rgbClr val="FFC000"/>
                </a:solidFill>
                <a:highlight>
                  <a:srgbClr val="000000"/>
                </a:highlight>
              </a:rPr>
              <a:t>The Gallery - CST</a:t>
            </a:r>
          </a:p>
        </p:txBody>
      </p:sp>
    </p:spTree>
    <p:extLst>
      <p:ext uri="{BB962C8B-B14F-4D97-AF65-F5344CB8AC3E}">
        <p14:creationId xmlns:p14="http://schemas.microsoft.com/office/powerpoint/2010/main" val="4536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FF235B-45BD-4246-A372-08C52B49D4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BD55EC-49FB-9D48-A7C2-E4B1222B9FC0}"/>
              </a:ext>
            </a:extLst>
          </p:cNvPr>
          <p:cNvSpPr txBox="1"/>
          <p:nvPr/>
        </p:nvSpPr>
        <p:spPr>
          <a:xfrm>
            <a:off x="678095" y="534255"/>
            <a:ext cx="5069562" cy="52322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Personal Academic Tutors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37978-9DD3-8F4F-A806-99633A50E913}"/>
              </a:ext>
            </a:extLst>
          </p:cNvPr>
          <p:cNvSpPr txBox="1"/>
          <p:nvPr/>
        </p:nvSpPr>
        <p:spPr>
          <a:xfrm>
            <a:off x="678095" y="1430097"/>
            <a:ext cx="10846248" cy="465864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Personal tutor for the whole course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Academic support across the course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24292F"/>
                </a:solidFill>
              </a:rPr>
              <a:t>S</a:t>
            </a:r>
            <a:r>
              <a:rPr lang="en-GB" sz="3600" b="0" i="0" dirty="0">
                <a:solidFill>
                  <a:srgbClr val="24292F"/>
                </a:solidFill>
                <a:effectLst/>
              </a:rPr>
              <a:t>ignpost to other services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You’ll see a set of session with your PATs across the year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24292F"/>
                </a:solidFill>
              </a:rPr>
              <a:t>You can also book One-to-Ones with us as well</a:t>
            </a:r>
            <a:endParaRPr lang="en-GB" sz="3600" b="0" i="0" dirty="0">
              <a:solidFill>
                <a:srgbClr val="24292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8342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6DA1-51BB-0104-ABA3-606BA59D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Glossary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EAD81-7BFA-2E49-18CE-42A44996F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Programme</a:t>
            </a:r>
            <a:r>
              <a:rPr lang="en-US" dirty="0"/>
              <a:t> (or course) – BSc Computer Game Design and Development.</a:t>
            </a:r>
          </a:p>
          <a:p>
            <a:r>
              <a:rPr lang="en-US" dirty="0"/>
              <a:t>Module – The individual subject i.e. Advanced </a:t>
            </a:r>
            <a:r>
              <a:rPr lang="en-US" dirty="0" err="1"/>
              <a:t>Maths</a:t>
            </a:r>
            <a:r>
              <a:rPr lang="en-US" dirty="0"/>
              <a:t> for Games.</a:t>
            </a:r>
          </a:p>
          <a:p>
            <a:r>
              <a:rPr lang="en-US" dirty="0"/>
              <a:t>Academic writing – The style of writing expected at University. It should be 3</a:t>
            </a:r>
            <a:r>
              <a:rPr lang="en-US" baseline="30000" dirty="0"/>
              <a:t>rd</a:t>
            </a:r>
            <a:r>
              <a:rPr lang="en-US" dirty="0"/>
              <a:t> person and formal (no colloquialisms or contractions). All information should be based on peer-reviewed information with references and citations.</a:t>
            </a:r>
          </a:p>
          <a:p>
            <a:r>
              <a:rPr lang="en-US" dirty="0"/>
              <a:t>Referencing – Listing all the sources used in your work. Cardiff Met uses Harvard referencing (as per Cite Them Right). </a:t>
            </a:r>
          </a:p>
          <a:p>
            <a:r>
              <a:rPr lang="en-US" dirty="0"/>
              <a:t>Level 4 (L4) – This is the First Year.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726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B70767-EEA9-3AAD-E861-36FC02D44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0"/>
            <a:ext cx="12192000" cy="6540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DEE81C-8F61-BDD8-053F-876BF0072F14}"/>
              </a:ext>
            </a:extLst>
          </p:cNvPr>
          <p:cNvSpPr txBox="1"/>
          <p:nvPr/>
        </p:nvSpPr>
        <p:spPr>
          <a:xfrm>
            <a:off x="7142069" y="5886530"/>
            <a:ext cx="3476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can also see the data held on you from </a:t>
            </a:r>
            <a:r>
              <a:rPr lang="en-GB" dirty="0" err="1"/>
              <a:t>MetCentral</a:t>
            </a:r>
            <a:r>
              <a:rPr lang="en-GB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06866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FF235B-45BD-4246-A372-08C52B49D4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BD55EC-49FB-9D48-A7C2-E4B1222B9FC0}"/>
              </a:ext>
            </a:extLst>
          </p:cNvPr>
          <p:cNvSpPr txBox="1"/>
          <p:nvPr/>
        </p:nvSpPr>
        <p:spPr>
          <a:xfrm>
            <a:off x="678095" y="534255"/>
            <a:ext cx="5069562" cy="52322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Support Services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37978-9DD3-8F4F-A806-99633A50E913}"/>
              </a:ext>
            </a:extLst>
          </p:cNvPr>
          <p:cNvSpPr txBox="1"/>
          <p:nvPr/>
        </p:nvSpPr>
        <p:spPr>
          <a:xfrm>
            <a:off x="678095" y="1430097"/>
            <a:ext cx="10846248" cy="4658645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Lots of Student Support Services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  <a:hlinkClick r:id="rId3"/>
              </a:rPr>
              <a:t>https://www.cardiffmet.ac.uk/study/studentservices/Pages/default.aspx</a:t>
            </a:r>
            <a:r>
              <a:rPr lang="en-GB" sz="3600" b="0" i="0" dirty="0">
                <a:solidFill>
                  <a:srgbClr val="24292F"/>
                </a:solidFill>
                <a:effectLst/>
              </a:rPr>
              <a:t>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Student Finance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Careers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Student Support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Mental health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Additional learning requirements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GB" sz="3600" b="0" i="0" dirty="0">
                <a:solidFill>
                  <a:srgbClr val="24292F"/>
                </a:solidFill>
                <a:effectLst/>
              </a:rPr>
              <a:t>etc.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600" b="0" i="0" dirty="0" err="1">
                <a:solidFill>
                  <a:srgbClr val="24292F"/>
                </a:solidFill>
                <a:effectLst/>
              </a:rPr>
              <a:t>GoWales</a:t>
            </a:r>
            <a:r>
              <a:rPr lang="en-GB" sz="3600" b="0" i="0" dirty="0">
                <a:solidFill>
                  <a:srgbClr val="24292F"/>
                </a:solidFill>
                <a:effectLst/>
              </a:rPr>
              <a:t> (Placements)</a:t>
            </a:r>
          </a:p>
        </p:txBody>
      </p:sp>
    </p:spTree>
    <p:extLst>
      <p:ext uri="{BB962C8B-B14F-4D97-AF65-F5344CB8AC3E}">
        <p14:creationId xmlns:p14="http://schemas.microsoft.com/office/powerpoint/2010/main" val="2404081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FF235B-45BD-4246-A372-08C52B49D4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BD55EC-49FB-9D48-A7C2-E4B1222B9FC0}"/>
              </a:ext>
            </a:extLst>
          </p:cNvPr>
          <p:cNvSpPr txBox="1"/>
          <p:nvPr/>
        </p:nvSpPr>
        <p:spPr>
          <a:xfrm>
            <a:off x="678095" y="534255"/>
            <a:ext cx="5069562" cy="52322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Library and Information Services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37978-9DD3-8F4F-A806-99633A50E913}"/>
              </a:ext>
            </a:extLst>
          </p:cNvPr>
          <p:cNvSpPr txBox="1"/>
          <p:nvPr/>
        </p:nvSpPr>
        <p:spPr>
          <a:xfrm>
            <a:off x="678095" y="1430097"/>
            <a:ext cx="10846248" cy="465864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Not just books!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eBooks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Online journals/papers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Technical reports / white papers etc.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IT (computers and support)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1" i="0" dirty="0">
                <a:solidFill>
                  <a:srgbClr val="24292F"/>
                </a:solidFill>
                <a:effectLst/>
              </a:rPr>
              <a:t>Helpdesk</a:t>
            </a:r>
            <a:endParaRPr lang="en-GB" sz="3200" b="0" i="0" dirty="0">
              <a:solidFill>
                <a:srgbClr val="24292F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Laptops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Support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Help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4052956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FF235B-45BD-4246-A372-08C52B49D4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BD55EC-49FB-9D48-A7C2-E4B1222B9FC0}"/>
              </a:ext>
            </a:extLst>
          </p:cNvPr>
          <p:cNvSpPr txBox="1"/>
          <p:nvPr/>
        </p:nvSpPr>
        <p:spPr>
          <a:xfrm>
            <a:off x="678095" y="534255"/>
            <a:ext cx="5069562" cy="52322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37978-9DD3-8F4F-A806-99633A50E913}"/>
              </a:ext>
            </a:extLst>
          </p:cNvPr>
          <p:cNvSpPr txBox="1"/>
          <p:nvPr/>
        </p:nvSpPr>
        <p:spPr>
          <a:xfrm>
            <a:off x="678095" y="1430097"/>
            <a:ext cx="10846248" cy="465864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Teaching and admin staff will contact you via: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Student email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Teams (maybe!)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All official correspondence will be though your student email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You are expected to check your student email regularly!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When sending ideally include: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Student number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Course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Module (if applicable)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1352982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FF235B-45BD-4246-A372-08C52B49D4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BD55EC-49FB-9D48-A7C2-E4B1222B9FC0}"/>
              </a:ext>
            </a:extLst>
          </p:cNvPr>
          <p:cNvSpPr txBox="1"/>
          <p:nvPr/>
        </p:nvSpPr>
        <p:spPr>
          <a:xfrm>
            <a:off x="678095" y="534255"/>
            <a:ext cx="5069562" cy="52322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MET CARD COLLECTION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37978-9DD3-8F4F-A806-99633A50E913}"/>
              </a:ext>
            </a:extLst>
          </p:cNvPr>
          <p:cNvSpPr txBox="1"/>
          <p:nvPr/>
        </p:nvSpPr>
        <p:spPr>
          <a:xfrm>
            <a:off x="678095" y="1430097"/>
            <a:ext cx="10846248" cy="465864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</a:rPr>
              <a:t>Where / When ?</a:t>
            </a:r>
          </a:p>
        </p:txBody>
      </p:sp>
      <p:pic>
        <p:nvPicPr>
          <p:cNvPr id="2050" name="Picture 2" descr="Print Studio MetCards">
            <a:extLst>
              <a:ext uri="{FF2B5EF4-FFF2-40B4-BE49-F238E27FC236}">
                <a16:creationId xmlns:a16="http://schemas.microsoft.com/office/drawing/2014/main" id="{DAA85650-A04F-3F04-C330-E1E40B424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63134" y="660839"/>
            <a:ext cx="5650771" cy="492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340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04613A-44F1-F845-AB72-F33B7F62D1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2A5AE8-109D-F74E-BCE0-07DCDB2F6687}"/>
              </a:ext>
            </a:extLst>
          </p:cNvPr>
          <p:cNvSpPr txBox="1"/>
          <p:nvPr/>
        </p:nvSpPr>
        <p:spPr>
          <a:xfrm>
            <a:off x="678095" y="534255"/>
            <a:ext cx="5069562" cy="523220"/>
          </a:xfrm>
          <a:prstGeom prst="rect">
            <a:avLst/>
          </a:prstGeom>
          <a:solidFill>
            <a:srgbClr val="E7194F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CCC0C-90E3-9816-17BD-E567681EBBFB}"/>
              </a:ext>
            </a:extLst>
          </p:cNvPr>
          <p:cNvSpPr txBox="1"/>
          <p:nvPr/>
        </p:nvSpPr>
        <p:spPr>
          <a:xfrm>
            <a:off x="580572" y="1342960"/>
            <a:ext cx="1038560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92F"/>
                </a:solidFill>
                <a:effectLst/>
                <a:latin typeface="-apple-system"/>
              </a:rPr>
              <a:t>Ask now!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4292F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20012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C49CFE-F409-5A43-82D0-B050F69F9CA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11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T Powerpoint Template Final.potx" id="{C6E870AE-E268-4510-B6E5-48973CBB0422}" vid="{E38EC508-8983-450F-8050-A2709F8F0E54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4308B11D77644181C30862DCD7C999" ma:contentTypeVersion="13" ma:contentTypeDescription="Create a new document." ma:contentTypeScope="" ma:versionID="961562a309581005c52c80e288798c83">
  <xsd:schema xmlns:xsd="http://www.w3.org/2001/XMLSchema" xmlns:xs="http://www.w3.org/2001/XMLSchema" xmlns:p="http://schemas.microsoft.com/office/2006/metadata/properties" xmlns:ns2="58fbaf3f-6366-4185-abb5-49ac6d87dc6c" xmlns:ns3="fc21c4ad-0e46-46ce-b759-23e3bd6210d5" targetNamespace="http://schemas.microsoft.com/office/2006/metadata/properties" ma:root="true" ma:fieldsID="a65294b5667738e096dc4ffa8412418b" ns2:_="" ns3:_="">
    <xsd:import namespace="58fbaf3f-6366-4185-abb5-49ac6d87dc6c"/>
    <xsd:import namespace="fc21c4ad-0e46-46ce-b759-23e3bd621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baf3f-6366-4185-abb5-49ac6d87dc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1c4ad-0e46-46ce-b759-23e3bd6210d5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E54C4E-40AC-4FAB-A82B-FD7937900E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8F51F4-4B19-43B7-9BDD-D1860C049CB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540B3F5-9844-4863-92FC-9A082B78F5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fbaf3f-6366-4185-abb5-49ac6d87dc6c"/>
    <ds:schemaRef ds:uri="fc21c4ad-0e46-46ce-b759-23e3bd6210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CST Powerpoint Template Final</Template>
  <TotalTime>298</TotalTime>
  <Words>518</Words>
  <Application>Microsoft Office PowerPoint</Application>
  <PresentationFormat>Widescreen</PresentationFormat>
  <Paragraphs>91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-apple-system</vt:lpstr>
      <vt:lpstr>Aptos</vt:lpstr>
      <vt:lpstr>Aptos Display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Glossary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Scarle</dc:creator>
  <cp:lastModifiedBy>Smith, Ian</cp:lastModifiedBy>
  <cp:revision>20</cp:revision>
  <dcterms:created xsi:type="dcterms:W3CDTF">2023-09-05T13:21:30Z</dcterms:created>
  <dcterms:modified xsi:type="dcterms:W3CDTF">2026-02-02T15:39:42Z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0x010100B64308B11D77644181C30862DCD7C999</vt:lpwstr>
  </property>
</Properties>
</file>