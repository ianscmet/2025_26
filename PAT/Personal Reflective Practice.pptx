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5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4660"/>
  </p:normalViewPr>
  <p:slideViewPr>
    <p:cSldViewPr snapToGrid="0">
      <p:cViewPr varScale="1">
        <p:scale>
          <a:sx n="161" d="100"/>
          <a:sy n="161" d="100"/>
        </p:scale>
        <p:origin x="232"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85157A-9404-4638-8EC1-DDF9F2281E12}" type="doc">
      <dgm:prSet loTypeId="urn:microsoft.com/office/officeart/2016/7/layout/BasicLinearProcessNumbered" loCatId="process" qsTypeId="urn:microsoft.com/office/officeart/2005/8/quickstyle/simple1" qsCatId="simple" csTypeId="urn:microsoft.com/office/officeart/2005/8/colors/colorful5" csCatId="colorful"/>
      <dgm:spPr/>
      <dgm:t>
        <a:bodyPr/>
        <a:lstStyle/>
        <a:p>
          <a:endParaRPr lang="en-US"/>
        </a:p>
      </dgm:t>
    </dgm:pt>
    <dgm:pt modelId="{04663BFF-FD76-4833-9801-FBF42A22B716}">
      <dgm:prSet/>
      <dgm:spPr/>
      <dgm:t>
        <a:bodyPr/>
        <a:lstStyle/>
        <a:p>
          <a:r>
            <a:rPr lang="en-GB"/>
            <a:t>Try to speak more even if we do not know each other well</a:t>
          </a:r>
          <a:endParaRPr lang="en-US"/>
        </a:p>
      </dgm:t>
    </dgm:pt>
    <dgm:pt modelId="{99B74C0F-3670-4AF0-9B1D-8855AB6F629B}" type="parTrans" cxnId="{58CE2801-475D-46AE-A19F-92E1B3350A5E}">
      <dgm:prSet/>
      <dgm:spPr/>
      <dgm:t>
        <a:bodyPr/>
        <a:lstStyle/>
        <a:p>
          <a:endParaRPr lang="en-US"/>
        </a:p>
      </dgm:t>
    </dgm:pt>
    <dgm:pt modelId="{E6B1B896-B71B-4C99-975B-5B13293538EB}" type="sibTrans" cxnId="{58CE2801-475D-46AE-A19F-92E1B3350A5E}">
      <dgm:prSet phldrT="1" phldr="0"/>
      <dgm:spPr/>
      <dgm:t>
        <a:bodyPr/>
        <a:lstStyle/>
        <a:p>
          <a:r>
            <a:rPr lang="en-US"/>
            <a:t>1</a:t>
          </a:r>
        </a:p>
      </dgm:t>
    </dgm:pt>
    <dgm:pt modelId="{9F4A2468-FED0-4301-A23D-FA5C0F8BA442}">
      <dgm:prSet/>
      <dgm:spPr/>
      <dgm:t>
        <a:bodyPr/>
        <a:lstStyle/>
        <a:p>
          <a:r>
            <a:rPr lang="en-GB"/>
            <a:t>Work at a faster pace and multitask</a:t>
          </a:r>
          <a:endParaRPr lang="en-US"/>
        </a:p>
      </dgm:t>
    </dgm:pt>
    <dgm:pt modelId="{BBA3D1EF-4E01-48D8-8697-C94A1ED73BE3}" type="parTrans" cxnId="{C220AF29-2DEE-4626-A2AE-B178A5484E7B}">
      <dgm:prSet/>
      <dgm:spPr/>
      <dgm:t>
        <a:bodyPr/>
        <a:lstStyle/>
        <a:p>
          <a:endParaRPr lang="en-US"/>
        </a:p>
      </dgm:t>
    </dgm:pt>
    <dgm:pt modelId="{0C07ED20-0BD4-4E0E-943F-25BA90CE89AC}" type="sibTrans" cxnId="{C220AF29-2DEE-4626-A2AE-B178A5484E7B}">
      <dgm:prSet phldrT="2" phldr="0"/>
      <dgm:spPr/>
      <dgm:t>
        <a:bodyPr/>
        <a:lstStyle/>
        <a:p>
          <a:r>
            <a:rPr lang="en-US"/>
            <a:t>2</a:t>
          </a:r>
        </a:p>
      </dgm:t>
    </dgm:pt>
    <dgm:pt modelId="{D76A71C1-1C02-41F5-BF7E-090D995F13D4}">
      <dgm:prSet/>
      <dgm:spPr/>
      <dgm:t>
        <a:bodyPr/>
        <a:lstStyle/>
        <a:p>
          <a:r>
            <a:rPr lang="en-GB"/>
            <a:t>Give more feedback on other people’s ideas early on</a:t>
          </a:r>
          <a:endParaRPr lang="en-US"/>
        </a:p>
      </dgm:t>
    </dgm:pt>
    <dgm:pt modelId="{51CCB081-20F0-4952-A9E6-E147474E2CD4}" type="parTrans" cxnId="{B2E90B8D-29FB-4716-A6F7-3740071E9276}">
      <dgm:prSet/>
      <dgm:spPr/>
      <dgm:t>
        <a:bodyPr/>
        <a:lstStyle/>
        <a:p>
          <a:endParaRPr lang="en-US"/>
        </a:p>
      </dgm:t>
    </dgm:pt>
    <dgm:pt modelId="{4C2F8C22-8394-43A7-983F-129D0143AFFE}" type="sibTrans" cxnId="{B2E90B8D-29FB-4716-A6F7-3740071E9276}">
      <dgm:prSet phldrT="3" phldr="0"/>
      <dgm:spPr/>
      <dgm:t>
        <a:bodyPr/>
        <a:lstStyle/>
        <a:p>
          <a:r>
            <a:rPr lang="en-US"/>
            <a:t>3</a:t>
          </a:r>
        </a:p>
      </dgm:t>
    </dgm:pt>
    <dgm:pt modelId="{8EB48A8D-A261-400C-B36F-AB42BE3D6980}">
      <dgm:prSet/>
      <dgm:spPr/>
      <dgm:t>
        <a:bodyPr/>
        <a:lstStyle/>
        <a:p>
          <a:r>
            <a:rPr lang="en-GB"/>
            <a:t>Construct a timetable for the group so as not to waste time</a:t>
          </a:r>
          <a:endParaRPr lang="en-US"/>
        </a:p>
      </dgm:t>
    </dgm:pt>
    <dgm:pt modelId="{F637A32B-B6E9-4BA1-A23F-6F2E1133A2C0}" type="parTrans" cxnId="{603AD7C2-EF5B-467F-9A55-09C190F3E46B}">
      <dgm:prSet/>
      <dgm:spPr/>
      <dgm:t>
        <a:bodyPr/>
        <a:lstStyle/>
        <a:p>
          <a:endParaRPr lang="en-US"/>
        </a:p>
      </dgm:t>
    </dgm:pt>
    <dgm:pt modelId="{7E09213C-F37C-47B5-8B09-F319152BC95D}" type="sibTrans" cxnId="{603AD7C2-EF5B-467F-9A55-09C190F3E46B}">
      <dgm:prSet phldrT="4" phldr="0"/>
      <dgm:spPr/>
      <dgm:t>
        <a:bodyPr/>
        <a:lstStyle/>
        <a:p>
          <a:r>
            <a:rPr lang="en-US"/>
            <a:t>4</a:t>
          </a:r>
        </a:p>
      </dgm:t>
    </dgm:pt>
    <dgm:pt modelId="{B9E49011-1C20-4FA7-8A70-0798D6E3A62F}" type="pres">
      <dgm:prSet presAssocID="{3685157A-9404-4638-8EC1-DDF9F2281E12}" presName="Name0" presStyleCnt="0">
        <dgm:presLayoutVars>
          <dgm:animLvl val="lvl"/>
          <dgm:resizeHandles val="exact"/>
        </dgm:presLayoutVars>
      </dgm:prSet>
      <dgm:spPr/>
    </dgm:pt>
    <dgm:pt modelId="{C2939C0D-8FC2-4DA3-BAFE-7C9537EBCB11}" type="pres">
      <dgm:prSet presAssocID="{04663BFF-FD76-4833-9801-FBF42A22B716}" presName="compositeNode" presStyleCnt="0">
        <dgm:presLayoutVars>
          <dgm:bulletEnabled val="1"/>
        </dgm:presLayoutVars>
      </dgm:prSet>
      <dgm:spPr/>
    </dgm:pt>
    <dgm:pt modelId="{80DB8FE2-0285-4905-9FA2-53755109E0B5}" type="pres">
      <dgm:prSet presAssocID="{04663BFF-FD76-4833-9801-FBF42A22B716}" presName="bgRect" presStyleLbl="bgAccFollowNode1" presStyleIdx="0" presStyleCnt="4"/>
      <dgm:spPr/>
    </dgm:pt>
    <dgm:pt modelId="{24B39E03-6A2E-48FA-A44D-5CA85984E91B}" type="pres">
      <dgm:prSet presAssocID="{E6B1B896-B71B-4C99-975B-5B13293538EB}" presName="sibTransNodeCircle" presStyleLbl="alignNode1" presStyleIdx="0" presStyleCnt="8">
        <dgm:presLayoutVars>
          <dgm:chMax val="0"/>
          <dgm:bulletEnabled/>
        </dgm:presLayoutVars>
      </dgm:prSet>
      <dgm:spPr/>
    </dgm:pt>
    <dgm:pt modelId="{B4E0AF6A-153F-4062-AE2A-129386E461D6}" type="pres">
      <dgm:prSet presAssocID="{04663BFF-FD76-4833-9801-FBF42A22B716}" presName="bottomLine" presStyleLbl="alignNode1" presStyleIdx="1" presStyleCnt="8">
        <dgm:presLayoutVars/>
      </dgm:prSet>
      <dgm:spPr/>
    </dgm:pt>
    <dgm:pt modelId="{D6D030A3-55EA-4836-B490-608A693CB116}" type="pres">
      <dgm:prSet presAssocID="{04663BFF-FD76-4833-9801-FBF42A22B716}" presName="nodeText" presStyleLbl="bgAccFollowNode1" presStyleIdx="0" presStyleCnt="4">
        <dgm:presLayoutVars>
          <dgm:bulletEnabled val="1"/>
        </dgm:presLayoutVars>
      </dgm:prSet>
      <dgm:spPr/>
    </dgm:pt>
    <dgm:pt modelId="{59FE297C-D461-4496-91C1-9626B0367346}" type="pres">
      <dgm:prSet presAssocID="{E6B1B896-B71B-4C99-975B-5B13293538EB}" presName="sibTrans" presStyleCnt="0"/>
      <dgm:spPr/>
    </dgm:pt>
    <dgm:pt modelId="{9E865CC3-3653-4CCC-898A-3B0DA0570B0F}" type="pres">
      <dgm:prSet presAssocID="{9F4A2468-FED0-4301-A23D-FA5C0F8BA442}" presName="compositeNode" presStyleCnt="0">
        <dgm:presLayoutVars>
          <dgm:bulletEnabled val="1"/>
        </dgm:presLayoutVars>
      </dgm:prSet>
      <dgm:spPr/>
    </dgm:pt>
    <dgm:pt modelId="{EE42E9E8-7E77-4481-B49B-B70BB95855BC}" type="pres">
      <dgm:prSet presAssocID="{9F4A2468-FED0-4301-A23D-FA5C0F8BA442}" presName="bgRect" presStyleLbl="bgAccFollowNode1" presStyleIdx="1" presStyleCnt="4"/>
      <dgm:spPr/>
    </dgm:pt>
    <dgm:pt modelId="{49686FA2-D6E6-4268-B0F5-B4FB6872FCAC}" type="pres">
      <dgm:prSet presAssocID="{0C07ED20-0BD4-4E0E-943F-25BA90CE89AC}" presName="sibTransNodeCircle" presStyleLbl="alignNode1" presStyleIdx="2" presStyleCnt="8">
        <dgm:presLayoutVars>
          <dgm:chMax val="0"/>
          <dgm:bulletEnabled/>
        </dgm:presLayoutVars>
      </dgm:prSet>
      <dgm:spPr/>
    </dgm:pt>
    <dgm:pt modelId="{24B83E4D-D3E8-456E-890D-6DE9CF8233B7}" type="pres">
      <dgm:prSet presAssocID="{9F4A2468-FED0-4301-A23D-FA5C0F8BA442}" presName="bottomLine" presStyleLbl="alignNode1" presStyleIdx="3" presStyleCnt="8">
        <dgm:presLayoutVars/>
      </dgm:prSet>
      <dgm:spPr/>
    </dgm:pt>
    <dgm:pt modelId="{51A32829-6778-4226-8B4D-EA1895772238}" type="pres">
      <dgm:prSet presAssocID="{9F4A2468-FED0-4301-A23D-FA5C0F8BA442}" presName="nodeText" presStyleLbl="bgAccFollowNode1" presStyleIdx="1" presStyleCnt="4">
        <dgm:presLayoutVars>
          <dgm:bulletEnabled val="1"/>
        </dgm:presLayoutVars>
      </dgm:prSet>
      <dgm:spPr/>
    </dgm:pt>
    <dgm:pt modelId="{010A888B-3BB5-4FE3-A895-48D825880B55}" type="pres">
      <dgm:prSet presAssocID="{0C07ED20-0BD4-4E0E-943F-25BA90CE89AC}" presName="sibTrans" presStyleCnt="0"/>
      <dgm:spPr/>
    </dgm:pt>
    <dgm:pt modelId="{D3B44270-926B-4A80-BF56-CCC7341C2ED5}" type="pres">
      <dgm:prSet presAssocID="{D76A71C1-1C02-41F5-BF7E-090D995F13D4}" presName="compositeNode" presStyleCnt="0">
        <dgm:presLayoutVars>
          <dgm:bulletEnabled val="1"/>
        </dgm:presLayoutVars>
      </dgm:prSet>
      <dgm:spPr/>
    </dgm:pt>
    <dgm:pt modelId="{58D34B30-BE6F-4F71-ADCF-2993C2230438}" type="pres">
      <dgm:prSet presAssocID="{D76A71C1-1C02-41F5-BF7E-090D995F13D4}" presName="bgRect" presStyleLbl="bgAccFollowNode1" presStyleIdx="2" presStyleCnt="4"/>
      <dgm:spPr/>
    </dgm:pt>
    <dgm:pt modelId="{172AD982-E60A-4053-9630-0A3C23F190EA}" type="pres">
      <dgm:prSet presAssocID="{4C2F8C22-8394-43A7-983F-129D0143AFFE}" presName="sibTransNodeCircle" presStyleLbl="alignNode1" presStyleIdx="4" presStyleCnt="8">
        <dgm:presLayoutVars>
          <dgm:chMax val="0"/>
          <dgm:bulletEnabled/>
        </dgm:presLayoutVars>
      </dgm:prSet>
      <dgm:spPr/>
    </dgm:pt>
    <dgm:pt modelId="{FA51E7C6-FDF1-4376-B14A-F2661AAFBFEC}" type="pres">
      <dgm:prSet presAssocID="{D76A71C1-1C02-41F5-BF7E-090D995F13D4}" presName="bottomLine" presStyleLbl="alignNode1" presStyleIdx="5" presStyleCnt="8">
        <dgm:presLayoutVars/>
      </dgm:prSet>
      <dgm:spPr/>
    </dgm:pt>
    <dgm:pt modelId="{7FD8ABB2-5513-4573-BFFB-D3A73BD6F807}" type="pres">
      <dgm:prSet presAssocID="{D76A71C1-1C02-41F5-BF7E-090D995F13D4}" presName="nodeText" presStyleLbl="bgAccFollowNode1" presStyleIdx="2" presStyleCnt="4">
        <dgm:presLayoutVars>
          <dgm:bulletEnabled val="1"/>
        </dgm:presLayoutVars>
      </dgm:prSet>
      <dgm:spPr/>
    </dgm:pt>
    <dgm:pt modelId="{0FEC445C-E68E-4361-86DC-F137B74D3130}" type="pres">
      <dgm:prSet presAssocID="{4C2F8C22-8394-43A7-983F-129D0143AFFE}" presName="sibTrans" presStyleCnt="0"/>
      <dgm:spPr/>
    </dgm:pt>
    <dgm:pt modelId="{E1CEE386-E3B0-44D1-8206-35AC4AB61D01}" type="pres">
      <dgm:prSet presAssocID="{8EB48A8D-A261-400C-B36F-AB42BE3D6980}" presName="compositeNode" presStyleCnt="0">
        <dgm:presLayoutVars>
          <dgm:bulletEnabled val="1"/>
        </dgm:presLayoutVars>
      </dgm:prSet>
      <dgm:spPr/>
    </dgm:pt>
    <dgm:pt modelId="{72822DFE-44CB-43E9-BE30-3BBD992B400C}" type="pres">
      <dgm:prSet presAssocID="{8EB48A8D-A261-400C-B36F-AB42BE3D6980}" presName="bgRect" presStyleLbl="bgAccFollowNode1" presStyleIdx="3" presStyleCnt="4"/>
      <dgm:spPr/>
    </dgm:pt>
    <dgm:pt modelId="{9B116731-4511-407B-B302-F2C0559103E6}" type="pres">
      <dgm:prSet presAssocID="{7E09213C-F37C-47B5-8B09-F319152BC95D}" presName="sibTransNodeCircle" presStyleLbl="alignNode1" presStyleIdx="6" presStyleCnt="8">
        <dgm:presLayoutVars>
          <dgm:chMax val="0"/>
          <dgm:bulletEnabled/>
        </dgm:presLayoutVars>
      </dgm:prSet>
      <dgm:spPr/>
    </dgm:pt>
    <dgm:pt modelId="{923D066B-95BF-4CC8-8960-F2BB3CBD7EED}" type="pres">
      <dgm:prSet presAssocID="{8EB48A8D-A261-400C-B36F-AB42BE3D6980}" presName="bottomLine" presStyleLbl="alignNode1" presStyleIdx="7" presStyleCnt="8">
        <dgm:presLayoutVars/>
      </dgm:prSet>
      <dgm:spPr/>
    </dgm:pt>
    <dgm:pt modelId="{C7D2CE8D-8B8E-433E-A23B-746AF961F72D}" type="pres">
      <dgm:prSet presAssocID="{8EB48A8D-A261-400C-B36F-AB42BE3D6980}" presName="nodeText" presStyleLbl="bgAccFollowNode1" presStyleIdx="3" presStyleCnt="4">
        <dgm:presLayoutVars>
          <dgm:bulletEnabled val="1"/>
        </dgm:presLayoutVars>
      </dgm:prSet>
      <dgm:spPr/>
    </dgm:pt>
  </dgm:ptLst>
  <dgm:cxnLst>
    <dgm:cxn modelId="{58CE2801-475D-46AE-A19F-92E1B3350A5E}" srcId="{3685157A-9404-4638-8EC1-DDF9F2281E12}" destId="{04663BFF-FD76-4833-9801-FBF42A22B716}" srcOrd="0" destOrd="0" parTransId="{99B74C0F-3670-4AF0-9B1D-8855AB6F629B}" sibTransId="{E6B1B896-B71B-4C99-975B-5B13293538EB}"/>
    <dgm:cxn modelId="{26F9600F-437E-4318-BD3B-CAD2A6FF2CBE}" type="presOf" srcId="{4C2F8C22-8394-43A7-983F-129D0143AFFE}" destId="{172AD982-E60A-4053-9630-0A3C23F190EA}" srcOrd="0" destOrd="0" presId="urn:microsoft.com/office/officeart/2016/7/layout/BasicLinearProcessNumbered"/>
    <dgm:cxn modelId="{C220AF29-2DEE-4626-A2AE-B178A5484E7B}" srcId="{3685157A-9404-4638-8EC1-DDF9F2281E12}" destId="{9F4A2468-FED0-4301-A23D-FA5C0F8BA442}" srcOrd="1" destOrd="0" parTransId="{BBA3D1EF-4E01-48D8-8697-C94A1ED73BE3}" sibTransId="{0C07ED20-0BD4-4E0E-943F-25BA90CE89AC}"/>
    <dgm:cxn modelId="{786D862B-58EA-4AC3-8CE6-8AC02A5C28EA}" type="presOf" srcId="{E6B1B896-B71B-4C99-975B-5B13293538EB}" destId="{24B39E03-6A2E-48FA-A44D-5CA85984E91B}" srcOrd="0" destOrd="0" presId="urn:microsoft.com/office/officeart/2016/7/layout/BasicLinearProcessNumbered"/>
    <dgm:cxn modelId="{D2917F2E-2F76-4D96-9C82-3819120F3D83}" type="presOf" srcId="{9F4A2468-FED0-4301-A23D-FA5C0F8BA442}" destId="{EE42E9E8-7E77-4481-B49B-B70BB95855BC}" srcOrd="0" destOrd="0" presId="urn:microsoft.com/office/officeart/2016/7/layout/BasicLinearProcessNumbered"/>
    <dgm:cxn modelId="{B745FD73-442B-4C8D-9D29-4D2B682CD5F4}" type="presOf" srcId="{D76A71C1-1C02-41F5-BF7E-090D995F13D4}" destId="{7FD8ABB2-5513-4573-BFFB-D3A73BD6F807}" srcOrd="1" destOrd="0" presId="urn:microsoft.com/office/officeart/2016/7/layout/BasicLinearProcessNumbered"/>
    <dgm:cxn modelId="{B2E90B8D-29FB-4716-A6F7-3740071E9276}" srcId="{3685157A-9404-4638-8EC1-DDF9F2281E12}" destId="{D76A71C1-1C02-41F5-BF7E-090D995F13D4}" srcOrd="2" destOrd="0" parTransId="{51CCB081-20F0-4952-A9E6-E147474E2CD4}" sibTransId="{4C2F8C22-8394-43A7-983F-129D0143AFFE}"/>
    <dgm:cxn modelId="{AD4415A3-3143-4717-97D0-D94C84B24752}" type="presOf" srcId="{8EB48A8D-A261-400C-B36F-AB42BE3D6980}" destId="{C7D2CE8D-8B8E-433E-A23B-746AF961F72D}" srcOrd="1" destOrd="0" presId="urn:microsoft.com/office/officeart/2016/7/layout/BasicLinearProcessNumbered"/>
    <dgm:cxn modelId="{20335EA3-EEBE-48E5-BA99-6CD0900D480F}" type="presOf" srcId="{8EB48A8D-A261-400C-B36F-AB42BE3D6980}" destId="{72822DFE-44CB-43E9-BE30-3BBD992B400C}" srcOrd="0" destOrd="0" presId="urn:microsoft.com/office/officeart/2016/7/layout/BasicLinearProcessNumbered"/>
    <dgm:cxn modelId="{3325D4A3-FD29-44A6-BC14-44A3659077F4}" type="presOf" srcId="{9F4A2468-FED0-4301-A23D-FA5C0F8BA442}" destId="{51A32829-6778-4226-8B4D-EA1895772238}" srcOrd="1" destOrd="0" presId="urn:microsoft.com/office/officeart/2016/7/layout/BasicLinearProcessNumbered"/>
    <dgm:cxn modelId="{AA3D73A8-91D1-4376-A71F-2F1E7734DF6B}" type="presOf" srcId="{04663BFF-FD76-4833-9801-FBF42A22B716}" destId="{80DB8FE2-0285-4905-9FA2-53755109E0B5}" srcOrd="0" destOrd="0" presId="urn:microsoft.com/office/officeart/2016/7/layout/BasicLinearProcessNumbered"/>
    <dgm:cxn modelId="{29B370B1-9D52-4BC8-976D-8BA87AD3CE37}" type="presOf" srcId="{3685157A-9404-4638-8EC1-DDF9F2281E12}" destId="{B9E49011-1C20-4FA7-8A70-0798D6E3A62F}" srcOrd="0" destOrd="0" presId="urn:microsoft.com/office/officeart/2016/7/layout/BasicLinearProcessNumbered"/>
    <dgm:cxn modelId="{708BF4B1-6513-4250-A2B2-6FE44E8A6D83}" type="presOf" srcId="{7E09213C-F37C-47B5-8B09-F319152BC95D}" destId="{9B116731-4511-407B-B302-F2C0559103E6}" srcOrd="0" destOrd="0" presId="urn:microsoft.com/office/officeart/2016/7/layout/BasicLinearProcessNumbered"/>
    <dgm:cxn modelId="{3C35E3B5-4DAF-4D1E-9E10-EFED3E5A5EDF}" type="presOf" srcId="{04663BFF-FD76-4833-9801-FBF42A22B716}" destId="{D6D030A3-55EA-4836-B490-608A693CB116}" srcOrd="1" destOrd="0" presId="urn:microsoft.com/office/officeart/2016/7/layout/BasicLinearProcessNumbered"/>
    <dgm:cxn modelId="{603AD7C2-EF5B-467F-9A55-09C190F3E46B}" srcId="{3685157A-9404-4638-8EC1-DDF9F2281E12}" destId="{8EB48A8D-A261-400C-B36F-AB42BE3D6980}" srcOrd="3" destOrd="0" parTransId="{F637A32B-B6E9-4BA1-A23F-6F2E1133A2C0}" sibTransId="{7E09213C-F37C-47B5-8B09-F319152BC95D}"/>
    <dgm:cxn modelId="{81E496E0-0ECD-4B7A-AC64-C38F6B844001}" type="presOf" srcId="{D76A71C1-1C02-41F5-BF7E-090D995F13D4}" destId="{58D34B30-BE6F-4F71-ADCF-2993C2230438}" srcOrd="0" destOrd="0" presId="urn:microsoft.com/office/officeart/2016/7/layout/BasicLinearProcessNumbered"/>
    <dgm:cxn modelId="{0E4A09F1-B5CD-41B1-AEC5-F9A1D9FBFB5B}" type="presOf" srcId="{0C07ED20-0BD4-4E0E-943F-25BA90CE89AC}" destId="{49686FA2-D6E6-4268-B0F5-B4FB6872FCAC}" srcOrd="0" destOrd="0" presId="urn:microsoft.com/office/officeart/2016/7/layout/BasicLinearProcessNumbered"/>
    <dgm:cxn modelId="{6792C939-1359-44CA-8CBD-867CCBEDD603}" type="presParOf" srcId="{B9E49011-1C20-4FA7-8A70-0798D6E3A62F}" destId="{C2939C0D-8FC2-4DA3-BAFE-7C9537EBCB11}" srcOrd="0" destOrd="0" presId="urn:microsoft.com/office/officeart/2016/7/layout/BasicLinearProcessNumbered"/>
    <dgm:cxn modelId="{EAF2CE37-B872-4C4E-9E71-06C2428B3452}" type="presParOf" srcId="{C2939C0D-8FC2-4DA3-BAFE-7C9537EBCB11}" destId="{80DB8FE2-0285-4905-9FA2-53755109E0B5}" srcOrd="0" destOrd="0" presId="urn:microsoft.com/office/officeart/2016/7/layout/BasicLinearProcessNumbered"/>
    <dgm:cxn modelId="{2A0051E4-B973-49F2-BB35-149866DFC3AF}" type="presParOf" srcId="{C2939C0D-8FC2-4DA3-BAFE-7C9537EBCB11}" destId="{24B39E03-6A2E-48FA-A44D-5CA85984E91B}" srcOrd="1" destOrd="0" presId="urn:microsoft.com/office/officeart/2016/7/layout/BasicLinearProcessNumbered"/>
    <dgm:cxn modelId="{0FA3BD6D-99C0-494B-90BB-39216A53B787}" type="presParOf" srcId="{C2939C0D-8FC2-4DA3-BAFE-7C9537EBCB11}" destId="{B4E0AF6A-153F-4062-AE2A-129386E461D6}" srcOrd="2" destOrd="0" presId="urn:microsoft.com/office/officeart/2016/7/layout/BasicLinearProcessNumbered"/>
    <dgm:cxn modelId="{D2223D07-40FA-484B-B7CD-89304CEEA909}" type="presParOf" srcId="{C2939C0D-8FC2-4DA3-BAFE-7C9537EBCB11}" destId="{D6D030A3-55EA-4836-B490-608A693CB116}" srcOrd="3" destOrd="0" presId="urn:microsoft.com/office/officeart/2016/7/layout/BasicLinearProcessNumbered"/>
    <dgm:cxn modelId="{9789B594-67C4-486A-81B4-807F118D5873}" type="presParOf" srcId="{B9E49011-1C20-4FA7-8A70-0798D6E3A62F}" destId="{59FE297C-D461-4496-91C1-9626B0367346}" srcOrd="1" destOrd="0" presId="urn:microsoft.com/office/officeart/2016/7/layout/BasicLinearProcessNumbered"/>
    <dgm:cxn modelId="{6084B7E1-8302-4387-9533-5C916B4199D5}" type="presParOf" srcId="{B9E49011-1C20-4FA7-8A70-0798D6E3A62F}" destId="{9E865CC3-3653-4CCC-898A-3B0DA0570B0F}" srcOrd="2" destOrd="0" presId="urn:microsoft.com/office/officeart/2016/7/layout/BasicLinearProcessNumbered"/>
    <dgm:cxn modelId="{B953E53A-23CF-4ECE-B9A9-CC06BDD1C7CC}" type="presParOf" srcId="{9E865CC3-3653-4CCC-898A-3B0DA0570B0F}" destId="{EE42E9E8-7E77-4481-B49B-B70BB95855BC}" srcOrd="0" destOrd="0" presId="urn:microsoft.com/office/officeart/2016/7/layout/BasicLinearProcessNumbered"/>
    <dgm:cxn modelId="{649FAC55-A1D2-4752-A1D8-6A2410A7A00D}" type="presParOf" srcId="{9E865CC3-3653-4CCC-898A-3B0DA0570B0F}" destId="{49686FA2-D6E6-4268-B0F5-B4FB6872FCAC}" srcOrd="1" destOrd="0" presId="urn:microsoft.com/office/officeart/2016/7/layout/BasicLinearProcessNumbered"/>
    <dgm:cxn modelId="{AA0B946E-BAAE-4577-A93D-89053CFE1E0B}" type="presParOf" srcId="{9E865CC3-3653-4CCC-898A-3B0DA0570B0F}" destId="{24B83E4D-D3E8-456E-890D-6DE9CF8233B7}" srcOrd="2" destOrd="0" presId="urn:microsoft.com/office/officeart/2016/7/layout/BasicLinearProcessNumbered"/>
    <dgm:cxn modelId="{20464C0F-921B-427F-B8C8-DD0BE2CB351D}" type="presParOf" srcId="{9E865CC3-3653-4CCC-898A-3B0DA0570B0F}" destId="{51A32829-6778-4226-8B4D-EA1895772238}" srcOrd="3" destOrd="0" presId="urn:microsoft.com/office/officeart/2016/7/layout/BasicLinearProcessNumbered"/>
    <dgm:cxn modelId="{C1A5EBE3-9A5D-4701-AFD2-656B2FA0F5FC}" type="presParOf" srcId="{B9E49011-1C20-4FA7-8A70-0798D6E3A62F}" destId="{010A888B-3BB5-4FE3-A895-48D825880B55}" srcOrd="3" destOrd="0" presId="urn:microsoft.com/office/officeart/2016/7/layout/BasicLinearProcessNumbered"/>
    <dgm:cxn modelId="{E2E1A03D-3A3E-4C63-B025-24E3212173CF}" type="presParOf" srcId="{B9E49011-1C20-4FA7-8A70-0798D6E3A62F}" destId="{D3B44270-926B-4A80-BF56-CCC7341C2ED5}" srcOrd="4" destOrd="0" presId="urn:microsoft.com/office/officeart/2016/7/layout/BasicLinearProcessNumbered"/>
    <dgm:cxn modelId="{CA8DF567-44CF-403B-B389-C41D3A026FE7}" type="presParOf" srcId="{D3B44270-926B-4A80-BF56-CCC7341C2ED5}" destId="{58D34B30-BE6F-4F71-ADCF-2993C2230438}" srcOrd="0" destOrd="0" presId="urn:microsoft.com/office/officeart/2016/7/layout/BasicLinearProcessNumbered"/>
    <dgm:cxn modelId="{D73D2808-42AF-40C3-9CB5-FC7C89A0FE68}" type="presParOf" srcId="{D3B44270-926B-4A80-BF56-CCC7341C2ED5}" destId="{172AD982-E60A-4053-9630-0A3C23F190EA}" srcOrd="1" destOrd="0" presId="urn:microsoft.com/office/officeart/2016/7/layout/BasicLinearProcessNumbered"/>
    <dgm:cxn modelId="{5CAE79BF-368B-4B82-9CBE-56B80ADFC9A5}" type="presParOf" srcId="{D3B44270-926B-4A80-BF56-CCC7341C2ED5}" destId="{FA51E7C6-FDF1-4376-B14A-F2661AAFBFEC}" srcOrd="2" destOrd="0" presId="urn:microsoft.com/office/officeart/2016/7/layout/BasicLinearProcessNumbered"/>
    <dgm:cxn modelId="{117A99C8-CFD7-4D3B-8D9F-7865286FBC3C}" type="presParOf" srcId="{D3B44270-926B-4A80-BF56-CCC7341C2ED5}" destId="{7FD8ABB2-5513-4573-BFFB-D3A73BD6F807}" srcOrd="3" destOrd="0" presId="urn:microsoft.com/office/officeart/2016/7/layout/BasicLinearProcessNumbered"/>
    <dgm:cxn modelId="{ABBC8BAE-A08F-44EE-89BF-741E4901BA08}" type="presParOf" srcId="{B9E49011-1C20-4FA7-8A70-0798D6E3A62F}" destId="{0FEC445C-E68E-4361-86DC-F137B74D3130}" srcOrd="5" destOrd="0" presId="urn:microsoft.com/office/officeart/2016/7/layout/BasicLinearProcessNumbered"/>
    <dgm:cxn modelId="{BFCA9852-5598-4BB3-8489-C028C57C1AF1}" type="presParOf" srcId="{B9E49011-1C20-4FA7-8A70-0798D6E3A62F}" destId="{E1CEE386-E3B0-44D1-8206-35AC4AB61D01}" srcOrd="6" destOrd="0" presId="urn:microsoft.com/office/officeart/2016/7/layout/BasicLinearProcessNumbered"/>
    <dgm:cxn modelId="{C163D115-9CE4-4C0A-9A94-1764342F4118}" type="presParOf" srcId="{E1CEE386-E3B0-44D1-8206-35AC4AB61D01}" destId="{72822DFE-44CB-43E9-BE30-3BBD992B400C}" srcOrd="0" destOrd="0" presId="urn:microsoft.com/office/officeart/2016/7/layout/BasicLinearProcessNumbered"/>
    <dgm:cxn modelId="{3E2A0AD4-8E29-45A0-96F5-9CF2D0DD997D}" type="presParOf" srcId="{E1CEE386-E3B0-44D1-8206-35AC4AB61D01}" destId="{9B116731-4511-407B-B302-F2C0559103E6}" srcOrd="1" destOrd="0" presId="urn:microsoft.com/office/officeart/2016/7/layout/BasicLinearProcessNumbered"/>
    <dgm:cxn modelId="{503D5ACE-D553-4477-ACBC-ACBAFC48DE30}" type="presParOf" srcId="{E1CEE386-E3B0-44D1-8206-35AC4AB61D01}" destId="{923D066B-95BF-4CC8-8960-F2BB3CBD7EED}" srcOrd="2" destOrd="0" presId="urn:microsoft.com/office/officeart/2016/7/layout/BasicLinearProcessNumbered"/>
    <dgm:cxn modelId="{ECF5BFAD-33E8-4C4E-BB9E-64DB64428D44}" type="presParOf" srcId="{E1CEE386-E3B0-44D1-8206-35AC4AB61D01}" destId="{C7D2CE8D-8B8E-433E-A23B-746AF961F72D}"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310BCAD-4BD9-4E64-8C0C-95C9229CD695}"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1BDE8744-C134-409F-ABA6-B46A1B92F9C3}">
      <dgm:prSet/>
      <dgm:spPr/>
      <dgm:t>
        <a:bodyPr/>
        <a:lstStyle/>
        <a:p>
          <a:r>
            <a:rPr lang="en-GB"/>
            <a:t>Have you identified a pattern to your working practice? Do you prefer to start early on a project or assignment or wait until the deadline gets closer? How has that worked for you in the past?</a:t>
          </a:r>
          <a:endParaRPr lang="en-US"/>
        </a:p>
      </dgm:t>
    </dgm:pt>
    <dgm:pt modelId="{9C7E4750-7DA9-47C3-90B6-FC09F9E514E5}" type="parTrans" cxnId="{4838772B-24BA-4CC4-A9C3-B7A2CA035938}">
      <dgm:prSet/>
      <dgm:spPr/>
      <dgm:t>
        <a:bodyPr/>
        <a:lstStyle/>
        <a:p>
          <a:endParaRPr lang="en-US"/>
        </a:p>
      </dgm:t>
    </dgm:pt>
    <dgm:pt modelId="{F4BE17C6-F284-48A9-9D9E-9FE703A3615B}" type="sibTrans" cxnId="{4838772B-24BA-4CC4-A9C3-B7A2CA035938}">
      <dgm:prSet/>
      <dgm:spPr/>
      <dgm:t>
        <a:bodyPr/>
        <a:lstStyle/>
        <a:p>
          <a:endParaRPr lang="en-US"/>
        </a:p>
      </dgm:t>
    </dgm:pt>
    <dgm:pt modelId="{CCDF023D-912D-47CA-B3F7-56CEBEE230B6}">
      <dgm:prSet/>
      <dgm:spPr/>
      <dgm:t>
        <a:bodyPr/>
        <a:lstStyle/>
        <a:p>
          <a:r>
            <a:rPr lang="en-GB" dirty="0"/>
            <a:t>Which approaches and methods have worked well for you?</a:t>
          </a:r>
          <a:endParaRPr lang="en-US" dirty="0"/>
        </a:p>
      </dgm:t>
    </dgm:pt>
    <dgm:pt modelId="{20D21065-689C-436C-A1CA-FDBF2C182F6F}" type="parTrans" cxnId="{BB86EB46-1F5D-4961-AC79-55AACA887CA9}">
      <dgm:prSet/>
      <dgm:spPr/>
      <dgm:t>
        <a:bodyPr/>
        <a:lstStyle/>
        <a:p>
          <a:endParaRPr lang="en-US"/>
        </a:p>
      </dgm:t>
    </dgm:pt>
    <dgm:pt modelId="{A702C4B4-7866-4972-8CA0-8135BCFB0B11}" type="sibTrans" cxnId="{BB86EB46-1F5D-4961-AC79-55AACA887CA9}">
      <dgm:prSet/>
      <dgm:spPr/>
      <dgm:t>
        <a:bodyPr/>
        <a:lstStyle/>
        <a:p>
          <a:endParaRPr lang="en-US"/>
        </a:p>
      </dgm:t>
    </dgm:pt>
    <dgm:pt modelId="{EA88C1C7-A1C1-48E0-B090-58AC199C572E}">
      <dgm:prSet/>
      <dgm:spPr/>
      <dgm:t>
        <a:bodyPr/>
        <a:lstStyle/>
        <a:p>
          <a:r>
            <a:rPr lang="en-GB" dirty="0"/>
            <a:t>Which approaches have not benefitted you?</a:t>
          </a:r>
          <a:endParaRPr lang="en-US" dirty="0"/>
        </a:p>
      </dgm:t>
    </dgm:pt>
    <dgm:pt modelId="{E03DD141-59DC-423C-8770-7BD146F90BB5}" type="parTrans" cxnId="{9A2C8754-BC5F-448F-8132-034DA6AA3FC3}">
      <dgm:prSet/>
      <dgm:spPr/>
      <dgm:t>
        <a:bodyPr/>
        <a:lstStyle/>
        <a:p>
          <a:endParaRPr lang="en-US"/>
        </a:p>
      </dgm:t>
    </dgm:pt>
    <dgm:pt modelId="{D9E4D7E4-B784-44CA-8E2C-935BCA06BC93}" type="sibTrans" cxnId="{9A2C8754-BC5F-448F-8132-034DA6AA3FC3}">
      <dgm:prSet/>
      <dgm:spPr/>
      <dgm:t>
        <a:bodyPr/>
        <a:lstStyle/>
        <a:p>
          <a:endParaRPr lang="en-US"/>
        </a:p>
      </dgm:t>
    </dgm:pt>
    <dgm:pt modelId="{7DE08FE2-E3DA-42A3-BF29-533D2C60014B}">
      <dgm:prSet/>
      <dgm:spPr/>
      <dgm:t>
        <a:bodyPr/>
        <a:lstStyle/>
        <a:p>
          <a:r>
            <a:rPr lang="en-GB"/>
            <a:t>Be honest and non-judgemental in your reflections. There may not be a one-size fits all solution and context can be very important.</a:t>
          </a:r>
          <a:endParaRPr lang="en-US"/>
        </a:p>
      </dgm:t>
    </dgm:pt>
    <dgm:pt modelId="{23C00EA9-DFA5-4C8F-A50D-4115C8165B0E}" type="parTrans" cxnId="{11869303-F215-4021-B7F3-0B66979172ED}">
      <dgm:prSet/>
      <dgm:spPr/>
      <dgm:t>
        <a:bodyPr/>
        <a:lstStyle/>
        <a:p>
          <a:endParaRPr lang="en-US"/>
        </a:p>
      </dgm:t>
    </dgm:pt>
    <dgm:pt modelId="{31C075E1-17EF-4EBB-B64D-F5CC4A7C23FD}" type="sibTrans" cxnId="{11869303-F215-4021-B7F3-0B66979172ED}">
      <dgm:prSet/>
      <dgm:spPr/>
      <dgm:t>
        <a:bodyPr/>
        <a:lstStyle/>
        <a:p>
          <a:endParaRPr lang="en-US"/>
        </a:p>
      </dgm:t>
    </dgm:pt>
    <dgm:pt modelId="{80BA4C41-CBE7-4EDF-8FD3-3B27C28EE57F}" type="pres">
      <dgm:prSet presAssocID="{C310BCAD-4BD9-4E64-8C0C-95C9229CD695}" presName="vert0" presStyleCnt="0">
        <dgm:presLayoutVars>
          <dgm:dir/>
          <dgm:animOne val="branch"/>
          <dgm:animLvl val="lvl"/>
        </dgm:presLayoutVars>
      </dgm:prSet>
      <dgm:spPr/>
    </dgm:pt>
    <dgm:pt modelId="{41EBCF9D-92E6-4050-B459-A9634D5B6628}" type="pres">
      <dgm:prSet presAssocID="{1BDE8744-C134-409F-ABA6-B46A1B92F9C3}" presName="thickLine" presStyleLbl="alignNode1" presStyleIdx="0" presStyleCnt="4"/>
      <dgm:spPr/>
    </dgm:pt>
    <dgm:pt modelId="{BD2E1C07-3316-40AC-9B7B-4F333F65C435}" type="pres">
      <dgm:prSet presAssocID="{1BDE8744-C134-409F-ABA6-B46A1B92F9C3}" presName="horz1" presStyleCnt="0"/>
      <dgm:spPr/>
    </dgm:pt>
    <dgm:pt modelId="{343034C9-A20F-4535-8269-ADE0363EBC35}" type="pres">
      <dgm:prSet presAssocID="{1BDE8744-C134-409F-ABA6-B46A1B92F9C3}" presName="tx1" presStyleLbl="revTx" presStyleIdx="0" presStyleCnt="4"/>
      <dgm:spPr/>
    </dgm:pt>
    <dgm:pt modelId="{DFBA52A9-8517-453A-822E-2980C1ACA693}" type="pres">
      <dgm:prSet presAssocID="{1BDE8744-C134-409F-ABA6-B46A1B92F9C3}" presName="vert1" presStyleCnt="0"/>
      <dgm:spPr/>
    </dgm:pt>
    <dgm:pt modelId="{A34E5A0F-4FBD-48E7-B626-9A2204A75068}" type="pres">
      <dgm:prSet presAssocID="{CCDF023D-912D-47CA-B3F7-56CEBEE230B6}" presName="thickLine" presStyleLbl="alignNode1" presStyleIdx="1" presStyleCnt="4"/>
      <dgm:spPr/>
    </dgm:pt>
    <dgm:pt modelId="{CC4D9361-E69F-488E-A7F9-DE5CCF1EEFEC}" type="pres">
      <dgm:prSet presAssocID="{CCDF023D-912D-47CA-B3F7-56CEBEE230B6}" presName="horz1" presStyleCnt="0"/>
      <dgm:spPr/>
    </dgm:pt>
    <dgm:pt modelId="{EC346A6D-69E9-413B-B16A-61DAD8574D1E}" type="pres">
      <dgm:prSet presAssocID="{CCDF023D-912D-47CA-B3F7-56CEBEE230B6}" presName="tx1" presStyleLbl="revTx" presStyleIdx="1" presStyleCnt="4"/>
      <dgm:spPr/>
    </dgm:pt>
    <dgm:pt modelId="{7A48F76A-FF82-4093-8076-E2AC69EB985C}" type="pres">
      <dgm:prSet presAssocID="{CCDF023D-912D-47CA-B3F7-56CEBEE230B6}" presName="vert1" presStyleCnt="0"/>
      <dgm:spPr/>
    </dgm:pt>
    <dgm:pt modelId="{138F2A7A-9551-4E05-8115-F82219E19C27}" type="pres">
      <dgm:prSet presAssocID="{EA88C1C7-A1C1-48E0-B090-58AC199C572E}" presName="thickLine" presStyleLbl="alignNode1" presStyleIdx="2" presStyleCnt="4"/>
      <dgm:spPr/>
    </dgm:pt>
    <dgm:pt modelId="{C5D81735-1D8E-4E7D-997F-E20426D94CC9}" type="pres">
      <dgm:prSet presAssocID="{EA88C1C7-A1C1-48E0-B090-58AC199C572E}" presName="horz1" presStyleCnt="0"/>
      <dgm:spPr/>
    </dgm:pt>
    <dgm:pt modelId="{640CA98B-3729-46D5-AFB3-21F8C79BD0A8}" type="pres">
      <dgm:prSet presAssocID="{EA88C1C7-A1C1-48E0-B090-58AC199C572E}" presName="tx1" presStyleLbl="revTx" presStyleIdx="2" presStyleCnt="4"/>
      <dgm:spPr/>
    </dgm:pt>
    <dgm:pt modelId="{E2568DD9-526D-420F-AE16-B099A207C839}" type="pres">
      <dgm:prSet presAssocID="{EA88C1C7-A1C1-48E0-B090-58AC199C572E}" presName="vert1" presStyleCnt="0"/>
      <dgm:spPr/>
    </dgm:pt>
    <dgm:pt modelId="{68C97614-C824-4B23-BB3A-8440CD0A99E3}" type="pres">
      <dgm:prSet presAssocID="{7DE08FE2-E3DA-42A3-BF29-533D2C60014B}" presName="thickLine" presStyleLbl="alignNode1" presStyleIdx="3" presStyleCnt="4"/>
      <dgm:spPr/>
    </dgm:pt>
    <dgm:pt modelId="{2F306385-8821-4E61-A17E-27DF400D426A}" type="pres">
      <dgm:prSet presAssocID="{7DE08FE2-E3DA-42A3-BF29-533D2C60014B}" presName="horz1" presStyleCnt="0"/>
      <dgm:spPr/>
    </dgm:pt>
    <dgm:pt modelId="{F65F1FD7-6DE8-4403-AF86-F5A35C69D0EE}" type="pres">
      <dgm:prSet presAssocID="{7DE08FE2-E3DA-42A3-BF29-533D2C60014B}" presName="tx1" presStyleLbl="revTx" presStyleIdx="3" presStyleCnt="4"/>
      <dgm:spPr/>
    </dgm:pt>
    <dgm:pt modelId="{AE13F2C8-3608-4A01-8A06-65351F4182B2}" type="pres">
      <dgm:prSet presAssocID="{7DE08FE2-E3DA-42A3-BF29-533D2C60014B}" presName="vert1" presStyleCnt="0"/>
      <dgm:spPr/>
    </dgm:pt>
  </dgm:ptLst>
  <dgm:cxnLst>
    <dgm:cxn modelId="{11869303-F215-4021-B7F3-0B66979172ED}" srcId="{C310BCAD-4BD9-4E64-8C0C-95C9229CD695}" destId="{7DE08FE2-E3DA-42A3-BF29-533D2C60014B}" srcOrd="3" destOrd="0" parTransId="{23C00EA9-DFA5-4C8F-A50D-4115C8165B0E}" sibTransId="{31C075E1-17EF-4EBB-B64D-F5CC4A7C23FD}"/>
    <dgm:cxn modelId="{6894C90D-0E9E-42D2-92F7-90E2843EE5EF}" type="presOf" srcId="{CCDF023D-912D-47CA-B3F7-56CEBEE230B6}" destId="{EC346A6D-69E9-413B-B16A-61DAD8574D1E}" srcOrd="0" destOrd="0" presId="urn:microsoft.com/office/officeart/2008/layout/LinedList"/>
    <dgm:cxn modelId="{4838772B-24BA-4CC4-A9C3-B7A2CA035938}" srcId="{C310BCAD-4BD9-4E64-8C0C-95C9229CD695}" destId="{1BDE8744-C134-409F-ABA6-B46A1B92F9C3}" srcOrd="0" destOrd="0" parTransId="{9C7E4750-7DA9-47C3-90B6-FC09F9E514E5}" sibTransId="{F4BE17C6-F284-48A9-9D9E-9FE703A3615B}"/>
    <dgm:cxn modelId="{68CE5244-0FAA-4636-9EB2-0EB75E4C0E32}" type="presOf" srcId="{7DE08FE2-E3DA-42A3-BF29-533D2C60014B}" destId="{F65F1FD7-6DE8-4403-AF86-F5A35C69D0EE}" srcOrd="0" destOrd="0" presId="urn:microsoft.com/office/officeart/2008/layout/LinedList"/>
    <dgm:cxn modelId="{BB86EB46-1F5D-4961-AC79-55AACA887CA9}" srcId="{C310BCAD-4BD9-4E64-8C0C-95C9229CD695}" destId="{CCDF023D-912D-47CA-B3F7-56CEBEE230B6}" srcOrd="1" destOrd="0" parTransId="{20D21065-689C-436C-A1CA-FDBF2C182F6F}" sibTransId="{A702C4B4-7866-4972-8CA0-8135BCFB0B11}"/>
    <dgm:cxn modelId="{9A2C8754-BC5F-448F-8132-034DA6AA3FC3}" srcId="{C310BCAD-4BD9-4E64-8C0C-95C9229CD695}" destId="{EA88C1C7-A1C1-48E0-B090-58AC199C572E}" srcOrd="2" destOrd="0" parTransId="{E03DD141-59DC-423C-8770-7BD146F90BB5}" sibTransId="{D9E4D7E4-B784-44CA-8E2C-935BCA06BC93}"/>
    <dgm:cxn modelId="{AD8A00B0-0906-4501-BC97-AC5DE34F90D1}" type="presOf" srcId="{C310BCAD-4BD9-4E64-8C0C-95C9229CD695}" destId="{80BA4C41-CBE7-4EDF-8FD3-3B27C28EE57F}" srcOrd="0" destOrd="0" presId="urn:microsoft.com/office/officeart/2008/layout/LinedList"/>
    <dgm:cxn modelId="{43DD2CCB-14C3-493B-8B85-BE1246B8D685}" type="presOf" srcId="{EA88C1C7-A1C1-48E0-B090-58AC199C572E}" destId="{640CA98B-3729-46D5-AFB3-21F8C79BD0A8}" srcOrd="0" destOrd="0" presId="urn:microsoft.com/office/officeart/2008/layout/LinedList"/>
    <dgm:cxn modelId="{4D35FED4-003D-47A9-B451-B2EFA1945E14}" type="presOf" srcId="{1BDE8744-C134-409F-ABA6-B46A1B92F9C3}" destId="{343034C9-A20F-4535-8269-ADE0363EBC35}" srcOrd="0" destOrd="0" presId="urn:microsoft.com/office/officeart/2008/layout/LinedList"/>
    <dgm:cxn modelId="{56594B19-E580-4AFB-95B8-17064ACAA616}" type="presParOf" srcId="{80BA4C41-CBE7-4EDF-8FD3-3B27C28EE57F}" destId="{41EBCF9D-92E6-4050-B459-A9634D5B6628}" srcOrd="0" destOrd="0" presId="urn:microsoft.com/office/officeart/2008/layout/LinedList"/>
    <dgm:cxn modelId="{2F6A6642-92EA-48B5-9392-F9B954F0FAB3}" type="presParOf" srcId="{80BA4C41-CBE7-4EDF-8FD3-3B27C28EE57F}" destId="{BD2E1C07-3316-40AC-9B7B-4F333F65C435}" srcOrd="1" destOrd="0" presId="urn:microsoft.com/office/officeart/2008/layout/LinedList"/>
    <dgm:cxn modelId="{2145AA93-2EE9-431A-97B7-9DDA11463AFF}" type="presParOf" srcId="{BD2E1C07-3316-40AC-9B7B-4F333F65C435}" destId="{343034C9-A20F-4535-8269-ADE0363EBC35}" srcOrd="0" destOrd="0" presId="urn:microsoft.com/office/officeart/2008/layout/LinedList"/>
    <dgm:cxn modelId="{A8088565-7D52-4829-9A81-57E83EDB49FE}" type="presParOf" srcId="{BD2E1C07-3316-40AC-9B7B-4F333F65C435}" destId="{DFBA52A9-8517-453A-822E-2980C1ACA693}" srcOrd="1" destOrd="0" presId="urn:microsoft.com/office/officeart/2008/layout/LinedList"/>
    <dgm:cxn modelId="{4F655C08-E1D0-48E3-97F1-A7FBA3798C27}" type="presParOf" srcId="{80BA4C41-CBE7-4EDF-8FD3-3B27C28EE57F}" destId="{A34E5A0F-4FBD-48E7-B626-9A2204A75068}" srcOrd="2" destOrd="0" presId="urn:microsoft.com/office/officeart/2008/layout/LinedList"/>
    <dgm:cxn modelId="{E8C778CF-5ECE-4980-BD13-5944B563383A}" type="presParOf" srcId="{80BA4C41-CBE7-4EDF-8FD3-3B27C28EE57F}" destId="{CC4D9361-E69F-488E-A7F9-DE5CCF1EEFEC}" srcOrd="3" destOrd="0" presId="urn:microsoft.com/office/officeart/2008/layout/LinedList"/>
    <dgm:cxn modelId="{1425DBA0-4B22-4283-9E62-A3445CA0B8B1}" type="presParOf" srcId="{CC4D9361-E69F-488E-A7F9-DE5CCF1EEFEC}" destId="{EC346A6D-69E9-413B-B16A-61DAD8574D1E}" srcOrd="0" destOrd="0" presId="urn:microsoft.com/office/officeart/2008/layout/LinedList"/>
    <dgm:cxn modelId="{83CA1038-AD18-4C36-96E8-74868C1369B0}" type="presParOf" srcId="{CC4D9361-E69F-488E-A7F9-DE5CCF1EEFEC}" destId="{7A48F76A-FF82-4093-8076-E2AC69EB985C}" srcOrd="1" destOrd="0" presId="urn:microsoft.com/office/officeart/2008/layout/LinedList"/>
    <dgm:cxn modelId="{E31208C7-9B74-4157-A739-CFA7A9634F75}" type="presParOf" srcId="{80BA4C41-CBE7-4EDF-8FD3-3B27C28EE57F}" destId="{138F2A7A-9551-4E05-8115-F82219E19C27}" srcOrd="4" destOrd="0" presId="urn:microsoft.com/office/officeart/2008/layout/LinedList"/>
    <dgm:cxn modelId="{83D36B5C-025E-4993-855C-11C3F6ACD050}" type="presParOf" srcId="{80BA4C41-CBE7-4EDF-8FD3-3B27C28EE57F}" destId="{C5D81735-1D8E-4E7D-997F-E20426D94CC9}" srcOrd="5" destOrd="0" presId="urn:microsoft.com/office/officeart/2008/layout/LinedList"/>
    <dgm:cxn modelId="{9DBE217D-B374-4A2D-8D01-330ECA20AF65}" type="presParOf" srcId="{C5D81735-1D8E-4E7D-997F-E20426D94CC9}" destId="{640CA98B-3729-46D5-AFB3-21F8C79BD0A8}" srcOrd="0" destOrd="0" presId="urn:microsoft.com/office/officeart/2008/layout/LinedList"/>
    <dgm:cxn modelId="{F9601E3F-8753-42FF-8F92-8D4A69DD34C8}" type="presParOf" srcId="{C5D81735-1D8E-4E7D-997F-E20426D94CC9}" destId="{E2568DD9-526D-420F-AE16-B099A207C839}" srcOrd="1" destOrd="0" presId="urn:microsoft.com/office/officeart/2008/layout/LinedList"/>
    <dgm:cxn modelId="{26D22B67-A72A-41AF-B853-16F62AC8ADF4}" type="presParOf" srcId="{80BA4C41-CBE7-4EDF-8FD3-3B27C28EE57F}" destId="{68C97614-C824-4B23-BB3A-8440CD0A99E3}" srcOrd="6" destOrd="0" presId="urn:microsoft.com/office/officeart/2008/layout/LinedList"/>
    <dgm:cxn modelId="{3CE91D60-E5A7-491F-B6E1-EFC0DF228781}" type="presParOf" srcId="{80BA4C41-CBE7-4EDF-8FD3-3B27C28EE57F}" destId="{2F306385-8821-4E61-A17E-27DF400D426A}" srcOrd="7" destOrd="0" presId="urn:microsoft.com/office/officeart/2008/layout/LinedList"/>
    <dgm:cxn modelId="{3319693A-46BE-4A36-AB64-1CB0F8B3A173}" type="presParOf" srcId="{2F306385-8821-4E61-A17E-27DF400D426A}" destId="{F65F1FD7-6DE8-4403-AF86-F5A35C69D0EE}" srcOrd="0" destOrd="0" presId="urn:microsoft.com/office/officeart/2008/layout/LinedList"/>
    <dgm:cxn modelId="{C9A6C62A-A837-43C5-B3F8-AC1761D3F3E7}" type="presParOf" srcId="{2F306385-8821-4E61-A17E-27DF400D426A}" destId="{AE13F2C8-3608-4A01-8A06-65351F4182B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DB8FE2-0285-4905-9FA2-53755109E0B5}">
      <dsp:nvSpPr>
        <dsp:cNvPr id="0" name=""/>
        <dsp:cNvSpPr/>
      </dsp:nvSpPr>
      <dsp:spPr>
        <a:xfrm>
          <a:off x="3122" y="0"/>
          <a:ext cx="2477262" cy="3290888"/>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3137" tIns="330200" rIns="193137" bIns="330200" numCol="1" spcCol="1270" anchor="t" anchorCtr="0">
          <a:noAutofit/>
        </a:bodyPr>
        <a:lstStyle/>
        <a:p>
          <a:pPr marL="0" lvl="0" indent="0" algn="l" defTabSz="1022350">
            <a:lnSpc>
              <a:spcPct val="90000"/>
            </a:lnSpc>
            <a:spcBef>
              <a:spcPct val="0"/>
            </a:spcBef>
            <a:spcAft>
              <a:spcPct val="35000"/>
            </a:spcAft>
            <a:buNone/>
          </a:pPr>
          <a:r>
            <a:rPr lang="en-GB" sz="2300" kern="1200"/>
            <a:t>Try to speak more even if we do not know each other well</a:t>
          </a:r>
          <a:endParaRPr lang="en-US" sz="2300" kern="1200"/>
        </a:p>
      </dsp:txBody>
      <dsp:txXfrm>
        <a:off x="3122" y="1250537"/>
        <a:ext cx="2477262" cy="1974532"/>
      </dsp:txXfrm>
    </dsp:sp>
    <dsp:sp modelId="{24B39E03-6A2E-48FA-A44D-5CA85984E91B}">
      <dsp:nvSpPr>
        <dsp:cNvPr id="0" name=""/>
        <dsp:cNvSpPr/>
      </dsp:nvSpPr>
      <dsp:spPr>
        <a:xfrm>
          <a:off x="748120" y="329088"/>
          <a:ext cx="987266" cy="987266"/>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971" tIns="12700" rIns="76971"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892702" y="473670"/>
        <a:ext cx="698102" cy="698102"/>
      </dsp:txXfrm>
    </dsp:sp>
    <dsp:sp modelId="{B4E0AF6A-153F-4062-AE2A-129386E461D6}">
      <dsp:nvSpPr>
        <dsp:cNvPr id="0" name=""/>
        <dsp:cNvSpPr/>
      </dsp:nvSpPr>
      <dsp:spPr>
        <a:xfrm>
          <a:off x="3122" y="3290816"/>
          <a:ext cx="2477262" cy="72"/>
        </a:xfrm>
        <a:prstGeom prst="rect">
          <a:avLst/>
        </a:prstGeom>
        <a:solidFill>
          <a:schemeClr val="accent5">
            <a:hueOff val="-216223"/>
            <a:satOff val="1467"/>
            <a:lumOff val="-308"/>
            <a:alphaOff val="0"/>
          </a:schemeClr>
        </a:solidFill>
        <a:ln w="12700" cap="flat" cmpd="sng" algn="ctr">
          <a:solidFill>
            <a:schemeClr val="accent5">
              <a:hueOff val="-216223"/>
              <a:satOff val="1467"/>
              <a:lumOff val="-30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42E9E8-7E77-4481-B49B-B70BB95855BC}">
      <dsp:nvSpPr>
        <dsp:cNvPr id="0" name=""/>
        <dsp:cNvSpPr/>
      </dsp:nvSpPr>
      <dsp:spPr>
        <a:xfrm>
          <a:off x="2728111" y="0"/>
          <a:ext cx="2477262" cy="3290888"/>
        </a:xfrm>
        <a:prstGeom prst="rect">
          <a:avLst/>
        </a:prstGeom>
        <a:solidFill>
          <a:schemeClr val="accent5">
            <a:tint val="40000"/>
            <a:alpha val="90000"/>
            <a:hueOff val="-402393"/>
            <a:satOff val="567"/>
            <a:lumOff val="7"/>
            <a:alphaOff val="0"/>
          </a:schemeClr>
        </a:solidFill>
        <a:ln w="12700" cap="flat" cmpd="sng" algn="ctr">
          <a:solidFill>
            <a:schemeClr val="accent5">
              <a:tint val="40000"/>
              <a:alpha val="90000"/>
              <a:hueOff val="-402393"/>
              <a:satOff val="567"/>
              <a:lumOff val="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3137" tIns="330200" rIns="193137" bIns="330200" numCol="1" spcCol="1270" anchor="t" anchorCtr="0">
          <a:noAutofit/>
        </a:bodyPr>
        <a:lstStyle/>
        <a:p>
          <a:pPr marL="0" lvl="0" indent="0" algn="l" defTabSz="1022350">
            <a:lnSpc>
              <a:spcPct val="90000"/>
            </a:lnSpc>
            <a:spcBef>
              <a:spcPct val="0"/>
            </a:spcBef>
            <a:spcAft>
              <a:spcPct val="35000"/>
            </a:spcAft>
            <a:buNone/>
          </a:pPr>
          <a:r>
            <a:rPr lang="en-GB" sz="2300" kern="1200"/>
            <a:t>Work at a faster pace and multitask</a:t>
          </a:r>
          <a:endParaRPr lang="en-US" sz="2300" kern="1200"/>
        </a:p>
      </dsp:txBody>
      <dsp:txXfrm>
        <a:off x="2728111" y="1250537"/>
        <a:ext cx="2477262" cy="1974532"/>
      </dsp:txXfrm>
    </dsp:sp>
    <dsp:sp modelId="{49686FA2-D6E6-4268-B0F5-B4FB6872FCAC}">
      <dsp:nvSpPr>
        <dsp:cNvPr id="0" name=""/>
        <dsp:cNvSpPr/>
      </dsp:nvSpPr>
      <dsp:spPr>
        <a:xfrm>
          <a:off x="3473109" y="329088"/>
          <a:ext cx="987266" cy="987266"/>
        </a:xfrm>
        <a:prstGeom prst="ellipse">
          <a:avLst/>
        </a:prstGeom>
        <a:solidFill>
          <a:schemeClr val="accent5">
            <a:hueOff val="-432445"/>
            <a:satOff val="2934"/>
            <a:lumOff val="-617"/>
            <a:alphaOff val="0"/>
          </a:schemeClr>
        </a:solidFill>
        <a:ln w="12700" cap="flat" cmpd="sng" algn="ctr">
          <a:solidFill>
            <a:schemeClr val="accent5">
              <a:hueOff val="-432445"/>
              <a:satOff val="2934"/>
              <a:lumOff val="-61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971" tIns="12700" rIns="76971"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3617691" y="473670"/>
        <a:ext cx="698102" cy="698102"/>
      </dsp:txXfrm>
    </dsp:sp>
    <dsp:sp modelId="{24B83E4D-D3E8-456E-890D-6DE9CF8233B7}">
      <dsp:nvSpPr>
        <dsp:cNvPr id="0" name=""/>
        <dsp:cNvSpPr/>
      </dsp:nvSpPr>
      <dsp:spPr>
        <a:xfrm>
          <a:off x="2728111" y="3290816"/>
          <a:ext cx="2477262" cy="72"/>
        </a:xfrm>
        <a:prstGeom prst="rect">
          <a:avLst/>
        </a:prstGeom>
        <a:solidFill>
          <a:schemeClr val="accent5">
            <a:hueOff val="-648668"/>
            <a:satOff val="4401"/>
            <a:lumOff val="-925"/>
            <a:alphaOff val="0"/>
          </a:schemeClr>
        </a:solidFill>
        <a:ln w="12700" cap="flat" cmpd="sng" algn="ctr">
          <a:solidFill>
            <a:schemeClr val="accent5">
              <a:hueOff val="-648668"/>
              <a:satOff val="4401"/>
              <a:lumOff val="-92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D34B30-BE6F-4F71-ADCF-2993C2230438}">
      <dsp:nvSpPr>
        <dsp:cNvPr id="0" name=""/>
        <dsp:cNvSpPr/>
      </dsp:nvSpPr>
      <dsp:spPr>
        <a:xfrm>
          <a:off x="5453100" y="0"/>
          <a:ext cx="2477262" cy="3290888"/>
        </a:xfrm>
        <a:prstGeom prst="rect">
          <a:avLst/>
        </a:prstGeom>
        <a:solidFill>
          <a:schemeClr val="accent5">
            <a:tint val="40000"/>
            <a:alpha val="90000"/>
            <a:hueOff val="-804786"/>
            <a:satOff val="1135"/>
            <a:lumOff val="15"/>
            <a:alphaOff val="0"/>
          </a:schemeClr>
        </a:solidFill>
        <a:ln w="12700" cap="flat" cmpd="sng" algn="ctr">
          <a:solidFill>
            <a:schemeClr val="accent5">
              <a:tint val="40000"/>
              <a:alpha val="90000"/>
              <a:hueOff val="-804786"/>
              <a:satOff val="1135"/>
              <a:lumOff val="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3137" tIns="330200" rIns="193137" bIns="330200" numCol="1" spcCol="1270" anchor="t" anchorCtr="0">
          <a:noAutofit/>
        </a:bodyPr>
        <a:lstStyle/>
        <a:p>
          <a:pPr marL="0" lvl="0" indent="0" algn="l" defTabSz="1022350">
            <a:lnSpc>
              <a:spcPct val="90000"/>
            </a:lnSpc>
            <a:spcBef>
              <a:spcPct val="0"/>
            </a:spcBef>
            <a:spcAft>
              <a:spcPct val="35000"/>
            </a:spcAft>
            <a:buNone/>
          </a:pPr>
          <a:r>
            <a:rPr lang="en-GB" sz="2300" kern="1200"/>
            <a:t>Give more feedback on other people’s ideas early on</a:t>
          </a:r>
          <a:endParaRPr lang="en-US" sz="2300" kern="1200"/>
        </a:p>
      </dsp:txBody>
      <dsp:txXfrm>
        <a:off x="5453100" y="1250537"/>
        <a:ext cx="2477262" cy="1974532"/>
      </dsp:txXfrm>
    </dsp:sp>
    <dsp:sp modelId="{172AD982-E60A-4053-9630-0A3C23F190EA}">
      <dsp:nvSpPr>
        <dsp:cNvPr id="0" name=""/>
        <dsp:cNvSpPr/>
      </dsp:nvSpPr>
      <dsp:spPr>
        <a:xfrm>
          <a:off x="6198098" y="329088"/>
          <a:ext cx="987266" cy="987266"/>
        </a:xfrm>
        <a:prstGeom prst="ellipse">
          <a:avLst/>
        </a:prstGeom>
        <a:solidFill>
          <a:schemeClr val="accent5">
            <a:hueOff val="-864890"/>
            <a:satOff val="5869"/>
            <a:lumOff val="-1234"/>
            <a:alphaOff val="0"/>
          </a:schemeClr>
        </a:solidFill>
        <a:ln w="12700" cap="flat" cmpd="sng" algn="ctr">
          <a:solidFill>
            <a:schemeClr val="accent5">
              <a:hueOff val="-864890"/>
              <a:satOff val="5869"/>
              <a:lumOff val="-123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971" tIns="12700" rIns="76971"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6342680" y="473670"/>
        <a:ext cx="698102" cy="698102"/>
      </dsp:txXfrm>
    </dsp:sp>
    <dsp:sp modelId="{FA51E7C6-FDF1-4376-B14A-F2661AAFBFEC}">
      <dsp:nvSpPr>
        <dsp:cNvPr id="0" name=""/>
        <dsp:cNvSpPr/>
      </dsp:nvSpPr>
      <dsp:spPr>
        <a:xfrm>
          <a:off x="5453100" y="3290816"/>
          <a:ext cx="2477262" cy="72"/>
        </a:xfrm>
        <a:prstGeom prst="rect">
          <a:avLst/>
        </a:prstGeom>
        <a:solidFill>
          <a:schemeClr val="accent5">
            <a:hueOff val="-1081113"/>
            <a:satOff val="7336"/>
            <a:lumOff val="-1542"/>
            <a:alphaOff val="0"/>
          </a:schemeClr>
        </a:solidFill>
        <a:ln w="12700" cap="flat" cmpd="sng" algn="ctr">
          <a:solidFill>
            <a:schemeClr val="accent5">
              <a:hueOff val="-1081113"/>
              <a:satOff val="7336"/>
              <a:lumOff val="-154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822DFE-44CB-43E9-BE30-3BBD992B400C}">
      <dsp:nvSpPr>
        <dsp:cNvPr id="0" name=""/>
        <dsp:cNvSpPr/>
      </dsp:nvSpPr>
      <dsp:spPr>
        <a:xfrm>
          <a:off x="8178089" y="0"/>
          <a:ext cx="2477262" cy="3290888"/>
        </a:xfrm>
        <a:prstGeom prst="rect">
          <a:avLst/>
        </a:prstGeom>
        <a:solidFill>
          <a:schemeClr val="accent5">
            <a:tint val="40000"/>
            <a:alpha val="90000"/>
            <a:hueOff val="-1207179"/>
            <a:satOff val="1702"/>
            <a:lumOff val="22"/>
            <a:alphaOff val="0"/>
          </a:schemeClr>
        </a:solidFill>
        <a:ln w="12700" cap="flat" cmpd="sng" algn="ctr">
          <a:solidFill>
            <a:schemeClr val="accent5">
              <a:tint val="40000"/>
              <a:alpha val="90000"/>
              <a:hueOff val="-1207179"/>
              <a:satOff val="1702"/>
              <a:lumOff val="2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3137" tIns="330200" rIns="193137" bIns="330200" numCol="1" spcCol="1270" anchor="t" anchorCtr="0">
          <a:noAutofit/>
        </a:bodyPr>
        <a:lstStyle/>
        <a:p>
          <a:pPr marL="0" lvl="0" indent="0" algn="l" defTabSz="1022350">
            <a:lnSpc>
              <a:spcPct val="90000"/>
            </a:lnSpc>
            <a:spcBef>
              <a:spcPct val="0"/>
            </a:spcBef>
            <a:spcAft>
              <a:spcPct val="35000"/>
            </a:spcAft>
            <a:buNone/>
          </a:pPr>
          <a:r>
            <a:rPr lang="en-GB" sz="2300" kern="1200"/>
            <a:t>Construct a timetable for the group so as not to waste time</a:t>
          </a:r>
          <a:endParaRPr lang="en-US" sz="2300" kern="1200"/>
        </a:p>
      </dsp:txBody>
      <dsp:txXfrm>
        <a:off x="8178089" y="1250537"/>
        <a:ext cx="2477262" cy="1974532"/>
      </dsp:txXfrm>
    </dsp:sp>
    <dsp:sp modelId="{9B116731-4511-407B-B302-F2C0559103E6}">
      <dsp:nvSpPr>
        <dsp:cNvPr id="0" name=""/>
        <dsp:cNvSpPr/>
      </dsp:nvSpPr>
      <dsp:spPr>
        <a:xfrm>
          <a:off x="8923087" y="329088"/>
          <a:ext cx="987266" cy="987266"/>
        </a:xfrm>
        <a:prstGeom prst="ellipse">
          <a:avLst/>
        </a:prstGeom>
        <a:solidFill>
          <a:schemeClr val="accent5">
            <a:hueOff val="-1297335"/>
            <a:satOff val="8803"/>
            <a:lumOff val="-1851"/>
            <a:alphaOff val="0"/>
          </a:schemeClr>
        </a:solidFill>
        <a:ln w="12700" cap="flat" cmpd="sng" algn="ctr">
          <a:solidFill>
            <a:schemeClr val="accent5">
              <a:hueOff val="-1297335"/>
              <a:satOff val="8803"/>
              <a:lumOff val="-18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971" tIns="12700" rIns="76971" bIns="12700" numCol="1" spcCol="1270" anchor="ctr" anchorCtr="0">
          <a:noAutofit/>
        </a:bodyPr>
        <a:lstStyle/>
        <a:p>
          <a:pPr marL="0" lvl="0" indent="0" algn="ctr" defTabSz="2133600">
            <a:lnSpc>
              <a:spcPct val="90000"/>
            </a:lnSpc>
            <a:spcBef>
              <a:spcPct val="0"/>
            </a:spcBef>
            <a:spcAft>
              <a:spcPct val="35000"/>
            </a:spcAft>
            <a:buNone/>
          </a:pPr>
          <a:r>
            <a:rPr lang="en-US" sz="4800" kern="1200"/>
            <a:t>4</a:t>
          </a:r>
        </a:p>
      </dsp:txBody>
      <dsp:txXfrm>
        <a:off x="9067669" y="473670"/>
        <a:ext cx="698102" cy="698102"/>
      </dsp:txXfrm>
    </dsp:sp>
    <dsp:sp modelId="{923D066B-95BF-4CC8-8960-F2BB3CBD7EED}">
      <dsp:nvSpPr>
        <dsp:cNvPr id="0" name=""/>
        <dsp:cNvSpPr/>
      </dsp:nvSpPr>
      <dsp:spPr>
        <a:xfrm>
          <a:off x="8178089" y="3290816"/>
          <a:ext cx="2477262" cy="72"/>
        </a:xfrm>
        <a:prstGeom prst="rect">
          <a:avLst/>
        </a:prstGeom>
        <a:solidFill>
          <a:schemeClr val="accent5">
            <a:hueOff val="-1513558"/>
            <a:satOff val="10270"/>
            <a:lumOff val="-2159"/>
            <a:alphaOff val="0"/>
          </a:schemeClr>
        </a:solidFill>
        <a:ln w="12700" cap="flat" cmpd="sng" algn="ctr">
          <a:solidFill>
            <a:schemeClr val="accent5">
              <a:hueOff val="-1513558"/>
              <a:satOff val="10270"/>
              <a:lumOff val="-215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EBCF9D-92E6-4050-B459-A9634D5B6628}">
      <dsp:nvSpPr>
        <dsp:cNvPr id="0" name=""/>
        <dsp:cNvSpPr/>
      </dsp:nvSpPr>
      <dsp:spPr>
        <a:xfrm>
          <a:off x="0" y="0"/>
          <a:ext cx="711791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3034C9-A20F-4535-8269-ADE0363EBC35}">
      <dsp:nvSpPr>
        <dsp:cNvPr id="0" name=""/>
        <dsp:cNvSpPr/>
      </dsp:nvSpPr>
      <dsp:spPr>
        <a:xfrm>
          <a:off x="0" y="0"/>
          <a:ext cx="7117918" cy="1289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GB" sz="2100" kern="1200"/>
            <a:t>Have you identified a pattern to your working practice? Do you prefer to start early on a project or assignment or wait until the deadline gets closer? How has that worked for you in the past?</a:t>
          </a:r>
          <a:endParaRPr lang="en-US" sz="2100" kern="1200"/>
        </a:p>
      </dsp:txBody>
      <dsp:txXfrm>
        <a:off x="0" y="0"/>
        <a:ext cx="7117918" cy="1289262"/>
      </dsp:txXfrm>
    </dsp:sp>
    <dsp:sp modelId="{A34E5A0F-4FBD-48E7-B626-9A2204A75068}">
      <dsp:nvSpPr>
        <dsp:cNvPr id="0" name=""/>
        <dsp:cNvSpPr/>
      </dsp:nvSpPr>
      <dsp:spPr>
        <a:xfrm>
          <a:off x="0" y="1289262"/>
          <a:ext cx="7117918" cy="0"/>
        </a:xfrm>
        <a:prstGeom prst="line">
          <a:avLst/>
        </a:prstGeom>
        <a:solidFill>
          <a:schemeClr val="accent2">
            <a:hueOff val="-501732"/>
            <a:satOff val="746"/>
            <a:lumOff val="2026"/>
            <a:alphaOff val="0"/>
          </a:schemeClr>
        </a:solidFill>
        <a:ln w="12700" cap="flat" cmpd="sng" algn="ctr">
          <a:solidFill>
            <a:schemeClr val="accent2">
              <a:hueOff val="-501732"/>
              <a:satOff val="746"/>
              <a:lumOff val="202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346A6D-69E9-413B-B16A-61DAD8574D1E}">
      <dsp:nvSpPr>
        <dsp:cNvPr id="0" name=""/>
        <dsp:cNvSpPr/>
      </dsp:nvSpPr>
      <dsp:spPr>
        <a:xfrm>
          <a:off x="0" y="1289262"/>
          <a:ext cx="7117918" cy="1289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GB" sz="2100" kern="1200" dirty="0"/>
            <a:t>Which approaches and methods have worked well for you?</a:t>
          </a:r>
          <a:endParaRPr lang="en-US" sz="2100" kern="1200" dirty="0"/>
        </a:p>
      </dsp:txBody>
      <dsp:txXfrm>
        <a:off x="0" y="1289262"/>
        <a:ext cx="7117918" cy="1289262"/>
      </dsp:txXfrm>
    </dsp:sp>
    <dsp:sp modelId="{138F2A7A-9551-4E05-8115-F82219E19C27}">
      <dsp:nvSpPr>
        <dsp:cNvPr id="0" name=""/>
        <dsp:cNvSpPr/>
      </dsp:nvSpPr>
      <dsp:spPr>
        <a:xfrm>
          <a:off x="0" y="2578524"/>
          <a:ext cx="7117918" cy="0"/>
        </a:xfrm>
        <a:prstGeom prst="line">
          <a:avLst/>
        </a:prstGeom>
        <a:solidFill>
          <a:schemeClr val="accent2">
            <a:hueOff val="-1003464"/>
            <a:satOff val="1493"/>
            <a:lumOff val="4051"/>
            <a:alphaOff val="0"/>
          </a:schemeClr>
        </a:solidFill>
        <a:ln w="12700" cap="flat" cmpd="sng" algn="ctr">
          <a:solidFill>
            <a:schemeClr val="accent2">
              <a:hueOff val="-1003464"/>
              <a:satOff val="1493"/>
              <a:lumOff val="405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0CA98B-3729-46D5-AFB3-21F8C79BD0A8}">
      <dsp:nvSpPr>
        <dsp:cNvPr id="0" name=""/>
        <dsp:cNvSpPr/>
      </dsp:nvSpPr>
      <dsp:spPr>
        <a:xfrm>
          <a:off x="0" y="2578524"/>
          <a:ext cx="7117918" cy="1289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GB" sz="2100" kern="1200" dirty="0"/>
            <a:t>Which approaches have not benefitted you?</a:t>
          </a:r>
          <a:endParaRPr lang="en-US" sz="2100" kern="1200" dirty="0"/>
        </a:p>
      </dsp:txBody>
      <dsp:txXfrm>
        <a:off x="0" y="2578524"/>
        <a:ext cx="7117918" cy="1289262"/>
      </dsp:txXfrm>
    </dsp:sp>
    <dsp:sp modelId="{68C97614-C824-4B23-BB3A-8440CD0A99E3}">
      <dsp:nvSpPr>
        <dsp:cNvPr id="0" name=""/>
        <dsp:cNvSpPr/>
      </dsp:nvSpPr>
      <dsp:spPr>
        <a:xfrm>
          <a:off x="0" y="3867786"/>
          <a:ext cx="7117918" cy="0"/>
        </a:xfrm>
        <a:prstGeom prst="line">
          <a:avLst/>
        </a:prstGeom>
        <a:solidFill>
          <a:schemeClr val="accent2">
            <a:hueOff val="-1505197"/>
            <a:satOff val="2239"/>
            <a:lumOff val="6077"/>
            <a:alphaOff val="0"/>
          </a:schemeClr>
        </a:solidFill>
        <a:ln w="12700" cap="flat" cmpd="sng" algn="ctr">
          <a:solidFill>
            <a:schemeClr val="accent2">
              <a:hueOff val="-1505197"/>
              <a:satOff val="2239"/>
              <a:lumOff val="607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5F1FD7-6DE8-4403-AF86-F5A35C69D0EE}">
      <dsp:nvSpPr>
        <dsp:cNvPr id="0" name=""/>
        <dsp:cNvSpPr/>
      </dsp:nvSpPr>
      <dsp:spPr>
        <a:xfrm>
          <a:off x="0" y="3867786"/>
          <a:ext cx="7117918" cy="1289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GB" sz="2100" kern="1200"/>
            <a:t>Be honest and non-judgemental in your reflections. There may not be a one-size fits all solution and context can be very important.</a:t>
          </a:r>
          <a:endParaRPr lang="en-US" sz="2100" kern="1200"/>
        </a:p>
      </dsp:txBody>
      <dsp:txXfrm>
        <a:off x="0" y="3867786"/>
        <a:ext cx="7117918" cy="1289262"/>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3/9/2023</a:t>
            </a:fld>
            <a:endParaRPr lang="en-US" dirty="0"/>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dirty="0"/>
          </a:p>
        </p:txBody>
      </p:sp>
    </p:spTree>
    <p:extLst>
      <p:ext uri="{BB962C8B-B14F-4D97-AF65-F5344CB8AC3E}">
        <p14:creationId xmlns:p14="http://schemas.microsoft.com/office/powerpoint/2010/main" val="2524636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3/9/2023</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763294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3/9/2023</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81657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3/9/2023</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655895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3/9/2023</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763801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3/9/2023</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63777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3/9/2023</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571210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3/9/2023</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526749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3/9/2023</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096524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3/9/2023</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701815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3/9/2023</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353492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3/9/2023</a:t>
            </a:fld>
            <a:endParaRPr lang="en-US" sz="1000"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dirty="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82938805"/>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9.svg"/><Relationship Id="rId7" Type="http://schemas.openxmlformats.org/officeDocument/2006/relationships/image" Target="../media/image7.sv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1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3E0473-C315-42D8-A82A-A2FE49DC6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D23A251-68F2-43E5-812B-4BBAE1AF5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pic>
        <p:nvPicPr>
          <p:cNvPr id="4" name="Picture 3">
            <a:extLst>
              <a:ext uri="{FF2B5EF4-FFF2-40B4-BE49-F238E27FC236}">
                <a16:creationId xmlns:a16="http://schemas.microsoft.com/office/drawing/2014/main" id="{0F22285A-022F-15E2-2AD8-75387DF593E8}"/>
              </a:ext>
            </a:extLst>
          </p:cNvPr>
          <p:cNvPicPr>
            <a:picLocks noChangeAspect="1"/>
          </p:cNvPicPr>
          <p:nvPr/>
        </p:nvPicPr>
        <p:blipFill rotWithShape="1">
          <a:blip r:embed="rId2">
            <a:alphaModFix amt="40000"/>
          </a:blip>
          <a:srcRect t="11593" r="-1" b="4115"/>
          <a:stretch/>
        </p:blipFill>
        <p:spPr>
          <a:xfrm>
            <a:off x="1525" y="10"/>
            <a:ext cx="12188951" cy="6857990"/>
          </a:xfrm>
          <a:prstGeom prst="rect">
            <a:avLst/>
          </a:prstGeom>
        </p:spPr>
      </p:pic>
      <p:grpSp>
        <p:nvGrpSpPr>
          <p:cNvPr id="13" name="decorative circle">
            <a:extLst>
              <a:ext uri="{FF2B5EF4-FFF2-40B4-BE49-F238E27FC236}">
                <a16:creationId xmlns:a16="http://schemas.microsoft.com/office/drawing/2014/main" id="{0350AF23-2606-421F-AB7B-23D9B48F3E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14" name="Oval 13">
              <a:extLst>
                <a:ext uri="{FF2B5EF4-FFF2-40B4-BE49-F238E27FC236}">
                  <a16:creationId xmlns:a16="http://schemas.microsoft.com/office/drawing/2014/main" id="{526A544A-3C76-4502-A741-F4DB0E2CD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17B8593-D171-47B5-8D1A-E34E7B138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FEF60D4-64F6-450F-B86D-383EEA1C8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97D4A7C-B520-46CB-9A94-711F53997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B7B976F-E84B-4936-90D7-C8298A5E7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C91FFEC-59DF-4D22-A925-F51520769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8931E95-0847-47E4-8AEC-312312A03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C094915-EF93-49A0-9B90-C44FB9B50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8CD6623-72BE-6597-EDF1-461F31868195}"/>
              </a:ext>
            </a:extLst>
          </p:cNvPr>
          <p:cNvSpPr>
            <a:spLocks noGrp="1"/>
          </p:cNvSpPr>
          <p:nvPr>
            <p:ph type="ctrTitle"/>
          </p:nvPr>
        </p:nvSpPr>
        <p:spPr>
          <a:xfrm>
            <a:off x="2562606" y="1122363"/>
            <a:ext cx="7063739" cy="2387600"/>
          </a:xfrm>
        </p:spPr>
        <p:txBody>
          <a:bodyPr>
            <a:normAutofit/>
          </a:bodyPr>
          <a:lstStyle/>
          <a:p>
            <a:r>
              <a:rPr lang="en-GB" dirty="0">
                <a:solidFill>
                  <a:srgbClr val="FFFFFF"/>
                </a:solidFill>
              </a:rPr>
              <a:t>Personal Reflective Practice</a:t>
            </a:r>
          </a:p>
        </p:txBody>
      </p:sp>
      <p:sp>
        <p:nvSpPr>
          <p:cNvPr id="3" name="Subtitle 2">
            <a:extLst>
              <a:ext uri="{FF2B5EF4-FFF2-40B4-BE49-F238E27FC236}">
                <a16:creationId xmlns:a16="http://schemas.microsoft.com/office/drawing/2014/main" id="{2F03F184-D295-E427-2D09-9858F132CAEC}"/>
              </a:ext>
            </a:extLst>
          </p:cNvPr>
          <p:cNvSpPr>
            <a:spLocks noGrp="1"/>
          </p:cNvSpPr>
          <p:nvPr>
            <p:ph type="subTitle" idx="1"/>
          </p:nvPr>
        </p:nvSpPr>
        <p:spPr>
          <a:xfrm>
            <a:off x="2562606" y="3602038"/>
            <a:ext cx="7063739" cy="1655762"/>
          </a:xfrm>
        </p:spPr>
        <p:txBody>
          <a:bodyPr>
            <a:normAutofit/>
          </a:bodyPr>
          <a:lstStyle/>
          <a:p>
            <a:r>
              <a:rPr lang="en-GB" dirty="0">
                <a:solidFill>
                  <a:srgbClr val="FFFFFF"/>
                </a:solidFill>
              </a:rPr>
              <a:t>What is it and why is it useful?</a:t>
            </a:r>
          </a:p>
        </p:txBody>
      </p:sp>
    </p:spTree>
    <p:extLst>
      <p:ext uri="{BB962C8B-B14F-4D97-AF65-F5344CB8AC3E}">
        <p14:creationId xmlns:p14="http://schemas.microsoft.com/office/powerpoint/2010/main" val="1698049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26AA18-8E59-D57A-1452-0C33CAB70EB1}"/>
              </a:ext>
            </a:extLst>
          </p:cNvPr>
          <p:cNvSpPr>
            <a:spLocks noGrp="1"/>
          </p:cNvSpPr>
          <p:nvPr>
            <p:ph idx="1"/>
          </p:nvPr>
        </p:nvSpPr>
        <p:spPr>
          <a:xfrm>
            <a:off x="766445" y="1753589"/>
            <a:ext cx="10659110" cy="2200894"/>
          </a:xfrm>
        </p:spPr>
        <p:txBody>
          <a:bodyPr/>
          <a:lstStyle/>
          <a:p>
            <a:r>
              <a:rPr lang="en-GB" dirty="0"/>
              <a:t>“Definitions of reflection are characterised as learning through experience toward gaining new insights or changed perceptions of self and practice.”  (Johns, 2009)</a:t>
            </a:r>
          </a:p>
          <a:p>
            <a:endParaRPr lang="en-GB" dirty="0"/>
          </a:p>
          <a:p>
            <a:r>
              <a:rPr lang="en-GB" dirty="0"/>
              <a:t>“You could say that reflection is not about what you’re going to have for dinner that evening as you whizz round the shops. But it could be. If you are thinking about who will be eating it, what happened last time…” (Williams, </a:t>
            </a:r>
            <a:r>
              <a:rPr lang="en-GB" dirty="0" err="1"/>
              <a:t>Woolliams</a:t>
            </a:r>
            <a:r>
              <a:rPr lang="en-GB" dirty="0"/>
              <a:t>, and Spiro, 2012)</a:t>
            </a:r>
          </a:p>
          <a:p>
            <a:endParaRPr lang="en-GB" dirty="0"/>
          </a:p>
        </p:txBody>
      </p:sp>
      <p:sp>
        <p:nvSpPr>
          <p:cNvPr id="4" name="TextBox 3">
            <a:extLst>
              <a:ext uri="{FF2B5EF4-FFF2-40B4-BE49-F238E27FC236}">
                <a16:creationId xmlns:a16="http://schemas.microsoft.com/office/drawing/2014/main" id="{A48B897B-21D0-6C5C-1E0D-73A71CC0F303}"/>
              </a:ext>
            </a:extLst>
          </p:cNvPr>
          <p:cNvSpPr txBox="1"/>
          <p:nvPr/>
        </p:nvSpPr>
        <p:spPr>
          <a:xfrm>
            <a:off x="766445" y="676894"/>
            <a:ext cx="10659109" cy="369332"/>
          </a:xfrm>
          <a:prstGeom prst="rect">
            <a:avLst/>
          </a:prstGeom>
          <a:noFill/>
        </p:spPr>
        <p:txBody>
          <a:bodyPr wrap="square" rtlCol="0">
            <a:spAutoFit/>
          </a:bodyPr>
          <a:lstStyle/>
          <a:p>
            <a:r>
              <a:rPr lang="en-GB" b="1" dirty="0"/>
              <a:t>Some definitions…</a:t>
            </a:r>
          </a:p>
        </p:txBody>
      </p:sp>
    </p:spTree>
    <p:extLst>
      <p:ext uri="{BB962C8B-B14F-4D97-AF65-F5344CB8AC3E}">
        <p14:creationId xmlns:p14="http://schemas.microsoft.com/office/powerpoint/2010/main" val="1922735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571EB-AD6A-AE82-7733-021D7E4BFAE2}"/>
              </a:ext>
            </a:extLst>
          </p:cNvPr>
          <p:cNvSpPr>
            <a:spLocks noGrp="1"/>
          </p:cNvSpPr>
          <p:nvPr>
            <p:ph type="title"/>
          </p:nvPr>
        </p:nvSpPr>
        <p:spPr>
          <a:xfrm>
            <a:off x="766445" y="388876"/>
            <a:ext cx="10659110" cy="1325563"/>
          </a:xfrm>
        </p:spPr>
        <p:txBody>
          <a:bodyPr>
            <a:normAutofit/>
          </a:bodyPr>
          <a:lstStyle/>
          <a:p>
            <a:r>
              <a:rPr lang="en-GB" sz="2800" dirty="0"/>
              <a:t>What does Reflective Practice look like?</a:t>
            </a:r>
          </a:p>
        </p:txBody>
      </p:sp>
      <p:sp>
        <p:nvSpPr>
          <p:cNvPr id="3" name="Content Placeholder 2">
            <a:extLst>
              <a:ext uri="{FF2B5EF4-FFF2-40B4-BE49-F238E27FC236}">
                <a16:creationId xmlns:a16="http://schemas.microsoft.com/office/drawing/2014/main" id="{DDE256DE-7ACE-60DD-D183-7D72568A6EDC}"/>
              </a:ext>
            </a:extLst>
          </p:cNvPr>
          <p:cNvSpPr>
            <a:spLocks noGrp="1"/>
          </p:cNvSpPr>
          <p:nvPr>
            <p:ph idx="1"/>
          </p:nvPr>
        </p:nvSpPr>
        <p:spPr/>
        <p:txBody>
          <a:bodyPr/>
          <a:lstStyle/>
          <a:p>
            <a:r>
              <a:rPr lang="en-GB" dirty="0"/>
              <a:t>It is not Academic writing – Can we identify the difference?</a:t>
            </a:r>
          </a:p>
          <a:p>
            <a:endParaRPr lang="en-GB" dirty="0"/>
          </a:p>
          <a:p>
            <a:r>
              <a:rPr lang="en-GB" dirty="0"/>
              <a:t>According to Williams, </a:t>
            </a:r>
            <a:r>
              <a:rPr lang="en-GB" dirty="0" err="1"/>
              <a:t>Woolliams</a:t>
            </a:r>
            <a:r>
              <a:rPr lang="en-GB" dirty="0"/>
              <a:t>, and Spiro (2012) Reflective Practice is:</a:t>
            </a:r>
          </a:p>
          <a:p>
            <a:endParaRPr lang="en-GB" dirty="0"/>
          </a:p>
          <a:p>
            <a:pPr lvl="1"/>
            <a:r>
              <a:rPr lang="en-GB" b="1" dirty="0"/>
              <a:t>Open</a:t>
            </a:r>
            <a:r>
              <a:rPr lang="en-GB" dirty="0"/>
              <a:t> to different ideas</a:t>
            </a:r>
          </a:p>
          <a:p>
            <a:pPr lvl="1"/>
            <a:r>
              <a:rPr lang="en-GB" b="1" dirty="0"/>
              <a:t>Curious </a:t>
            </a:r>
            <a:r>
              <a:rPr lang="en-GB" dirty="0"/>
              <a:t>– Ask questions!</a:t>
            </a:r>
          </a:p>
          <a:p>
            <a:pPr lvl="1"/>
            <a:r>
              <a:rPr lang="en-GB" b="1" dirty="0"/>
              <a:t>Patience</a:t>
            </a:r>
            <a:r>
              <a:rPr lang="en-GB" dirty="0"/>
              <a:t> – Complex problems will not necessarily have simple solutions.</a:t>
            </a:r>
          </a:p>
          <a:p>
            <a:pPr lvl="1"/>
            <a:r>
              <a:rPr lang="en-GB" b="1" dirty="0"/>
              <a:t>Honest </a:t>
            </a:r>
            <a:r>
              <a:rPr lang="en-GB" dirty="0"/>
              <a:t>– We need to be able to critically evaluate ourselves and our experiences. What are we getting wrong? What are we getting right? We need to be fully transparent with ourselves and others.</a:t>
            </a:r>
          </a:p>
          <a:p>
            <a:pPr lvl="1"/>
            <a:r>
              <a:rPr lang="en-GB" b="1" dirty="0"/>
              <a:t>Rigorous </a:t>
            </a:r>
            <a:r>
              <a:rPr lang="en-GB" dirty="0"/>
              <a:t>– We need to be analytical and see the process through and turn our reflection into affirmative action. </a:t>
            </a:r>
            <a:endParaRPr lang="en-GB" b="1" dirty="0"/>
          </a:p>
          <a:p>
            <a:endParaRPr lang="en-GB" dirty="0"/>
          </a:p>
          <a:p>
            <a:endParaRPr lang="en-GB" dirty="0"/>
          </a:p>
        </p:txBody>
      </p:sp>
    </p:spTree>
    <p:extLst>
      <p:ext uri="{BB962C8B-B14F-4D97-AF65-F5344CB8AC3E}">
        <p14:creationId xmlns:p14="http://schemas.microsoft.com/office/powerpoint/2010/main" val="3184100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8">
            <a:extLst>
              <a:ext uri="{FF2B5EF4-FFF2-40B4-BE49-F238E27FC236}">
                <a16:creationId xmlns:a16="http://schemas.microsoft.com/office/drawing/2014/main" id="{53B739BF-52FC-4875-B392-4044CC04F0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10">
            <a:extLst>
              <a:ext uri="{FF2B5EF4-FFF2-40B4-BE49-F238E27FC236}">
                <a16:creationId xmlns:a16="http://schemas.microsoft.com/office/drawing/2014/main" id="{3AA1CAD8-1CD4-40E6-B88B-9D4FF5C3D0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25" name="decorative circles">
            <a:extLst>
              <a:ext uri="{FF2B5EF4-FFF2-40B4-BE49-F238E27FC236}">
                <a16:creationId xmlns:a16="http://schemas.microsoft.com/office/drawing/2014/main" id="{0D65577D-83CF-47FA-954E-60C70AFDBB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2361" y="253193"/>
            <a:ext cx="11801644" cy="6229550"/>
            <a:chOff x="162361" y="253193"/>
            <a:chExt cx="11801644" cy="6229550"/>
          </a:xfrm>
        </p:grpSpPr>
        <p:sp>
          <p:nvSpPr>
            <p:cNvPr id="14" name="Oval 13">
              <a:extLst>
                <a:ext uri="{FF2B5EF4-FFF2-40B4-BE49-F238E27FC236}">
                  <a16:creationId xmlns:a16="http://schemas.microsoft.com/office/drawing/2014/main" id="{54D2C49A-33C3-4048-8267-6907CA6227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0439" y="253193"/>
              <a:ext cx="150552" cy="150552"/>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14">
              <a:extLst>
                <a:ext uri="{FF2B5EF4-FFF2-40B4-BE49-F238E27FC236}">
                  <a16:creationId xmlns:a16="http://schemas.microsoft.com/office/drawing/2014/main" id="{F65CBEB7-29CF-4F21-ABB7-012581304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53890" y="554418"/>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15">
              <a:extLst>
                <a:ext uri="{FF2B5EF4-FFF2-40B4-BE49-F238E27FC236}">
                  <a16:creationId xmlns:a16="http://schemas.microsoft.com/office/drawing/2014/main" id="{9C900504-84D3-4813-B737-775C16F8F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16">
              <a:extLst>
                <a:ext uri="{FF2B5EF4-FFF2-40B4-BE49-F238E27FC236}">
                  <a16:creationId xmlns:a16="http://schemas.microsoft.com/office/drawing/2014/main" id="{C54A3D21-5E60-4B25-890E-FA22F16436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361" y="366560"/>
              <a:ext cx="309716" cy="309716"/>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17">
              <a:extLst>
                <a:ext uri="{FF2B5EF4-FFF2-40B4-BE49-F238E27FC236}">
                  <a16:creationId xmlns:a16="http://schemas.microsoft.com/office/drawing/2014/main" id="{7F04BF80-E9DB-4641-8EA2-51698324F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850638" y="5886224"/>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18">
              <a:extLst>
                <a:ext uri="{FF2B5EF4-FFF2-40B4-BE49-F238E27FC236}">
                  <a16:creationId xmlns:a16="http://schemas.microsoft.com/office/drawing/2014/main" id="{234395B9-3F83-49A4-9275-0A315D88F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35072" y="6176963"/>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9">
              <a:extLst>
                <a:ext uri="{FF2B5EF4-FFF2-40B4-BE49-F238E27FC236}">
                  <a16:creationId xmlns:a16="http://schemas.microsoft.com/office/drawing/2014/main" id="{0E7ABD02-CD92-4D6C-B4BA-984D6688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9653" y="5965616"/>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230D3E9-6F0A-CC84-90BC-A119A8047525}"/>
              </a:ext>
            </a:extLst>
          </p:cNvPr>
          <p:cNvSpPr>
            <a:spLocks noGrp="1"/>
          </p:cNvSpPr>
          <p:nvPr>
            <p:ph type="title"/>
          </p:nvPr>
        </p:nvSpPr>
        <p:spPr>
          <a:xfrm>
            <a:off x="770878" y="952023"/>
            <a:ext cx="10773422" cy="1797530"/>
          </a:xfrm>
        </p:spPr>
        <p:txBody>
          <a:bodyPr anchor="t">
            <a:normAutofit/>
          </a:bodyPr>
          <a:lstStyle/>
          <a:p>
            <a:r>
              <a:rPr lang="en-GB" sz="4400" i="1" dirty="0"/>
              <a:t>If I could do this project again… </a:t>
            </a:r>
            <a:br>
              <a:rPr lang="en-GB" sz="4400" i="1" dirty="0"/>
            </a:br>
            <a:br>
              <a:rPr lang="en-GB" sz="4400" i="1" dirty="0"/>
            </a:br>
            <a:r>
              <a:rPr lang="en-GB" sz="2800" dirty="0"/>
              <a:t>Some student feedback.</a:t>
            </a:r>
            <a:endParaRPr lang="en-GB" sz="4400" i="1" dirty="0"/>
          </a:p>
        </p:txBody>
      </p:sp>
      <p:graphicFrame>
        <p:nvGraphicFramePr>
          <p:cNvPr id="32" name="Content Placeholder 2">
            <a:extLst>
              <a:ext uri="{FF2B5EF4-FFF2-40B4-BE49-F238E27FC236}">
                <a16:creationId xmlns:a16="http://schemas.microsoft.com/office/drawing/2014/main" id="{CB9473D6-F374-DB62-7607-26AA18C08CA3}"/>
              </a:ext>
            </a:extLst>
          </p:cNvPr>
          <p:cNvGraphicFramePr>
            <a:graphicFrameLocks noGrp="1"/>
          </p:cNvGraphicFramePr>
          <p:nvPr>
            <p:ph idx="1"/>
            <p:extLst>
              <p:ext uri="{D42A27DB-BD31-4B8C-83A1-F6EECF244321}">
                <p14:modId xmlns:p14="http://schemas.microsoft.com/office/powerpoint/2010/main" val="842233045"/>
              </p:ext>
            </p:extLst>
          </p:nvPr>
        </p:nvGraphicFramePr>
        <p:xfrm>
          <a:off x="777875" y="2886075"/>
          <a:ext cx="10658475" cy="3290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0313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BD4924-AD4E-BB69-66A1-F44742564AC8}"/>
              </a:ext>
            </a:extLst>
          </p:cNvPr>
          <p:cNvSpPr>
            <a:spLocks noGrp="1"/>
          </p:cNvSpPr>
          <p:nvPr>
            <p:ph idx="1"/>
          </p:nvPr>
        </p:nvSpPr>
        <p:spPr>
          <a:xfrm>
            <a:off x="777240" y="757646"/>
            <a:ext cx="10659110" cy="5419317"/>
          </a:xfrm>
        </p:spPr>
        <p:txBody>
          <a:bodyPr/>
          <a:lstStyle/>
          <a:p>
            <a:r>
              <a:rPr lang="en-GB" dirty="0"/>
              <a:t>Reflective writing can trip students up, as you are told not to use first person perspective (</a:t>
            </a:r>
            <a:r>
              <a:rPr lang="en-GB" i="1" dirty="0"/>
              <a:t>I, we</a:t>
            </a:r>
            <a:r>
              <a:rPr lang="en-GB" dirty="0"/>
              <a:t>) in your writing.</a:t>
            </a:r>
          </a:p>
          <a:p>
            <a:r>
              <a:rPr lang="en-GB" dirty="0"/>
              <a:t>What can you reference if it is your own personal experience?</a:t>
            </a:r>
          </a:p>
          <a:p>
            <a:r>
              <a:rPr lang="en-GB" dirty="0"/>
              <a:t>Being completely honest, especially in group work, can be awkward!</a:t>
            </a:r>
          </a:p>
          <a:p>
            <a:endParaRPr lang="en-GB" dirty="0"/>
          </a:p>
          <a:p>
            <a:r>
              <a:rPr lang="en-GB" dirty="0"/>
              <a:t>We have different ways of recording our reflections too:</a:t>
            </a:r>
          </a:p>
          <a:p>
            <a:pPr marL="0" indent="0">
              <a:buNone/>
            </a:pPr>
            <a:endParaRPr lang="en-GB" dirty="0"/>
          </a:p>
          <a:p>
            <a:pPr lvl="1"/>
            <a:r>
              <a:rPr lang="en-GB" dirty="0"/>
              <a:t>Diary</a:t>
            </a:r>
          </a:p>
          <a:p>
            <a:pPr lvl="1"/>
            <a:r>
              <a:rPr lang="en-GB" dirty="0"/>
              <a:t>Journal</a:t>
            </a:r>
          </a:p>
          <a:p>
            <a:pPr lvl="1"/>
            <a:r>
              <a:rPr lang="en-GB" dirty="0"/>
              <a:t>E-Portfolio</a:t>
            </a:r>
          </a:p>
          <a:p>
            <a:pPr lvl="1"/>
            <a:r>
              <a:rPr lang="en-GB" dirty="0"/>
              <a:t>Log Book</a:t>
            </a:r>
          </a:p>
          <a:p>
            <a:pPr lvl="1"/>
            <a:r>
              <a:rPr lang="en-GB" dirty="0"/>
              <a:t>Design Report</a:t>
            </a:r>
          </a:p>
          <a:p>
            <a:pPr lvl="1"/>
            <a:r>
              <a:rPr lang="en-GB" dirty="0"/>
              <a:t>Critical Incident Report</a:t>
            </a:r>
          </a:p>
          <a:p>
            <a:pPr lvl="1"/>
            <a:r>
              <a:rPr lang="en-GB" dirty="0"/>
              <a:t>Reflective Essay</a:t>
            </a:r>
          </a:p>
        </p:txBody>
      </p:sp>
    </p:spTree>
    <p:extLst>
      <p:ext uri="{BB962C8B-B14F-4D97-AF65-F5344CB8AC3E}">
        <p14:creationId xmlns:p14="http://schemas.microsoft.com/office/powerpoint/2010/main" val="2701882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9">
            <a:extLst>
              <a:ext uri="{FF2B5EF4-FFF2-40B4-BE49-F238E27FC236}">
                <a16:creationId xmlns:a16="http://schemas.microsoft.com/office/drawing/2014/main" id="{D209D7C9-6D5E-4AB9-B50F-C0160FF18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11">
            <a:extLst>
              <a:ext uri="{FF2B5EF4-FFF2-40B4-BE49-F238E27FC236}">
                <a16:creationId xmlns:a16="http://schemas.microsoft.com/office/drawing/2014/main" id="{C81A27CC-E945-4905-9D46-3D497F9C4E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3" name="Content Placeholder 2">
            <a:extLst>
              <a:ext uri="{FF2B5EF4-FFF2-40B4-BE49-F238E27FC236}">
                <a16:creationId xmlns:a16="http://schemas.microsoft.com/office/drawing/2014/main" id="{6A6D847A-502E-31C7-B275-99857499FCBB}"/>
              </a:ext>
            </a:extLst>
          </p:cNvPr>
          <p:cNvSpPr>
            <a:spLocks noGrp="1"/>
          </p:cNvSpPr>
          <p:nvPr>
            <p:ph idx="1"/>
          </p:nvPr>
        </p:nvSpPr>
        <p:spPr>
          <a:xfrm>
            <a:off x="686569" y="1716951"/>
            <a:ext cx="6272350" cy="3424097"/>
          </a:xfrm>
        </p:spPr>
        <p:txBody>
          <a:bodyPr anchor="t">
            <a:normAutofit/>
          </a:bodyPr>
          <a:lstStyle/>
          <a:p>
            <a:r>
              <a:rPr lang="en-GB" sz="1800" dirty="0"/>
              <a:t>In all of these forms it will be likely that you will reflect on:</a:t>
            </a:r>
          </a:p>
          <a:p>
            <a:endParaRPr lang="en-GB" sz="1800" dirty="0"/>
          </a:p>
          <a:p>
            <a:pPr lvl="1"/>
            <a:r>
              <a:rPr lang="en-GB" dirty="0"/>
              <a:t>Yourself.</a:t>
            </a:r>
          </a:p>
          <a:p>
            <a:pPr lvl="1"/>
            <a:r>
              <a:rPr lang="en-GB" dirty="0"/>
              <a:t>How you learn.</a:t>
            </a:r>
          </a:p>
          <a:p>
            <a:pPr lvl="1"/>
            <a:r>
              <a:rPr lang="en-GB" dirty="0"/>
              <a:t>How you learn from your experiences – What you have done, thought, created…</a:t>
            </a:r>
          </a:p>
          <a:p>
            <a:pPr lvl="1"/>
            <a:r>
              <a:rPr lang="en-GB" dirty="0"/>
              <a:t>How your knowledge and understanding has evolved. How much more do you know now that you did two years ago, or even from the beginning of the current module to now?</a:t>
            </a:r>
          </a:p>
          <a:p>
            <a:pPr lvl="1"/>
            <a:r>
              <a:rPr lang="en-GB" dirty="0"/>
              <a:t>How you analyse theory and turn it into practice.</a:t>
            </a:r>
          </a:p>
          <a:p>
            <a:pPr marL="457200" lvl="1" indent="0">
              <a:buNone/>
            </a:pPr>
            <a:endParaRPr lang="en-GB" dirty="0"/>
          </a:p>
        </p:txBody>
      </p:sp>
      <p:sp>
        <p:nvSpPr>
          <p:cNvPr id="46" name="Oval 1">
            <a:extLst>
              <a:ext uri="{FF2B5EF4-FFF2-40B4-BE49-F238E27FC236}">
                <a16:creationId xmlns:a16="http://schemas.microsoft.com/office/drawing/2014/main" id="{FB1720E7-4310-42AF-AC72-8FE5912E9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594" y="262979"/>
            <a:ext cx="3522397" cy="352239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decorative circles">
            <a:extLst>
              <a:ext uri="{FF2B5EF4-FFF2-40B4-BE49-F238E27FC236}">
                <a16:creationId xmlns:a16="http://schemas.microsoft.com/office/drawing/2014/main" id="{5EFFD2A5-0E57-466C-821B-D8B2C841E4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2461" y="220046"/>
            <a:ext cx="3455469" cy="4723381"/>
            <a:chOff x="8132461" y="220046"/>
            <a:chExt cx="3455469" cy="4723381"/>
          </a:xfrm>
        </p:grpSpPr>
        <p:sp>
          <p:nvSpPr>
            <p:cNvPr id="17" name="Oval 16">
              <a:extLst>
                <a:ext uri="{FF2B5EF4-FFF2-40B4-BE49-F238E27FC236}">
                  <a16:creationId xmlns:a16="http://schemas.microsoft.com/office/drawing/2014/main" id="{3F6B3B75-D5DD-4E63-9E76-3E0275968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1858" y="4716692"/>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17">
              <a:extLst>
                <a:ext uri="{FF2B5EF4-FFF2-40B4-BE49-F238E27FC236}">
                  <a16:creationId xmlns:a16="http://schemas.microsoft.com/office/drawing/2014/main" id="{FFA71F21-806A-4A3C-A164-10738ECCB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23226" y="4129921"/>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AF991A3-5BC0-4FE9-B133-55585607F9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2461" y="4194350"/>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19">
              <a:extLst>
                <a:ext uri="{FF2B5EF4-FFF2-40B4-BE49-F238E27FC236}">
                  <a16:creationId xmlns:a16="http://schemas.microsoft.com/office/drawing/2014/main" id="{F5805FB8-01A7-4C6F-9EFA-3009E10EC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4744" y="220046"/>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4608EE2-33A0-4693-B82F-30957F645F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2" y="397053"/>
              <a:ext cx="346588" cy="34658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10A6785-43F1-4CE2-B832-EC99F4E354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2" y="108730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Mountains">
            <a:extLst>
              <a:ext uri="{FF2B5EF4-FFF2-40B4-BE49-F238E27FC236}">
                <a16:creationId xmlns:a16="http://schemas.microsoft.com/office/drawing/2014/main" id="{39B0C00B-3B1B-2B3B-D01E-0F59DF08777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93594" y="966044"/>
            <a:ext cx="2221985" cy="2221985"/>
          </a:xfrm>
          <a:prstGeom prst="rect">
            <a:avLst/>
          </a:prstGeom>
        </p:spPr>
      </p:pic>
      <p:pic>
        <p:nvPicPr>
          <p:cNvPr id="24" name="Graphic 23">
            <a:extLst>
              <a:ext uri="{FF2B5EF4-FFF2-40B4-BE49-F238E27FC236}">
                <a16:creationId xmlns:a16="http://schemas.microsoft.com/office/drawing/2014/main" id="{42E135F0-3E22-4668-8905-DF9073C9360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5">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5"/>
              </a:ext>
            </a:extLst>
          </a:blip>
          <a:srcRect l="18631" t="16485" r="52721" b="17441"/>
          <a:stretch/>
        </p:blipFill>
        <p:spPr>
          <a:xfrm>
            <a:off x="10854666" y="743641"/>
            <a:ext cx="1334286" cy="3077509"/>
          </a:xfrm>
          <a:prstGeom prst="rect">
            <a:avLst/>
          </a:prstGeom>
        </p:spPr>
      </p:pic>
      <p:sp>
        <p:nvSpPr>
          <p:cNvPr id="26" name="Oval 2">
            <a:extLst>
              <a:ext uri="{FF2B5EF4-FFF2-40B4-BE49-F238E27FC236}">
                <a16:creationId xmlns:a16="http://schemas.microsoft.com/office/drawing/2014/main" id="{0D12ED7B-BE6F-4DBA-B397-D3A54C97D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8847" y="3890057"/>
            <a:ext cx="3043153" cy="2967943"/>
          </a:xfrm>
          <a:custGeom>
            <a:avLst/>
            <a:gdLst>
              <a:gd name="connsiteX0" fmla="*/ 2361523 w 4051324"/>
              <a:gd name="connsiteY0" fmla="*/ 0 h 3951198"/>
              <a:gd name="connsiteX1" fmla="*/ 4031372 w 4051324"/>
              <a:gd name="connsiteY1" fmla="*/ 691674 h 3951198"/>
              <a:gd name="connsiteX2" fmla="*/ 4051324 w 4051324"/>
              <a:gd name="connsiteY2" fmla="*/ 713627 h 3951198"/>
              <a:gd name="connsiteX3" fmla="*/ 4051324 w 4051324"/>
              <a:gd name="connsiteY3" fmla="*/ 3951198 h 3951198"/>
              <a:gd name="connsiteX4" fmla="*/ 618807 w 4051324"/>
              <a:gd name="connsiteY4" fmla="*/ 3951198 h 3951198"/>
              <a:gd name="connsiteX5" fmla="*/ 539257 w 4051324"/>
              <a:gd name="connsiteY5" fmla="*/ 3863671 h 3951198"/>
              <a:gd name="connsiteX6" fmla="*/ 0 w 4051324"/>
              <a:gd name="connsiteY6" fmla="*/ 2361523 h 3951198"/>
              <a:gd name="connsiteX7" fmla="*/ 2361523 w 4051324"/>
              <a:gd name="connsiteY7" fmla="*/ 0 h 3951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1324" h="3951198">
                <a:moveTo>
                  <a:pt x="2361523" y="0"/>
                </a:moveTo>
                <a:cubicBezTo>
                  <a:pt x="3013639" y="0"/>
                  <a:pt x="3604020" y="264323"/>
                  <a:pt x="4031372" y="691674"/>
                </a:cubicBezTo>
                <a:lnTo>
                  <a:pt x="4051324" y="713627"/>
                </a:lnTo>
                <a:lnTo>
                  <a:pt x="4051324" y="3951198"/>
                </a:lnTo>
                <a:lnTo>
                  <a:pt x="618807" y="3951198"/>
                </a:lnTo>
                <a:lnTo>
                  <a:pt x="539257" y="3863671"/>
                </a:lnTo>
                <a:cubicBezTo>
                  <a:pt x="202372" y="3455461"/>
                  <a:pt x="0" y="2932125"/>
                  <a:pt x="0" y="2361523"/>
                </a:cubicBezTo>
                <a:cubicBezTo>
                  <a:pt x="0" y="1057290"/>
                  <a:pt x="1057290" y="0"/>
                  <a:pt x="2361523" y="0"/>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Graphic 27">
            <a:extLst>
              <a:ext uri="{FF2B5EF4-FFF2-40B4-BE49-F238E27FC236}">
                <a16:creationId xmlns:a16="http://schemas.microsoft.com/office/drawing/2014/main" id="{9261E5D4-2BDB-4D13-9B4F-822CB40907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duotone>
              <a:prstClr val="black"/>
              <a:schemeClr val="accent3">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7"/>
              </a:ext>
            </a:extLst>
          </a:blip>
          <a:srcRect l="22954" t="12147" r="12287" b="24733"/>
          <a:stretch/>
        </p:blipFill>
        <p:spPr>
          <a:xfrm flipH="1">
            <a:off x="9147042" y="3890057"/>
            <a:ext cx="3044958" cy="2967943"/>
          </a:xfrm>
          <a:prstGeom prst="rect">
            <a:avLst/>
          </a:prstGeom>
        </p:spPr>
      </p:pic>
    </p:spTree>
    <p:extLst>
      <p:ext uri="{BB962C8B-B14F-4D97-AF65-F5344CB8AC3E}">
        <p14:creationId xmlns:p14="http://schemas.microsoft.com/office/powerpoint/2010/main" val="2334090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08DE9-5647-483E-B731-49D34A839B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26962B4-5DCE-4745-A877-F7237DA68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13" name="Freeform: Shape 12">
            <a:extLst>
              <a:ext uri="{FF2B5EF4-FFF2-40B4-BE49-F238E27FC236}">
                <a16:creationId xmlns:a16="http://schemas.microsoft.com/office/drawing/2014/main" id="{FFC31C6D-653C-4C57-B226-ED6CE571F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2590" y="0"/>
            <a:ext cx="8389411" cy="6858000"/>
          </a:xfrm>
          <a:custGeom>
            <a:avLst/>
            <a:gdLst>
              <a:gd name="connsiteX0" fmla="*/ 1405847 w 8389411"/>
              <a:gd name="connsiteY0" fmla="*/ 0 h 6858000"/>
              <a:gd name="connsiteX1" fmla="*/ 8389411 w 8389411"/>
              <a:gd name="connsiteY1" fmla="*/ 0 h 6858000"/>
              <a:gd name="connsiteX2" fmla="*/ 8389411 w 8389411"/>
              <a:gd name="connsiteY2" fmla="*/ 6858000 h 6858000"/>
              <a:gd name="connsiteX3" fmla="*/ 1403382 w 8389411"/>
              <a:gd name="connsiteY3" fmla="*/ 6858000 h 6858000"/>
              <a:gd name="connsiteX4" fmla="*/ 1126450 w 8389411"/>
              <a:gd name="connsiteY4" fmla="*/ 6554701 h 6858000"/>
              <a:gd name="connsiteX5" fmla="*/ 0 w 8389411"/>
              <a:gd name="connsiteY5" fmla="*/ 3431347 h 6858000"/>
              <a:gd name="connsiteX6" fmla="*/ 1281495 w 8389411"/>
              <a:gd name="connsiteY6" fmla="*/ 12982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89411" h="6858000">
                <a:moveTo>
                  <a:pt x="1405847" y="0"/>
                </a:moveTo>
                <a:lnTo>
                  <a:pt x="8389411" y="0"/>
                </a:lnTo>
                <a:lnTo>
                  <a:pt x="8389411" y="6858000"/>
                </a:lnTo>
                <a:lnTo>
                  <a:pt x="1403382" y="6858000"/>
                </a:lnTo>
                <a:lnTo>
                  <a:pt x="1126450" y="6554701"/>
                </a:lnTo>
                <a:cubicBezTo>
                  <a:pt x="422736" y="5705928"/>
                  <a:pt x="0" y="4617776"/>
                  <a:pt x="0" y="3431347"/>
                </a:cubicBezTo>
                <a:cubicBezTo>
                  <a:pt x="0" y="2160173"/>
                  <a:pt x="485281" y="1001818"/>
                  <a:pt x="1281495" y="12982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nvGrpSpPr>
          <p:cNvPr id="15" name="decorative circles">
            <a:extLst>
              <a:ext uri="{FF2B5EF4-FFF2-40B4-BE49-F238E27FC236}">
                <a16:creationId xmlns:a16="http://schemas.microsoft.com/office/drawing/2014/main" id="{C310B041-3468-403A-926B-E3C1CF4433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4914" y="299808"/>
            <a:ext cx="11521822" cy="6038357"/>
            <a:chOff x="244914" y="299808"/>
            <a:chExt cx="11521822" cy="6038357"/>
          </a:xfrm>
        </p:grpSpPr>
        <p:sp>
          <p:nvSpPr>
            <p:cNvPr id="16" name="Oval 15">
              <a:extLst>
                <a:ext uri="{FF2B5EF4-FFF2-40B4-BE49-F238E27FC236}">
                  <a16:creationId xmlns:a16="http://schemas.microsoft.com/office/drawing/2014/main" id="{F65CBEB7-29CF-4F21-ABB7-012581304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00295" y="515708"/>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9C900504-84D3-4813-B737-775C16F8F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4134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3902316-BF90-4159-9FD2-6CFCCF7BE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F04BF80-E9DB-4641-8EA2-51698324F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5899" y="5741646"/>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34395B9-3F83-49A4-9275-0A315D88F5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0333" y="6032385"/>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0E7ABD02-CD92-4D6C-B4BA-984D6688F5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4914" y="5821038"/>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94CB85F-37C2-EE14-D80E-6010D8561B2D}"/>
              </a:ext>
            </a:extLst>
          </p:cNvPr>
          <p:cNvSpPr>
            <a:spLocks noGrp="1"/>
          </p:cNvSpPr>
          <p:nvPr>
            <p:ph type="title"/>
          </p:nvPr>
        </p:nvSpPr>
        <p:spPr>
          <a:xfrm>
            <a:off x="770878" y="952022"/>
            <a:ext cx="2862591" cy="5157049"/>
          </a:xfrm>
        </p:spPr>
        <p:txBody>
          <a:bodyPr anchor="ctr">
            <a:normAutofit/>
          </a:bodyPr>
          <a:lstStyle/>
          <a:p>
            <a:r>
              <a:rPr lang="en-GB" sz="4400"/>
              <a:t>Consider…</a:t>
            </a:r>
          </a:p>
        </p:txBody>
      </p:sp>
      <p:graphicFrame>
        <p:nvGraphicFramePr>
          <p:cNvPr id="5" name="Content Placeholder 2">
            <a:extLst>
              <a:ext uri="{FF2B5EF4-FFF2-40B4-BE49-F238E27FC236}">
                <a16:creationId xmlns:a16="http://schemas.microsoft.com/office/drawing/2014/main" id="{138ACF81-D2FB-72CE-64AA-3FE522ABEC72}"/>
              </a:ext>
            </a:extLst>
          </p:cNvPr>
          <p:cNvGraphicFramePr>
            <a:graphicFrameLocks noGrp="1"/>
          </p:cNvGraphicFramePr>
          <p:nvPr>
            <p:ph idx="1"/>
            <p:extLst>
              <p:ext uri="{D42A27DB-BD31-4B8C-83A1-F6EECF244321}">
                <p14:modId xmlns:p14="http://schemas.microsoft.com/office/powerpoint/2010/main" val="776370288"/>
              </p:ext>
            </p:extLst>
          </p:nvPr>
        </p:nvGraphicFramePr>
        <p:xfrm>
          <a:off x="4629151" y="952022"/>
          <a:ext cx="7117918" cy="51570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4465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7">
            <a:extLst>
              <a:ext uri="{FF2B5EF4-FFF2-40B4-BE49-F238E27FC236}">
                <a16:creationId xmlns:a16="http://schemas.microsoft.com/office/drawing/2014/main" id="{ED16AD6D-7FC0-435B-AB5F-98DA2190C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9">
            <a:extLst>
              <a:ext uri="{FF2B5EF4-FFF2-40B4-BE49-F238E27FC236}">
                <a16:creationId xmlns:a16="http://schemas.microsoft.com/office/drawing/2014/main" id="{28B727F3-FF58-4343-ACEE-2174D5989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2" name="Title 1">
            <a:extLst>
              <a:ext uri="{FF2B5EF4-FFF2-40B4-BE49-F238E27FC236}">
                <a16:creationId xmlns:a16="http://schemas.microsoft.com/office/drawing/2014/main" id="{B9065594-5C50-1C0C-3CCC-8232185BBD55}"/>
              </a:ext>
            </a:extLst>
          </p:cNvPr>
          <p:cNvSpPr>
            <a:spLocks noGrp="1"/>
          </p:cNvSpPr>
          <p:nvPr>
            <p:ph type="title"/>
          </p:nvPr>
        </p:nvSpPr>
        <p:spPr>
          <a:xfrm>
            <a:off x="3327722" y="777240"/>
            <a:ext cx="5782804" cy="2493876"/>
          </a:xfrm>
        </p:spPr>
        <p:txBody>
          <a:bodyPr anchor="b">
            <a:normAutofit/>
          </a:bodyPr>
          <a:lstStyle/>
          <a:p>
            <a:pPr algn="ctr"/>
            <a:r>
              <a:rPr lang="en-GB" sz="4400"/>
              <a:t>What Reflection Is Not…</a:t>
            </a:r>
          </a:p>
        </p:txBody>
      </p:sp>
      <p:sp>
        <p:nvSpPr>
          <p:cNvPr id="3" name="Content Placeholder 2">
            <a:extLst>
              <a:ext uri="{FF2B5EF4-FFF2-40B4-BE49-F238E27FC236}">
                <a16:creationId xmlns:a16="http://schemas.microsoft.com/office/drawing/2014/main" id="{1B94C407-55BD-921D-DF7B-BD87889E32D8}"/>
              </a:ext>
            </a:extLst>
          </p:cNvPr>
          <p:cNvSpPr>
            <a:spLocks noGrp="1"/>
          </p:cNvSpPr>
          <p:nvPr>
            <p:ph idx="1"/>
          </p:nvPr>
        </p:nvSpPr>
        <p:spPr>
          <a:xfrm>
            <a:off x="3327722" y="3429000"/>
            <a:ext cx="5782804" cy="2333562"/>
          </a:xfrm>
        </p:spPr>
        <p:txBody>
          <a:bodyPr anchor="t">
            <a:normAutofit/>
          </a:bodyPr>
          <a:lstStyle/>
          <a:p>
            <a:r>
              <a:rPr lang="en-GB" sz="1800" dirty="0"/>
              <a:t>Reflection is not telling a story. </a:t>
            </a:r>
          </a:p>
          <a:p>
            <a:r>
              <a:rPr lang="en-GB" sz="1800" dirty="0"/>
              <a:t>It is an opportunity to analyse how we learn and pick out the pertinent issues that we can examine and address, and then apply going forward.</a:t>
            </a:r>
          </a:p>
        </p:txBody>
      </p:sp>
      <p:grpSp>
        <p:nvGrpSpPr>
          <p:cNvPr id="37" name="Decorative Circles">
            <a:extLst>
              <a:ext uri="{FF2B5EF4-FFF2-40B4-BE49-F238E27FC236}">
                <a16:creationId xmlns:a16="http://schemas.microsoft.com/office/drawing/2014/main" id="{4DB68B21-F855-4148-AD7C-795E902A7F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484" y="236341"/>
            <a:ext cx="10677791" cy="4262956"/>
            <a:chOff x="767484" y="236341"/>
            <a:chExt cx="10677791" cy="4262956"/>
          </a:xfrm>
        </p:grpSpPr>
        <p:sp>
          <p:nvSpPr>
            <p:cNvPr id="38" name="Oval 12">
              <a:extLst>
                <a:ext uri="{FF2B5EF4-FFF2-40B4-BE49-F238E27FC236}">
                  <a16:creationId xmlns:a16="http://schemas.microsoft.com/office/drawing/2014/main" id="{A8FE8A9D-61A5-4729-A73B-267B9BE58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49767" y="3283228"/>
              <a:ext cx="226735" cy="22673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13">
              <a:extLst>
                <a:ext uri="{FF2B5EF4-FFF2-40B4-BE49-F238E27FC236}">
                  <a16:creationId xmlns:a16="http://schemas.microsoft.com/office/drawing/2014/main" id="{AE3399E0-5F4E-4D62-8091-A0AA8DAA7B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13359" y="386135"/>
              <a:ext cx="466441" cy="466441"/>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14">
              <a:extLst>
                <a:ext uri="{FF2B5EF4-FFF2-40B4-BE49-F238E27FC236}">
                  <a16:creationId xmlns:a16="http://schemas.microsoft.com/office/drawing/2014/main" id="{51781BEF-3C20-4A56-889B-BB417F6A3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90699"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15">
              <a:extLst>
                <a:ext uri="{FF2B5EF4-FFF2-40B4-BE49-F238E27FC236}">
                  <a16:creationId xmlns:a16="http://schemas.microsoft.com/office/drawing/2014/main" id="{08F0DD55-BEC3-46E7-84ED-00CB94AC0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7484" y="2755518"/>
              <a:ext cx="466441" cy="466441"/>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FFEF100-17D7-4C78-A7C3-B6C8B72E85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31908" y="3813254"/>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17">
              <a:extLst>
                <a:ext uri="{FF2B5EF4-FFF2-40B4-BE49-F238E27FC236}">
                  <a16:creationId xmlns:a16="http://schemas.microsoft.com/office/drawing/2014/main" id="{E294263B-2870-4828-96FD-00C2A3628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75095" y="3592374"/>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D8A94EBD-B5CB-4D31-A42E-E68B0D25BF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4104" y="4385930"/>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Oval 2">
            <a:extLst>
              <a:ext uri="{FF2B5EF4-FFF2-40B4-BE49-F238E27FC236}">
                <a16:creationId xmlns:a16="http://schemas.microsoft.com/office/drawing/2014/main" id="{5F7F20D7-57B2-4CF8-AF7D-90D6A5E1FF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474" y="305966"/>
            <a:ext cx="2051331" cy="2051331"/>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05AC83E9-3498-4F8F-84F8-2E22FE72E30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6399" y="319698"/>
            <a:ext cx="2037600" cy="2037600"/>
          </a:xfrm>
          <a:prstGeom prst="rect">
            <a:avLst/>
          </a:prstGeom>
        </p:spPr>
      </p:pic>
      <p:sp>
        <p:nvSpPr>
          <p:cNvPr id="25" name="Oval 1">
            <a:extLst>
              <a:ext uri="{FF2B5EF4-FFF2-40B4-BE49-F238E27FC236}">
                <a16:creationId xmlns:a16="http://schemas.microsoft.com/office/drawing/2014/main" id="{6832CB48-19E2-438E-B5D1-126B6228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78580" y="0"/>
            <a:ext cx="2733089" cy="2357297"/>
          </a:xfrm>
          <a:custGeom>
            <a:avLst/>
            <a:gdLst>
              <a:gd name="connsiteX0" fmla="*/ 288659 w 3192131"/>
              <a:gd name="connsiteY0" fmla="*/ 0 h 2753222"/>
              <a:gd name="connsiteX1" fmla="*/ 3192131 w 3192131"/>
              <a:gd name="connsiteY1" fmla="*/ 0 h 2753222"/>
              <a:gd name="connsiteX2" fmla="*/ 3192131 w 3192131"/>
              <a:gd name="connsiteY2" fmla="*/ 2058956 h 2753222"/>
              <a:gd name="connsiteX3" fmla="*/ 3158043 w 3192131"/>
              <a:gd name="connsiteY3" fmla="*/ 2104541 h 2753222"/>
              <a:gd name="connsiteX4" fmla="*/ 1782545 w 3192131"/>
              <a:gd name="connsiteY4" fmla="*/ 2753222 h 2753222"/>
              <a:gd name="connsiteX5" fmla="*/ 0 w 3192131"/>
              <a:gd name="connsiteY5" fmla="*/ 970677 h 2753222"/>
              <a:gd name="connsiteX6" fmla="*/ 215144 w 3192131"/>
              <a:gd name="connsiteY6" fmla="*/ 121011 h 275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2131" h="2753222">
                <a:moveTo>
                  <a:pt x="288659" y="0"/>
                </a:moveTo>
                <a:lnTo>
                  <a:pt x="3192131" y="0"/>
                </a:lnTo>
                <a:lnTo>
                  <a:pt x="3192131" y="2058956"/>
                </a:lnTo>
                <a:lnTo>
                  <a:pt x="3158043" y="2104541"/>
                </a:lnTo>
                <a:cubicBezTo>
                  <a:pt x="2831098" y="2500707"/>
                  <a:pt x="2336311" y="2753222"/>
                  <a:pt x="1782545" y="2753222"/>
                </a:cubicBezTo>
                <a:cubicBezTo>
                  <a:pt x="798073" y="2753222"/>
                  <a:pt x="0" y="1955149"/>
                  <a:pt x="0" y="970677"/>
                </a:cubicBezTo>
                <a:cubicBezTo>
                  <a:pt x="0" y="663030"/>
                  <a:pt x="77937" y="373585"/>
                  <a:pt x="215144" y="121011"/>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Graphic 26">
            <a:extLst>
              <a:ext uri="{FF2B5EF4-FFF2-40B4-BE49-F238E27FC236}">
                <a16:creationId xmlns:a16="http://schemas.microsoft.com/office/drawing/2014/main" id="{548560FE-8DD7-4FBB-A597-9902F385AAF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5">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5"/>
              </a:ext>
            </a:extLst>
          </a:blip>
          <a:srcRect l="18631" t="30907" r="23362" b="17441"/>
          <a:stretch/>
        </p:blipFill>
        <p:spPr>
          <a:xfrm>
            <a:off x="9573575" y="-4327"/>
            <a:ext cx="2668147" cy="2375897"/>
          </a:xfrm>
          <a:prstGeom prst="rect">
            <a:avLst/>
          </a:prstGeom>
        </p:spPr>
      </p:pic>
      <p:sp>
        <p:nvSpPr>
          <p:cNvPr id="29" name="Oval 3">
            <a:extLst>
              <a:ext uri="{FF2B5EF4-FFF2-40B4-BE49-F238E27FC236}">
                <a16:creationId xmlns:a16="http://schemas.microsoft.com/office/drawing/2014/main" id="{F4B85B88-409F-4670-A4FF-5C58623B7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rot="16200000">
            <a:off x="-639576" y="4068576"/>
            <a:ext cx="2914772" cy="1635620"/>
          </a:xfrm>
          <a:custGeom>
            <a:avLst/>
            <a:gdLst>
              <a:gd name="connsiteX0" fmla="*/ 18128 w 4408870"/>
              <a:gd name="connsiteY0" fmla="*/ 0 h 2474031"/>
              <a:gd name="connsiteX1" fmla="*/ 4390742 w 4408870"/>
              <a:gd name="connsiteY1" fmla="*/ 0 h 2474031"/>
              <a:gd name="connsiteX2" fmla="*/ 4397489 w 4408870"/>
              <a:gd name="connsiteY2" fmla="*/ 44205 h 2474031"/>
              <a:gd name="connsiteX3" fmla="*/ 4408870 w 4408870"/>
              <a:gd name="connsiteY3" fmla="*/ 269596 h 2474031"/>
              <a:gd name="connsiteX4" fmla="*/ 2204435 w 4408870"/>
              <a:gd name="connsiteY4" fmla="*/ 2474031 h 2474031"/>
              <a:gd name="connsiteX5" fmla="*/ 0 w 4408870"/>
              <a:gd name="connsiteY5" fmla="*/ 269596 h 2474031"/>
              <a:gd name="connsiteX6" fmla="*/ 11381 w 4408870"/>
              <a:gd name="connsiteY6" fmla="*/ 44205 h 247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8870" h="2474031">
                <a:moveTo>
                  <a:pt x="18128" y="0"/>
                </a:moveTo>
                <a:lnTo>
                  <a:pt x="4390742" y="0"/>
                </a:lnTo>
                <a:lnTo>
                  <a:pt x="4397489" y="44205"/>
                </a:lnTo>
                <a:cubicBezTo>
                  <a:pt x="4405015" y="118312"/>
                  <a:pt x="4408870" y="193504"/>
                  <a:pt x="4408870" y="269596"/>
                </a:cubicBezTo>
                <a:cubicBezTo>
                  <a:pt x="4408870" y="1487072"/>
                  <a:pt x="3421911" y="2474031"/>
                  <a:pt x="2204435" y="2474031"/>
                </a:cubicBezTo>
                <a:cubicBezTo>
                  <a:pt x="986959" y="2474031"/>
                  <a:pt x="0" y="1487072"/>
                  <a:pt x="0" y="269596"/>
                </a:cubicBezTo>
                <a:cubicBezTo>
                  <a:pt x="0" y="193504"/>
                  <a:pt x="3855" y="118312"/>
                  <a:pt x="11381" y="44205"/>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c 30">
            <a:extLst>
              <a:ext uri="{FF2B5EF4-FFF2-40B4-BE49-F238E27FC236}">
                <a16:creationId xmlns:a16="http://schemas.microsoft.com/office/drawing/2014/main" id="{66265FF8-949A-452A-882B-BDD33209001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duotone>
              <a:prstClr val="black"/>
              <a:schemeClr val="accent1">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7"/>
              </a:ext>
            </a:extLst>
          </a:blip>
          <a:srcRect l="45737" t="12146" r="12288" b="12942"/>
          <a:stretch/>
        </p:blipFill>
        <p:spPr>
          <a:xfrm>
            <a:off x="0" y="3409035"/>
            <a:ext cx="1633210" cy="2914772"/>
          </a:xfrm>
          <a:prstGeom prst="rect">
            <a:avLst/>
          </a:prstGeom>
        </p:spPr>
      </p:pic>
      <p:sp>
        <p:nvSpPr>
          <p:cNvPr id="33" name="Oval 4">
            <a:extLst>
              <a:ext uri="{FF2B5EF4-FFF2-40B4-BE49-F238E27FC236}">
                <a16:creationId xmlns:a16="http://schemas.microsoft.com/office/drawing/2014/main" id="{52B7F1A1-8894-44DC-8FCC-6CE9F127A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9994790" y="4395252"/>
            <a:ext cx="2216879" cy="2462747"/>
          </a:xfrm>
          <a:custGeom>
            <a:avLst/>
            <a:gdLst>
              <a:gd name="connsiteX0" fmla="*/ 2133985 w 3086667"/>
              <a:gd name="connsiteY0" fmla="*/ 0 h 3429000"/>
              <a:gd name="connsiteX1" fmla="*/ 2964628 w 3086667"/>
              <a:gd name="connsiteY1" fmla="*/ 167699 h 3429000"/>
              <a:gd name="connsiteX2" fmla="*/ 3086667 w 3086667"/>
              <a:gd name="connsiteY2" fmla="*/ 226489 h 3429000"/>
              <a:gd name="connsiteX3" fmla="*/ 3086667 w 3086667"/>
              <a:gd name="connsiteY3" fmla="*/ 3429000 h 3429000"/>
              <a:gd name="connsiteX4" fmla="*/ 440639 w 3086667"/>
              <a:gd name="connsiteY4" fmla="*/ 3429000 h 3429000"/>
              <a:gd name="connsiteX5" fmla="*/ 364451 w 3086667"/>
              <a:gd name="connsiteY5" fmla="*/ 3327116 h 3429000"/>
              <a:gd name="connsiteX6" fmla="*/ 0 w 3086667"/>
              <a:gd name="connsiteY6" fmla="*/ 2133985 h 3429000"/>
              <a:gd name="connsiteX7" fmla="*/ 2133985 w 3086667"/>
              <a:gd name="connsiteY7" fmla="*/ 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6667" h="3429000">
                <a:moveTo>
                  <a:pt x="2133985" y="0"/>
                </a:moveTo>
                <a:cubicBezTo>
                  <a:pt x="2428627" y="0"/>
                  <a:pt x="2709322" y="59714"/>
                  <a:pt x="2964628" y="167699"/>
                </a:cubicBezTo>
                <a:lnTo>
                  <a:pt x="3086667" y="226489"/>
                </a:lnTo>
                <a:lnTo>
                  <a:pt x="3086667" y="3429000"/>
                </a:lnTo>
                <a:lnTo>
                  <a:pt x="440639" y="3429000"/>
                </a:lnTo>
                <a:lnTo>
                  <a:pt x="364451" y="3327116"/>
                </a:lnTo>
                <a:cubicBezTo>
                  <a:pt x="134356" y="2986530"/>
                  <a:pt x="0" y="2575948"/>
                  <a:pt x="0" y="2133985"/>
                </a:cubicBezTo>
                <a:cubicBezTo>
                  <a:pt x="0" y="955418"/>
                  <a:pt x="955418" y="0"/>
                  <a:pt x="2133985" y="0"/>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pic>
        <p:nvPicPr>
          <p:cNvPr id="35" name="Graphic 34">
            <a:extLst>
              <a:ext uri="{FF2B5EF4-FFF2-40B4-BE49-F238E27FC236}">
                <a16:creationId xmlns:a16="http://schemas.microsoft.com/office/drawing/2014/main" id="{6FEF5495-925E-4DBE-A677-EF910F8266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8">
            <a:duotone>
              <a:schemeClr val="accent6">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9"/>
              </a:ext>
            </a:extLst>
          </a:blip>
          <a:srcRect l="11935" t="10861" r="33955" b="27347"/>
          <a:stretch/>
        </p:blipFill>
        <p:spPr>
          <a:xfrm>
            <a:off x="9972468" y="4341999"/>
            <a:ext cx="2239201" cy="2525322"/>
          </a:xfrm>
          <a:prstGeom prst="rect">
            <a:avLst/>
          </a:prstGeom>
        </p:spPr>
      </p:pic>
    </p:spTree>
    <p:extLst>
      <p:ext uri="{BB962C8B-B14F-4D97-AF65-F5344CB8AC3E}">
        <p14:creationId xmlns:p14="http://schemas.microsoft.com/office/powerpoint/2010/main" val="917406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8E348F-11AC-749C-F7C2-491370A27C73}"/>
              </a:ext>
            </a:extLst>
          </p:cNvPr>
          <p:cNvSpPr txBox="1"/>
          <p:nvPr/>
        </p:nvSpPr>
        <p:spPr>
          <a:xfrm>
            <a:off x="1064821" y="488269"/>
            <a:ext cx="10062358" cy="369332"/>
          </a:xfrm>
          <a:prstGeom prst="rect">
            <a:avLst/>
          </a:prstGeom>
          <a:noFill/>
        </p:spPr>
        <p:txBody>
          <a:bodyPr wrap="square" rtlCol="0">
            <a:spAutoFit/>
          </a:bodyPr>
          <a:lstStyle/>
          <a:p>
            <a:r>
              <a:rPr lang="en-GB" dirty="0"/>
              <a:t>Critical Thinking in our Reflective Practice</a:t>
            </a:r>
          </a:p>
        </p:txBody>
      </p:sp>
      <p:sp>
        <p:nvSpPr>
          <p:cNvPr id="3" name="Rectangle: Rounded Corners 2">
            <a:extLst>
              <a:ext uri="{FF2B5EF4-FFF2-40B4-BE49-F238E27FC236}">
                <a16:creationId xmlns:a16="http://schemas.microsoft.com/office/drawing/2014/main" id="{7EDB419B-FBAF-27CF-AE23-AC53937BA66F}"/>
              </a:ext>
            </a:extLst>
          </p:cNvPr>
          <p:cNvSpPr/>
          <p:nvPr/>
        </p:nvSpPr>
        <p:spPr>
          <a:xfrm>
            <a:off x="1064821" y="5149931"/>
            <a:ext cx="1084613" cy="5462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Process</a:t>
            </a:r>
          </a:p>
        </p:txBody>
      </p:sp>
      <p:sp>
        <p:nvSpPr>
          <p:cNvPr id="6" name="Rectangle: Rounded Corners 5">
            <a:extLst>
              <a:ext uri="{FF2B5EF4-FFF2-40B4-BE49-F238E27FC236}">
                <a16:creationId xmlns:a16="http://schemas.microsoft.com/office/drawing/2014/main" id="{DED95C7B-DCF2-21C2-2F68-6EFE8B914244}"/>
              </a:ext>
            </a:extLst>
          </p:cNvPr>
          <p:cNvSpPr/>
          <p:nvPr/>
        </p:nvSpPr>
        <p:spPr>
          <a:xfrm>
            <a:off x="1607127" y="4603666"/>
            <a:ext cx="1084613" cy="5462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Describe/</a:t>
            </a:r>
          </a:p>
          <a:p>
            <a:pPr algn="ctr"/>
            <a:r>
              <a:rPr lang="en-GB" sz="1200" dirty="0"/>
              <a:t>Understand</a:t>
            </a:r>
          </a:p>
        </p:txBody>
      </p:sp>
      <p:sp>
        <p:nvSpPr>
          <p:cNvPr id="7" name="Rectangle: Rounded Corners 6">
            <a:extLst>
              <a:ext uri="{FF2B5EF4-FFF2-40B4-BE49-F238E27FC236}">
                <a16:creationId xmlns:a16="http://schemas.microsoft.com/office/drawing/2014/main" id="{9661BA3F-F414-A99E-8634-30C32E8CC940}"/>
              </a:ext>
            </a:extLst>
          </p:cNvPr>
          <p:cNvSpPr/>
          <p:nvPr/>
        </p:nvSpPr>
        <p:spPr>
          <a:xfrm>
            <a:off x="2149433" y="4057401"/>
            <a:ext cx="1084613" cy="5462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Analyse</a:t>
            </a:r>
          </a:p>
        </p:txBody>
      </p:sp>
      <p:sp>
        <p:nvSpPr>
          <p:cNvPr id="8" name="Rectangle: Rounded Corners 7">
            <a:extLst>
              <a:ext uri="{FF2B5EF4-FFF2-40B4-BE49-F238E27FC236}">
                <a16:creationId xmlns:a16="http://schemas.microsoft.com/office/drawing/2014/main" id="{AE5F8504-B604-4C9F-EB00-1A2D722FEFE6}"/>
              </a:ext>
            </a:extLst>
          </p:cNvPr>
          <p:cNvSpPr/>
          <p:nvPr/>
        </p:nvSpPr>
        <p:spPr>
          <a:xfrm>
            <a:off x="2691739" y="3511136"/>
            <a:ext cx="1084613" cy="5462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Compare</a:t>
            </a:r>
          </a:p>
        </p:txBody>
      </p:sp>
      <p:sp>
        <p:nvSpPr>
          <p:cNvPr id="9" name="Rectangle: Rounded Corners 8">
            <a:extLst>
              <a:ext uri="{FF2B5EF4-FFF2-40B4-BE49-F238E27FC236}">
                <a16:creationId xmlns:a16="http://schemas.microsoft.com/office/drawing/2014/main" id="{CC2F46FB-B3DE-18C4-08F0-CAA85B5B779D}"/>
              </a:ext>
            </a:extLst>
          </p:cNvPr>
          <p:cNvSpPr/>
          <p:nvPr/>
        </p:nvSpPr>
        <p:spPr>
          <a:xfrm>
            <a:off x="3226127" y="2964871"/>
            <a:ext cx="1084613" cy="5462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Synthesise</a:t>
            </a:r>
          </a:p>
        </p:txBody>
      </p:sp>
      <p:sp>
        <p:nvSpPr>
          <p:cNvPr id="10" name="Rectangle: Rounded Corners 9">
            <a:extLst>
              <a:ext uri="{FF2B5EF4-FFF2-40B4-BE49-F238E27FC236}">
                <a16:creationId xmlns:a16="http://schemas.microsoft.com/office/drawing/2014/main" id="{29210B25-1C2C-91D3-49EF-DFD3F939172E}"/>
              </a:ext>
            </a:extLst>
          </p:cNvPr>
          <p:cNvSpPr/>
          <p:nvPr/>
        </p:nvSpPr>
        <p:spPr>
          <a:xfrm>
            <a:off x="3768433" y="2418606"/>
            <a:ext cx="1084613" cy="5462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Evaluate</a:t>
            </a:r>
          </a:p>
        </p:txBody>
      </p:sp>
      <p:sp>
        <p:nvSpPr>
          <p:cNvPr id="11" name="Rectangle: Rounded Corners 10">
            <a:extLst>
              <a:ext uri="{FF2B5EF4-FFF2-40B4-BE49-F238E27FC236}">
                <a16:creationId xmlns:a16="http://schemas.microsoft.com/office/drawing/2014/main" id="{AAE3426F-48CD-84DD-38C5-CF57D54F0402}"/>
              </a:ext>
            </a:extLst>
          </p:cNvPr>
          <p:cNvSpPr/>
          <p:nvPr/>
        </p:nvSpPr>
        <p:spPr>
          <a:xfrm>
            <a:off x="4310739" y="1872341"/>
            <a:ext cx="1084613" cy="5462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Apply</a:t>
            </a:r>
          </a:p>
        </p:txBody>
      </p:sp>
      <p:sp>
        <p:nvSpPr>
          <p:cNvPr id="12" name="Rectangle: Rounded Corners 11">
            <a:extLst>
              <a:ext uri="{FF2B5EF4-FFF2-40B4-BE49-F238E27FC236}">
                <a16:creationId xmlns:a16="http://schemas.microsoft.com/office/drawing/2014/main" id="{E34032CC-FC80-4092-728B-9CDD0F4FCD01}"/>
              </a:ext>
            </a:extLst>
          </p:cNvPr>
          <p:cNvSpPr/>
          <p:nvPr/>
        </p:nvSpPr>
        <p:spPr>
          <a:xfrm>
            <a:off x="4853045" y="1326076"/>
            <a:ext cx="1084613" cy="5462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Justify</a:t>
            </a:r>
          </a:p>
        </p:txBody>
      </p:sp>
      <p:sp>
        <p:nvSpPr>
          <p:cNvPr id="13" name="Rectangle 12">
            <a:extLst>
              <a:ext uri="{FF2B5EF4-FFF2-40B4-BE49-F238E27FC236}">
                <a16:creationId xmlns:a16="http://schemas.microsoft.com/office/drawing/2014/main" id="{D5524164-E0C9-C016-998C-AB6500B3604F}"/>
              </a:ext>
            </a:extLst>
          </p:cNvPr>
          <p:cNvSpPr/>
          <p:nvPr/>
        </p:nvSpPr>
        <p:spPr>
          <a:xfrm>
            <a:off x="2149434" y="5149931"/>
            <a:ext cx="8435440" cy="54626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ln w="0"/>
                <a:solidFill>
                  <a:schemeClr val="tx1"/>
                </a:solidFill>
                <a:effectLst>
                  <a:outerShdw blurRad="38100" dist="19050" dir="2700000" algn="tl" rotWithShape="0">
                    <a:schemeClr val="dk1">
                      <a:alpha val="40000"/>
                    </a:schemeClr>
                  </a:outerShdw>
                </a:effectLst>
              </a:rPr>
              <a:t>The Information – What we are reading, seeing, doing…</a:t>
            </a:r>
            <a:endParaRPr lang="en-GB" dirty="0"/>
          </a:p>
        </p:txBody>
      </p:sp>
      <p:sp>
        <p:nvSpPr>
          <p:cNvPr id="14" name="Rectangle 13">
            <a:extLst>
              <a:ext uri="{FF2B5EF4-FFF2-40B4-BE49-F238E27FC236}">
                <a16:creationId xmlns:a16="http://schemas.microsoft.com/office/drawing/2014/main" id="{75959201-6176-FB83-B697-D57B25EB6E6F}"/>
              </a:ext>
            </a:extLst>
          </p:cNvPr>
          <p:cNvSpPr/>
          <p:nvPr/>
        </p:nvSpPr>
        <p:spPr>
          <a:xfrm>
            <a:off x="2691740" y="4603666"/>
            <a:ext cx="7893134" cy="54626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ln w="0"/>
                <a:solidFill>
                  <a:schemeClr val="tx1"/>
                </a:solidFill>
                <a:effectLst>
                  <a:outerShdw blurRad="38100" dist="19050" dir="2700000" algn="tl" rotWithShape="0">
                    <a:schemeClr val="dk1">
                      <a:alpha val="40000"/>
                    </a:schemeClr>
                  </a:outerShdw>
                </a:effectLst>
              </a:rPr>
              <a:t>Comprehend what the key elements are. </a:t>
            </a:r>
            <a:endParaRPr lang="en-GB" dirty="0"/>
          </a:p>
        </p:txBody>
      </p:sp>
      <p:sp>
        <p:nvSpPr>
          <p:cNvPr id="15" name="Rectangle 14">
            <a:extLst>
              <a:ext uri="{FF2B5EF4-FFF2-40B4-BE49-F238E27FC236}">
                <a16:creationId xmlns:a16="http://schemas.microsoft.com/office/drawing/2014/main" id="{D3B26B66-79DF-508E-B269-09766573D60E}"/>
              </a:ext>
            </a:extLst>
          </p:cNvPr>
          <p:cNvSpPr/>
          <p:nvPr/>
        </p:nvSpPr>
        <p:spPr>
          <a:xfrm>
            <a:off x="3234046" y="4057401"/>
            <a:ext cx="7350828" cy="54626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ln w="0"/>
                <a:solidFill>
                  <a:schemeClr val="tx1"/>
                </a:solidFill>
                <a:effectLst>
                  <a:outerShdw blurRad="38100" dist="19050" dir="2700000" algn="tl" rotWithShape="0">
                    <a:schemeClr val="dk1">
                      <a:alpha val="40000"/>
                    </a:schemeClr>
                  </a:outerShdw>
                </a:effectLst>
              </a:rPr>
              <a:t>Examine how these key elements might fit together and relate.</a:t>
            </a:r>
            <a:endParaRPr lang="en-GB" dirty="0"/>
          </a:p>
        </p:txBody>
      </p:sp>
      <p:sp>
        <p:nvSpPr>
          <p:cNvPr id="16" name="Rectangle 15">
            <a:extLst>
              <a:ext uri="{FF2B5EF4-FFF2-40B4-BE49-F238E27FC236}">
                <a16:creationId xmlns:a16="http://schemas.microsoft.com/office/drawing/2014/main" id="{B4F17444-005F-CDB8-7AAA-13F9599CF87D}"/>
              </a:ext>
            </a:extLst>
          </p:cNvPr>
          <p:cNvSpPr/>
          <p:nvPr/>
        </p:nvSpPr>
        <p:spPr>
          <a:xfrm>
            <a:off x="3776352" y="3511136"/>
            <a:ext cx="6808521" cy="54626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ln w="0"/>
                <a:solidFill>
                  <a:schemeClr val="tx1"/>
                </a:solidFill>
                <a:effectLst>
                  <a:outerShdw blurRad="38100" dist="19050" dir="2700000" algn="tl" rotWithShape="0">
                    <a:schemeClr val="dk1">
                      <a:alpha val="40000"/>
                    </a:schemeClr>
                  </a:outerShdw>
                </a:effectLst>
              </a:rPr>
              <a:t>What are the similarities and differences?</a:t>
            </a:r>
            <a:endParaRPr lang="en-GB" dirty="0"/>
          </a:p>
        </p:txBody>
      </p:sp>
      <p:sp>
        <p:nvSpPr>
          <p:cNvPr id="17" name="Rectangle 16">
            <a:extLst>
              <a:ext uri="{FF2B5EF4-FFF2-40B4-BE49-F238E27FC236}">
                <a16:creationId xmlns:a16="http://schemas.microsoft.com/office/drawing/2014/main" id="{9101B788-CB24-4EFA-A7FC-87D23E8FC10A}"/>
              </a:ext>
            </a:extLst>
          </p:cNvPr>
          <p:cNvSpPr/>
          <p:nvPr/>
        </p:nvSpPr>
        <p:spPr>
          <a:xfrm>
            <a:off x="4310739" y="2964870"/>
            <a:ext cx="6274134" cy="54626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ln w="0"/>
                <a:solidFill>
                  <a:schemeClr val="tx1"/>
                </a:solidFill>
                <a:effectLst>
                  <a:outerShdw blurRad="38100" dist="19050" dir="2700000" algn="tl" rotWithShape="0">
                    <a:schemeClr val="dk1">
                      <a:alpha val="40000"/>
                    </a:schemeClr>
                  </a:outerShdw>
                </a:effectLst>
              </a:rPr>
              <a:t>Bringing everything together to form an argument.</a:t>
            </a:r>
            <a:endParaRPr lang="en-GB" dirty="0"/>
          </a:p>
        </p:txBody>
      </p:sp>
      <p:sp>
        <p:nvSpPr>
          <p:cNvPr id="18" name="Rectangle 17">
            <a:extLst>
              <a:ext uri="{FF2B5EF4-FFF2-40B4-BE49-F238E27FC236}">
                <a16:creationId xmlns:a16="http://schemas.microsoft.com/office/drawing/2014/main" id="{BD212231-2E6D-FE7A-A936-B6D6B1861086}"/>
              </a:ext>
            </a:extLst>
          </p:cNvPr>
          <p:cNvSpPr/>
          <p:nvPr/>
        </p:nvSpPr>
        <p:spPr>
          <a:xfrm>
            <a:off x="4853046" y="2444934"/>
            <a:ext cx="5731828" cy="51993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ln w="0"/>
                <a:solidFill>
                  <a:schemeClr val="tx1"/>
                </a:solidFill>
                <a:effectLst>
                  <a:outerShdw blurRad="38100" dist="19050" dir="2700000" algn="tl" rotWithShape="0">
                    <a:schemeClr val="dk1">
                      <a:alpha val="40000"/>
                    </a:schemeClr>
                  </a:outerShdw>
                </a:effectLst>
              </a:rPr>
              <a:t>Assess the relevance of an idea to your needs and the evidence supporting it.</a:t>
            </a:r>
            <a:endParaRPr lang="en-GB" dirty="0"/>
          </a:p>
        </p:txBody>
      </p:sp>
      <p:sp>
        <p:nvSpPr>
          <p:cNvPr id="19" name="Rectangle 18">
            <a:extLst>
              <a:ext uri="{FF2B5EF4-FFF2-40B4-BE49-F238E27FC236}">
                <a16:creationId xmlns:a16="http://schemas.microsoft.com/office/drawing/2014/main" id="{86B76C7D-BDD1-6111-875D-36FC2848ABBE}"/>
              </a:ext>
            </a:extLst>
          </p:cNvPr>
          <p:cNvSpPr/>
          <p:nvPr/>
        </p:nvSpPr>
        <p:spPr>
          <a:xfrm>
            <a:off x="5395352" y="1898670"/>
            <a:ext cx="5189522" cy="54626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ln w="0"/>
                <a:solidFill>
                  <a:schemeClr val="tx1"/>
                </a:solidFill>
                <a:effectLst>
                  <a:outerShdw blurRad="38100" dist="19050" dir="2700000" algn="tl" rotWithShape="0">
                    <a:schemeClr val="dk1">
                      <a:alpha val="40000"/>
                    </a:schemeClr>
                  </a:outerShdw>
                </a:effectLst>
              </a:rPr>
              <a:t>Transfer your understanding to the task at hand.</a:t>
            </a:r>
            <a:endParaRPr lang="en-GB" dirty="0"/>
          </a:p>
        </p:txBody>
      </p:sp>
      <p:sp>
        <p:nvSpPr>
          <p:cNvPr id="20" name="Rectangle 19">
            <a:extLst>
              <a:ext uri="{FF2B5EF4-FFF2-40B4-BE49-F238E27FC236}">
                <a16:creationId xmlns:a16="http://schemas.microsoft.com/office/drawing/2014/main" id="{5BC94EB1-28D1-33D6-033C-D56C2CDF0C88}"/>
              </a:ext>
            </a:extLst>
          </p:cNvPr>
          <p:cNvSpPr/>
          <p:nvPr/>
        </p:nvSpPr>
        <p:spPr>
          <a:xfrm>
            <a:off x="5937658" y="1352405"/>
            <a:ext cx="4647215" cy="54626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ln w="0"/>
                <a:solidFill>
                  <a:schemeClr val="tx1"/>
                </a:solidFill>
                <a:effectLst>
                  <a:outerShdw blurRad="38100" dist="19050" dir="2700000" algn="tl" rotWithShape="0">
                    <a:schemeClr val="dk1">
                      <a:alpha val="40000"/>
                    </a:schemeClr>
                  </a:outerShdw>
                </a:effectLst>
              </a:rPr>
              <a:t>Use your research and Critical Thinking to develop good arguments and draw conclusions.</a:t>
            </a:r>
            <a:endParaRPr lang="en-GB" dirty="0"/>
          </a:p>
        </p:txBody>
      </p:sp>
    </p:spTree>
    <p:extLst>
      <p:ext uri="{BB962C8B-B14F-4D97-AF65-F5344CB8AC3E}">
        <p14:creationId xmlns:p14="http://schemas.microsoft.com/office/powerpoint/2010/main" val="94533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1864B-2A72-263E-8276-887F6449170A}"/>
              </a:ext>
            </a:extLst>
          </p:cNvPr>
          <p:cNvSpPr>
            <a:spLocks noGrp="1"/>
          </p:cNvSpPr>
          <p:nvPr>
            <p:ph type="title"/>
          </p:nvPr>
        </p:nvSpPr>
        <p:spPr/>
        <p:txBody>
          <a:bodyPr>
            <a:normAutofit/>
          </a:bodyPr>
          <a:lstStyle/>
          <a:p>
            <a:r>
              <a:rPr lang="en-GB" sz="3600" dirty="0"/>
              <a:t>Reflective Cycles</a:t>
            </a:r>
          </a:p>
        </p:txBody>
      </p:sp>
      <p:sp>
        <p:nvSpPr>
          <p:cNvPr id="3" name="Content Placeholder 2">
            <a:extLst>
              <a:ext uri="{FF2B5EF4-FFF2-40B4-BE49-F238E27FC236}">
                <a16:creationId xmlns:a16="http://schemas.microsoft.com/office/drawing/2014/main" id="{CBE00119-A36C-95B5-C4DA-F3904F39DCE5}"/>
              </a:ext>
            </a:extLst>
          </p:cNvPr>
          <p:cNvSpPr>
            <a:spLocks noGrp="1"/>
          </p:cNvSpPr>
          <p:nvPr>
            <p:ph idx="1"/>
          </p:nvPr>
        </p:nvSpPr>
        <p:spPr>
          <a:xfrm>
            <a:off x="777240" y="1411846"/>
            <a:ext cx="10659110" cy="676110"/>
          </a:xfrm>
        </p:spPr>
        <p:txBody>
          <a:bodyPr/>
          <a:lstStyle/>
          <a:p>
            <a:r>
              <a:rPr lang="en-GB" dirty="0"/>
              <a:t>We are not going to all reflect on our experiences in the same way. Thankfully there are a number of Reflective Cycles that we can look at for guidance.</a:t>
            </a:r>
          </a:p>
        </p:txBody>
      </p:sp>
      <p:sp>
        <p:nvSpPr>
          <p:cNvPr id="4" name="TextBox 3">
            <a:extLst>
              <a:ext uri="{FF2B5EF4-FFF2-40B4-BE49-F238E27FC236}">
                <a16:creationId xmlns:a16="http://schemas.microsoft.com/office/drawing/2014/main" id="{741AEF91-984C-32F7-7487-C17768995093}"/>
              </a:ext>
            </a:extLst>
          </p:cNvPr>
          <p:cNvSpPr txBox="1"/>
          <p:nvPr/>
        </p:nvSpPr>
        <p:spPr>
          <a:xfrm>
            <a:off x="777240" y="2446317"/>
            <a:ext cx="10659110" cy="2031325"/>
          </a:xfrm>
          <a:prstGeom prst="rect">
            <a:avLst/>
          </a:prstGeom>
          <a:noFill/>
        </p:spPr>
        <p:txBody>
          <a:bodyPr wrap="square" rtlCol="0">
            <a:spAutoFit/>
          </a:bodyPr>
          <a:lstStyle/>
          <a:p>
            <a:r>
              <a:rPr lang="en-GB" dirty="0"/>
              <a:t>We will look at:</a:t>
            </a:r>
          </a:p>
          <a:p>
            <a:endParaRPr lang="en-GB" dirty="0"/>
          </a:p>
          <a:p>
            <a:pPr marL="285750" indent="-285750">
              <a:buFont typeface="Arial" panose="020B0604020202020204" pitchFamily="34" charset="0"/>
              <a:buChar char="•"/>
            </a:pPr>
            <a:r>
              <a:rPr lang="en-GB" dirty="0"/>
              <a:t>Framework for Reflective Practice (Rolfe et al. 2001).</a:t>
            </a:r>
          </a:p>
          <a:p>
            <a:pPr marL="285750" indent="-285750">
              <a:buFont typeface="Arial" panose="020B0604020202020204" pitchFamily="34" charset="0"/>
              <a:buChar char="•"/>
            </a:pPr>
            <a:r>
              <a:rPr lang="en-GB" dirty="0"/>
              <a:t>Reflection before, during, and after action (Schön, 1983)</a:t>
            </a:r>
          </a:p>
          <a:p>
            <a:pPr marL="285750" indent="-285750">
              <a:buFont typeface="Arial" panose="020B0604020202020204" pitchFamily="34" charset="0"/>
              <a:buChar char="•"/>
            </a:pPr>
            <a:r>
              <a:rPr lang="en-GB" dirty="0"/>
              <a:t>Experiential Learning (Kolb, 1984)</a:t>
            </a:r>
          </a:p>
          <a:p>
            <a:pPr marL="285750" indent="-285750">
              <a:buFont typeface="Arial" panose="020B0604020202020204" pitchFamily="34" charset="0"/>
              <a:buChar char="•"/>
            </a:pPr>
            <a:r>
              <a:rPr lang="en-GB" dirty="0"/>
              <a:t>The Learning Cycle (Honey and Mumford, 1986)</a:t>
            </a:r>
          </a:p>
          <a:p>
            <a:pPr marL="285750" indent="-285750">
              <a:buFont typeface="Arial" panose="020B0604020202020204" pitchFamily="34" charset="0"/>
              <a:buChar char="•"/>
            </a:pPr>
            <a:r>
              <a:rPr lang="en-GB" dirty="0"/>
              <a:t>Gibb’s Reflective Cycle (1988)</a:t>
            </a:r>
          </a:p>
        </p:txBody>
      </p:sp>
    </p:spTree>
    <p:extLst>
      <p:ext uri="{BB962C8B-B14F-4D97-AF65-F5344CB8AC3E}">
        <p14:creationId xmlns:p14="http://schemas.microsoft.com/office/powerpoint/2010/main" val="1684476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9B560-729F-E194-BABA-D6BFEB1DB3BE}"/>
              </a:ext>
            </a:extLst>
          </p:cNvPr>
          <p:cNvSpPr>
            <a:spLocks noGrp="1"/>
          </p:cNvSpPr>
          <p:nvPr>
            <p:ph type="title"/>
          </p:nvPr>
        </p:nvSpPr>
        <p:spPr/>
        <p:txBody>
          <a:bodyPr>
            <a:normAutofit/>
          </a:bodyPr>
          <a:lstStyle/>
          <a:p>
            <a:r>
              <a:rPr lang="en-GB" sz="3200" dirty="0"/>
              <a:t>Framework for Reflective Practice</a:t>
            </a:r>
          </a:p>
        </p:txBody>
      </p:sp>
      <p:sp>
        <p:nvSpPr>
          <p:cNvPr id="3" name="Content Placeholder 2">
            <a:extLst>
              <a:ext uri="{FF2B5EF4-FFF2-40B4-BE49-F238E27FC236}">
                <a16:creationId xmlns:a16="http://schemas.microsoft.com/office/drawing/2014/main" id="{63A30CDC-4719-DB73-5436-ECEB98A3566F}"/>
              </a:ext>
            </a:extLst>
          </p:cNvPr>
          <p:cNvSpPr>
            <a:spLocks noGrp="1"/>
          </p:cNvSpPr>
          <p:nvPr>
            <p:ph idx="1"/>
          </p:nvPr>
        </p:nvSpPr>
        <p:spPr/>
        <p:txBody>
          <a:bodyPr/>
          <a:lstStyle/>
          <a:p>
            <a:r>
              <a:rPr lang="en-GB" dirty="0"/>
              <a:t>This is a simple framework based around three questions:</a:t>
            </a:r>
          </a:p>
          <a:p>
            <a:pPr lvl="1"/>
            <a:r>
              <a:rPr lang="en-GB" dirty="0"/>
              <a:t>What?</a:t>
            </a:r>
          </a:p>
          <a:p>
            <a:pPr lvl="1"/>
            <a:r>
              <a:rPr lang="en-GB" dirty="0"/>
              <a:t>So what?</a:t>
            </a:r>
          </a:p>
          <a:p>
            <a:pPr lvl="1"/>
            <a:r>
              <a:rPr lang="en-GB" dirty="0"/>
              <a:t>Now what?</a:t>
            </a:r>
          </a:p>
          <a:p>
            <a:pPr lvl="1"/>
            <a:endParaRPr lang="en-GB" dirty="0"/>
          </a:p>
          <a:p>
            <a:pPr marL="457200" lvl="1" indent="0">
              <a:buNone/>
            </a:pPr>
            <a:endParaRPr lang="en-GB" dirty="0"/>
          </a:p>
          <a:p>
            <a:pPr lvl="1"/>
            <a:endParaRPr lang="en-GB" dirty="0"/>
          </a:p>
        </p:txBody>
      </p:sp>
      <p:graphicFrame>
        <p:nvGraphicFramePr>
          <p:cNvPr id="4" name="Table 4">
            <a:extLst>
              <a:ext uri="{FF2B5EF4-FFF2-40B4-BE49-F238E27FC236}">
                <a16:creationId xmlns:a16="http://schemas.microsoft.com/office/drawing/2014/main" id="{F449C681-70E4-AFE0-5B07-E2EBA6FE8856}"/>
              </a:ext>
            </a:extLst>
          </p:cNvPr>
          <p:cNvGraphicFramePr>
            <a:graphicFrameLocks noGrp="1"/>
          </p:cNvGraphicFramePr>
          <p:nvPr>
            <p:extLst>
              <p:ext uri="{D42A27DB-BD31-4B8C-83A1-F6EECF244321}">
                <p14:modId xmlns:p14="http://schemas.microsoft.com/office/powerpoint/2010/main" val="1720928301"/>
              </p:ext>
            </p:extLst>
          </p:nvPr>
        </p:nvGraphicFramePr>
        <p:xfrm>
          <a:off x="1307605" y="3264944"/>
          <a:ext cx="8128000" cy="3017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149108181"/>
                    </a:ext>
                  </a:extLst>
                </a:gridCol>
                <a:gridCol w="4064000">
                  <a:extLst>
                    <a:ext uri="{9D8B030D-6E8A-4147-A177-3AD203B41FA5}">
                      <a16:colId xmlns:a16="http://schemas.microsoft.com/office/drawing/2014/main" val="2294865838"/>
                    </a:ext>
                  </a:extLst>
                </a:gridCol>
              </a:tblGrid>
              <a:tr h="370840">
                <a:tc>
                  <a:txBody>
                    <a:bodyPr/>
                    <a:lstStyle/>
                    <a:p>
                      <a:r>
                        <a:rPr lang="en-GB" dirty="0"/>
                        <a:t>What? </a:t>
                      </a:r>
                    </a:p>
                    <a:p>
                      <a:r>
                        <a:rPr lang="en-GB" dirty="0"/>
                        <a:t>This is a short overview to provide context to what will follow.</a:t>
                      </a:r>
                    </a:p>
                  </a:txBody>
                  <a:tcPr/>
                </a:tc>
                <a:tc>
                  <a:txBody>
                    <a:bodyPr/>
                    <a:lstStyle/>
                    <a:p>
                      <a:r>
                        <a:rPr lang="en-GB" dirty="0"/>
                        <a:t>Include – Actions, consequences, responses, feelings, problems.</a:t>
                      </a:r>
                    </a:p>
                  </a:txBody>
                  <a:tcPr/>
                </a:tc>
                <a:extLst>
                  <a:ext uri="{0D108BD9-81ED-4DB2-BD59-A6C34878D82A}">
                    <a16:rowId xmlns:a16="http://schemas.microsoft.com/office/drawing/2014/main" val="2579899702"/>
                  </a:ext>
                </a:extLst>
              </a:tr>
              <a:tr h="370840">
                <a:tc>
                  <a:txBody>
                    <a:bodyPr/>
                    <a:lstStyle/>
                    <a:p>
                      <a:r>
                        <a:rPr lang="en-GB" dirty="0"/>
                        <a:t>So what?</a:t>
                      </a:r>
                    </a:p>
                    <a:p>
                      <a:r>
                        <a:rPr lang="en-GB" dirty="0"/>
                        <a:t>This is the main body of your reflection – here you link the personal experience to your own knowledge and feedback</a:t>
                      </a:r>
                    </a:p>
                  </a:txBody>
                  <a:tcPr/>
                </a:tc>
                <a:tc>
                  <a:txBody>
                    <a:bodyPr/>
                    <a:lstStyle/>
                    <a:p>
                      <a:r>
                        <a:rPr lang="en-GB" dirty="0"/>
                        <a:t>Examine what you have learned from the experience – What do you know of yourself, relationships, others, attitudes, practice…</a:t>
                      </a:r>
                    </a:p>
                  </a:txBody>
                  <a:tcPr/>
                </a:tc>
                <a:extLst>
                  <a:ext uri="{0D108BD9-81ED-4DB2-BD59-A6C34878D82A}">
                    <a16:rowId xmlns:a16="http://schemas.microsoft.com/office/drawing/2014/main" val="3792327337"/>
                  </a:ext>
                </a:extLst>
              </a:tr>
              <a:tr h="370840">
                <a:tc>
                  <a:txBody>
                    <a:bodyPr/>
                    <a:lstStyle/>
                    <a:p>
                      <a:r>
                        <a:rPr lang="en-GB" dirty="0"/>
                        <a:t>Now what?</a:t>
                      </a:r>
                    </a:p>
                    <a:p>
                      <a:r>
                        <a:rPr lang="en-GB" dirty="0"/>
                        <a:t>How can you now proceed having done this process. What can you try or change?</a:t>
                      </a:r>
                    </a:p>
                  </a:txBody>
                  <a:tcPr/>
                </a:tc>
                <a:tc>
                  <a:txBody>
                    <a:bodyPr/>
                    <a:lstStyle/>
                    <a:p>
                      <a:r>
                        <a:rPr lang="en-GB" dirty="0"/>
                        <a:t>What would you need to keep or adapt to improve outcomes in the future?</a:t>
                      </a:r>
                    </a:p>
                  </a:txBody>
                  <a:tcPr/>
                </a:tc>
                <a:extLst>
                  <a:ext uri="{0D108BD9-81ED-4DB2-BD59-A6C34878D82A}">
                    <a16:rowId xmlns:a16="http://schemas.microsoft.com/office/drawing/2014/main" val="1138046790"/>
                  </a:ext>
                </a:extLst>
              </a:tr>
            </a:tbl>
          </a:graphicData>
        </a:graphic>
      </p:graphicFrame>
    </p:spTree>
    <p:extLst>
      <p:ext uri="{BB962C8B-B14F-4D97-AF65-F5344CB8AC3E}">
        <p14:creationId xmlns:p14="http://schemas.microsoft.com/office/powerpoint/2010/main" val="2970859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0D3C9-32FB-7A86-51FF-A507CB4CBCCF}"/>
              </a:ext>
            </a:extLst>
          </p:cNvPr>
          <p:cNvSpPr>
            <a:spLocks noGrp="1"/>
          </p:cNvSpPr>
          <p:nvPr>
            <p:ph type="title"/>
          </p:nvPr>
        </p:nvSpPr>
        <p:spPr/>
        <p:txBody>
          <a:bodyPr>
            <a:noAutofit/>
          </a:bodyPr>
          <a:lstStyle/>
          <a:p>
            <a:r>
              <a:rPr lang="en-GB" sz="3600" dirty="0"/>
              <a:t>Reflection Before, During and After Action</a:t>
            </a:r>
          </a:p>
        </p:txBody>
      </p:sp>
      <p:sp>
        <p:nvSpPr>
          <p:cNvPr id="3" name="Content Placeholder 2">
            <a:extLst>
              <a:ext uri="{FF2B5EF4-FFF2-40B4-BE49-F238E27FC236}">
                <a16:creationId xmlns:a16="http://schemas.microsoft.com/office/drawing/2014/main" id="{675631ED-F517-FDA3-ACC6-EC02098C2149}"/>
              </a:ext>
            </a:extLst>
          </p:cNvPr>
          <p:cNvSpPr>
            <a:spLocks noGrp="1"/>
          </p:cNvSpPr>
          <p:nvPr>
            <p:ph idx="1"/>
          </p:nvPr>
        </p:nvSpPr>
        <p:spPr/>
        <p:txBody>
          <a:bodyPr/>
          <a:lstStyle/>
          <a:p>
            <a:r>
              <a:rPr lang="en-GB" dirty="0"/>
              <a:t>Donald Schön suggested that our thoughts and perspectives on our experiences may change over time, and that the reflective practitioner should be continuously reflecting. His model is built on this idea:</a:t>
            </a:r>
          </a:p>
          <a:p>
            <a:endParaRPr lang="en-GB" dirty="0"/>
          </a:p>
        </p:txBody>
      </p:sp>
      <p:graphicFrame>
        <p:nvGraphicFramePr>
          <p:cNvPr id="4" name="Table 4">
            <a:extLst>
              <a:ext uri="{FF2B5EF4-FFF2-40B4-BE49-F238E27FC236}">
                <a16:creationId xmlns:a16="http://schemas.microsoft.com/office/drawing/2014/main" id="{C8CCCDDD-2321-E717-8C56-A52EBD70E8B0}"/>
              </a:ext>
            </a:extLst>
          </p:cNvPr>
          <p:cNvGraphicFramePr>
            <a:graphicFrameLocks noGrp="1"/>
          </p:cNvGraphicFramePr>
          <p:nvPr>
            <p:extLst>
              <p:ext uri="{D42A27DB-BD31-4B8C-83A1-F6EECF244321}">
                <p14:modId xmlns:p14="http://schemas.microsoft.com/office/powerpoint/2010/main" val="1057385757"/>
              </p:ext>
            </p:extLst>
          </p:nvPr>
        </p:nvGraphicFramePr>
        <p:xfrm>
          <a:off x="1059543" y="2781069"/>
          <a:ext cx="10072914" cy="3753130"/>
        </p:xfrm>
        <a:graphic>
          <a:graphicData uri="http://schemas.openxmlformats.org/drawingml/2006/table">
            <a:tbl>
              <a:tblPr firstRow="1" bandRow="1">
                <a:tableStyleId>{5C22544A-7EE6-4342-B048-85BDC9FD1C3A}</a:tableStyleId>
              </a:tblPr>
              <a:tblGrid>
                <a:gridCol w="3357638">
                  <a:extLst>
                    <a:ext uri="{9D8B030D-6E8A-4147-A177-3AD203B41FA5}">
                      <a16:colId xmlns:a16="http://schemas.microsoft.com/office/drawing/2014/main" val="1871058102"/>
                    </a:ext>
                  </a:extLst>
                </a:gridCol>
                <a:gridCol w="3357638">
                  <a:extLst>
                    <a:ext uri="{9D8B030D-6E8A-4147-A177-3AD203B41FA5}">
                      <a16:colId xmlns:a16="http://schemas.microsoft.com/office/drawing/2014/main" val="3868424307"/>
                    </a:ext>
                  </a:extLst>
                </a:gridCol>
                <a:gridCol w="3357638">
                  <a:extLst>
                    <a:ext uri="{9D8B030D-6E8A-4147-A177-3AD203B41FA5}">
                      <a16:colId xmlns:a16="http://schemas.microsoft.com/office/drawing/2014/main" val="761424624"/>
                    </a:ext>
                  </a:extLst>
                </a:gridCol>
              </a:tblGrid>
              <a:tr h="369850">
                <a:tc>
                  <a:txBody>
                    <a:bodyPr/>
                    <a:lstStyle/>
                    <a:p>
                      <a:pPr algn="ctr"/>
                      <a:r>
                        <a:rPr lang="en-GB" dirty="0"/>
                        <a:t>Before an Experience</a:t>
                      </a:r>
                    </a:p>
                  </a:txBody>
                  <a:tcPr/>
                </a:tc>
                <a:tc>
                  <a:txBody>
                    <a:bodyPr/>
                    <a:lstStyle/>
                    <a:p>
                      <a:pPr algn="ctr"/>
                      <a:r>
                        <a:rPr lang="en-GB" dirty="0"/>
                        <a:t>During an Experience</a:t>
                      </a:r>
                    </a:p>
                  </a:txBody>
                  <a:tcPr/>
                </a:tc>
                <a:tc>
                  <a:txBody>
                    <a:bodyPr/>
                    <a:lstStyle/>
                    <a:p>
                      <a:pPr algn="ctr"/>
                      <a:r>
                        <a:rPr lang="en-GB" dirty="0"/>
                        <a:t>After an Experience</a:t>
                      </a:r>
                    </a:p>
                  </a:txBody>
                  <a:tcPr/>
                </a:tc>
                <a:extLst>
                  <a:ext uri="{0D108BD9-81ED-4DB2-BD59-A6C34878D82A}">
                    <a16:rowId xmlns:a16="http://schemas.microsoft.com/office/drawing/2014/main" val="2222747605"/>
                  </a:ext>
                </a:extLst>
              </a:tr>
              <a:tr h="1097346">
                <a:tc>
                  <a:txBody>
                    <a:bodyPr/>
                    <a:lstStyle/>
                    <a:p>
                      <a:r>
                        <a:rPr lang="en-GB" dirty="0"/>
                        <a:t>What might happen?</a:t>
                      </a:r>
                    </a:p>
                    <a:p>
                      <a:endParaRPr lang="en-GB" dirty="0"/>
                    </a:p>
                    <a:p>
                      <a:r>
                        <a:rPr lang="en-GB" dirty="0"/>
                        <a:t>What are the potential challenges?</a:t>
                      </a:r>
                    </a:p>
                    <a:p>
                      <a:endParaRPr lang="en-GB" dirty="0"/>
                    </a:p>
                    <a:p>
                      <a:r>
                        <a:rPr lang="en-GB" dirty="0"/>
                        <a:t>How can I best prepare myself? What do I need to know?</a:t>
                      </a:r>
                    </a:p>
                  </a:txBody>
                  <a:tcPr/>
                </a:tc>
                <a:tc>
                  <a:txBody>
                    <a:bodyPr/>
                    <a:lstStyle/>
                    <a:p>
                      <a:r>
                        <a:rPr lang="en-GB" dirty="0"/>
                        <a:t>What is happening now as decisions are being made?</a:t>
                      </a:r>
                    </a:p>
                    <a:p>
                      <a:endParaRPr lang="en-GB" dirty="0"/>
                    </a:p>
                    <a:p>
                      <a:r>
                        <a:rPr lang="en-GB" dirty="0"/>
                        <a:t>Is everything going as I expected?</a:t>
                      </a:r>
                    </a:p>
                    <a:p>
                      <a:r>
                        <a:rPr lang="en-GB" dirty="0"/>
                        <a:t>How am I dealing with challenges?</a:t>
                      </a:r>
                    </a:p>
                    <a:p>
                      <a:r>
                        <a:rPr lang="en-GB" dirty="0"/>
                        <a:t>Is there any way I can make the experience more successful?</a:t>
                      </a:r>
                    </a:p>
                    <a:p>
                      <a:endParaRPr lang="en-GB" dirty="0"/>
                    </a:p>
                    <a:p>
                      <a:r>
                        <a:rPr lang="en-GB" dirty="0"/>
                        <a:t>What am I learning from this?</a:t>
                      </a:r>
                    </a:p>
                  </a:txBody>
                  <a:tcPr/>
                </a:tc>
                <a:tc>
                  <a:txBody>
                    <a:bodyPr/>
                    <a:lstStyle/>
                    <a:p>
                      <a:r>
                        <a:rPr lang="en-GB" dirty="0"/>
                        <a:t>What are your insights, while the experience is still fresh in your mind and also later when there is some emotional distance?</a:t>
                      </a:r>
                    </a:p>
                    <a:p>
                      <a:endParaRPr lang="en-GB" dirty="0"/>
                    </a:p>
                    <a:p>
                      <a:r>
                        <a:rPr lang="en-GB" dirty="0"/>
                        <a:t>How did it go in retrospect? What did gain that was valuable? Why do I consider it valuable?</a:t>
                      </a:r>
                    </a:p>
                    <a:p>
                      <a:r>
                        <a:rPr lang="en-GB" dirty="0"/>
                        <a:t>What might I do differently next time?</a:t>
                      </a:r>
                    </a:p>
                    <a:p>
                      <a:endParaRPr lang="en-GB" dirty="0"/>
                    </a:p>
                    <a:p>
                      <a:r>
                        <a:rPr lang="en-GB" dirty="0"/>
                        <a:t>What did I learn?</a:t>
                      </a:r>
                    </a:p>
                  </a:txBody>
                  <a:tcPr/>
                </a:tc>
                <a:extLst>
                  <a:ext uri="{0D108BD9-81ED-4DB2-BD59-A6C34878D82A}">
                    <a16:rowId xmlns:a16="http://schemas.microsoft.com/office/drawing/2014/main" val="158629948"/>
                  </a:ext>
                </a:extLst>
              </a:tr>
            </a:tbl>
          </a:graphicData>
        </a:graphic>
      </p:graphicFrame>
    </p:spTree>
    <p:extLst>
      <p:ext uri="{BB962C8B-B14F-4D97-AF65-F5344CB8AC3E}">
        <p14:creationId xmlns:p14="http://schemas.microsoft.com/office/powerpoint/2010/main" val="1658690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F0230-11A5-E89F-F44B-5D1FE3105BE7}"/>
              </a:ext>
            </a:extLst>
          </p:cNvPr>
          <p:cNvSpPr>
            <a:spLocks noGrp="1"/>
          </p:cNvSpPr>
          <p:nvPr>
            <p:ph type="title"/>
          </p:nvPr>
        </p:nvSpPr>
        <p:spPr/>
        <p:txBody>
          <a:bodyPr>
            <a:normAutofit/>
          </a:bodyPr>
          <a:lstStyle/>
          <a:p>
            <a:r>
              <a:rPr lang="en-GB" sz="3600" dirty="0"/>
              <a:t>Experiential Learning</a:t>
            </a:r>
          </a:p>
        </p:txBody>
      </p:sp>
      <p:sp>
        <p:nvSpPr>
          <p:cNvPr id="3" name="Content Placeholder 2">
            <a:extLst>
              <a:ext uri="{FF2B5EF4-FFF2-40B4-BE49-F238E27FC236}">
                <a16:creationId xmlns:a16="http://schemas.microsoft.com/office/drawing/2014/main" id="{9A5B3C28-B1E6-F024-7EE0-B270390A6615}"/>
              </a:ext>
            </a:extLst>
          </p:cNvPr>
          <p:cNvSpPr>
            <a:spLocks noGrp="1"/>
          </p:cNvSpPr>
          <p:nvPr>
            <p:ph idx="1"/>
          </p:nvPr>
        </p:nvSpPr>
        <p:spPr>
          <a:xfrm>
            <a:off x="777240" y="1611869"/>
            <a:ext cx="10659110" cy="359435"/>
          </a:xfrm>
        </p:spPr>
        <p:txBody>
          <a:bodyPr>
            <a:normAutofit lnSpcReduction="10000"/>
          </a:bodyPr>
          <a:lstStyle/>
          <a:p>
            <a:r>
              <a:rPr lang="en-GB" dirty="0"/>
              <a:t>Kolb (1984) was the first to think of reflection as cyclical.</a:t>
            </a:r>
          </a:p>
        </p:txBody>
      </p:sp>
      <p:sp>
        <p:nvSpPr>
          <p:cNvPr id="4" name="Oval 3">
            <a:extLst>
              <a:ext uri="{FF2B5EF4-FFF2-40B4-BE49-F238E27FC236}">
                <a16:creationId xmlns:a16="http://schemas.microsoft.com/office/drawing/2014/main" id="{642B1C3A-7DB7-FA8B-68C5-7CF5C4927527}"/>
              </a:ext>
            </a:extLst>
          </p:cNvPr>
          <p:cNvSpPr/>
          <p:nvPr/>
        </p:nvSpPr>
        <p:spPr>
          <a:xfrm>
            <a:off x="2422566" y="3764478"/>
            <a:ext cx="1581399" cy="9025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200" dirty="0"/>
              <a:t>Experimenting or testing in new situations</a:t>
            </a:r>
          </a:p>
        </p:txBody>
      </p:sp>
      <p:sp>
        <p:nvSpPr>
          <p:cNvPr id="5" name="Oval 4">
            <a:extLst>
              <a:ext uri="{FF2B5EF4-FFF2-40B4-BE49-F238E27FC236}">
                <a16:creationId xmlns:a16="http://schemas.microsoft.com/office/drawing/2014/main" id="{28AEBD59-A7E5-D5B5-D925-D99F8860FC2D}"/>
              </a:ext>
            </a:extLst>
          </p:cNvPr>
          <p:cNvSpPr/>
          <p:nvPr/>
        </p:nvSpPr>
        <p:spPr>
          <a:xfrm>
            <a:off x="5356670" y="2041565"/>
            <a:ext cx="1500249" cy="9025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400" dirty="0"/>
              <a:t>Concrete Experience</a:t>
            </a:r>
          </a:p>
        </p:txBody>
      </p:sp>
      <p:sp>
        <p:nvSpPr>
          <p:cNvPr id="6" name="Oval 5">
            <a:extLst>
              <a:ext uri="{FF2B5EF4-FFF2-40B4-BE49-F238E27FC236}">
                <a16:creationId xmlns:a16="http://schemas.microsoft.com/office/drawing/2014/main" id="{C21E9643-072D-4555-E89D-D3B640B3115A}"/>
              </a:ext>
            </a:extLst>
          </p:cNvPr>
          <p:cNvSpPr/>
          <p:nvPr/>
        </p:nvSpPr>
        <p:spPr>
          <a:xfrm>
            <a:off x="8106886" y="3764478"/>
            <a:ext cx="1581399" cy="9025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400" dirty="0"/>
              <a:t>Observation and Reflection</a:t>
            </a:r>
          </a:p>
        </p:txBody>
      </p:sp>
      <p:sp>
        <p:nvSpPr>
          <p:cNvPr id="7" name="Oval 6">
            <a:extLst>
              <a:ext uri="{FF2B5EF4-FFF2-40B4-BE49-F238E27FC236}">
                <a16:creationId xmlns:a16="http://schemas.microsoft.com/office/drawing/2014/main" id="{DAF194EE-364E-C35D-B8EA-5295D7D86270}"/>
              </a:ext>
            </a:extLst>
          </p:cNvPr>
          <p:cNvSpPr/>
          <p:nvPr/>
        </p:nvSpPr>
        <p:spPr>
          <a:xfrm>
            <a:off x="5345875" y="5590350"/>
            <a:ext cx="1500249" cy="9025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200" dirty="0"/>
              <a:t>Forming abstract concepts or thinking</a:t>
            </a:r>
          </a:p>
        </p:txBody>
      </p:sp>
      <p:cxnSp>
        <p:nvCxnSpPr>
          <p:cNvPr id="13" name="Connector: Curved 12">
            <a:extLst>
              <a:ext uri="{FF2B5EF4-FFF2-40B4-BE49-F238E27FC236}">
                <a16:creationId xmlns:a16="http://schemas.microsoft.com/office/drawing/2014/main" id="{5519A120-4B52-51FC-A59D-D4CE9D322CBA}"/>
              </a:ext>
            </a:extLst>
          </p:cNvPr>
          <p:cNvCxnSpPr>
            <a:cxnSpLocks/>
            <a:stCxn id="5" idx="6"/>
            <a:endCxn id="6" idx="0"/>
          </p:cNvCxnSpPr>
          <p:nvPr/>
        </p:nvCxnSpPr>
        <p:spPr>
          <a:xfrm>
            <a:off x="6856919" y="2492828"/>
            <a:ext cx="2040667" cy="127165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Curved 15">
            <a:extLst>
              <a:ext uri="{FF2B5EF4-FFF2-40B4-BE49-F238E27FC236}">
                <a16:creationId xmlns:a16="http://schemas.microsoft.com/office/drawing/2014/main" id="{FF4A112E-CC61-377A-AD93-87C142648D77}"/>
              </a:ext>
            </a:extLst>
          </p:cNvPr>
          <p:cNvCxnSpPr>
            <a:cxnSpLocks/>
            <a:stCxn id="6" idx="4"/>
            <a:endCxn id="7" idx="6"/>
          </p:cNvCxnSpPr>
          <p:nvPr/>
        </p:nvCxnSpPr>
        <p:spPr>
          <a:xfrm rot="5400000">
            <a:off x="7184550" y="4328577"/>
            <a:ext cx="1374610" cy="205146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8D23E199-E2E7-318A-710B-008C0F2C12C1}"/>
              </a:ext>
            </a:extLst>
          </p:cNvPr>
          <p:cNvCxnSpPr>
            <a:cxnSpLocks/>
            <a:stCxn id="7" idx="2"/>
            <a:endCxn id="4" idx="4"/>
          </p:cNvCxnSpPr>
          <p:nvPr/>
        </p:nvCxnSpPr>
        <p:spPr>
          <a:xfrm rot="10800000">
            <a:off x="3213267" y="4667003"/>
            <a:ext cx="2132609" cy="137461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Curved 21">
            <a:extLst>
              <a:ext uri="{FF2B5EF4-FFF2-40B4-BE49-F238E27FC236}">
                <a16:creationId xmlns:a16="http://schemas.microsoft.com/office/drawing/2014/main" id="{3B1CEE7B-5512-36CF-2E53-083FA8FCD3B7}"/>
              </a:ext>
            </a:extLst>
          </p:cNvPr>
          <p:cNvCxnSpPr>
            <a:cxnSpLocks/>
            <a:stCxn id="4" idx="0"/>
            <a:endCxn id="5" idx="2"/>
          </p:cNvCxnSpPr>
          <p:nvPr/>
        </p:nvCxnSpPr>
        <p:spPr>
          <a:xfrm rot="5400000" flipH="1" flipV="1">
            <a:off x="3649143" y="2056951"/>
            <a:ext cx="1271650" cy="214340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4362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4EF74-B6CD-9CCB-24C2-8DA5D42F6497}"/>
              </a:ext>
            </a:extLst>
          </p:cNvPr>
          <p:cNvSpPr>
            <a:spLocks noGrp="1"/>
          </p:cNvSpPr>
          <p:nvPr>
            <p:ph type="title"/>
          </p:nvPr>
        </p:nvSpPr>
        <p:spPr/>
        <p:txBody>
          <a:bodyPr>
            <a:normAutofit/>
          </a:bodyPr>
          <a:lstStyle/>
          <a:p>
            <a:r>
              <a:rPr lang="en-GB" sz="3600" dirty="0"/>
              <a:t>The Learning Cycle</a:t>
            </a:r>
          </a:p>
        </p:txBody>
      </p:sp>
      <p:sp>
        <p:nvSpPr>
          <p:cNvPr id="3" name="Content Placeholder 2">
            <a:extLst>
              <a:ext uri="{FF2B5EF4-FFF2-40B4-BE49-F238E27FC236}">
                <a16:creationId xmlns:a16="http://schemas.microsoft.com/office/drawing/2014/main" id="{C36041C0-CA98-0681-75ED-AEE7A55445A5}"/>
              </a:ext>
            </a:extLst>
          </p:cNvPr>
          <p:cNvSpPr>
            <a:spLocks noGrp="1"/>
          </p:cNvSpPr>
          <p:nvPr>
            <p:ph idx="1"/>
          </p:nvPr>
        </p:nvSpPr>
        <p:spPr>
          <a:xfrm>
            <a:off x="777240" y="1825625"/>
            <a:ext cx="10659110" cy="4667250"/>
          </a:xfrm>
        </p:spPr>
        <p:txBody>
          <a:bodyPr/>
          <a:lstStyle/>
          <a:p>
            <a:r>
              <a:rPr lang="en-GB" dirty="0"/>
              <a:t>Honey and Mumford (1986).</a:t>
            </a:r>
          </a:p>
        </p:txBody>
      </p:sp>
      <p:sp>
        <p:nvSpPr>
          <p:cNvPr id="4" name="Oval 3">
            <a:extLst>
              <a:ext uri="{FF2B5EF4-FFF2-40B4-BE49-F238E27FC236}">
                <a16:creationId xmlns:a16="http://schemas.microsoft.com/office/drawing/2014/main" id="{0A86C11E-F148-65D8-D10E-AFB10E505471}"/>
              </a:ext>
            </a:extLst>
          </p:cNvPr>
          <p:cNvSpPr/>
          <p:nvPr/>
        </p:nvSpPr>
        <p:spPr>
          <a:xfrm>
            <a:off x="5537860" y="1959079"/>
            <a:ext cx="1268680" cy="86294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400" b="1" dirty="0"/>
              <a:t>Do</a:t>
            </a:r>
          </a:p>
          <a:p>
            <a:pPr algn="ctr"/>
            <a:r>
              <a:rPr lang="en-GB" sz="1400" dirty="0"/>
              <a:t>What you did…</a:t>
            </a:r>
          </a:p>
        </p:txBody>
      </p:sp>
      <p:sp>
        <p:nvSpPr>
          <p:cNvPr id="5" name="Oval 4">
            <a:extLst>
              <a:ext uri="{FF2B5EF4-FFF2-40B4-BE49-F238E27FC236}">
                <a16:creationId xmlns:a16="http://schemas.microsoft.com/office/drawing/2014/main" id="{23A64CF0-C57D-801A-26E7-28F6ED8F83F5}"/>
              </a:ext>
            </a:extLst>
          </p:cNvPr>
          <p:cNvSpPr/>
          <p:nvPr/>
        </p:nvSpPr>
        <p:spPr>
          <a:xfrm>
            <a:off x="5276062" y="5310064"/>
            <a:ext cx="1792276" cy="86294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800" b="1" dirty="0"/>
              <a:t>Form Principles</a:t>
            </a:r>
          </a:p>
          <a:p>
            <a:r>
              <a:rPr lang="en-GB" sz="800" dirty="0"/>
              <a:t>If you were giving advice based on your experience, what would that look like?</a:t>
            </a:r>
          </a:p>
        </p:txBody>
      </p:sp>
      <p:sp>
        <p:nvSpPr>
          <p:cNvPr id="6" name="Oval 5">
            <a:extLst>
              <a:ext uri="{FF2B5EF4-FFF2-40B4-BE49-F238E27FC236}">
                <a16:creationId xmlns:a16="http://schemas.microsoft.com/office/drawing/2014/main" id="{CA58A453-86A5-40A1-FA93-F4B8C8A48E45}"/>
              </a:ext>
            </a:extLst>
          </p:cNvPr>
          <p:cNvSpPr/>
          <p:nvPr/>
        </p:nvSpPr>
        <p:spPr>
          <a:xfrm>
            <a:off x="2256017" y="3569824"/>
            <a:ext cx="1609106" cy="86294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050" b="1" dirty="0"/>
              <a:t>Plan</a:t>
            </a:r>
          </a:p>
          <a:p>
            <a:pPr algn="ctr"/>
            <a:r>
              <a:rPr lang="en-GB" sz="1050" dirty="0"/>
              <a:t>What specifically are you going to do about it?</a:t>
            </a:r>
          </a:p>
        </p:txBody>
      </p:sp>
      <p:sp>
        <p:nvSpPr>
          <p:cNvPr id="7" name="Oval 6">
            <a:extLst>
              <a:ext uri="{FF2B5EF4-FFF2-40B4-BE49-F238E27FC236}">
                <a16:creationId xmlns:a16="http://schemas.microsoft.com/office/drawing/2014/main" id="{9FA1500E-5967-BD57-8BE9-9D8659A332ED}"/>
              </a:ext>
            </a:extLst>
          </p:cNvPr>
          <p:cNvSpPr/>
          <p:nvPr/>
        </p:nvSpPr>
        <p:spPr>
          <a:xfrm>
            <a:off x="8385957" y="3569824"/>
            <a:ext cx="1712027" cy="86294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900" b="1" dirty="0"/>
              <a:t>Reflect</a:t>
            </a:r>
          </a:p>
          <a:p>
            <a:r>
              <a:rPr lang="en-GB" sz="900" dirty="0"/>
              <a:t>What went well?</a:t>
            </a:r>
          </a:p>
          <a:p>
            <a:r>
              <a:rPr lang="en-GB" sz="900" dirty="0"/>
              <a:t>What didn’t go well?</a:t>
            </a:r>
          </a:p>
          <a:p>
            <a:r>
              <a:rPr lang="en-GB" sz="900" dirty="0"/>
              <a:t>Feedback from others</a:t>
            </a:r>
          </a:p>
        </p:txBody>
      </p:sp>
      <p:cxnSp>
        <p:nvCxnSpPr>
          <p:cNvPr id="10" name="Connector: Curved 9">
            <a:extLst>
              <a:ext uri="{FF2B5EF4-FFF2-40B4-BE49-F238E27FC236}">
                <a16:creationId xmlns:a16="http://schemas.microsoft.com/office/drawing/2014/main" id="{59D3FA71-0064-5CFD-B215-3340009DC845}"/>
              </a:ext>
            </a:extLst>
          </p:cNvPr>
          <p:cNvCxnSpPr>
            <a:cxnSpLocks/>
            <a:stCxn id="4" idx="6"/>
            <a:endCxn id="7" idx="0"/>
          </p:cNvCxnSpPr>
          <p:nvPr/>
        </p:nvCxnSpPr>
        <p:spPr>
          <a:xfrm>
            <a:off x="6806540" y="2390549"/>
            <a:ext cx="2435431" cy="117927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Curved 15">
            <a:extLst>
              <a:ext uri="{FF2B5EF4-FFF2-40B4-BE49-F238E27FC236}">
                <a16:creationId xmlns:a16="http://schemas.microsoft.com/office/drawing/2014/main" id="{BE4CE4A0-8A07-C11F-BF66-8CA35384440D}"/>
              </a:ext>
            </a:extLst>
          </p:cNvPr>
          <p:cNvCxnSpPr>
            <a:cxnSpLocks/>
            <a:stCxn id="5" idx="2"/>
            <a:endCxn id="6" idx="4"/>
          </p:cNvCxnSpPr>
          <p:nvPr/>
        </p:nvCxnSpPr>
        <p:spPr>
          <a:xfrm rot="10800000">
            <a:off x="3060570" y="4432764"/>
            <a:ext cx="2215492" cy="130877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Curved 21">
            <a:extLst>
              <a:ext uri="{FF2B5EF4-FFF2-40B4-BE49-F238E27FC236}">
                <a16:creationId xmlns:a16="http://schemas.microsoft.com/office/drawing/2014/main" id="{7FA3C0FF-A017-1876-E78B-B50439204B94}"/>
              </a:ext>
            </a:extLst>
          </p:cNvPr>
          <p:cNvCxnSpPr>
            <a:cxnSpLocks/>
            <a:stCxn id="6" idx="0"/>
            <a:endCxn id="4" idx="2"/>
          </p:cNvCxnSpPr>
          <p:nvPr/>
        </p:nvCxnSpPr>
        <p:spPr>
          <a:xfrm rot="5400000" flipH="1" flipV="1">
            <a:off x="3709578" y="1741542"/>
            <a:ext cx="1179275" cy="247729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3FFBD70C-4672-0D50-DB34-A4E6419ED5BA}"/>
              </a:ext>
            </a:extLst>
          </p:cNvPr>
          <p:cNvCxnSpPr>
            <a:cxnSpLocks/>
            <a:stCxn id="7" idx="4"/>
            <a:endCxn id="5" idx="6"/>
          </p:cNvCxnSpPr>
          <p:nvPr/>
        </p:nvCxnSpPr>
        <p:spPr>
          <a:xfrm rot="5400000">
            <a:off x="7500770" y="4000333"/>
            <a:ext cx="1308770" cy="217363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4540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8FA01-D22B-8281-C09C-FE620C99C5A0}"/>
              </a:ext>
            </a:extLst>
          </p:cNvPr>
          <p:cNvSpPr>
            <a:spLocks noGrp="1"/>
          </p:cNvSpPr>
          <p:nvPr>
            <p:ph type="title"/>
          </p:nvPr>
        </p:nvSpPr>
        <p:spPr/>
        <p:txBody>
          <a:bodyPr>
            <a:normAutofit/>
          </a:bodyPr>
          <a:lstStyle/>
          <a:p>
            <a:r>
              <a:rPr lang="en-GB" sz="3600" dirty="0"/>
              <a:t>Gibb’s Reflective Cycle</a:t>
            </a:r>
          </a:p>
        </p:txBody>
      </p:sp>
      <p:sp>
        <p:nvSpPr>
          <p:cNvPr id="3" name="Content Placeholder 2">
            <a:extLst>
              <a:ext uri="{FF2B5EF4-FFF2-40B4-BE49-F238E27FC236}">
                <a16:creationId xmlns:a16="http://schemas.microsoft.com/office/drawing/2014/main" id="{B5AE1464-62D5-147B-9E33-87586C3CF9A6}"/>
              </a:ext>
            </a:extLst>
          </p:cNvPr>
          <p:cNvSpPr>
            <a:spLocks noGrp="1"/>
          </p:cNvSpPr>
          <p:nvPr>
            <p:ph idx="1"/>
          </p:nvPr>
        </p:nvSpPr>
        <p:spPr>
          <a:xfrm>
            <a:off x="777240" y="1330036"/>
            <a:ext cx="10659110" cy="5284520"/>
          </a:xfrm>
        </p:spPr>
        <p:txBody>
          <a:bodyPr>
            <a:normAutofit/>
          </a:bodyPr>
          <a:lstStyle/>
          <a:p>
            <a:r>
              <a:rPr lang="en-GB" sz="1600" dirty="0"/>
              <a:t>Graham Gibbs (1988) promoted the importance of feelings and emotions in learning, and generalisation of ideas to help transfer experiences.</a:t>
            </a:r>
          </a:p>
        </p:txBody>
      </p:sp>
      <p:sp>
        <p:nvSpPr>
          <p:cNvPr id="4" name="Oval 3">
            <a:extLst>
              <a:ext uri="{FF2B5EF4-FFF2-40B4-BE49-F238E27FC236}">
                <a16:creationId xmlns:a16="http://schemas.microsoft.com/office/drawing/2014/main" id="{D7E63175-6080-A96E-4CC0-907968C87F37}"/>
              </a:ext>
            </a:extLst>
          </p:cNvPr>
          <p:cNvSpPr/>
          <p:nvPr/>
        </p:nvSpPr>
        <p:spPr>
          <a:xfrm>
            <a:off x="4552207" y="1690688"/>
            <a:ext cx="1856509" cy="688769"/>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200" b="1" dirty="0"/>
              <a:t>Description</a:t>
            </a:r>
          </a:p>
          <a:p>
            <a:r>
              <a:rPr lang="en-GB" sz="1200" dirty="0"/>
              <a:t>What happened?</a:t>
            </a:r>
          </a:p>
        </p:txBody>
      </p:sp>
      <p:sp>
        <p:nvSpPr>
          <p:cNvPr id="5" name="Oval 4">
            <a:extLst>
              <a:ext uri="{FF2B5EF4-FFF2-40B4-BE49-F238E27FC236}">
                <a16:creationId xmlns:a16="http://schemas.microsoft.com/office/drawing/2014/main" id="{68844A46-B745-C361-D86B-D19176C87ECD}"/>
              </a:ext>
            </a:extLst>
          </p:cNvPr>
          <p:cNvSpPr/>
          <p:nvPr/>
        </p:nvSpPr>
        <p:spPr>
          <a:xfrm>
            <a:off x="7500751" y="2549236"/>
            <a:ext cx="1997034" cy="980704"/>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200" b="1" dirty="0"/>
              <a:t>Feelings</a:t>
            </a:r>
          </a:p>
          <a:p>
            <a:r>
              <a:rPr lang="en-GB" sz="1200" dirty="0"/>
              <a:t>What were you thinking or feeling?</a:t>
            </a:r>
          </a:p>
        </p:txBody>
      </p:sp>
      <p:sp>
        <p:nvSpPr>
          <p:cNvPr id="6" name="Oval 5">
            <a:extLst>
              <a:ext uri="{FF2B5EF4-FFF2-40B4-BE49-F238E27FC236}">
                <a16:creationId xmlns:a16="http://schemas.microsoft.com/office/drawing/2014/main" id="{7EB15F97-8D23-B8B8-D388-288EF0F19C1E}"/>
              </a:ext>
            </a:extLst>
          </p:cNvPr>
          <p:cNvSpPr/>
          <p:nvPr/>
        </p:nvSpPr>
        <p:spPr>
          <a:xfrm>
            <a:off x="7616537" y="4494851"/>
            <a:ext cx="1881248" cy="107075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200" b="1" dirty="0"/>
              <a:t>Evaluation</a:t>
            </a:r>
          </a:p>
          <a:p>
            <a:r>
              <a:rPr lang="en-GB" sz="1200" dirty="0"/>
              <a:t>What was good or bad about the experience?</a:t>
            </a:r>
          </a:p>
        </p:txBody>
      </p:sp>
      <p:sp>
        <p:nvSpPr>
          <p:cNvPr id="7" name="Oval 6">
            <a:extLst>
              <a:ext uri="{FF2B5EF4-FFF2-40B4-BE49-F238E27FC236}">
                <a16:creationId xmlns:a16="http://schemas.microsoft.com/office/drawing/2014/main" id="{5AC0AFBD-0F03-FB8A-AE67-B7FF579677C0}"/>
              </a:ext>
            </a:extLst>
          </p:cNvPr>
          <p:cNvSpPr/>
          <p:nvPr/>
        </p:nvSpPr>
        <p:spPr>
          <a:xfrm>
            <a:off x="4552207" y="5671500"/>
            <a:ext cx="1856509" cy="107075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200" b="1" dirty="0"/>
              <a:t>Analysis</a:t>
            </a:r>
          </a:p>
          <a:p>
            <a:r>
              <a:rPr lang="en-GB" sz="1200" dirty="0"/>
              <a:t>What sense can you make of the situation?</a:t>
            </a:r>
          </a:p>
        </p:txBody>
      </p:sp>
      <p:sp>
        <p:nvSpPr>
          <p:cNvPr id="8" name="Oval 7">
            <a:extLst>
              <a:ext uri="{FF2B5EF4-FFF2-40B4-BE49-F238E27FC236}">
                <a16:creationId xmlns:a16="http://schemas.microsoft.com/office/drawing/2014/main" id="{0B10A492-7B3B-3A0C-8B67-2C42D8D39C35}"/>
              </a:ext>
            </a:extLst>
          </p:cNvPr>
          <p:cNvSpPr/>
          <p:nvPr/>
        </p:nvSpPr>
        <p:spPr>
          <a:xfrm>
            <a:off x="1724100" y="2504209"/>
            <a:ext cx="1881248" cy="107075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200" b="1" dirty="0"/>
              <a:t>Action Plan</a:t>
            </a:r>
          </a:p>
          <a:p>
            <a:r>
              <a:rPr lang="en-GB" sz="1200" dirty="0"/>
              <a:t>If it arose again, what would you do?</a:t>
            </a:r>
          </a:p>
        </p:txBody>
      </p:sp>
      <p:sp>
        <p:nvSpPr>
          <p:cNvPr id="9" name="Oval 8">
            <a:extLst>
              <a:ext uri="{FF2B5EF4-FFF2-40B4-BE49-F238E27FC236}">
                <a16:creationId xmlns:a16="http://schemas.microsoft.com/office/drawing/2014/main" id="{01024A86-C1ED-7B7C-8CA5-49D8F6AD8C12}"/>
              </a:ext>
            </a:extLst>
          </p:cNvPr>
          <p:cNvSpPr/>
          <p:nvPr/>
        </p:nvSpPr>
        <p:spPr>
          <a:xfrm>
            <a:off x="1724100" y="4494851"/>
            <a:ext cx="1881248" cy="1070758"/>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200" b="1" dirty="0"/>
              <a:t>Conclusion</a:t>
            </a:r>
          </a:p>
          <a:p>
            <a:r>
              <a:rPr lang="en-GB" sz="1200" dirty="0"/>
              <a:t>What else could you have done?</a:t>
            </a:r>
          </a:p>
        </p:txBody>
      </p:sp>
      <p:cxnSp>
        <p:nvCxnSpPr>
          <p:cNvPr id="11" name="Connector: Curved 10">
            <a:extLst>
              <a:ext uri="{FF2B5EF4-FFF2-40B4-BE49-F238E27FC236}">
                <a16:creationId xmlns:a16="http://schemas.microsoft.com/office/drawing/2014/main" id="{7732FDC8-0E08-942B-80B1-47601188FBAB}"/>
              </a:ext>
            </a:extLst>
          </p:cNvPr>
          <p:cNvCxnSpPr>
            <a:cxnSpLocks/>
            <a:stCxn id="4" idx="6"/>
            <a:endCxn id="5" idx="0"/>
          </p:cNvCxnSpPr>
          <p:nvPr/>
        </p:nvCxnSpPr>
        <p:spPr>
          <a:xfrm>
            <a:off x="6408716" y="2035073"/>
            <a:ext cx="2090552" cy="51416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or: Curved 13">
            <a:extLst>
              <a:ext uri="{FF2B5EF4-FFF2-40B4-BE49-F238E27FC236}">
                <a16:creationId xmlns:a16="http://schemas.microsoft.com/office/drawing/2014/main" id="{A90BB1FD-CF02-A076-FE84-5DF6CBB64521}"/>
              </a:ext>
            </a:extLst>
          </p:cNvPr>
          <p:cNvCxnSpPr>
            <a:cxnSpLocks/>
            <a:stCxn id="5" idx="6"/>
            <a:endCxn id="6" idx="6"/>
          </p:cNvCxnSpPr>
          <p:nvPr/>
        </p:nvCxnSpPr>
        <p:spPr>
          <a:xfrm>
            <a:off x="9497785" y="3039588"/>
            <a:ext cx="12700" cy="1990642"/>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Curved 27">
            <a:extLst>
              <a:ext uri="{FF2B5EF4-FFF2-40B4-BE49-F238E27FC236}">
                <a16:creationId xmlns:a16="http://schemas.microsoft.com/office/drawing/2014/main" id="{61DFF5C4-3B7C-B989-C5CB-13060124AE1B}"/>
              </a:ext>
            </a:extLst>
          </p:cNvPr>
          <p:cNvCxnSpPr>
            <a:cxnSpLocks/>
            <a:stCxn id="6" idx="4"/>
            <a:endCxn id="7" idx="6"/>
          </p:cNvCxnSpPr>
          <p:nvPr/>
        </p:nvCxnSpPr>
        <p:spPr>
          <a:xfrm rot="5400000">
            <a:off x="7162304" y="4812022"/>
            <a:ext cx="641270" cy="214844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56FBF214-D842-3AB7-A40C-E7E7EBFFDAB9}"/>
              </a:ext>
            </a:extLst>
          </p:cNvPr>
          <p:cNvCxnSpPr>
            <a:cxnSpLocks/>
            <a:endCxn id="9" idx="4"/>
          </p:cNvCxnSpPr>
          <p:nvPr/>
        </p:nvCxnSpPr>
        <p:spPr>
          <a:xfrm rot="10800000">
            <a:off x="2664725" y="5565609"/>
            <a:ext cx="1824151" cy="64127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0C0476BC-CA5D-558E-8F69-FC344ABB0CAB}"/>
              </a:ext>
            </a:extLst>
          </p:cNvPr>
          <p:cNvCxnSpPr>
            <a:cxnSpLocks/>
            <a:stCxn id="9" idx="2"/>
            <a:endCxn id="8" idx="2"/>
          </p:cNvCxnSpPr>
          <p:nvPr/>
        </p:nvCxnSpPr>
        <p:spPr>
          <a:xfrm rot="10800000">
            <a:off x="1724100" y="3039588"/>
            <a:ext cx="12700" cy="1990642"/>
          </a:xfrm>
          <a:prstGeom prst="curved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Curved 40">
            <a:extLst>
              <a:ext uri="{FF2B5EF4-FFF2-40B4-BE49-F238E27FC236}">
                <a16:creationId xmlns:a16="http://schemas.microsoft.com/office/drawing/2014/main" id="{235133E4-0193-C7A1-AD24-223536390A5A}"/>
              </a:ext>
            </a:extLst>
          </p:cNvPr>
          <p:cNvCxnSpPr>
            <a:cxnSpLocks/>
            <a:stCxn id="8" idx="0"/>
            <a:endCxn id="4" idx="2"/>
          </p:cNvCxnSpPr>
          <p:nvPr/>
        </p:nvCxnSpPr>
        <p:spPr>
          <a:xfrm rot="5400000" flipH="1" flipV="1">
            <a:off x="3373897" y="1325900"/>
            <a:ext cx="469136" cy="1887483"/>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0449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6CFBA-256E-CDE1-3359-D23656A467EC}"/>
              </a:ext>
            </a:extLst>
          </p:cNvPr>
          <p:cNvSpPr>
            <a:spLocks noGrp="1"/>
          </p:cNvSpPr>
          <p:nvPr>
            <p:ph type="title"/>
          </p:nvPr>
        </p:nvSpPr>
        <p:spPr/>
        <p:txBody>
          <a:bodyPr/>
          <a:lstStyle/>
          <a:p>
            <a:r>
              <a:rPr lang="en-GB" sz="3600" dirty="0"/>
              <a:t>Conclusion</a:t>
            </a:r>
            <a:endParaRPr lang="en-GB" dirty="0"/>
          </a:p>
        </p:txBody>
      </p:sp>
      <p:sp>
        <p:nvSpPr>
          <p:cNvPr id="3" name="Content Placeholder 2">
            <a:extLst>
              <a:ext uri="{FF2B5EF4-FFF2-40B4-BE49-F238E27FC236}">
                <a16:creationId xmlns:a16="http://schemas.microsoft.com/office/drawing/2014/main" id="{94F76107-765B-6245-8E80-B2F5E9DF0B3F}"/>
              </a:ext>
            </a:extLst>
          </p:cNvPr>
          <p:cNvSpPr>
            <a:spLocks noGrp="1"/>
          </p:cNvSpPr>
          <p:nvPr>
            <p:ph idx="1"/>
          </p:nvPr>
        </p:nvSpPr>
        <p:spPr>
          <a:xfrm>
            <a:off x="777240" y="1825625"/>
            <a:ext cx="10659110" cy="1198624"/>
          </a:xfrm>
        </p:spPr>
        <p:txBody>
          <a:bodyPr/>
          <a:lstStyle/>
          <a:p>
            <a:r>
              <a:rPr lang="en-GB" dirty="0"/>
              <a:t>Hopefully these will help guide your reflective practice. </a:t>
            </a:r>
          </a:p>
          <a:p>
            <a:r>
              <a:rPr lang="en-GB" dirty="0"/>
              <a:t>Remember – they are a toolkit. You might find one you like and stick with it, or you may find more benefit in experimenting with different cycles in different contexts.</a:t>
            </a:r>
          </a:p>
        </p:txBody>
      </p:sp>
    </p:spTree>
    <p:extLst>
      <p:ext uri="{BB962C8B-B14F-4D97-AF65-F5344CB8AC3E}">
        <p14:creationId xmlns:p14="http://schemas.microsoft.com/office/powerpoint/2010/main" val="3365017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CE838E-1021-F7D9-3834-6D4F5F87164B}"/>
              </a:ext>
            </a:extLst>
          </p:cNvPr>
          <p:cNvSpPr>
            <a:spLocks noGrp="1"/>
          </p:cNvSpPr>
          <p:nvPr>
            <p:ph idx="1"/>
          </p:nvPr>
        </p:nvSpPr>
        <p:spPr>
          <a:xfrm>
            <a:off x="777240" y="680852"/>
            <a:ext cx="10659110" cy="5496111"/>
          </a:xfrm>
        </p:spPr>
        <p:txBody>
          <a:bodyPr/>
          <a:lstStyle/>
          <a:p>
            <a:r>
              <a:rPr lang="en-GB" dirty="0"/>
              <a:t>References</a:t>
            </a:r>
          </a:p>
          <a:p>
            <a:pPr marL="0" indent="0">
              <a:buNone/>
            </a:pPr>
            <a:endParaRPr lang="en-GB" dirty="0"/>
          </a:p>
          <a:p>
            <a:r>
              <a:rPr lang="en-GB" dirty="0"/>
              <a:t>Gibbs, G (1988) </a:t>
            </a:r>
            <a:r>
              <a:rPr lang="en-GB" i="1" dirty="0"/>
              <a:t>Learning by doing: a guide to teaching and learning methods. </a:t>
            </a:r>
            <a:r>
              <a:rPr lang="en-GB" dirty="0"/>
              <a:t>Oxford: Further Education Unit, Oxford Polytechnic.</a:t>
            </a:r>
          </a:p>
          <a:p>
            <a:r>
              <a:rPr lang="en-GB" sz="2000" dirty="0">
                <a:solidFill>
                  <a:srgbClr val="002060"/>
                </a:solidFill>
                <a:latin typeface="Gotham" panose="02000604030000020004" pitchFamily="2" charset="0"/>
              </a:rPr>
              <a:t>Johns, C. (2009) </a:t>
            </a:r>
            <a:r>
              <a:rPr lang="en-GB" sz="2000" i="1" dirty="0">
                <a:solidFill>
                  <a:srgbClr val="002060"/>
                </a:solidFill>
                <a:latin typeface="Gotham" panose="02000604030000020004" pitchFamily="2" charset="0"/>
              </a:rPr>
              <a:t>Becoming a reflective practitioner</a:t>
            </a:r>
            <a:r>
              <a:rPr lang="en-GB" sz="2000" dirty="0">
                <a:solidFill>
                  <a:srgbClr val="002060"/>
                </a:solidFill>
                <a:latin typeface="Gotham" panose="02000604030000020004" pitchFamily="2" charset="0"/>
              </a:rPr>
              <a:t>. 3rd ed. Chichester: Wiley-Blackwell</a:t>
            </a:r>
          </a:p>
          <a:p>
            <a:r>
              <a:rPr lang="en-GB" dirty="0">
                <a:solidFill>
                  <a:srgbClr val="002060"/>
                </a:solidFill>
                <a:latin typeface="Gotham" panose="02000604030000020004" pitchFamily="2" charset="0"/>
              </a:rPr>
              <a:t>Kolb, D, A (1984) </a:t>
            </a:r>
            <a:r>
              <a:rPr lang="en-GB" i="1" dirty="0">
                <a:solidFill>
                  <a:srgbClr val="002060"/>
                </a:solidFill>
                <a:latin typeface="Gotham" panose="02000604030000020004" pitchFamily="2" charset="0"/>
              </a:rPr>
              <a:t>Experiential learning: experience as the source of learning and development. </a:t>
            </a:r>
            <a:r>
              <a:rPr lang="en-GB" dirty="0">
                <a:solidFill>
                  <a:srgbClr val="002060"/>
                </a:solidFill>
                <a:latin typeface="Gotham" panose="02000604030000020004" pitchFamily="2" charset="0"/>
              </a:rPr>
              <a:t>Englewood Cliffs, NJ: Prentice Hall.</a:t>
            </a:r>
            <a:endParaRPr lang="en-GB" sz="2000" dirty="0">
              <a:solidFill>
                <a:srgbClr val="002060"/>
              </a:solidFill>
              <a:latin typeface="Gotham" panose="02000604030000020004" pitchFamily="2" charset="0"/>
            </a:endParaRPr>
          </a:p>
          <a:p>
            <a:r>
              <a:rPr lang="en-GB" dirty="0">
                <a:solidFill>
                  <a:srgbClr val="002060"/>
                </a:solidFill>
                <a:latin typeface="Gotham" panose="02000604030000020004" pitchFamily="2" charset="0"/>
              </a:rPr>
              <a:t>Rolfe, G., Freshwater, D., and Jasper, M (2001). </a:t>
            </a:r>
            <a:r>
              <a:rPr lang="en-GB" i="1" dirty="0">
                <a:solidFill>
                  <a:srgbClr val="002060"/>
                </a:solidFill>
                <a:latin typeface="Gotham" panose="02000604030000020004" pitchFamily="2" charset="0"/>
              </a:rPr>
              <a:t>Critical reflection for nursing and the helping professions: a user’s guide. </a:t>
            </a:r>
            <a:r>
              <a:rPr lang="en-GB" dirty="0">
                <a:solidFill>
                  <a:srgbClr val="002060"/>
                </a:solidFill>
                <a:latin typeface="Gotham" panose="02000604030000020004" pitchFamily="2" charset="0"/>
              </a:rPr>
              <a:t>Basingstoke: Palgrave Macmillan.</a:t>
            </a:r>
          </a:p>
          <a:p>
            <a:r>
              <a:rPr lang="en-GB" sz="2000" dirty="0">
                <a:solidFill>
                  <a:srgbClr val="002060"/>
                </a:solidFill>
                <a:latin typeface="Gotham" panose="02000604030000020004" pitchFamily="2" charset="0"/>
              </a:rPr>
              <a:t>Schön, D (</a:t>
            </a:r>
            <a:r>
              <a:rPr lang="en-GB" dirty="0">
                <a:solidFill>
                  <a:srgbClr val="002060"/>
                </a:solidFill>
                <a:latin typeface="Gotham" panose="02000604030000020004" pitchFamily="2" charset="0"/>
              </a:rPr>
              <a:t>1983). </a:t>
            </a:r>
            <a:r>
              <a:rPr lang="en-GB" i="1" dirty="0">
                <a:solidFill>
                  <a:srgbClr val="002060"/>
                </a:solidFill>
                <a:latin typeface="Gotham" panose="02000604030000020004" pitchFamily="2" charset="0"/>
              </a:rPr>
              <a:t>The reflective practitioner: how professionals think in action. </a:t>
            </a:r>
            <a:r>
              <a:rPr lang="en-GB" dirty="0">
                <a:solidFill>
                  <a:srgbClr val="002060"/>
                </a:solidFill>
                <a:latin typeface="Gotham" panose="02000604030000020004" pitchFamily="2" charset="0"/>
              </a:rPr>
              <a:t>New York: Basic Books.</a:t>
            </a:r>
            <a:endParaRPr lang="en-GB" sz="2000" dirty="0">
              <a:solidFill>
                <a:srgbClr val="002060"/>
              </a:solidFill>
              <a:latin typeface="Gotham" panose="02000604030000020004" pitchFamily="2" charset="0"/>
            </a:endParaRPr>
          </a:p>
          <a:p>
            <a:r>
              <a:rPr lang="en-GB" dirty="0">
                <a:solidFill>
                  <a:srgbClr val="002060"/>
                </a:solidFill>
                <a:latin typeface="Gotham" panose="02000604030000020004" pitchFamily="2" charset="0"/>
              </a:rPr>
              <a:t>Williams, K., </a:t>
            </a:r>
            <a:r>
              <a:rPr lang="en-GB" dirty="0" err="1">
                <a:solidFill>
                  <a:srgbClr val="002060"/>
                </a:solidFill>
                <a:latin typeface="Gotham" panose="02000604030000020004" pitchFamily="2" charset="0"/>
              </a:rPr>
              <a:t>Woolliams</a:t>
            </a:r>
            <a:r>
              <a:rPr lang="en-GB" dirty="0">
                <a:solidFill>
                  <a:srgbClr val="002060"/>
                </a:solidFill>
                <a:latin typeface="Gotham" panose="02000604030000020004" pitchFamily="2" charset="0"/>
              </a:rPr>
              <a:t>, M., and Spiro, J. (2012) </a:t>
            </a:r>
            <a:r>
              <a:rPr lang="en-GB" i="1" dirty="0">
                <a:solidFill>
                  <a:srgbClr val="002060"/>
                </a:solidFill>
                <a:latin typeface="Gotham" panose="02000604030000020004" pitchFamily="2" charset="0"/>
              </a:rPr>
              <a:t>Reflective Writing. </a:t>
            </a:r>
            <a:r>
              <a:rPr lang="en-GB" dirty="0">
                <a:solidFill>
                  <a:srgbClr val="002060"/>
                </a:solidFill>
                <a:latin typeface="Gotham" panose="02000604030000020004" pitchFamily="2" charset="0"/>
              </a:rPr>
              <a:t>New York: Palgrave Macmillan</a:t>
            </a:r>
            <a:endParaRPr lang="en-GB" sz="2000" dirty="0">
              <a:solidFill>
                <a:srgbClr val="002060"/>
              </a:solidFill>
              <a:latin typeface="Gotham" panose="02000604030000020004" pitchFamily="2" charset="0"/>
            </a:endParaRPr>
          </a:p>
          <a:p>
            <a:endParaRPr lang="en-GB" dirty="0"/>
          </a:p>
        </p:txBody>
      </p:sp>
    </p:spTree>
    <p:extLst>
      <p:ext uri="{BB962C8B-B14F-4D97-AF65-F5344CB8AC3E}">
        <p14:creationId xmlns:p14="http://schemas.microsoft.com/office/powerpoint/2010/main" val="2953806563"/>
      </p:ext>
    </p:extLst>
  </p:cSld>
  <p:clrMapOvr>
    <a:masterClrMapping/>
  </p:clrMapOvr>
</p:sld>
</file>

<file path=ppt/theme/theme1.xml><?xml version="1.0" encoding="utf-8"?>
<a:theme xmlns:a="http://schemas.openxmlformats.org/drawingml/2006/main" name="ConfettiVTI">
  <a:themeElements>
    <a:clrScheme name="AnalogousFromRegularSeedLeftStep">
      <a:dk1>
        <a:srgbClr val="000000"/>
      </a:dk1>
      <a:lt1>
        <a:srgbClr val="FFFFFF"/>
      </a:lt1>
      <a:dk2>
        <a:srgbClr val="1B2431"/>
      </a:dk2>
      <a:lt2>
        <a:srgbClr val="F3F3F0"/>
      </a:lt2>
      <a:accent1>
        <a:srgbClr val="5429E7"/>
      </a:accent1>
      <a:accent2>
        <a:srgbClr val="1B3ED6"/>
      </a:accent2>
      <a:accent3>
        <a:srgbClr val="299CE7"/>
      </a:accent3>
      <a:accent4>
        <a:srgbClr val="15C0BC"/>
      </a:accent4>
      <a:accent5>
        <a:srgbClr val="23C57E"/>
      </a:accent5>
      <a:accent6>
        <a:srgbClr val="16C72F"/>
      </a:accent6>
      <a:hlink>
        <a:srgbClr val="7F9531"/>
      </a:hlink>
      <a:folHlink>
        <a:srgbClr val="7F7F7F"/>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docProps/app.xml><?xml version="1.0" encoding="utf-8"?>
<Properties xmlns="http://schemas.openxmlformats.org/officeDocument/2006/extended-properties" xmlns:vt="http://schemas.openxmlformats.org/officeDocument/2006/docPropsVTypes">
  <TotalTime>179</TotalTime>
  <Words>1399</Words>
  <Application>Microsoft Office PowerPoint</Application>
  <PresentationFormat>Widescreen</PresentationFormat>
  <Paragraphs>161</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Gill Sans Nova</vt:lpstr>
      <vt:lpstr>Gotham</vt:lpstr>
      <vt:lpstr>ConfettiVTI</vt:lpstr>
      <vt:lpstr>Personal Reflective Practice</vt:lpstr>
      <vt:lpstr>PowerPoint Presentation</vt:lpstr>
      <vt:lpstr>What does Reflective Practice look like?</vt:lpstr>
      <vt:lpstr>If I could do this project again…   Some student feedback.</vt:lpstr>
      <vt:lpstr>PowerPoint Presentation</vt:lpstr>
      <vt:lpstr>PowerPoint Presentation</vt:lpstr>
      <vt:lpstr>Consider…</vt:lpstr>
      <vt:lpstr>What Reflection Is Not…</vt:lpstr>
      <vt:lpstr>PowerPoint Presentation</vt:lpstr>
      <vt:lpstr>Reflective Cycles</vt:lpstr>
      <vt:lpstr>Framework for Reflective Practice</vt:lpstr>
      <vt:lpstr>Reflection Before, During and After Action</vt:lpstr>
      <vt:lpstr>Experiential Learning</vt:lpstr>
      <vt:lpstr>The Learning Cycle</vt:lpstr>
      <vt:lpstr>Gibb’s Reflective Cycle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Reflective Practice</dc:title>
  <dc:creator>Smith, Ian</dc:creator>
  <cp:lastModifiedBy>Smith, Ian</cp:lastModifiedBy>
  <cp:revision>3</cp:revision>
  <dcterms:created xsi:type="dcterms:W3CDTF">2023-03-09T11:55:51Z</dcterms:created>
  <dcterms:modified xsi:type="dcterms:W3CDTF">2023-03-09T15:22:06Z</dcterms:modified>
</cp:coreProperties>
</file>